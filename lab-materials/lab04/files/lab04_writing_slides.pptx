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p:sldMasterIdLst>
    <p:sldMasterId id="214748369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p="http://schemas.openxmlformats.org/presentationml/2006/main" xmlns:r="http://schemas.openxmlformats.org/officeDocument/2006/relationships">
  <p:normalViewPr>
    <p:restoredLeft sz="23227"/>
    <p:restoredTop sz="94707"/>
  </p:normalViewPr>
  <p:slideViewPr>
    <p:cSldViewPr snapToGrid="0">
      <p:cViewPr varScale="1">
        <p:scale>
          <a:sx d="100" n="100"/>
          <a:sy d="100" n="100"/>
        </p:scale>
        <p:origin x="184" y="808"/>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 Id="rId20"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1/30/26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F070A7B3-6521-4DCA-87E5-044747A908C1}" type="datetimeFigureOut">
              <a:rPr lang="en-US" dirty="0"/>
              <a:t>1/30/26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1/30/26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638044"/>
            <a:ext cx="4907280" cy="3465576"/>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40" y="2638044"/>
            <a:ext cx="4907280" cy="3465576"/>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1/30/26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97280" y="2313433"/>
            <a:ext cx="4907280" cy="548640"/>
          </a:xfrm>
        </p:spPr>
        <p:txBody>
          <a:bodyPr anchor="b" anchorCtr="1">
            <a:normAutofit/>
          </a:bodyPr>
          <a:lstStyle>
            <a:lvl1pPr marL="0" indent="0" algn="ctr">
              <a:buNone/>
              <a:defRPr sz="2200" b="0" cap="all" spc="100" baseline="0">
                <a:solidFill>
                  <a:schemeClr val="accent2">
                    <a:lumMod val="75000"/>
                  </a:schemeClr>
                </a:solidFill>
              </a:defRPr>
            </a:lvl1pPr>
            <a:lvl2pPr marL="457200" indent="0">
              <a:buNone/>
              <a:defRPr sz="2200" b="1"/>
            </a:lvl2pPr>
            <a:lvl3pPr marL="914400" indent="0">
              <a:buNone/>
              <a:defRPr sz="2200" b="1"/>
            </a:lvl3pPr>
            <a:lvl4pPr marL="1371600" indent="0">
              <a:buNone/>
              <a:defRPr sz="2200" b="1"/>
            </a:lvl4pPr>
            <a:lvl5pPr marL="1828800" indent="0">
              <a:buNone/>
              <a:defRPr sz="2200" b="1"/>
            </a:lvl5pPr>
            <a:lvl6pPr marL="2286000" indent="0">
              <a:buNone/>
              <a:defRPr sz="2200" b="1"/>
            </a:lvl6pPr>
            <a:lvl7pPr marL="2743200" indent="0">
              <a:buNone/>
              <a:defRPr sz="2200" b="1"/>
            </a:lvl7pPr>
            <a:lvl8pPr marL="3200400" indent="0">
              <a:buNone/>
              <a:defRPr sz="2200" b="1"/>
            </a:lvl8pPr>
            <a:lvl9pPr marL="3657600" indent="0">
              <a:buNone/>
              <a:defRPr sz="2200" b="1"/>
            </a:lvl9pPr>
          </a:lstStyle>
          <a:p>
            <a:pPr lvl="0"/>
            <a:r>
              <a:rPr lang="en-US"/>
              <a:t>Click to edit Master text styles</a:t>
            </a:r>
          </a:p>
        </p:txBody>
      </p:sp>
      <p:sp>
        <p:nvSpPr>
          <p:cNvPr id="4" name="Content Placeholder 3"/>
          <p:cNvSpPr>
            <a:spLocks noGrp="1"/>
          </p:cNvSpPr>
          <p:nvPr>
            <p:ph sz="half" idx="2"/>
          </p:nvPr>
        </p:nvSpPr>
        <p:spPr>
          <a:xfrm>
            <a:off x="1097280" y="2926080"/>
            <a:ext cx="4907280" cy="3177540"/>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187440" y="2926080"/>
            <a:ext cx="4907280" cy="3177540"/>
          </a:xfrm>
        </p:spPr>
        <p:txBody>
          <a:bodyPr/>
          <a:lstStyle>
            <a:lvl5pPr>
              <a:defRPr sz="2000"/>
            </a:lvl5pPr>
            <a:lvl1pPr>
              <a:defRPr sz="2000"/>
            </a:lvl1pPr>
            <a:lvl2pPr>
              <a:defRPr sz="2000"/>
            </a:lvl2pPr>
            <a:lvl3pPr>
              <a:defRPr sz="2000"/>
            </a:lvl3pPr>
            <a:lvl4pPr>
              <a:defRPr sz="2000"/>
            </a:lvl4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187440" y="2313433"/>
            <a:ext cx="4907280" cy="548640"/>
          </a:xfrm>
        </p:spPr>
        <p:txBody>
          <a:bodyPr anchor="b" anchorCtr="1">
            <a:normAutofit/>
          </a:bodyPr>
          <a:lstStyle>
            <a:lvl1pPr marL="0" indent="0" algn="ctr">
              <a:buNone/>
              <a:defRPr sz="2200" b="0" cap="all" spc="100" baseline="0">
                <a:solidFill>
                  <a:schemeClr val="accent2">
                    <a:lumMod val="75000"/>
                  </a:schemeClr>
                </a:solidFill>
              </a:defRPr>
            </a:lvl1pPr>
            <a:lvl2pPr marL="457200" indent="0">
              <a:buNone/>
              <a:defRPr sz="2200" b="1"/>
            </a:lvl2pPr>
            <a:lvl3pPr marL="914400" indent="0">
              <a:buNone/>
              <a:defRPr sz="2200" b="1"/>
            </a:lvl3pPr>
            <a:lvl4pPr marL="1371600" indent="0">
              <a:buNone/>
              <a:defRPr sz="2200" b="1"/>
            </a:lvl4pPr>
            <a:lvl5pPr marL="1828800" indent="0">
              <a:buNone/>
              <a:defRPr sz="2200" b="1"/>
            </a:lvl5pPr>
            <a:lvl6pPr marL="2286000" indent="0">
              <a:buNone/>
              <a:defRPr sz="2200" b="1"/>
            </a:lvl6pPr>
            <a:lvl7pPr marL="2743200" indent="0">
              <a:buNone/>
              <a:defRPr sz="2200" b="1"/>
            </a:lvl7pPr>
            <a:lvl8pPr marL="3200400" indent="0">
              <a:buNone/>
              <a:defRPr sz="2200" b="1"/>
            </a:lvl8pPr>
            <a:lvl9pPr marL="3657600" indent="0">
              <a:buNone/>
              <a:defRPr sz="22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1/30/26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a:xfrm>
            <a:off x="1097280" y="964692"/>
            <a:ext cx="9997440" cy="1188720"/>
          </a:xfrm>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1/30/26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C1385-5213-FF73-D596-BC1CA3B3BB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2E292A-75F8-B354-91E2-6DBA14CAC683}"/>
              </a:ext>
            </a:extLst>
          </p:cNvPr>
          <p:cNvSpPr>
            <a:spLocks noGrp="1"/>
          </p:cNvSpPr>
          <p:nvPr>
            <p:ph type="dt" sz="half" idx="10"/>
          </p:nvPr>
        </p:nvSpPr>
        <p:spPr/>
        <p:txBody>
          <a:bodyPr/>
          <a:lstStyle/>
          <a:p>
            <a:fld id="{1160EA64-D806-43AC-9DF2-F8C432F32B4C}" type="datetimeFigureOut">
              <a:rPr lang="en-US" smtClean="0"/>
              <a:t>1/30/26</a:t>
            </a:fld>
            <a:endParaRPr lang="en-US" dirty="0"/>
          </a:p>
        </p:txBody>
      </p:sp>
      <p:sp>
        <p:nvSpPr>
          <p:cNvPr id="4" name="Footer Placeholder 3">
            <a:extLst>
              <a:ext uri="{FF2B5EF4-FFF2-40B4-BE49-F238E27FC236}">
                <a16:creationId xmlns:a16="http://schemas.microsoft.com/office/drawing/2014/main" id="{7D094987-A12A-7848-EFA7-78A34A7FA20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0FACB0E-E788-503A-3821-43D416E399ED}"/>
              </a:ext>
            </a:extLst>
          </p:cNvPr>
          <p:cNvSpPr>
            <a:spLocks noGrp="1"/>
          </p:cNvSpPr>
          <p:nvPr>
            <p:ph type="sldNum" sz="quarter" idx="12"/>
          </p:nvPr>
        </p:nvSpPr>
        <p:spPr/>
        <p:txBody>
          <a:bodyPr/>
          <a:lstStyle/>
          <a:p>
            <a:fld id="{8A7A6979-0714-4377-B894-6BE4C2D6E202}" type="slidenum">
              <a:rPr lang="en-US" smtClean="0"/>
              <a:pPr/>
              <a:t>‹#›</a:t>
            </a:fld>
            <a:endParaRPr lang="en-US" dirty="0"/>
          </a:p>
        </p:txBody>
      </p:sp>
      <p:sp>
        <p:nvSpPr>
          <p:cNvPr id="7" name="Table Placeholder 6">
            <a:extLst>
              <a:ext uri="{FF2B5EF4-FFF2-40B4-BE49-F238E27FC236}">
                <a16:creationId xmlns:a16="http://schemas.microsoft.com/office/drawing/2014/main" id="{B85BA4BE-02C8-9B0B-FD58-C57B50330E23}"/>
              </a:ext>
            </a:extLst>
          </p:cNvPr>
          <p:cNvSpPr>
            <a:spLocks noGrp="1"/>
          </p:cNvSpPr>
          <p:nvPr>
            <p:ph type="tbl" sz="quarter" idx="13"/>
          </p:nvPr>
        </p:nvSpPr>
        <p:spPr>
          <a:xfrm>
            <a:off x="2459038" y="2386013"/>
            <a:ext cx="7283450" cy="3373437"/>
          </a:xfrm>
        </p:spPr>
        <p:txBody>
          <a:bodyPr/>
          <a:lstStyle/>
          <a:p>
            <a:endParaRPr lang="en-US" dirty="0"/>
          </a:p>
        </p:txBody>
      </p:sp>
    </p:spTree>
    <p:extLst>
      <p:ext uri="{BB962C8B-B14F-4D97-AF65-F5344CB8AC3E}">
        <p14:creationId xmlns:p14="http://schemas.microsoft.com/office/powerpoint/2010/main" val="697711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1/30/26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1/30/26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1/30/26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1/30/26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1/30/26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theme/theme1.xml" Type="http://schemas.openxmlformats.org/officeDocument/2006/relationships/them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cap="sq" w="31750">
            <a:solidFill>
              <a:srgbClr val="404040"/>
            </a:solidFill>
            <a:miter lim="800000"/>
          </a:ln>
        </p:spPr>
        <p:txBody>
          <a:bodyPr anchor="ctr" bIns="182880" lIns="182880" rIns="182880" rtlCol="0" tIns="182880" vert="horz">
            <a:normAutofit/>
          </a:bodyPr>
          <a:lstStyle/>
          <a:p>
            <a:r>
              <a:rPr lang="en-US"/>
              <a:t>Click to edit Master title style</a:t>
            </a:r>
            <a:endParaRPr dirty="0" lang="en-US"/>
          </a:p>
        </p:txBody>
      </p:sp>
      <p:sp>
        <p:nvSpPr>
          <p:cNvPr id="3" name="Text Placeholder 2"/>
          <p:cNvSpPr>
            <a:spLocks noGrp="1"/>
          </p:cNvSpPr>
          <p:nvPr>
            <p:ph idx="1" type="body"/>
          </p:nvPr>
        </p:nvSpPr>
        <p:spPr>
          <a:xfrm>
            <a:off x="2231136" y="2638044"/>
            <a:ext cx="7729728" cy="3101983"/>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Date Placeholder 3"/>
          <p:cNvSpPr>
            <a:spLocks noGrp="1"/>
          </p:cNvSpPr>
          <p:nvPr>
            <p:ph idx="2" sz="half" type="dt"/>
          </p:nvPr>
        </p:nvSpPr>
        <p:spPr>
          <a:xfrm>
            <a:off x="7821429" y="6238816"/>
            <a:ext cx="2753746" cy="323968"/>
          </a:xfrm>
          <a:prstGeom prst="rect">
            <a:avLst/>
          </a:prstGeom>
        </p:spPr>
        <p:txBody>
          <a:bodyPr anchor="ctr" bIns="45720" lIns="91440" rIns="91440" rtlCol="0" tIns="45720" vert="horz"/>
          <a:lstStyle>
            <a:lvl1pPr algn="r">
              <a:defRPr sz="1050">
                <a:solidFill>
                  <a:schemeClr val="tx1">
                    <a:alpha val="70000"/>
                  </a:schemeClr>
                </a:solidFill>
              </a:defRPr>
            </a:lvl1pPr>
          </a:lstStyle>
          <a:p>
            <a:fld id="{1160EA64-D806-43AC-9DF2-F8C432F32B4C}" type="datetimeFigureOut">
              <a:rPr dirty="0" lang="en-US"/>
              <a:t>1/30/26</a:t>
            </a:fld>
            <a:endParaRPr dirty="0" lang="en-US"/>
          </a:p>
        </p:txBody>
      </p:sp>
      <p:sp>
        <p:nvSpPr>
          <p:cNvPr id="5" name="Footer Placeholder 4"/>
          <p:cNvSpPr>
            <a:spLocks noGrp="1"/>
          </p:cNvSpPr>
          <p:nvPr>
            <p:ph idx="3" sz="quarter" type="ftr"/>
          </p:nvPr>
        </p:nvSpPr>
        <p:spPr>
          <a:xfrm>
            <a:off x="1600200" y="6236208"/>
            <a:ext cx="5901189" cy="320040"/>
          </a:xfrm>
          <a:prstGeom prst="rect">
            <a:avLst/>
          </a:prstGeom>
        </p:spPr>
        <p:txBody>
          <a:bodyPr anchor="ctr" bIns="45720" lIns="91440" rIns="91440" rtlCol="0" tIns="45720" vert="horz"/>
          <a:lstStyle>
            <a:lvl1pPr algn="l">
              <a:defRPr sz="1050">
                <a:solidFill>
                  <a:schemeClr val="tx1">
                    <a:alpha val="70000"/>
                  </a:schemeClr>
                </a:solidFill>
              </a:defRPr>
            </a:lvl1pPr>
          </a:lstStyle>
          <a:p>
            <a:endParaRPr dirty="0" lang="en-US"/>
          </a:p>
        </p:txBody>
      </p:sp>
      <p:sp>
        <p:nvSpPr>
          <p:cNvPr id="6" name="Slide Number Placeholder 5"/>
          <p:cNvSpPr>
            <a:spLocks noGrp="1"/>
          </p:cNvSpPr>
          <p:nvPr>
            <p:ph idx="4" sz="quarter" type="sldNum"/>
          </p:nvPr>
        </p:nvSpPr>
        <p:spPr>
          <a:xfrm>
            <a:off x="10758922" y="6217920"/>
            <a:ext cx="365760" cy="365760"/>
          </a:xfrm>
          <a:prstGeom prst="ellipse">
            <a:avLst/>
          </a:prstGeom>
          <a:solidFill>
            <a:srgbClr val="1D1D1D">
              <a:alpha val="70000"/>
            </a:srgbClr>
          </a:solidFill>
        </p:spPr>
        <p:txBody>
          <a:bodyPr anchor="ctr" bIns="45720" lIns="18288" rIns="18288" rtlCol="0" tIns="45720" vert="horz">
            <a:noAutofit/>
          </a:bodyPr>
          <a:lstStyle>
            <a:lvl1pPr algn="ctr">
              <a:defRPr baseline="0" spc="0" sz="1100">
                <a:solidFill>
                  <a:srgbClr val="FFFFFF"/>
                </a:solidFill>
              </a:defRPr>
            </a:lvl1pPr>
          </a:lstStyle>
          <a:p>
            <a:fld id="{8A7A6979-0714-4377-B894-6BE4C2D6E202}" type="slidenum">
              <a:rPr dirty="0" lang="en-US"/>
              <a:pPr/>
              <a:t>‹#›</a:t>
            </a:fld>
            <a:endParaRPr dirty="0" lang="en-US"/>
          </a:p>
        </p:txBody>
      </p:sp>
    </p:spTree>
  </p:cSld>
  <p:clrMap accent1="accent1" accent2="accent2" accent3="accent3" accent4="accent4" accent5="accent5" accent6="accent6" bg1="lt1" bg2="lt2" folHlink="folHlink" hlink="hlink" tx1="dk1" tx2="dk2"/>
  <p:sldLayoutIdLst>
    <p:sldLayoutId id="2147483697" r:id="rId1"/>
    <p:sldLayoutId id="2147483698" r:id="rId2"/>
    <p:sldLayoutId id="2147483699" r:id="rId3"/>
    <p:sldLayoutId id="2147483700" r:id="rId4"/>
    <p:sldLayoutId id="2147483701" r:id="rId5"/>
    <p:sldLayoutId id="2147483702" r:id="rId6"/>
    <p:sldLayoutId id="2147483708" r:id="rId7"/>
    <p:sldLayoutId id="2147483703" r:id="rId8"/>
    <p:sldLayoutId id="2147483704" r:id="rId9"/>
    <p:sldLayoutId id="2147483705" r:id="rId10"/>
    <p:sldLayoutId id="2147483706" r:id="rId11"/>
    <p:sldLayoutId id="2147483707" r:id="rId12"/>
  </p:sldLayoutIdLst>
  <p:hf dt="0" ftr="0" hdr="0" sldNum="0"/>
  <p:txStyles>
    <p:titleStyle>
      <a:lvl1pPr algn="ctr" defTabSz="914400" eaLnBrk="1" hangingPunct="1" latinLnBrk="0" rtl="0">
        <a:lnSpc>
          <a:spcPct val="90000"/>
        </a:lnSpc>
        <a:spcBef>
          <a:spcPct val="0"/>
        </a:spcBef>
        <a:buNone/>
        <a:defRPr baseline="0" cap="all" kern="1200" spc="200" sz="2800">
          <a:solidFill>
            <a:srgbClr val="262626"/>
          </a:solidFill>
          <a:latin typeface="+mj-lt"/>
          <a:ea typeface="+mj-ea"/>
          <a:cs typeface="+mj-cs"/>
        </a:defRPr>
      </a:lvl1pPr>
    </p:titleStyle>
    <p:bodyStyle>
      <a:lvl1pPr algn="l" defTabSz="914400" eaLnBrk="1" hangingPunct="1" indent="-228600" latinLnBrk="0" marL="228600" rtl="0">
        <a:lnSpc>
          <a:spcPct val="100000"/>
        </a:lnSpc>
        <a:spcBef>
          <a:spcPts val="1000"/>
        </a:spcBef>
        <a:buClr>
          <a:schemeClr val="accent2"/>
        </a:buClr>
        <a:buFont charset="0" panose="020B0604020202020204" pitchFamily="34" typeface="Arial"/>
        <a:buChar char="•"/>
        <a:defRPr kern="1200" sz="1800">
          <a:solidFill>
            <a:schemeClr val="tx1">
              <a:lumMod val="85000"/>
              <a:lumOff val="15000"/>
            </a:schemeClr>
          </a:solidFill>
          <a:latin typeface="+mn-lt"/>
          <a:ea typeface="+mn-ea"/>
          <a:cs typeface="+mn-cs"/>
        </a:defRPr>
      </a:lvl1pPr>
      <a:lvl2pPr algn="l" defTabSz="914400" eaLnBrk="1" hangingPunct="1" indent="-228600" latinLnBrk="0" marL="457200" rtl="0">
        <a:lnSpc>
          <a:spcPct val="100000"/>
        </a:lnSpc>
        <a:spcBef>
          <a:spcPts val="1000"/>
        </a:spcBef>
        <a:buClr>
          <a:schemeClr val="accent2"/>
        </a:buClr>
        <a:buFont charset="0" panose="020B0604020202020204" pitchFamily="34" typeface="Arial"/>
        <a:buChar char="•"/>
        <a:defRPr kern="1200" sz="1600">
          <a:solidFill>
            <a:schemeClr val="tx1">
              <a:lumMod val="85000"/>
              <a:lumOff val="15000"/>
            </a:schemeClr>
          </a:solidFill>
          <a:latin typeface="+mn-lt"/>
          <a:ea typeface="+mn-ea"/>
          <a:cs typeface="+mn-cs"/>
        </a:defRPr>
      </a:lvl2pPr>
      <a:lvl3pPr algn="l" defTabSz="914400" eaLnBrk="1" hangingPunct="1" indent="-228600" latinLnBrk="0" marL="685800" rtl="0">
        <a:lnSpc>
          <a:spcPct val="100000"/>
        </a:lnSpc>
        <a:spcBef>
          <a:spcPts val="1000"/>
        </a:spcBef>
        <a:buClr>
          <a:schemeClr val="accent2"/>
        </a:buClr>
        <a:buFont charset="0" panose="020B0604020202020204" pitchFamily="34" typeface="Arial"/>
        <a:buChar char="•"/>
        <a:defRPr kern="1200" sz="1600">
          <a:solidFill>
            <a:schemeClr val="tx1">
              <a:lumMod val="85000"/>
              <a:lumOff val="15000"/>
            </a:schemeClr>
          </a:solidFill>
          <a:latin typeface="+mn-lt"/>
          <a:ea typeface="+mn-ea"/>
          <a:cs typeface="+mn-cs"/>
        </a:defRPr>
      </a:lvl3pPr>
      <a:lvl4pPr algn="l" defTabSz="914400" eaLnBrk="1" hangingPunct="1" indent="-228600" latinLnBrk="0" marL="914400" rtl="0">
        <a:lnSpc>
          <a:spcPct val="100000"/>
        </a:lnSpc>
        <a:spcBef>
          <a:spcPts val="1000"/>
        </a:spcBef>
        <a:buClr>
          <a:schemeClr val="accent2"/>
        </a:buClr>
        <a:buFont charset="0" panose="020B0604020202020204" pitchFamily="34" typeface="Arial"/>
        <a:buChar char="•"/>
        <a:defRPr kern="1200" sz="1600">
          <a:solidFill>
            <a:schemeClr val="tx1">
              <a:lumMod val="85000"/>
              <a:lumOff val="15000"/>
            </a:schemeClr>
          </a:solidFill>
          <a:latin typeface="+mn-lt"/>
          <a:ea typeface="+mn-ea"/>
          <a:cs typeface="+mn-cs"/>
        </a:defRPr>
      </a:lvl4pPr>
      <a:lvl5pPr algn="l" defTabSz="914400" eaLnBrk="1" hangingPunct="1" indent="-228600" latinLnBrk="0" marL="1143000" rtl="0">
        <a:lnSpc>
          <a:spcPct val="100000"/>
        </a:lnSpc>
        <a:spcBef>
          <a:spcPts val="1000"/>
        </a:spcBef>
        <a:buClr>
          <a:schemeClr val="accent2"/>
        </a:buClr>
        <a:buFont charset="0" panose="020B0604020202020204" pitchFamily="34" typeface="Arial"/>
        <a:buChar char="•"/>
        <a:defRPr kern="1200" sz="1600">
          <a:solidFill>
            <a:schemeClr val="tx1">
              <a:lumMod val="85000"/>
              <a:lumOff val="15000"/>
            </a:schemeClr>
          </a:solidFill>
          <a:latin typeface="+mn-lt"/>
          <a:ea typeface="+mn-ea"/>
          <a:cs typeface="+mn-cs"/>
        </a:defRPr>
      </a:lvl5pPr>
      <a:lvl6pPr algn="l" defTabSz="914400" eaLnBrk="1" hangingPunct="1" indent="-228600" latinLnBrk="0" marL="1312863" rtl="0">
        <a:lnSpc>
          <a:spcPct val="100000"/>
        </a:lnSpc>
        <a:spcBef>
          <a:spcPts val="1000"/>
        </a:spcBef>
        <a:buClr>
          <a:schemeClr val="accent2"/>
        </a:buClr>
        <a:buFont charset="0" panose="020B0604020202020204" pitchFamily="34" typeface="Arial"/>
        <a:buChar char="•"/>
        <a:defRPr kern="1200" sz="1600">
          <a:solidFill>
            <a:schemeClr val="tx1"/>
          </a:solidFill>
          <a:latin typeface="+mn-lt"/>
          <a:ea typeface="+mn-ea"/>
          <a:cs typeface="+mn-cs"/>
        </a:defRPr>
      </a:lvl6pPr>
      <a:lvl7pPr algn="l" defTabSz="914400" eaLnBrk="1" hangingPunct="1" indent="-228600" latinLnBrk="0" marL="1484313" rtl="0">
        <a:lnSpc>
          <a:spcPct val="100000"/>
        </a:lnSpc>
        <a:spcBef>
          <a:spcPts val="1000"/>
        </a:spcBef>
        <a:buClr>
          <a:schemeClr val="accent2"/>
        </a:buClr>
        <a:buFont charset="0" panose="020B0604020202020204" pitchFamily="34" typeface="Arial"/>
        <a:buChar char="•"/>
        <a:defRPr kern="1200" sz="1600">
          <a:solidFill>
            <a:schemeClr val="tx1"/>
          </a:solidFill>
          <a:latin typeface="+mn-lt"/>
          <a:ea typeface="+mn-ea"/>
          <a:cs typeface="+mn-cs"/>
        </a:defRPr>
      </a:lvl7pPr>
      <a:lvl8pPr algn="l" defTabSz="914400" eaLnBrk="1" hangingPunct="1" indent="-228600" latinLnBrk="0" marL="1657350" rtl="0">
        <a:lnSpc>
          <a:spcPct val="100000"/>
        </a:lnSpc>
        <a:spcBef>
          <a:spcPts val="1000"/>
        </a:spcBef>
        <a:buClr>
          <a:schemeClr val="accent2"/>
        </a:buClr>
        <a:buFont charset="0" panose="020B0604020202020204" pitchFamily="34" typeface="Arial"/>
        <a:buChar char="•"/>
        <a:defRPr baseline="0" kern="1200" sz="1600">
          <a:solidFill>
            <a:schemeClr val="tx1"/>
          </a:solidFill>
          <a:latin typeface="+mn-lt"/>
          <a:ea typeface="+mn-ea"/>
          <a:cs typeface="+mn-cs"/>
        </a:defRPr>
      </a:lvl8pPr>
      <a:lvl9pPr algn="l" defTabSz="914400" eaLnBrk="1" hangingPunct="1" indent="-228600" latinLnBrk="0" marL="1882775" rtl="0">
        <a:lnSpc>
          <a:spcPct val="100000"/>
        </a:lnSpc>
        <a:spcBef>
          <a:spcPts val="1000"/>
        </a:spcBef>
        <a:buClr>
          <a:schemeClr val="accent2"/>
        </a:buClr>
        <a:buFont charset="0" panose="020B0604020202020204" pitchFamily="34" typeface="Arial"/>
        <a:buChar char="•"/>
        <a:defRPr baseline="0" kern="1200" sz="16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a:lstStyle/>
          <a:p>
            <a:pPr lvl="0" indent="0" marL="0">
              <a:buNone/>
            </a:pPr>
            <a:r>
              <a:rPr/>
              <a:t>Writing Research Project Reports</a:t>
            </a:r>
          </a:p>
        </p:txBody>
      </p:sp>
      <p:sp>
        <p:nvSpPr>
          <p:cNvPr id="3" name="Subtitle 2"/>
          <p:cNvSpPr>
            <a:spLocks noGrp="1"/>
          </p:cNvSpPr>
          <p:nvPr>
            <p:ph idx="1" type="subTitle"/>
          </p:nvPr>
        </p:nvSpPr>
        <p:spPr>
          <a:xfrm>
            <a:off x="2695194" y="4352544"/>
            <a:ext cx="6801612" cy="1239894"/>
          </a:xfrm>
          <a:noFill/>
        </p:spPr>
        <p:txBody>
          <a:bodyPr/>
          <a:lstStyle/>
          <a:p>
            <a:pPr lvl="0" indent="0" marL="0">
              <a:buNone/>
            </a:pPr>
            <a:r>
              <a:rPr/>
              <a:t>Adapted from slides How to Improve Your Writing with many thanks to: James A. Burns University of Nebraska-Lincoln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a:lstStyle/>
          <a:p>
            <a:pPr lvl="0" indent="0" marL="0">
              <a:buNone/>
            </a:pPr>
            <a:r>
              <a:rPr/>
              <a:t>How to Improve your Writing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Writing Skills Matter</a:t>
            </a:r>
          </a:p>
        </p:txBody>
      </p:sp>
      <p:sp>
        <p:nvSpPr>
          <p:cNvPr id="3" name="Content Placeholder 2"/>
          <p:cNvSpPr>
            <a:spLocks noGrp="1"/>
          </p:cNvSpPr>
          <p:nvPr>
            <p:ph idx="1"/>
          </p:nvPr>
        </p:nvSpPr>
        <p:spPr/>
        <p:txBody>
          <a:bodyPr/>
          <a:lstStyle/>
          <a:p>
            <a:pPr lvl="0"/>
            <a:r>
              <a:rPr/>
              <a:t>College performance impacted by the quality of your writing.</a:t>
            </a:r>
          </a:p>
          <a:p>
            <a:pPr lvl="0"/>
            <a:r>
              <a:rPr/>
              <a:t>But you can improve your writing by properly organizing and structuring your ideas.</a:t>
            </a:r>
          </a:p>
          <a:p>
            <a:pPr lvl="0"/>
            <a:r>
              <a:rPr/>
              <a:t>There are a few myths about writing that should be dispelled before we begin:</a:t>
            </a:r>
          </a:p>
          <a:p>
            <a:pPr lvl="1"/>
            <a:r>
              <a:rPr/>
              <a:t>Great writers are born, not made by practicing.</a:t>
            </a:r>
          </a:p>
          <a:p>
            <a:pPr lvl="1"/>
            <a:r>
              <a:rPr/>
              <a:t>I need an IQ in the 130’s in order to write well.</a:t>
            </a:r>
          </a:p>
          <a:p>
            <a:pPr lvl="1"/>
            <a:r>
              <a:rPr/>
              <a:t>I need to have the vocabulary of a rocket scientist in order to write good papers.</a:t>
            </a:r>
          </a:p>
          <a:p>
            <a:pPr lvl="1"/>
            <a:r>
              <a:rPr/>
              <a:t>My papers need to be over 30 pages in length in order to be acceptable.</a:t>
            </a:r>
          </a:p>
          <a:p>
            <a:pPr lvl="1"/>
            <a:r>
              <a:rPr/>
              <a:t>I will never be good at writing papers.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Organization</a:t>
            </a:r>
          </a:p>
        </p:txBody>
      </p:sp>
      <p:sp>
        <p:nvSpPr>
          <p:cNvPr id="3" name="Content Placeholder 2"/>
          <p:cNvSpPr>
            <a:spLocks noGrp="1"/>
          </p:cNvSpPr>
          <p:nvPr>
            <p:ph idx="1"/>
          </p:nvPr>
        </p:nvSpPr>
        <p:spPr/>
        <p:txBody>
          <a:bodyPr/>
          <a:lstStyle/>
          <a:p>
            <a:pPr lvl="0" indent="-457200" marL="457200">
              <a:buAutoNum type="arabicPeriod"/>
            </a:pPr>
            <a:r>
              <a:rPr/>
              <a:t>The most important (and often the most easily improved) aspects of writing are clarity and organization.</a:t>
            </a:r>
          </a:p>
          <a:p>
            <a:pPr lvl="0" indent="-457200" marL="457200">
              <a:buAutoNum type="arabicPeriod"/>
            </a:pPr>
            <a:r>
              <a:rPr/>
              <a:t>The basic element of clarity and organization is a good paragraph.</a:t>
            </a:r>
          </a:p>
          <a:p>
            <a:pPr lvl="0" indent="-457200" marL="457200">
              <a:buAutoNum type="arabicPeriod"/>
            </a:pPr>
            <a:r>
              <a:rPr/>
              <a:t>A good paragraph has 3 parts:</a:t>
            </a:r>
          </a:p>
          <a:p>
            <a:pPr lvl="1" indent="-457200" marL="914400">
              <a:buAutoNum type="arabicPeriod"/>
            </a:pPr>
            <a:r>
              <a:rPr/>
              <a:t>A TOPIC SENTENCE (to introduce the paragraph)</a:t>
            </a:r>
          </a:p>
          <a:p>
            <a:pPr lvl="1" indent="-457200" marL="914400">
              <a:buAutoNum type="arabicPeriod"/>
            </a:pPr>
            <a:r>
              <a:rPr/>
              <a:t>3-10 CONTENT SENTENCES</a:t>
            </a:r>
          </a:p>
          <a:p>
            <a:pPr lvl="1" indent="-457200" marL="914400">
              <a:buAutoNum type="arabicPeriod"/>
            </a:pPr>
            <a:r>
              <a:rPr/>
              <a:t>A TRANSITION SENTENCE (to introduce the next paragraph)</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Topic Sentences</a:t>
            </a:r>
          </a:p>
        </p:txBody>
      </p:sp>
      <p:sp>
        <p:nvSpPr>
          <p:cNvPr id="3" name="Content Placeholder 2"/>
          <p:cNvSpPr>
            <a:spLocks noGrp="1"/>
          </p:cNvSpPr>
          <p:nvPr>
            <p:ph idx="1"/>
          </p:nvPr>
        </p:nvSpPr>
        <p:spPr/>
        <p:txBody>
          <a:bodyPr/>
          <a:lstStyle/>
          <a:p>
            <a:pPr lvl="0"/>
            <a:r>
              <a:rPr/>
              <a:t>The paragraph starts with what is called a “TOPIC SENTENCE”.</a:t>
            </a:r>
          </a:p>
          <a:p>
            <a:pPr lvl="0"/>
            <a:r>
              <a:rPr/>
              <a:t>Introduces topic of paragraph the idea you will be discussing in that paragraph.</a:t>
            </a:r>
          </a:p>
          <a:p>
            <a:pPr lvl="0"/>
            <a:r>
              <a:rPr/>
              <a:t>ALL SENTENCES IN THE PARAGRAPH AFTER THE TOPIC SENTENCE MUST PERTAIN TO AND SUPPORT THE TOPIC SENTENCE!</a:t>
            </a:r>
          </a:p>
          <a:p>
            <a:pPr lvl="1"/>
            <a:r>
              <a:rPr/>
              <a:t>If there are sentences that do not pertain to the topic sentence, they are out of place (they probably belong in a different paragraph) and will only confuse the reader.</a:t>
            </a:r>
          </a:p>
          <a:p>
            <a:pPr lvl="1"/>
            <a:r>
              <a:rPr/>
              <a:t>There may be three to ten content sentences that support the topic sentence.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Transitions</a:t>
            </a:r>
          </a:p>
        </p:txBody>
      </p:sp>
      <p:sp>
        <p:nvSpPr>
          <p:cNvPr id="3" name="Content Placeholder 2"/>
          <p:cNvSpPr>
            <a:spLocks noGrp="1"/>
          </p:cNvSpPr>
          <p:nvPr>
            <p:ph idx="1"/>
          </p:nvPr>
        </p:nvSpPr>
        <p:spPr/>
        <p:txBody>
          <a:bodyPr/>
          <a:lstStyle/>
          <a:p>
            <a:pPr lvl="0" indent="0" marL="1270000">
              <a:buNone/>
            </a:pPr>
            <a:r>
              <a:rPr sz="2000"/>
              <a:t>After you have fully explained the topic sentence, you need a sentence to lead the reader into the next paragraph.</a:t>
            </a:r>
          </a:p>
          <a:p>
            <a:pPr lvl="0"/>
            <a:r>
              <a:rPr/>
              <a:t>This type of sentence is called a TRANSITION SENTENCE.</a:t>
            </a:r>
          </a:p>
          <a:p>
            <a:pPr lvl="0"/>
            <a:r>
              <a:rPr/>
              <a:t>Learning to write good transitions takes practice.</a:t>
            </a:r>
          </a:p>
          <a:p>
            <a:pPr lvl="0"/>
            <a:r>
              <a:rPr/>
              <a:t>The transition often relates the idea from the current paragraph with what will be talked about next.</a:t>
            </a:r>
          </a:p>
          <a:p>
            <a:pPr lvl="0"/>
            <a:r>
              <a:rPr/>
              <a:t>The transition is ALWAYS the last sentence of a paragraph.</a:t>
            </a:r>
          </a:p>
          <a:p>
            <a:pPr lvl="0" indent="0" marL="1270000">
              <a:buNone/>
            </a:pPr>
            <a:r>
              <a:rPr sz="2000" b="1"/>
              <a:t>Tip</a:t>
            </a:r>
          </a:p>
          <a:p>
            <a:pPr lvl="0" indent="0" marL="1270000">
              <a:buNone/>
            </a:pPr>
            <a:r>
              <a:rPr sz="2000"/>
              <a:t>It is much like a “clue” about what you will talk about next.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Here is an example</a:t>
            </a:r>
          </a:p>
        </p:txBody>
      </p:sp>
      <p:sp>
        <p:nvSpPr>
          <p:cNvPr id="3" name="Content Placeholder 2"/>
          <p:cNvSpPr>
            <a:spLocks noGrp="1"/>
          </p:cNvSpPr>
          <p:nvPr>
            <p:ph idx="1"/>
          </p:nvPr>
        </p:nvSpPr>
        <p:spPr/>
        <p:txBody>
          <a:bodyPr/>
          <a:lstStyle/>
          <a:p>
            <a:pPr lvl="0" indent="0" marL="0">
              <a:buNone/>
            </a:pPr>
            <a:r>
              <a:rPr/>
              <a:t>The paragraph talked about the psychological treatment of social phobia in adults.</a:t>
            </a:r>
          </a:p>
          <a:p>
            <a:pPr lvl="0" indent="0" marL="0">
              <a:buNone/>
            </a:pPr>
            <a:r>
              <a:rPr/>
              <a:t>The transition sentence at the end of the paragraph is:</a:t>
            </a:r>
          </a:p>
          <a:p>
            <a:pPr lvl="0" indent="0" marL="1270000">
              <a:buNone/>
            </a:pPr>
            <a:r>
              <a:rPr sz="2000"/>
              <a:t>“Although much investigation has been done into the treatment of social phobia in adults, very little work has been done to address treatment avenues for children who suffer from the disorder.”</a:t>
            </a:r>
          </a:p>
          <a:p>
            <a:pPr lvl="0"/>
            <a:r>
              <a:rPr/>
              <a:t>Can you guess what the next paragraph will be about?</a:t>
            </a:r>
          </a:p>
          <a:p>
            <a:pPr lvl="0"/>
            <a:r>
              <a:rPr/>
              <a:t>You got it, the next paragraph will be about the treatment of children with social phobia!</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Paragraphs</a:t>
            </a:r>
          </a:p>
        </p:txBody>
      </p:sp>
      <p:sp>
        <p:nvSpPr>
          <p:cNvPr id="3" name="Content Placeholder 2"/>
          <p:cNvSpPr>
            <a:spLocks noGrp="1"/>
          </p:cNvSpPr>
          <p:nvPr>
            <p:ph idx="1"/>
          </p:nvPr>
        </p:nvSpPr>
        <p:spPr/>
        <p:txBody>
          <a:bodyPr/>
          <a:lstStyle/>
          <a:p>
            <a:pPr lvl="0" indent="0" marL="0">
              <a:buNone/>
            </a:pPr>
            <a:r>
              <a:rPr/>
              <a:t>So, if we look at the format for any given paragraph, it should look like this…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Paragraphs</a:t>
            </a:r>
          </a:p>
        </p:txBody>
      </p:sp>
      <p:sp>
        <p:nvSpPr>
          <p:cNvPr id="3" name="Content Placeholder 2"/>
          <p:cNvSpPr>
            <a:spLocks noGrp="1"/>
          </p:cNvSpPr>
          <p:nvPr>
            <p:ph idx="1" sz="half"/>
          </p:nvPr>
        </p:nvSpPr>
        <p:spPr/>
        <p:txBody>
          <a:bodyPr/>
          <a:lstStyle/>
          <a:p>
            <a:pPr lvl="0"/>
            <a:r>
              <a:rPr/>
              <a:t>TOPIC SENTENCE (new paragraph)</a:t>
            </a:r>
          </a:p>
          <a:p>
            <a:pPr lvl="1"/>
            <a:r>
              <a:rPr/>
              <a:t>content sentence #1</a:t>
            </a:r>
          </a:p>
          <a:p>
            <a:pPr lvl="1"/>
            <a:r>
              <a:rPr/>
              <a:t>content sentence #2</a:t>
            </a:r>
          </a:p>
          <a:p>
            <a:pPr lvl="1"/>
            <a:r>
              <a:rPr/>
              <a:t>content sentence #3</a:t>
            </a:r>
          </a:p>
          <a:p>
            <a:pPr lvl="1"/>
            <a:r>
              <a:rPr/>
              <a:t>. . .</a:t>
            </a:r>
          </a:p>
          <a:p>
            <a:pPr lvl="1"/>
            <a:r>
              <a:rPr/>
              <a:t>content sentence #8</a:t>
            </a:r>
          </a:p>
          <a:p>
            <a:pPr lvl="0"/>
            <a:r>
              <a:rPr/>
              <a:t>TRANSITION SENTENCE</a:t>
            </a:r>
          </a:p>
        </p:txBody>
      </p:sp>
      <p:sp>
        <p:nvSpPr>
          <p:cNvPr id="4" name="Content Placeholder 3"/>
          <p:cNvSpPr>
            <a:spLocks noGrp="1"/>
          </p:cNvSpPr>
          <p:nvPr>
            <p:ph idx="2" sz="half"/>
          </p:nvPr>
        </p:nvSpPr>
        <p:spPr/>
        <p:txBody>
          <a:bodyPr/>
          <a:lstStyle/>
          <a:p>
            <a:pPr lvl="0"/>
            <a:r>
              <a:rPr/>
              <a:t>TOPIC SENTENCE (new paragraph)</a:t>
            </a:r>
          </a:p>
          <a:p>
            <a:pPr lvl="1"/>
            <a:r>
              <a:rPr/>
              <a:t>content sentence #1</a:t>
            </a:r>
          </a:p>
          <a:p>
            <a:pPr lvl="1"/>
            <a:r>
              <a:rPr/>
              <a:t>content sentence #2</a:t>
            </a:r>
          </a:p>
          <a:p>
            <a:pPr lvl="1"/>
            <a:r>
              <a:rPr/>
              <a:t>. . .</a:t>
            </a:r>
          </a:p>
          <a:p>
            <a:pPr lvl="1"/>
            <a:r>
              <a:rPr/>
              <a:t>content sentence #5</a:t>
            </a:r>
          </a:p>
          <a:p>
            <a:pPr lvl="0"/>
            <a:r>
              <a:rPr/>
              <a:t>TRANSITION SENTENCE</a:t>
            </a:r>
          </a:p>
          <a:p>
            <a:pPr lvl="0"/>
            <a:r>
              <a:rPr/>
              <a:t>… and so on until the paper is finished!</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There is no limit on how long a paragraph should be</a:t>
            </a:r>
          </a:p>
        </p:txBody>
      </p:sp>
      <p:sp>
        <p:nvSpPr>
          <p:cNvPr id="3" name="Content Placeholder 2"/>
          <p:cNvSpPr>
            <a:spLocks noGrp="1"/>
          </p:cNvSpPr>
          <p:nvPr>
            <p:ph idx="1"/>
          </p:nvPr>
        </p:nvSpPr>
        <p:spPr/>
        <p:txBody>
          <a:bodyPr/>
          <a:lstStyle/>
          <a:p>
            <a:pPr lvl="0" indent="0" marL="1270000">
              <a:buNone/>
            </a:pPr>
            <a:r>
              <a:rPr sz="2000" b="1"/>
              <a:t>But remember</a:t>
            </a:r>
          </a:p>
          <a:p>
            <a:pPr lvl="0"/>
            <a:r>
              <a:rPr sz="2000"/>
              <a:t>If a paragraph is over 1 double-spaced page, it is probably too long. The reader may forget what idea the paragraph was discussing to begin with.</a:t>
            </a:r>
          </a:p>
          <a:p>
            <a:pPr lvl="0"/>
            <a:r>
              <a:rPr sz="2000"/>
              <a:t>Remember that paragraphs that are too big, often are trying to say too much at one time.</a:t>
            </a:r>
          </a:p>
          <a:p>
            <a:pPr lvl="0"/>
            <a:r>
              <a:rPr sz="2000"/>
              <a:t>Consider separating these multiple ideas and give each of them a separate paragraph, for a more complete description.</a:t>
            </a:r>
          </a:p>
          <a:p>
            <a:pPr lvl="0" indent="0" marL="1270000">
              <a:buNone/>
            </a:pPr>
            <a:r>
              <a:rPr sz="2000"/>
              <a:t>REMEMBER CLARITY IS THE ISSUE !</a:t>
            </a:r>
          </a:p>
          <a:p>
            <a:pPr lvl="0" indent="0" marL="0">
              <a:buNone/>
            </a:pPr>
            <a:r>
              <a:rPr/>
              <a:t>CLARITY IS ACHIEVED BY COMBINING SIMPLE, WELL-DESCRIBED IDEAS !!</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Ordering Paragraphs</a:t>
            </a:r>
          </a:p>
        </p:txBody>
      </p:sp>
      <p:sp>
        <p:nvSpPr>
          <p:cNvPr id="3" name="Content Placeholder 2"/>
          <p:cNvSpPr>
            <a:spLocks noGrp="1"/>
          </p:cNvSpPr>
          <p:nvPr>
            <p:ph idx="1"/>
          </p:nvPr>
        </p:nvSpPr>
        <p:spPr/>
        <p:txBody>
          <a:bodyPr/>
          <a:lstStyle/>
          <a:p>
            <a:pPr lvl="0" indent="0" marL="1270000">
              <a:buNone/>
            </a:pPr>
            <a:r>
              <a:rPr sz="2000"/>
              <a:t>OK, in what order do I put the paragraphs?</a:t>
            </a:r>
          </a:p>
          <a:p>
            <a:pPr lvl="0" indent="0" marL="1270000">
              <a:buNone/>
            </a:pPr>
            <a:r>
              <a:rPr sz="2000" b="1"/>
              <a:t>Tip</a:t>
            </a:r>
          </a:p>
          <a:p>
            <a:pPr lvl="0" indent="0" marL="1270000">
              <a:buNone/>
            </a:pPr>
            <a:r>
              <a:rPr sz="2000"/>
              <a:t>The “rule of thumb” is that you begin with the most general idea, then narrow the focus with each successive paragraph, and finally return to remind the reader of the general idea.</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Here’s an example…</a:t>
            </a:r>
          </a:p>
        </p:txBody>
      </p:sp>
      <p:sp>
        <p:nvSpPr>
          <p:cNvPr id="3" name="Content Placeholder 2"/>
          <p:cNvSpPr>
            <a:spLocks noGrp="1"/>
          </p:cNvSpPr>
          <p:nvPr>
            <p:ph idx="1"/>
          </p:nvPr>
        </p:nvSpPr>
        <p:spPr/>
        <p:txBody>
          <a:bodyPr/>
          <a:lstStyle/>
          <a:p>
            <a:pPr lvl="0"/>
            <a:r>
              <a:rPr/>
              <a:t>Paragraph #1 Define social phobia</a:t>
            </a:r>
          </a:p>
          <a:p>
            <a:pPr lvl="0"/>
            <a:r>
              <a:rPr/>
              <a:t>Paragraph #2 Describe the need for treating social phobia</a:t>
            </a:r>
          </a:p>
          <a:p>
            <a:pPr lvl="0"/>
            <a:r>
              <a:rPr/>
              <a:t>Paragraph #3 Treatment of adults with social phobia</a:t>
            </a:r>
          </a:p>
          <a:p>
            <a:pPr lvl="0"/>
            <a:r>
              <a:rPr/>
              <a:t>Paragraph #4 Treatment of children with social phobia</a:t>
            </a:r>
          </a:p>
          <a:p>
            <a:pPr lvl="0"/>
            <a:r>
              <a:rPr/>
              <a:t>Paragraph #5 Inpatient versus outpatient treatment of social phobia for children</a:t>
            </a:r>
          </a:p>
          <a:p>
            <a:pPr lvl="0"/>
            <a:r>
              <a:rPr/>
              <a:t>Paragraph #6 Proposed study will compare which is better (this paragraph will contain specific hypothesis about which treatment will be better.</a:t>
            </a:r>
          </a:p>
          <a:p>
            <a:pPr lvl="0"/>
            <a:r>
              <a:rPr/>
              <a:t>Paragraph #7 A brief review of social phobia and what the proposed research will add to what we know.</a:t>
            </a:r>
          </a:p>
          <a:p>
            <a:pPr lvl="0" indent="0" marL="0">
              <a:buNone/>
            </a:pPr>
            <a:r>
              <a:rPr/>
              <a:t>Organized papers are easier to read because they provide a road map.</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Improve your organization</a:t>
            </a:r>
          </a:p>
        </p:txBody>
      </p:sp>
      <p:sp>
        <p:nvSpPr>
          <p:cNvPr id="3" name="Content Placeholder 2"/>
          <p:cNvSpPr>
            <a:spLocks noGrp="1"/>
          </p:cNvSpPr>
          <p:nvPr>
            <p:ph idx="1"/>
          </p:nvPr>
        </p:nvSpPr>
        <p:spPr/>
        <p:txBody>
          <a:bodyPr/>
          <a:lstStyle/>
          <a:p>
            <a:pPr lvl="0"/>
            <a:r>
              <a:rPr/>
              <a:t>Make and outline BEFORE you start writing.</a:t>
            </a:r>
          </a:p>
          <a:p>
            <a:pPr lvl="0"/>
            <a:r>
              <a:rPr/>
              <a:t>Label each idea (paragraph) and which order you believe they should appear in your paper.</a:t>
            </a:r>
          </a:p>
          <a:p>
            <a:pPr lvl="0"/>
            <a:r>
              <a:rPr/>
              <a:t>It will also be useful to write your topic sentences and transitions </a:t>
            </a:r>
            <a:r>
              <a:rPr b="1"/>
              <a:t>before</a:t>
            </a:r>
            <a:r>
              <a:rPr/>
              <a:t> you sit down to write the rest of the paper.</a:t>
            </a:r>
          </a:p>
          <a:p>
            <a:pPr lvl="0" indent="0" marL="0">
              <a:buNone/>
            </a:pPr>
            <a:r>
              <a:rPr/>
              <a:t>“The way to learn to write is to write. There are no short-cuts.”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Tips</a:t>
            </a:r>
          </a:p>
        </p:txBody>
      </p:sp>
      <p:sp>
        <p:nvSpPr>
          <p:cNvPr id="3" name="Content Placeholder 2"/>
          <p:cNvSpPr>
            <a:spLocks noGrp="1"/>
          </p:cNvSpPr>
          <p:nvPr>
            <p:ph idx="1"/>
          </p:nvPr>
        </p:nvSpPr>
        <p:spPr/>
        <p:txBody>
          <a:bodyPr/>
          <a:lstStyle/>
          <a:p>
            <a:pPr lvl="0" indent="0" marL="1270000">
              <a:buNone/>
            </a:pPr>
            <a:r>
              <a:rPr sz="2000" b="1"/>
              <a:t>Tip</a:t>
            </a:r>
          </a:p>
          <a:p>
            <a:pPr lvl="0" indent="0" marL="1270000">
              <a:buNone/>
            </a:pPr>
            <a:r>
              <a:rPr sz="2000"/>
              <a:t>Two things you should do after you finish your paper:</a:t>
            </a:r>
          </a:p>
          <a:p>
            <a:pPr lvl="0"/>
            <a:r>
              <a:rPr sz="2000"/>
              <a:t>Let the paper “get cold” for a day or two and re-read it (and probably re-write it - it never looks as good as you remember it being)</a:t>
            </a:r>
          </a:p>
          <a:p>
            <a:pPr lvl="0"/>
            <a:r>
              <a:rPr sz="2000"/>
              <a:t>Let someone else read it – “peer review” brings fresh ideas &amp; options</a:t>
            </a:r>
          </a:p>
          <a:p>
            <a:pPr lvl="0" indent="0" marL="0">
              <a:buNone/>
            </a:pPr>
            <a:r>
              <a:rPr/>
              <a:t>“The way to learn to write is to write. There are no short-cuts.”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Concise Writing</a:t>
            </a:r>
          </a:p>
        </p:txBody>
      </p:sp>
      <p:sp>
        <p:nvSpPr>
          <p:cNvPr id="3" name="Content Placeholder 2"/>
          <p:cNvSpPr>
            <a:spLocks noGrp="1"/>
          </p:cNvSpPr>
          <p:nvPr>
            <p:ph idx="1"/>
          </p:nvPr>
        </p:nvSpPr>
        <p:spPr/>
        <p:txBody>
          <a:bodyPr/>
          <a:lstStyle/>
          <a:p>
            <a:pPr lvl="0"/>
            <a:r>
              <a:rPr/>
              <a:t>Most reviews of articles involve reporting a variety of information, including number of participants, materials used, etc. (see grading sheets).</a:t>
            </a:r>
          </a:p>
          <a:p>
            <a:pPr lvl="0"/>
            <a:r>
              <a:rPr/>
              <a:t>While it is acceptable to report each “bit” of information in its own sentence, this leads to a bloated paper that is boring to read.</a:t>
            </a:r>
          </a:p>
          <a:p>
            <a:pPr lvl="0"/>
            <a:r>
              <a:rPr/>
              <a:t>Good writers learn to integrate ideas and information into concise sentences and paragraphs.</a:t>
            </a:r>
          </a:p>
          <a:p>
            <a:pPr lvl="0"/>
            <a:r>
              <a:rPr/>
              <a:t>Think about each “bit” of information you are including. Are they truly separate “bits” or are they describing different aspects of the same idea? Can the bits be combined into more descriptive sentences?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Examples</a:t>
            </a:r>
          </a:p>
        </p:txBody>
      </p:sp>
      <p:sp>
        <p:nvSpPr>
          <p:cNvPr id="3" name="Content Placeholder 2"/>
          <p:cNvSpPr>
            <a:spLocks noGrp="1"/>
          </p:cNvSpPr>
          <p:nvPr>
            <p:ph idx="1" sz="half"/>
          </p:nvPr>
        </p:nvSpPr>
        <p:spPr/>
        <p:txBody>
          <a:bodyPr/>
          <a:lstStyle/>
          <a:p>
            <a:pPr lvl="0" indent="0" marL="0">
              <a:spcBef>
                <a:spcPts val="3000"/>
              </a:spcBef>
              <a:buNone/>
            </a:pPr>
            <a:r>
              <a:rPr b="1"/>
              <a:t>Nonintegrated (Boring)</a:t>
            </a:r>
          </a:p>
          <a:p>
            <a:pPr lvl="0" indent="0" marL="0">
              <a:buNone/>
            </a:pPr>
            <a:r>
              <a:rPr/>
              <a:t>Two hundred and four students participated in the study. All of the students were undergraduates in psychology. Roughly 84% of the participants were female. The materials used were the Beck Depression Inventory and the Beck Anxiety Inventory. The participants were brought into a large classroom and asked to fill out the inventories.</a:t>
            </a:r>
          </a:p>
          <a:p>
            <a:pPr lvl="0" indent="0" marL="0">
              <a:buNone/>
            </a:pPr>
            <a:r>
              <a:rPr/>
              <a:t>(52 words, 5 sentences)</a:t>
            </a:r>
          </a:p>
        </p:txBody>
      </p:sp>
      <p:sp>
        <p:nvSpPr>
          <p:cNvPr id="4" name="Content Placeholder 3"/>
          <p:cNvSpPr>
            <a:spLocks noGrp="1"/>
          </p:cNvSpPr>
          <p:nvPr>
            <p:ph idx="2" sz="half"/>
          </p:nvPr>
        </p:nvSpPr>
        <p:spPr/>
        <p:txBody>
          <a:bodyPr/>
          <a:lstStyle/>
          <a:p>
            <a:pPr lvl="0" indent="0" marL="0">
              <a:spcBef>
                <a:spcPts val="3000"/>
              </a:spcBef>
              <a:buNone/>
            </a:pPr>
            <a:r>
              <a:rPr b="1"/>
              <a:t>Concise &amp; Integrated</a:t>
            </a:r>
          </a:p>
          <a:p>
            <a:pPr lvl="0" indent="0" marL="0">
              <a:buNone/>
            </a:pPr>
            <a:r>
              <a:rPr/>
              <a:t>Two hundred and four undergraduate psychology students (84% female) participated in the study. The participants were brought into a large classroom and asked to fill out the Beck Depression Inventory and the Beck Anxiety Inventory.</a:t>
            </a:r>
          </a:p>
          <a:p>
            <a:pPr lvl="0" indent="0" marL="0">
              <a:buNone/>
            </a:pPr>
            <a:r>
              <a:rPr/>
              <a:t>(35 words, 2 sentences)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a:lstStyle/>
          <a:p>
            <a:pPr lvl="0" indent="0" marL="0">
              <a:buNone/>
            </a:pPr>
            <a:r>
              <a:rPr/>
              <a:t>Questions?</a:t>
            </a:r>
          </a:p>
        </p:txBody>
      </p:sp>
    </p:spTree>
  </p:cSld>
</p:sld>
</file>

<file path=ppt/theme/theme1.xml><?xml version="1.0" encoding="utf-8"?>
<a:theme xmlns:a="http://schemas.openxmlformats.org/drawingml/2006/main" name="Parcel">
  <a:themeElements>
    <a:clrScheme name="Custom 3">
      <a:dk1>
        <a:srgbClr val="000000"/>
      </a:dk1>
      <a:lt1>
        <a:srgbClr val="FFFFFF"/>
      </a:lt1>
      <a:dk2>
        <a:srgbClr val="4A5356"/>
      </a:dk2>
      <a:lt2>
        <a:srgbClr val="E8E3CE"/>
      </a:lt2>
      <a:accent1>
        <a:srgbClr val="F6A21D"/>
      </a:accent1>
      <a:accent2>
        <a:srgbClr val="5E5E5E"/>
      </a:accent2>
      <a:accent3>
        <a:srgbClr val="005392"/>
      </a:accent3>
      <a:accent4>
        <a:srgbClr val="FEFB00"/>
      </a:accent4>
      <a:accent5>
        <a:srgbClr val="87795D"/>
      </a:accent5>
      <a:accent6>
        <a:srgbClr val="A0988C"/>
      </a:accent6>
      <a:hlink>
        <a:srgbClr val="005392"/>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TotalTime>9</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Gill Sans MT</vt:lpstr>
      <vt:lpstr>Parcel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Research Project Reports</dc:title>
  <dc:creator/>
  <cp:keywords/>
  <dcterms:created xsi:type="dcterms:W3CDTF">2026-09-10T16:49:02Z</dcterms:created>
  <dcterms:modified xsi:type="dcterms:W3CDTF">2026-09-10T16:49:02Z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revealjs-plugins">
    <vt:lpwstr/>
  </property>
  <property fmtid="{D5CDD505-2E9C-101B-9397-08002B2CF9AE}" pid="8" name="subtitle">
    <vt:lpwstr>Adapted from slides How to Improve Your Writing with many thanks to: James A. Burns University of Nebraska-Lincoln</vt:lpwstr>
  </property>
  <property fmtid="{D5CDD505-2E9C-101B-9397-08002B2CF9AE}" pid="9" name="toc-title">
    <vt:lpwstr>Table of contents</vt:lpwstr>
  </property>
</Properties>
</file>