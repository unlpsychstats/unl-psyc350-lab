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>
  <p:sldMasterIdLst>
    <p:sldMasterId id="214748369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23227"/>
    <p:restoredTop sz="94707"/>
  </p:normalViewPr>
  <p:slideViewPr>
    <p:cSldViewPr snapToGrid="0">
      <p:cViewPr varScale="1">
        <p:scale>
          <a:sx d="100" n="100"/>
          <a:sy d="100" n="100"/>
        </p:scale>
        <p:origin x="184" y="80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notesMaster" Target="notesMasters/notesMaster1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of our discussions about reading or writing research reports will revolve around these 6 things. Learn them!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Proper paraphrasing means expressing ideas in your own words and sentence structure, not just replacing words with synonyms.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638044"/>
            <a:ext cx="4907280" cy="3465576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40" y="2638044"/>
            <a:ext cx="4907280" cy="3465576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313433"/>
            <a:ext cx="4907280" cy="548640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2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200" b="1"/>
            </a:lvl2pPr>
            <a:lvl3pPr marL="914400" indent="0">
              <a:buNone/>
              <a:defRPr sz="2200" b="1"/>
            </a:lvl3pPr>
            <a:lvl4pPr marL="1371600" indent="0">
              <a:buNone/>
              <a:defRPr sz="2200" b="1"/>
            </a:lvl4pPr>
            <a:lvl5pPr marL="1828800" indent="0">
              <a:buNone/>
              <a:defRPr sz="2200" b="1"/>
            </a:lvl5pPr>
            <a:lvl6pPr marL="2286000" indent="0">
              <a:buNone/>
              <a:defRPr sz="2200" b="1"/>
            </a:lvl6pPr>
            <a:lvl7pPr marL="2743200" indent="0">
              <a:buNone/>
              <a:defRPr sz="2200" b="1"/>
            </a:lvl7pPr>
            <a:lvl8pPr marL="3200400" indent="0">
              <a:buNone/>
              <a:defRPr sz="2200" b="1"/>
            </a:lvl8pPr>
            <a:lvl9pPr marL="3657600" indent="0">
              <a:buNone/>
              <a:defRPr sz="2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26080"/>
            <a:ext cx="4907280" cy="317754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40" y="2926080"/>
            <a:ext cx="4907280" cy="3177540"/>
          </a:xfrm>
        </p:spPr>
        <p:txBody>
          <a:bodyPr/>
          <a:lstStyle>
            <a:lvl5pPr>
              <a:defRPr sz="2000"/>
            </a:lvl5pPr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87440" y="2313433"/>
            <a:ext cx="4907280" cy="548640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2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200" b="1"/>
            </a:lvl2pPr>
            <a:lvl3pPr marL="914400" indent="0">
              <a:buNone/>
              <a:defRPr sz="2200" b="1"/>
            </a:lvl3pPr>
            <a:lvl4pPr marL="1371600" indent="0">
              <a:buNone/>
              <a:defRPr sz="2200" b="1"/>
            </a:lvl4pPr>
            <a:lvl5pPr marL="1828800" indent="0">
              <a:buNone/>
              <a:defRPr sz="2200" b="1"/>
            </a:lvl5pPr>
            <a:lvl6pPr marL="2286000" indent="0">
              <a:buNone/>
              <a:defRPr sz="2200" b="1"/>
            </a:lvl6pPr>
            <a:lvl7pPr marL="2743200" indent="0">
              <a:buNone/>
              <a:defRPr sz="2200" b="1"/>
            </a:lvl7pPr>
            <a:lvl8pPr marL="3200400" indent="0">
              <a:buNone/>
              <a:defRPr sz="2200" b="1"/>
            </a:lvl8pPr>
            <a:lvl9pPr marL="3657600" indent="0">
              <a:buNone/>
              <a:defRPr sz="2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C1385-5213-FF73-D596-BC1CA3B3B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E292A-75F8-B354-91E2-6DBA14CAC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1/30/26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094987-A12A-7848-EFA7-78A34A7FA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FACB0E-E788-503A-3821-43D416E39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85BA4BE-02C8-9B0B-FD58-C57B50330E23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459038" y="2386013"/>
            <a:ext cx="7283450" cy="337343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711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w="31750">
            <a:solidFill>
              <a:srgbClr val="404040"/>
            </a:solidFill>
            <a:miter lim="800000"/>
          </a:ln>
        </p:spPr>
        <p:txBody>
          <a:bodyPr anchor="ctr" bIns="182880" lIns="182880" rIns="182880" rtlCol="0" tIns="18288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dirty="0" lang="en-US"/>
              <a:t>1/30/26</a:t>
            </a:fld>
            <a:endParaRPr dirty="0"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dirty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anchor="ctr" bIns="45720" lIns="18288" rIns="18288" rtlCol="0" tIns="45720" vert="horz">
            <a:noAutofit/>
          </a:bodyPr>
          <a:lstStyle>
            <a:lvl1pPr algn="ctr">
              <a:defRPr baseline="0" spc="0" sz="110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dirty="0" lang="en-US"/>
              <a:pPr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8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hf dt="0" ftr="0" hdr="0" sldNum="0"/>
  <p:txStyles>
    <p:titleStyle>
      <a:lvl1pPr algn="ctr" defTabSz="914400" eaLnBrk="1" hangingPunct="1" latinLnBrk="0" rtl="0">
        <a:lnSpc>
          <a:spcPct val="90000"/>
        </a:lnSpc>
        <a:spcBef>
          <a:spcPct val="0"/>
        </a:spcBef>
        <a:buNone/>
        <a:defRPr baseline="0" cap="all" kern="1200" spc="200" sz="280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8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4572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6858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9144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11430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131286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148431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165735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16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1882775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Reading and Writing Research Reports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695194" y="4352544"/>
            <a:ext cx="6801612" cy="1239894"/>
          </a:xfrm>
          <a:noFill/>
        </p:spPr>
        <p:txBody>
          <a:bodyPr/>
          <a:lstStyle/>
          <a:p>
            <a:pPr lvl="0" indent="0" marL="0">
              <a:buNone/>
            </a:pPr>
            <a:r>
              <a:rPr/>
              <a:t>APA Format and Research Report Structure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Six Basic Components of Research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What has the author(s) read that prompted the research?</a:t>
            </a:r>
          </a:p>
          <a:p>
            <a:pPr lvl="0" indent="-457200" marL="457200">
              <a:buAutoNum type="arabicPeriod"/>
            </a:pPr>
            <a:r>
              <a:rPr/>
              <a:t>What is the purpose of the research being reported?</a:t>
            </a:r>
          </a:p>
          <a:p>
            <a:pPr lvl="0" indent="-457200" marL="457200">
              <a:buAutoNum type="arabicPeriod"/>
            </a:pPr>
            <a:r>
              <a:rPr/>
              <a:t>What is the specific research question or research hypothesis?</a:t>
            </a:r>
          </a:p>
          <a:p>
            <a:pPr lvl="0" indent="-457200" marL="457200">
              <a:buAutoNum type="arabicPeriod"/>
            </a:pPr>
            <a:r>
              <a:rPr/>
              <a:t>How was the research conducted?</a:t>
            </a:r>
          </a:p>
          <a:p>
            <a:pPr lvl="1"/>
            <a:r>
              <a:rPr/>
              <a:t>Who were the participants?</a:t>
            </a:r>
          </a:p>
          <a:p>
            <a:pPr lvl="1"/>
            <a:r>
              <a:rPr/>
              <a:t>What equipment and/or materials were used?</a:t>
            </a:r>
          </a:p>
          <a:p>
            <a:pPr lvl="1"/>
            <a:r>
              <a:rPr/>
              <a:t>What treatment &amp; data collection procedures were used?</a:t>
            </a:r>
          </a:p>
          <a:p>
            <a:pPr lvl="0" indent="-457200" marL="457200">
              <a:buAutoNum type="arabicPeriod"/>
            </a:pPr>
            <a:r>
              <a:rPr/>
              <a:t>What are the results of the statistical analysis?</a:t>
            </a:r>
          </a:p>
          <a:p>
            <a:pPr lvl="0" indent="-457200" marL="457200">
              <a:buAutoNum type="arabicPeriod"/>
            </a:pPr>
            <a:r>
              <a:rPr/>
              <a:t>How do the current findings integrate with previous research?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Standardization of Research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Since there is a nearly universal set of 6 things used to describe research and its outcomes, it makes sense to “standardize” those reports.</a:t>
            </a:r>
          </a:p>
          <a:p>
            <a:pPr lvl="0" indent="0" marL="0">
              <a:buNone/>
            </a:pPr>
            <a:r>
              <a:rPr b="1"/>
              <a:t>Benefits:</a:t>
            </a:r>
          </a:p>
          <a:p>
            <a:pPr lvl="0"/>
            <a:r>
              <a:rPr/>
              <a:t>Makes it easier to write reports clearly</a:t>
            </a:r>
          </a:p>
          <a:p>
            <a:pPr lvl="0"/>
            <a:r>
              <a:rPr/>
              <a:t>Makes it easier to read and understand reports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History of APA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1928:</a:t>
            </a:r>
            <a:r>
              <a:rPr/>
              <a:t> Group of editors and business managers of anthropological and psychological journals wrote 7-page set of guidelines</a:t>
            </a:r>
          </a:p>
          <a:p>
            <a:pPr lvl="0" indent="0" marL="0">
              <a:buNone/>
            </a:pPr>
            <a:r>
              <a:rPr b="1"/>
              <a:t>Today:</a:t>
            </a:r>
            <a:r>
              <a:rPr/>
              <a:t> Publication Manual of the American Psychological Association, 7th Edition (427 pages) with the same basic intent</a:t>
            </a:r>
          </a:p>
          <a:p>
            <a:pPr lvl="0" indent="0" marL="0">
              <a:buNone/>
            </a:pPr>
            <a:r>
              <a:rPr/>
              <a:t>Recent editions are streamlining the rules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Components of APA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 b="1"/>
              <a:t>Content</a:t>
            </a:r>
            <a:r>
              <a:rPr/>
              <a:t> of the report and how it is organized and labeled</a:t>
            </a:r>
          </a:p>
          <a:p>
            <a:pPr lvl="0" indent="-457200" marL="457200">
              <a:buAutoNum type="arabicPeriod"/>
            </a:pPr>
            <a:r>
              <a:rPr b="1"/>
              <a:t>Format</a:t>
            </a:r>
            <a:r>
              <a:rPr/>
              <a:t> of the report (margins, citations, tables, etc.)</a:t>
            </a:r>
          </a:p>
          <a:p>
            <a:pPr lvl="0" indent="-457200" marL="457200">
              <a:buAutoNum type="arabicPeriod"/>
            </a:pPr>
            <a:r>
              <a:rPr b="1"/>
              <a:t>Style</a:t>
            </a:r>
            <a:r>
              <a:rPr/>
              <a:t> of the report (non-sexist language, etc.)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Parts of an APA Paper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Table 1. Components of an APA Research Paper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314933623" name=""/>
          <p:cNvGraphicFramePr>
            <a:graphicFrameLocks noGrp="true"/>
          </p:cNvGraphicFramePr>
          <p:nvPr/>
        </p:nvGraphicFramePr>
        <p:xfrm>
          <a:off x="2438400" y="3108960"/>
          <a:ext cx="7315200" cy="1828800"/>
        </p:xfrm>
        <a:graphic>
          <a:graphicData uri="http://schemas.openxmlformats.org/drawingml/2006/table">
            <a:tbl>
              <a:tblPr firstRow="1"/>
              <a:tblGrid>
                <a:gridCol w="1828800"/>
                <a:gridCol w="5486400"/>
              </a:tblGrid>
              <a:tr h="228600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4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Section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1F1F1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4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Purpose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1F1F1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Title page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Title should capture the intent/results of the study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Abstract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250 word (max) summary of key information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Introduction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Review of literature that prompted the research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Method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Details of how the study was conducted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Results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Description of data analysis and results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Discussion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Relating findings to previous literature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References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Citations of previous literature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 Section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Participants</a:t>
            </a:r>
          </a:p>
          <a:p>
            <a:pPr lvl="0"/>
            <a:r>
              <a:rPr/>
              <a:t>Who (what) participated</a:t>
            </a:r>
          </a:p>
          <a:p>
            <a:pPr lvl="0"/>
            <a:r>
              <a:rPr/>
              <a:t>How they were selected</a:t>
            </a:r>
          </a:p>
          <a:p>
            <a:pPr lvl="0" indent="0" marL="0">
              <a:buNone/>
            </a:pPr>
            <a:r>
              <a:rPr b="1"/>
              <a:t>Materials</a:t>
            </a:r>
          </a:p>
          <a:p>
            <a:pPr lvl="0"/>
            <a:r>
              <a:rPr/>
              <a:t>Equipment and materials used to collect data</a:t>
            </a:r>
          </a:p>
          <a:p>
            <a:pPr lvl="0" indent="0" marL="0">
              <a:buNone/>
            </a:pPr>
            <a:r>
              <a:rPr b="1"/>
              <a:t>Procedure</a:t>
            </a:r>
          </a:p>
          <a:p>
            <a:pPr lvl="0"/>
            <a:r>
              <a:rPr/>
              <a:t>Treatment details</a:t>
            </a:r>
          </a:p>
          <a:p>
            <a:pPr lvl="0"/>
            <a:r>
              <a:rPr/>
              <a:t>Data collection details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to Find Information in Research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Table 2. Where to Find Each Component in a Research Report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884168393" name=""/>
          <p:cNvGraphicFramePr>
            <a:graphicFrameLocks noGrp="true"/>
          </p:cNvGraphicFramePr>
          <p:nvPr/>
        </p:nvGraphicFramePr>
        <p:xfrm>
          <a:off x="2438400" y="3108960"/>
          <a:ext cx="7315200" cy="2057400"/>
        </p:xfrm>
        <a:graphic>
          <a:graphicData uri="http://schemas.openxmlformats.org/drawingml/2006/table">
            <a:tbl>
              <a:tblPr firstRow="1"/>
              <a:tblGrid>
                <a:gridCol w="4023360"/>
                <a:gridCol w="3291840"/>
              </a:tblGrid>
              <a:tr h="228600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4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Component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1F1F1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4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Sections to Check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1F1F1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1. What has the author(s) read that prompted the research?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Introduction, Discussion, References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 What is the purpose of the research being reported?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Abstract, Introduction, Discussion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 What is the specific research question or hypothesis?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Abstract, Introduction, Results, Discussion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4a. Who were the participants?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Abstract, Method - Participants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4b. What equipment/materials were used?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Abstract, Method - Materials/Apparatus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4c. What procedures were used?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Abstract, Method - Procedures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5. What are the results of the statistical analysis?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Abstract, Results, Discussion, Tables/Figures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6. How do findings integrate with previous research?</a:t>
                      </a:r>
                    </a:p>
                  </a:txBody>
                  <a:tcPr anchor="ctr" marB="76200" marT="76200" marR="0" marL="0">
                    <a:lnL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Abstract, Discussion</a:t>
                      </a:r>
                    </a:p>
                  </a:txBody>
                  <a:tcPr anchor="ctr" marB="76200" marT="76200" marR="0" marL="0">
                    <a:lnL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1270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254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Important Reading Tip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is a good idea to check each area of the paper for different kinds of information.</a:t>
            </a:r>
          </a:p>
          <a:p>
            <a:pPr lvl="0" indent="0" marL="0">
              <a:buNone/>
            </a:pPr>
            <a:r>
              <a:rPr b="1"/>
              <a:t>Don’t depend solely on the Abstract</a:t>
            </a:r>
            <a:r>
              <a:rPr/>
              <a:t> - its descriptions are very brief.</a:t>
            </a:r>
          </a:p>
          <a:p>
            <a:pPr lvl="0" indent="0" marL="0">
              <a:buNone/>
            </a:pPr>
            <a:r>
              <a:rPr/>
              <a:t>If the Abstract were sufficient, we wouldn’t need the other 10-30 pages!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APA Writing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Double-space everything</a:t>
            </a:r>
          </a:p>
          <a:p>
            <a:pPr lvl="0"/>
            <a:r>
              <a:rPr/>
              <a:t>Uniform margins of at least 1 inch on all sides</a:t>
            </a:r>
          </a:p>
          <a:p>
            <a:pPr lvl="0"/>
            <a:r>
              <a:rPr/>
              <a:t>Write “formally” without slang or contractions</a:t>
            </a:r>
          </a:p>
          <a:p>
            <a:pPr lvl="0"/>
            <a:r>
              <a:rPr/>
              <a:t>Use sentences and paragraphs - do not “list” information</a:t>
            </a:r>
          </a:p>
          <a:p>
            <a:pPr lvl="0"/>
            <a:r>
              <a:rPr/>
              <a:t>Find the happy medium between “flow” and being overly wordy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Giving Credit and Avoiding Plagiarism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Always give credit to others for their ideas</a:t>
            </a:r>
          </a:p>
          <a:p>
            <a:pPr lvl="0"/>
            <a:r>
              <a:rPr/>
              <a:t>If you found a good idea in an article, cite that article when you use the idea</a:t>
            </a:r>
          </a:p>
          <a:p>
            <a:pPr lvl="0"/>
            <a:r>
              <a:rPr b="1"/>
              <a:t>BUT paraphrase the original words</a:t>
            </a:r>
          </a:p>
          <a:p>
            <a:pPr lvl="0"/>
            <a:r>
              <a:rPr/>
              <a:t>This does NOT mean swapping in synonyms - that is still plagiarizing!</a:t>
            </a:r>
          </a:p>
        </p:txBody>
      </p:sp>
    </p:spTree>
  </p:cSld>
</p:sld>
</file>

<file path=ppt/theme/theme1.xml><?xml version="1.0" encoding="utf-8"?>
<a:theme xmlns:a="http://schemas.openxmlformats.org/drawingml/2006/main" name="Parcel">
  <a:themeElements>
    <a:clrScheme name="Custom 3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5E5E5E"/>
      </a:accent2>
      <a:accent3>
        <a:srgbClr val="005392"/>
      </a:accent3>
      <a:accent4>
        <a:srgbClr val="FEFB00"/>
      </a:accent4>
      <a:accent5>
        <a:srgbClr val="87795D"/>
      </a:accent5>
      <a:accent6>
        <a:srgbClr val="A0988C"/>
      </a:accent6>
      <a:hlink>
        <a:srgbClr val="005392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9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Parcel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Reading and Writing Research Reports</dc:title>
  <dc:creator/>
  <cp:keywords/>
  <dcterms:created xsi:type="dcterms:W3CDTF">2026-09-10T16:46:59Z</dcterms:created>
  <dcterms:modified xsi:type="dcterms:W3CDTF">2026-09-10T16:46:59Z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revealjs-plugins">
    <vt:lpwstr/>
  </property>
  <property fmtid="{D5CDD505-2E9C-101B-9397-08002B2CF9AE}" pid="8" name="subtitle">
    <vt:lpwstr>APA Format and Research Report Structure</vt:lpwstr>
  </property>
  <property fmtid="{D5CDD505-2E9C-101B-9397-08002B2CF9AE}" pid="9" name="toc-title">
    <vt:lpwstr>Table of contents</vt:lpwstr>
  </property>
</Properties>
</file>