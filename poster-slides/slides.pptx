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>
  <p:sldMasterIdLst>
    <p:sldMasterId id="2147483696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7524"/>
    <p:restoredTop sz="94694"/>
  </p:normalViewPr>
  <p:slideViewPr>
    <p:cSldViewPr snapToGrid="0">
      <p:cViewPr varScale="1">
        <p:scale>
          <a:sx d="100" n="119"/>
          <a:sy d="100" n="119"/>
        </p:scale>
        <p:origin x="232" y="23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25" Type="http://schemas.openxmlformats.org/officeDocument/2006/relationships/presProps" Target="presProps.xml" /><Relationship Id="rId26" Type="http://schemas.openxmlformats.org/officeDocument/2006/relationships/viewProps" Target="viewProps.xml" /><Relationship Id="rId27" Type="http://schemas.openxmlformats.org/officeDocument/2006/relationships/theme" Target="theme/theme1.xml" /><Relationship Id="rId28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
<Relationships xmlns="http://schemas.openxmlformats.org/package/2006/relationships">
  <Relationship Id="rId2" Type="http://schemas.openxmlformats.org/officeDocument/2006/relationships/slide" Target="../slides/slide9.xml"/>
  <Relationship Id="rId1" Type="http://schemas.openxmlformats.org/officeDocument/2006/relationships/notesMaster" Target="../notesMasters/notesMaster1.xml"/>
  <Relationship Id="rId3" Type="http://schemas.openxmlformats.org/officeDocument/2006/relationships/hyperlink" Target="https://cehs.unl.edu/cehs/pixel-lab/" TargetMode="External"/>
</Relationships>
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
<Relationships xmlns="http://schemas.openxmlformats.org/package/2006/relationships">
  <Relationship Id="rId2" Type="http://schemas.openxmlformats.org/officeDocument/2006/relationships/slide" Target="../slides/slide11.xml"/>
  <Relationship Id="rId1" Type="http://schemas.openxmlformats.org/officeDocument/2006/relationships/notesMaster" Target="../notesMasters/notesMaster1.xml"/>
  <Relationship Id="rId3" Type="http://schemas.openxmlformats.org/officeDocument/2006/relationships/hyperlink" Target="https://www.youtube.com/watch?v=_WnhoIbfcoM" TargetMode="External"/>
</Relationships>
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Preview the three goals for this guide: choose concise content, organize it visually, and use the supplied templates rather than starting from a blank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the diagram to show the audience’s reading path. The title establishes the question; the center of the poster carries the evidence; the discussion closes the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title should state the study clearly and remain readable from several feet away. Include all authors and the institutional affiliation without crowding the banner.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introduction should move quickly from the research problem to the current hypotheses. Replace literature-review paragraphs with short, connected claims and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only the method details needed to understand or reproduce the study. Diagrams, timelines, and labeled measures usually communicate the procedure better than prose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Organize findings by hypothesis. Use readable tables or figures and follow APA formatting.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discussion should answer the research questions, connect findings to prior work, qualify conclusions, and identify a specific next study. Keep the visual hierarchy consistent with the results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3"/>
              </a:rPr>
              <a:t>The UNL Pixel Lab provides student resources, including poster templates and printing.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this as a final content inventory. Students may adapt the section labels, but every claim, method, result, and disclosure still needs a clear home on the poster.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3"/>
              </a:rPr>
              <a:t>You may find it useful to watch this video on creating scientific posters in PowerPoint.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Introduce the next posters as design examples rather than text to read line by line. Ask students to notice hierarchy, whitespace, alignment, and the balance of prose with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Point out the clear three-column grid, consistent section headers, and dominant results visuals. Ask where the eye goes first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this poster to show that orientation can change while the same hierarchy principles remain. The design still needs a predictable reading path and readable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Notice how the experimental design and results receive more visual weight than background prose. Students should adapt this balance to their own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Ask students to identify the repeated alignment lines and section rhythm. A consistent grid makes the poster easier to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these as diagnostic examples. The goal is to locate the design failure and name a concrete revision, not to criticize the underlying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wall of text prevents a reader from finding the research question and result quickly. Replace paragraphs with a short claim, one visual, and supporting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how limited whitespace makes every section compete for attention. Remove low-priority prose before shrinking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figures cannot lead because long text blocks dominate the page. Turn each section into one key message supported by a readable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Identify the competing colors, alignments, and type sizes. A restrained palette and consistent grid would make the poster easier to navigate.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 reading order, type size, figure labels, citations, and the exported poster PDF before submitting.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4352544"/>
            <a:ext cx="9997440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638044"/>
            <a:ext cx="9997440" cy="3101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352465"/>
            <a:ext cx="9997440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638044"/>
            <a:ext cx="4907280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40" y="2638044"/>
            <a:ext cx="4907280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313433"/>
            <a:ext cx="4907280" cy="548640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26080"/>
            <a:ext cx="4907280" cy="31775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40" y="2926080"/>
            <a:ext cx="4907280" cy="317754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87440" y="2313433"/>
            <a:ext cx="4907280" cy="548640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w="31750">
            <a:solidFill>
              <a:srgbClr val="404040"/>
            </a:solidFill>
            <a:miter lim="800000"/>
          </a:ln>
        </p:spPr>
        <p:txBody>
          <a:bodyPr anchor="ctr" bIns="182880" lIns="182880" rIns="182880" rtlCol="0" tIns="18288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dirty="0" lang="en-US"/>
              <a:t>1/22/26</a:t>
            </a:fld>
            <a:endParaRPr dirty="0"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dirty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anchor="ctr" bIns="45720" lIns="18288" rIns="18288" rtlCol="0" tIns="45720" vert="horz">
            <a:noAutofit/>
          </a:bodyPr>
          <a:lstStyle>
            <a:lvl1pPr algn="ctr">
              <a:defRPr baseline="0" spc="0" sz="110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dirty="0" lang="en-US"/>
              <a:pPr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dt="0" ftr="0" hdr="0" sldNum="0"/>
  <p:txStyles>
    <p:titleStyle>
      <a:lvl1pPr algn="ctr" defTabSz="914400" eaLnBrk="1" hangingPunct="1" latinLnBrk="0" rtl="0">
        <a:lnSpc>
          <a:spcPct val="90000"/>
        </a:lnSpc>
        <a:spcBef>
          <a:spcPct val="0"/>
        </a:spcBef>
        <a:buNone/>
        <a:defRPr baseline="0" cap="all" kern="1200" spc="200" sz="280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4572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6858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9144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11430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1312863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1484313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165735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baseline="0"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1882775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baseline="0"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7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9.xml" /><Relationship Id="rId3" Type="http://schemas.openxmlformats.org/officeDocument/2006/relationships/hyperlink" Target="https://apastyle.apa.org/" TargetMode="External" /></Relationships>
</file>

<file path=ppt/slides/_rels/slide1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10.xml"/>
  <Relationship Id="rId3" Type="http://schemas.openxmlformats.org/officeDocument/2006/relationships/hyperlink" Target="https://unlpsychstats.github.io/UNL-PSYC350-LAB/poster-slides/templates/36x48_horizontal_poster.pptx" TargetMode="External"/>
  <Relationship Id="rId4" Type="http://schemas.openxmlformats.org/officeDocument/2006/relationships/hyperlink" Target="https://unlpsychstats.github.io/UNL-PSYC350-LAB/poster-slides/templates/42x42_square_poster.pptx" TargetMode="External"/>
  <Relationship Id="rId5" Type="http://schemas.openxmlformats.org/officeDocument/2006/relationships/hyperlink" Target="https://unlpsychstats.github.io/UNL-PSYC350-LAB/poster-slides/templates/48x36_vertical_poster.pptx" TargetMode="External"/>
  <Relationship Id="rId6" Type="http://schemas.openxmlformats.org/officeDocument/2006/relationships/hyperlink" Target="https://unlpsychstats.github.io/UNL-PSYC350-LAB/poster-slides/templates/POSTER_EXAMPLE.pptx" TargetMode="External"/>
</Relationships>
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8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9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10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11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12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13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14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15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How to Make an APA Style Poster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097280" y="4352544"/>
            <a:ext cx="9997440" cy="1239894"/>
          </a:xfrm>
          <a:noFill/>
        </p:spPr>
        <p:txBody>
          <a:bodyPr/>
          <a:lstStyle/>
          <a:p>
            <a:pPr lvl="0" indent="0" marL="0">
              <a:buNone/>
            </a:pPr>
            <a:r>
              <a:rPr/>
              <a:t>Final Project Guide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Poster Assignment</a:t>
            </a:r>
          </a:p>
        </p:txBody>
      </p:sp>
      <p:sp>
        <p:nvSpPr>
          <p:cNvPr id="1001" name="card-red" descr="card: Content. • Introduction • Methods • Results • Discussion • References*"/>
          <p:cNvSpPr/>
          <p:nvPr/>
        </p:nvSpPr>
        <p:spPr>
          <a:xfrm>
            <a:off x="1097280" y="2633472"/>
            <a:ext cx="3233928" cy="22250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182880" tIns="182880" rIns="182880" bIns="182880" anchor="t" wrap="square">
            <a:normAutofit/>
          </a:bodyPr>
          <a:lstStyle/>
          <a:p>
            <a:pPr algn="l"/>
            <a:r>
              <a:rPr lang="en-US" sz="2200" b="1" dirty="0">
                <a:solidFill>
                  <a:srgbClr val="D00000"/>
                </a:solidFill>
              </a:rPr>
              <a:t>Content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</a:rPr>
              <a:t>• Introduction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</a:rPr>
              <a:t>• Methods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</a:rPr>
              <a:t>• Results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</a:rPr>
              <a:t>• Discussion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</a:rPr>
              <a:t>• References*</a:t>
            </a:r>
          </a:p>
        </p:txBody>
      </p:sp>
      <p:sp>
        <p:nvSpPr>
          <p:cNvPr id="1002" name="card-rail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2633472"/>
            <a:ext cx="54864" cy="2225040"/>
          </a:xfrm>
          <a:prstGeom prst="roundRect">
            <a:avLst>
              <a:gd name="adj" fmla="val 20000"/>
            </a:avLst>
          </a:prstGeom>
          <a:solidFill>
            <a:srgbClr val="D00000"/>
          </a:solidFill>
          <a:ln>
            <a:noFill/>
          </a:ln>
        </p:spPr>
        <p:txBody>
          <a:bodyPr lIns="182880" tIns="182880" rIns="182880" bIns="182880" anchor="t" wrap="square">
            <a:normAutofit/>
          </a:bodyPr>
          <a:lstStyle/>
          <a:p/>
        </p:txBody>
      </p:sp>
      <p:sp>
        <p:nvSpPr>
          <p:cNvPr id="1003" name="card-red" descr="card: The Poster. • Layout • Visuals • Color • Whitespace • Aesthetics"/>
          <p:cNvSpPr/>
          <p:nvPr/>
        </p:nvSpPr>
        <p:spPr>
          <a:xfrm>
            <a:off x="4477512" y="2633472"/>
            <a:ext cx="3233928" cy="22250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182880" tIns="182880" rIns="182880" bIns="182880" anchor="t" wrap="square">
            <a:normAutofit/>
          </a:bodyPr>
          <a:lstStyle/>
          <a:p>
            <a:pPr algn="l"/>
            <a:r>
              <a:rPr lang="en-US" sz="2200" b="1" dirty="0">
                <a:solidFill>
                  <a:srgbClr val="D00000"/>
                </a:solidFill>
              </a:rPr>
              <a:t>The Poster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</a:rPr>
              <a:t>• Layout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</a:rPr>
              <a:t>• Visuals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</a:rPr>
              <a:t>• Color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</a:rPr>
              <a:t>• Whitespace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</a:rPr>
              <a:t>• Aesthetics</a:t>
            </a:r>
          </a:p>
        </p:txBody>
      </p:sp>
      <p:sp>
        <p:nvSpPr>
          <p:cNvPr id="1004" name="card-rail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77512" y="2633472"/>
            <a:ext cx="54864" cy="2225040"/>
          </a:xfrm>
          <a:prstGeom prst="roundRect">
            <a:avLst>
              <a:gd name="adj" fmla="val 20000"/>
            </a:avLst>
          </a:prstGeom>
          <a:solidFill>
            <a:srgbClr val="D00000"/>
          </a:solidFill>
          <a:ln>
            <a:noFill/>
          </a:ln>
        </p:spPr>
        <p:txBody>
          <a:bodyPr lIns="182880" tIns="182880" rIns="182880" bIns="182880" anchor="t" wrap="square">
            <a:normAutofit/>
          </a:bodyPr>
          <a:lstStyle/>
          <a:p/>
        </p:txBody>
      </p:sp>
      <p:sp>
        <p:nvSpPr>
          <p:cNvPr id="1005" name="card-red" descr="card: Getting started. • Use a template • Know your audience • Keep text brief"/>
          <p:cNvSpPr/>
          <p:nvPr/>
        </p:nvSpPr>
        <p:spPr>
          <a:xfrm>
            <a:off x="7857744" y="2633472"/>
            <a:ext cx="3233928" cy="19202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182880" tIns="182880" rIns="182880" bIns="182880" anchor="t" wrap="square">
            <a:normAutofit/>
          </a:bodyPr>
          <a:lstStyle/>
          <a:p>
            <a:pPr algn="l"/>
            <a:r>
              <a:rPr lang="en-US" sz="2200" b="1" dirty="0">
                <a:solidFill>
                  <a:srgbClr val="D00000"/>
                </a:solidFill>
              </a:rPr>
              <a:t>Getting started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</a:rPr>
              <a:t>• Use a template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</a:rPr>
              <a:t>• Know your audience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</a:rPr>
              <a:t>• Keep text brief</a:t>
            </a:r>
          </a:p>
        </p:txBody>
      </p:sp>
      <p:sp>
        <p:nvSpPr>
          <p:cNvPr id="1006" name="card-rail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57744" y="2633472"/>
            <a:ext cx="54864" cy="1920240"/>
          </a:xfrm>
          <a:prstGeom prst="roundRect">
            <a:avLst>
              <a:gd name="adj" fmla="val 20000"/>
            </a:avLst>
          </a:prstGeom>
          <a:solidFill>
            <a:srgbClr val="D00000"/>
          </a:solidFill>
          <a:ln>
            <a:noFill/>
          </a:ln>
        </p:spPr>
        <p:txBody>
          <a:bodyPr lIns="182880" tIns="182880" rIns="182880" bIns="182880" anchor="t" wrap="square">
            <a:normAutofit/>
          </a:bodyPr>
          <a:lstStyle/>
          <a:p/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Elements of a Poster</a:t>
            </a:r>
          </a:p>
        </p:txBody>
      </p:sp>
      <p:pic>
        <p:nvPicPr>
          <p:cNvPr descr="Diagram labeling the standard sections of an APA-style research poster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025900" y="2628900"/>
            <a:ext cx="41275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Title Section</a:t>
            </a:r>
          </a:p>
        </p:txBody>
      </p:sp>
      <p:pic>
        <p:nvPicPr>
          <p:cNvPr descr="Close-up of a poster title section showing the title, author names, and university affiliation in a wide banner across the top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92200" y="3390900"/>
            <a:ext cx="9994900" cy="158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pic>
        <p:nvPicPr>
          <p:cNvPr descr="Example of the introduction section of an APA poster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43100" y="2628900"/>
            <a:ext cx="32004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Overview of </a:t>
            </a:r>
            <a:r>
              <a:rPr b="1"/>
              <a:t>why</a:t>
            </a:r>
            <a:r>
              <a:rPr/>
              <a:t> research was conducted</a:t>
            </a:r>
          </a:p>
          <a:p>
            <a:pPr lvl="0"/>
            <a:r>
              <a:rPr/>
              <a:t>Describe </a:t>
            </a:r>
            <a:r>
              <a:rPr b="1"/>
              <a:t>core</a:t>
            </a:r>
            <a:r>
              <a:rPr/>
              <a:t> theory &amp; background</a:t>
            </a:r>
          </a:p>
          <a:p>
            <a:pPr lvl="1"/>
            <a:r>
              <a:rPr/>
              <a:t>Provide </a:t>
            </a:r>
            <a:r>
              <a:rPr b="1"/>
              <a:t>factual</a:t>
            </a:r>
            <a:r>
              <a:rPr/>
              <a:t> basis for RHs</a:t>
            </a:r>
          </a:p>
          <a:p>
            <a:pPr lvl="1"/>
            <a:r>
              <a:rPr/>
              <a:t>Synthesize &amp; summarize research area</a:t>
            </a:r>
          </a:p>
          <a:p>
            <a:pPr lvl="0"/>
            <a:r>
              <a:rPr/>
              <a:t>State the research question(s)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Methods</a:t>
            </a:r>
          </a:p>
        </p:txBody>
      </p:sp>
      <p:pic>
        <p:nvPicPr>
          <p:cNvPr descr="Example of the methods section of an APA poster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05000" y="2628900"/>
            <a:ext cx="32639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Describe </a:t>
            </a:r>
            <a:r>
              <a:rPr b="1"/>
              <a:t>how</a:t>
            </a:r>
            <a:r>
              <a:rPr/>
              <a:t> they studied topic</a:t>
            </a:r>
          </a:p>
          <a:p>
            <a:pPr lvl="0"/>
            <a:r>
              <a:rPr/>
              <a:t>Describe </a:t>
            </a:r>
            <a:r>
              <a:rPr b="1"/>
              <a:t>steps</a:t>
            </a:r>
            <a:r>
              <a:rPr/>
              <a:t> or </a:t>
            </a:r>
            <a:r>
              <a:rPr b="1"/>
              <a:t>processes</a:t>
            </a:r>
          </a:p>
          <a:p>
            <a:pPr lvl="0"/>
            <a:r>
              <a:rPr/>
              <a:t>Include </a:t>
            </a:r>
            <a:r>
              <a:rPr b="1"/>
              <a:t>who</a:t>
            </a:r>
            <a:r>
              <a:rPr/>
              <a:t> was studied and </a:t>
            </a:r>
            <a:r>
              <a:rPr b="1"/>
              <a:t>where</a:t>
            </a:r>
          </a:p>
          <a:p>
            <a:pPr lvl="1"/>
            <a:r>
              <a:rPr/>
              <a:t>Sample size (</a:t>
            </a:r>
            <a:r>
              <a:rPr>
                <a:latin typeface="Courier"/>
              </a:rPr>
              <a:t>n</a:t>
            </a:r>
            <a:r>
              <a:rPr/>
              <a:t>)</a:t>
            </a:r>
          </a:p>
          <a:p>
            <a:pPr lvl="1"/>
            <a:r>
              <a:rPr/>
              <a:t>Demographics  (</a:t>
            </a:r>
            <a:r>
              <a:rPr>
                <a:latin typeface="Courier"/>
              </a:rPr>
              <a:t>M &amp; SD</a:t>
            </a:r>
            <a:r>
              <a:rPr/>
              <a:t> or </a:t>
            </a:r>
            <a:r>
              <a:rPr>
                <a:latin typeface="Courier"/>
              </a:rPr>
              <a:t># &amp; %</a:t>
            </a:r>
            <a:r>
              <a:rPr/>
              <a:t>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Results</a:t>
            </a:r>
          </a:p>
        </p:txBody>
      </p:sp>
      <p:pic>
        <p:nvPicPr>
          <p:cNvPr descr="Example of the results section of an APA poster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387600" y="2628900"/>
            <a:ext cx="22987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Show what they found</a:t>
            </a:r>
          </a:p>
          <a:p>
            <a:pPr lvl="0"/>
            <a:r>
              <a:rPr/>
              <a:t>Focus on the </a:t>
            </a:r>
            <a:r>
              <a:rPr b="1"/>
              <a:t>key</a:t>
            </a:r>
            <a:r>
              <a:rPr/>
              <a:t> findings</a:t>
            </a:r>
          </a:p>
          <a:p>
            <a:pPr lvl="1"/>
            <a:r>
              <a:rPr/>
              <a:t>Organize by </a:t>
            </a:r>
            <a:r>
              <a:rPr>
                <a:latin typeface="Courier"/>
              </a:rPr>
              <a:t>RHs</a:t>
            </a:r>
          </a:p>
          <a:p>
            <a:pPr lvl="0"/>
            <a:r>
              <a:rPr/>
              <a:t>Include tables &amp; figures  (</a:t>
            </a:r>
            <a:r>
              <a:rPr>
                <a:latin typeface="Courier"/>
              </a:rPr>
              <a:t>graphs &amp; pictures</a:t>
            </a:r>
            <a:r>
              <a:rPr/>
              <a:t>)</a:t>
            </a:r>
          </a:p>
          <a:p>
            <a:pPr lvl="0"/>
            <a:r>
              <a:rPr/>
              <a:t>Keep text brief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Discussion</a:t>
            </a:r>
          </a:p>
        </p:txBody>
      </p:sp>
      <p:pic>
        <p:nvPicPr>
          <p:cNvPr descr="Example of the discussion section of an APA poster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578100" y="2628900"/>
            <a:ext cx="19431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Explain why results matter</a:t>
            </a:r>
          </a:p>
          <a:p>
            <a:pPr lvl="0"/>
            <a:r>
              <a:rPr/>
              <a:t>Describe real-world implications</a:t>
            </a:r>
          </a:p>
          <a:p>
            <a:pPr lvl="0"/>
            <a:r>
              <a:rPr/>
              <a:t>Bound conclusions to the sample, task, and setting</a:t>
            </a:r>
          </a:p>
          <a:p>
            <a:pPr lvl="0"/>
            <a:r>
              <a:rPr/>
              <a:t>Identify limitations</a:t>
            </a:r>
          </a:p>
          <a:p>
            <a:pPr lvl="0"/>
            <a:r>
              <a:rPr/>
              <a:t>Suggest future directions for research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to Make a Poster</a:t>
            </a:r>
          </a:p>
        </p:txBody>
      </p:sp>
      <p:pic>
        <p:nvPicPr>
          <p:cNvPr descr="Vertical UNL-branded poster template provided by the UNL Pixel Lab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451100" y="2628900"/>
            <a:ext cx="21971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No single design is correct. Make yours:</a:t>
            </a:r>
          </a:p>
          <a:p>
            <a:pPr lvl="1"/>
            <a:r>
              <a:rPr/>
              <a:t>visually appealing</a:t>
            </a:r>
          </a:p>
          <a:p>
            <a:pPr lvl="1"/>
            <a:r>
              <a:rPr/>
              <a:t>proofread</a:t>
            </a:r>
          </a:p>
          <a:p>
            <a:pPr lvl="1"/>
            <a:r>
              <a:rPr/>
              <a:t>logical and organized</a:t>
            </a:r>
          </a:p>
          <a:p>
            <a:pPr lvl="0"/>
            <a:r>
              <a:rPr/>
              <a:t>Tell a visual story</a:t>
            </a:r>
          </a:p>
          <a:p>
            <a:pPr lvl="0"/>
            <a:r>
              <a:rPr/>
              <a:t>Use minimal text</a:t>
            </a:r>
          </a:p>
          <a:p>
            <a:pPr lvl="0"/>
            <a:r>
              <a:rPr/>
              <a:t>Keep figures and tables readable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an APA poster generally includes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Title Section</a:t>
            </a:r>
            <a:r>
              <a:rPr/>
              <a:t> — title and author(s)</a:t>
            </a:r>
          </a:p>
          <a:p>
            <a:pPr lvl="0"/>
            <a:r>
              <a:rPr b="1"/>
              <a:t>Introduction</a:t>
            </a:r>
            <a:r>
              <a:rPr/>
              <a:t> — background, purpose, and research question(s)</a:t>
            </a:r>
          </a:p>
          <a:p>
            <a:pPr lvl="0"/>
            <a:r>
              <a:rPr b="1"/>
              <a:t>Method</a:t>
            </a:r>
            <a:r>
              <a:rPr/>
              <a:t> — participants, materials, and procedure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Results</a:t>
            </a:r>
            <a:r>
              <a:rPr/>
              <a:t> — key findings shown with visualizations, minimal text</a:t>
            </a:r>
          </a:p>
          <a:p>
            <a:pPr lvl="0"/>
            <a:r>
              <a:rPr b="1"/>
              <a:t>Discussion</a:t>
            </a:r>
            <a:r>
              <a:rPr/>
              <a:t> — relation to prior literature, limitations, future directions</a:t>
            </a:r>
          </a:p>
          <a:p>
            <a:pPr lvl="0"/>
            <a:r>
              <a:rPr b="1"/>
              <a:t>References/Funding</a:t>
            </a:r>
            <a:r>
              <a:rPr/>
              <a:t> — </a:t>
            </a:r>
            <a:r>
              <a:rPr>
                <a:hlinkClick r:id="rId3"/>
              </a:rPr>
              <a:t>APA 7</a:t>
            </a:r>
            <a:r>
              <a:rPr/>
              <a:t> citations &amp; disclosures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 and export your poster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Use PowerPoint, Keynote, or Google Slides</a:t>
            </a:r>
          </a:p>
          <a:p>
            <a:pPr lvl="0"/>
            <a:r>
              <a:rPr/>
              <a:t>Start from a template</a:t>
            </a:r>
          </a:p>
          <a:p>
            <a:pPr lvl="0"/>
            <a:r>
              <a:rPr/>
              <a:t>Export the final poster as a </a:t>
            </a:r>
            <a:r>
              <a:rPr b="1"/>
              <a:t>PDF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Poster templates &amp; examples:</a:t>
            </a:r>
          </a:p>
          <a:p>
            <a:pPr lvl="0"/>
            <a:r>
              <a:rPr>
                <a:hlinkClick r:id="rId3"/>
              </a:rPr>
              <a:t>Horizontal 36 × 48 (PPTX)</a:t>
            </a:r>
          </a:p>
          <a:p>
            <a:pPr lvl="0"/>
            <a:r>
              <a:rPr>
                <a:hlinkClick r:id="rId4"/>
              </a:rPr>
              <a:t>Square 42 × 42 (PPTX)</a:t>
            </a:r>
          </a:p>
          <a:p>
            <a:pPr lvl="0"/>
            <a:r>
              <a:rPr>
                <a:hlinkClick r:id="rId5"/>
              </a:rPr>
              <a:t>Vertical 48 × 36 (PPTX)</a:t>
            </a:r>
          </a:p>
          <a:p>
            <a:pPr lvl="0"/>
            <a:r>
              <a:rPr>
                <a:hlinkClick r:id="rId6"/>
              </a:rPr>
              <a:t>Example poster (PPTX)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Examples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Example: Clean Three-Column Layout</a:t>
            </a:r>
          </a:p>
        </p:txBody>
      </p:sp>
      <p:pic>
        <p:nvPicPr>
          <p:cNvPr descr="Example APA poster with a clean, well-organized three-column layout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797300" y="2628900"/>
            <a:ext cx="45974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Example: Vertical Layout</a:t>
            </a:r>
          </a:p>
        </p:txBody>
      </p:sp>
      <p:pic>
        <p:nvPicPr>
          <p:cNvPr descr="Example APA poster using a single-column vertical layout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927600" y="2628900"/>
            <a:ext cx="23241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Example: Experiment Poster</a:t>
            </a:r>
          </a:p>
        </p:txBody>
      </p:sp>
      <p:pic>
        <p:nvPicPr>
          <p:cNvPr descr="Example APA poster reporting an experiment, with balanced text and figures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025900" y="2628900"/>
            <a:ext cx="41275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Example: Study Poster</a:t>
            </a:r>
          </a:p>
        </p:txBody>
      </p:sp>
      <p:pic>
        <p:nvPicPr>
          <p:cNvPr descr="Example APA poster reporting a study, with clear section organization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025900" y="2628900"/>
            <a:ext cx="41275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A Few with Too Much Text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Avoid: Wall of Text</a:t>
            </a:r>
          </a:p>
        </p:txBody>
      </p:sp>
      <p:pic>
        <p:nvPicPr>
          <p:cNvPr descr="Example of a text-heavy poster with dense paragraphs that are hard to read from a distance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025900" y="2628900"/>
            <a:ext cx="41148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Avoid: Too Much Text</a:t>
            </a:r>
          </a:p>
        </p:txBody>
      </p:sp>
      <p:pic>
        <p:nvPicPr>
          <p:cNvPr descr="Example of a poster with overcrowded text sections and little whitespace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025900" y="2628900"/>
            <a:ext cx="41402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Avoid: Dense Sections</a:t>
            </a:r>
          </a:p>
        </p:txBody>
      </p:sp>
      <p:pic>
        <p:nvPicPr>
          <p:cNvPr descr="Example of a poster where long blocks of text overwhelm the figures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771900" y="2628900"/>
            <a:ext cx="46228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Avoid: Cluttered Design</a:t>
            </a:r>
          </a:p>
        </p:txBody>
      </p:sp>
      <p:pic>
        <p:nvPicPr>
          <p:cNvPr descr="Example of a poorly designed poster with a cluttered layout and competing visual elements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114800" y="2628900"/>
            <a:ext cx="39497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 the finished poster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Follow the reading order</a:t>
            </a:r>
          </a:p>
          <a:p>
            <a:pPr lvl="0"/>
            <a:r>
              <a:rPr/>
              <a:t>Check text and figure labels at the final size</a:t>
            </a:r>
          </a:p>
          <a:p>
            <a:pPr lvl="0"/>
            <a:r>
              <a:rPr/>
              <a:t>Match citations to references</a:t>
            </a:r>
          </a:p>
          <a:p>
            <a:pPr lvl="0"/>
            <a:r>
              <a:rPr/>
              <a:t>Open the exported poster PDF</a:t>
            </a:r>
          </a:p>
        </p:txBody>
      </p:sp>
    </p:spTree>
  </p:cSld>
</p:sld>
</file>

<file path=ppt/theme/theme1.xml><?xml version="1.0" encoding="utf-8"?>
<a:theme xmlns:a="http://schemas.openxmlformats.org/drawingml/2006/main" name="Parcel">
  <a:themeElements>
    <a:clrScheme name="Custom 3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B65B00"/>
      </a:accent1>
      <a:accent2>
        <a:srgbClr val="5E5E5E"/>
      </a:accent2>
      <a:accent3>
        <a:srgbClr val="005392"/>
      </a:accent3>
      <a:accent4>
        <a:srgbClr val="FEFB00"/>
      </a:accent4>
      <a:accent5>
        <a:srgbClr val="87795D"/>
      </a:accent5>
      <a:accent6>
        <a:srgbClr val="A0988C"/>
      </a:accent6>
      <a:hlink>
        <a:srgbClr val="005392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Parcel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Make an APA Style Poster</dc:title>
  <dc:creator/>
  <cp:keywords/>
  <dcterms:created xsi:type="dcterms:W3CDTF">2026-09-10T18:12:34Z</dcterms:created>
  <dcterms:modified xsi:type="dcterms:W3CDTF">2026-09-10T18:12:34Z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biblio-config">
    <vt:lpwstr>True</vt:lpwstr>
  </property>
  <property fmtid="{D5CDD505-2E9C-101B-9397-08002B2CF9AE}" pid="4" name="execute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nebraska-pptx">
    <vt:lpwstr/>
  </property>
  <property fmtid="{D5CDD505-2E9C-101B-9397-08002B2CF9AE}" pid="10" name="revealjs-plugins">
    <vt:lpwstr/>
  </property>
  <property fmtid="{D5CDD505-2E9C-101B-9397-08002B2CF9AE}" pid="11" name="subtitle">
    <vt:lpwstr>Final Project Guide</vt:lpwstr>
  </property>
  <property fmtid="{D5CDD505-2E9C-101B-9397-08002B2CF9AE}" pid="12" name="toc-title">
    <vt:lpwstr>Table of contents</vt:lpwstr>
  </property>
</Properties>
</file>