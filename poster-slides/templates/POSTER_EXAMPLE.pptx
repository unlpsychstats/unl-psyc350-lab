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"/>
  </p:notesMasterIdLst>
  <p:sldIdLst>
    <p:sldId id="296" r:id="rId2"/>
  </p:sldIdLst>
  <p:sldSz cx="49377600" cy="32918400"/>
  <p:notesSz cx="6858000" cy="9144000"/>
  <p:embeddedFontLst>
    <p:embeddedFont>
      <p:font typeface="Atkinson Hyperlegible" pitchFamily="2" charset="77"/>
      <p:regular r:id="rId4"/>
      <p:bold r:id="rId5"/>
      <p:italic r:id="rId6"/>
      <p:boldItalic r:id="rId7"/>
    </p:embeddedFont>
    <p:embeddedFont>
      <p:font typeface="DM Sans 14pt" pitchFamily="2" charset="77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5576" userDrawn="1">
          <p15:clr>
            <a:srgbClr val="A4A3A4"/>
          </p15:clr>
        </p15:guide>
        <p15:guide id="3" pos="6024" userDrawn="1">
          <p15:clr>
            <a:srgbClr val="A4A3A4"/>
          </p15:clr>
        </p15:guide>
        <p15:guide id="4" pos="264" userDrawn="1">
          <p15:clr>
            <a:srgbClr val="A4A3A4"/>
          </p15:clr>
        </p15:guide>
        <p15:guide id="5" pos="744" userDrawn="1">
          <p15:clr>
            <a:srgbClr val="A4A3A4"/>
          </p15:clr>
        </p15:guide>
        <p15:guide id="6" orient="horz" pos="10368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928879-1B5E-1B71-A198-F2B2077697AD}" name="Hazen, Katherine" initials="" userId="S::k.hazen@northeastern.edu::f75059dd-01e1-4c56-a772-0275ae881b38" providerId="AD"/>
  <p188:author id="{DD9B76C1-EA28-1D0C-D02C-0E7593FD584B}" name="Yanelli Guzman" initials="" userId="S::yguzman3@unl.edu::676de700-b043-482c-b884-16ef657e4b85" providerId="AD"/>
  <p188:author id="{44375CDE-03BC-08AA-0F3E-8B95A9F79D8F}" name="Emma Marshall" initials="EM" userId="S::emarshall5@unl.edu::40aa24a8-7689-4845-bbbd-494955c481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0000"/>
    <a:srgbClr val="D00001"/>
    <a:srgbClr val="C00000"/>
    <a:srgbClr val="560002"/>
    <a:srgbClr val="1B5E20"/>
    <a:srgbClr val="333333"/>
    <a:srgbClr val="FFD54F"/>
    <a:srgbClr val="FFC107"/>
    <a:srgbClr val="263238"/>
    <a:srgbClr val="E1E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95" autoAdjust="0"/>
    <p:restoredTop sz="86395" autoAdjust="0"/>
  </p:normalViewPr>
  <p:slideViewPr>
    <p:cSldViewPr snapToGrid="0" showGuides="1">
      <p:cViewPr>
        <p:scale>
          <a:sx n="30" d="100"/>
          <a:sy n="30" d="100"/>
        </p:scale>
        <p:origin x="880" y="392"/>
      </p:cViewPr>
      <p:guideLst>
        <p:guide pos="15576"/>
        <p:guide pos="6024"/>
        <p:guide pos="264"/>
        <p:guide pos="744"/>
        <p:guide orient="horz"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CB04D-1C75-43E0-9B64-B7DDAA42BB2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C2670-3342-473C-969D-FDFF399F2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4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Powerpoint</a:t>
            </a:r>
            <a:r>
              <a:rPr lang="en-US" dirty="0"/>
              <a:t>, click View &gt; Guides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Keep text within gutter guides.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Author list: Don’t split names onto two lines (e.g., “Jimmy [break] Smith”). If that happens, use a new line, unless you need the space. </a:t>
            </a:r>
            <a:r>
              <a:rPr lang="en-US" b="1" dirty="0"/>
              <a:t>Bold the first names of anybody who’s presenting</a:t>
            </a:r>
            <a:r>
              <a:rPr lang="en-US" dirty="0"/>
              <a:t>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Intro/methods/result: </a:t>
            </a:r>
            <a:r>
              <a:rPr lang="en-US" b="1" dirty="0"/>
              <a:t>Do not drop below font size 28</a:t>
            </a:r>
            <a:r>
              <a:rPr lang="en-US" dirty="0"/>
              <a:t>, but if you have extra space, jack up the font size until the space is full.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use color in the sidebars except in graphs/figures. It’ll pull attention from the center and slow interpretation for passersby.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C2670-3342-473C-969D-FDFF399F20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9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320" y="5387342"/>
            <a:ext cx="4197096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2200" y="17289782"/>
            <a:ext cx="370332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5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995" y="8206749"/>
            <a:ext cx="4258818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8995" y="22029429"/>
            <a:ext cx="4258818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0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947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97410" y="8763000"/>
            <a:ext cx="20985480" cy="208864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1" y="1752607"/>
            <a:ext cx="4258818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147" y="8069582"/>
            <a:ext cx="20889036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01147" y="12024360"/>
            <a:ext cx="20889036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997413" y="8069582"/>
            <a:ext cx="20991911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997413" y="12024360"/>
            <a:ext cx="20991911" cy="176860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8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0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5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91911" y="4739647"/>
            <a:ext cx="2499741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9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142" y="2194560"/>
            <a:ext cx="15925561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991911" y="4739647"/>
            <a:ext cx="2499741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142" y="9875520"/>
            <a:ext cx="15925561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4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335848" y="1752600"/>
            <a:ext cx="1064704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94713" y="1752600"/>
            <a:ext cx="31323915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4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94710" y="1752607"/>
            <a:ext cx="425881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4710" y="8763000"/>
            <a:ext cx="425881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9471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5061-2F74-46D4-9F8F-C77EF304855D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56330" y="30510487"/>
            <a:ext cx="166649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872930" y="30510487"/>
            <a:ext cx="111099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CE-B062-47D6-A8CB-AF6B214D1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0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hyperlink" Target="https://walker-data.com/tidycensus/index.html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recht.com/censusapi/index.html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5A49E63-9189-F836-785D-ABF4F4040827}"/>
              </a:ext>
            </a:extLst>
          </p:cNvPr>
          <p:cNvSpPr/>
          <p:nvPr/>
        </p:nvSpPr>
        <p:spPr>
          <a:xfrm>
            <a:off x="96937" y="148437"/>
            <a:ext cx="49147472" cy="3352502"/>
          </a:xfrm>
          <a:prstGeom prst="rect">
            <a:avLst/>
          </a:prstGeom>
          <a:solidFill>
            <a:schemeClr val="bg2"/>
          </a:solidFill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FEA98-AD84-1EF4-6EAD-1683233D7201}"/>
              </a:ext>
            </a:extLst>
          </p:cNvPr>
          <p:cNvSpPr/>
          <p:nvPr/>
        </p:nvSpPr>
        <p:spPr>
          <a:xfrm>
            <a:off x="11484112" y="3554825"/>
            <a:ext cx="26605703" cy="29429563"/>
          </a:xfrm>
          <a:prstGeom prst="rect">
            <a:avLst/>
          </a:prstGeom>
          <a:solidFill>
            <a:srgbClr val="D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Up Arrow Callout 93">
            <a:extLst>
              <a:ext uri="{FF2B5EF4-FFF2-40B4-BE49-F238E27FC236}">
                <a16:creationId xmlns:a16="http://schemas.microsoft.com/office/drawing/2014/main" id="{43B83C9B-B7C7-4105-B27A-7721FAB1EA43}"/>
              </a:ext>
            </a:extLst>
          </p:cNvPr>
          <p:cNvSpPr/>
          <p:nvPr/>
        </p:nvSpPr>
        <p:spPr>
          <a:xfrm>
            <a:off x="12596071" y="17119599"/>
            <a:ext cx="24362756" cy="15798801"/>
          </a:xfrm>
          <a:prstGeom prst="upArrowCallout">
            <a:avLst/>
          </a:prstGeom>
          <a:solidFill>
            <a:schemeClr val="bg2"/>
          </a:solidFill>
          <a:ln w="1270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9C0B5-26A7-73DF-E735-769315F87C40}"/>
              </a:ext>
            </a:extLst>
          </p:cNvPr>
          <p:cNvSpPr/>
          <p:nvPr/>
        </p:nvSpPr>
        <p:spPr>
          <a:xfrm>
            <a:off x="11519423" y="3636816"/>
            <a:ext cx="26511671" cy="29347573"/>
          </a:xfrm>
          <a:prstGeom prst="rect">
            <a:avLst/>
          </a:prstGeom>
          <a:noFill/>
          <a:ln w="193675">
            <a:solidFill>
              <a:srgbClr val="D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5B311-3C19-412C-ADE6-EB2E4158F366}"/>
              </a:ext>
            </a:extLst>
          </p:cNvPr>
          <p:cNvSpPr txBox="1"/>
          <p:nvPr/>
        </p:nvSpPr>
        <p:spPr>
          <a:xfrm>
            <a:off x="389717" y="16100100"/>
            <a:ext cx="10875349" cy="3704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buFont typeface="+mj-lt"/>
              <a:buAutoNum type="arabicPeriod"/>
              <a:defRPr/>
            </a:pPr>
            <a:r>
              <a:rPr lang="en-US" altLang="en-US" sz="3200" dirty="0">
                <a:latin typeface="DM Sans 14pt" pitchFamily="2" charset="77"/>
                <a:cs typeface="Times New Roman" panose="02020603050405020304" pitchFamily="18" charset="0"/>
              </a:rPr>
              <a:t>How many Massachusetts (MA) departments prefer written consent over verbal consent? </a:t>
            </a:r>
          </a:p>
          <a:p>
            <a:pPr marL="514350" indent="-514350"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buFont typeface="+mj-lt"/>
              <a:buAutoNum type="arabicPeriod"/>
              <a:defRPr/>
            </a:pPr>
            <a:r>
              <a:rPr lang="en-US" altLang="en-US" sz="3200" dirty="0">
                <a:latin typeface="DM Sans 14pt" pitchFamily="2" charset="77"/>
                <a:cs typeface="Times New Roman" panose="02020603050405020304" pitchFamily="18" charset="0"/>
              </a:rPr>
              <a:t>Do local demographics predict whether a municipal police department in MA has adopted a written waiver preference? </a:t>
            </a:r>
            <a:endParaRPr lang="en-US" sz="3200" b="1" dirty="0">
              <a:latin typeface="DM Sans 14pt" pitchFamily="2" charset="77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3200" dirty="0">
              <a:latin typeface="DM Sans 14pt" pitchFamily="2" charset="77"/>
              <a:ea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37902-2C8D-3049-9881-50CB35F2A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23437" y="581203"/>
            <a:ext cx="38881148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9000" b="1" dirty="0">
                <a:latin typeface="Atkinson Hyperlegible" pitchFamily="2" charset="77"/>
                <a:ea typeface="Georgia" panose="02040502050405020303" pitchFamily="18" charset="0"/>
                <a:cs typeface="Times New Roman" panose="02020603050405020304" pitchFamily="18" charset="0"/>
              </a:rPr>
              <a:t>An Archival Analysis of Massachusetts’ Census Data and Police Department Search &amp; Seizure Policies</a:t>
            </a:r>
            <a:endParaRPr lang="en-US" sz="9000" b="1" i="1" dirty="0">
              <a:latin typeface="Atkinson Hyperlegible" pitchFamily="2" charset="77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21A8F1-B8B2-5316-A94E-A5373C4D4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8424" y="72608"/>
            <a:ext cx="3135849" cy="313584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57C64D1-B11B-ED8F-6123-A05AE3728A6D}"/>
              </a:ext>
            </a:extLst>
          </p:cNvPr>
          <p:cNvSpPr txBox="1"/>
          <p:nvPr/>
        </p:nvSpPr>
        <p:spPr>
          <a:xfrm>
            <a:off x="25936547" y="4339856"/>
            <a:ext cx="1159324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200" b="1" dirty="0">
                <a:solidFill>
                  <a:schemeClr val="accent4"/>
                </a:solidFill>
                <a:latin typeface="Atkinson Hyperlegible" pitchFamily="2" charset="77"/>
                <a:cs typeface="Times New Roman" panose="02020603050405020304" pitchFamily="18" charset="0"/>
              </a:rPr>
              <a:t>79.8% 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of department 	policies (107 out of 134) 	included a </a:t>
            </a:r>
            <a:r>
              <a:rPr lang="en-US" sz="72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tkinson Hyperlegible" pitchFamily="2" charset="77"/>
                <a:cs typeface="Times New Roman" panose="02020603050405020304" pitchFamily="18" charset="0"/>
              </a:rPr>
              <a:t>preference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 	for </a:t>
            </a:r>
            <a:r>
              <a:rPr lang="en-US" sz="7200" b="1" dirty="0">
                <a:solidFill>
                  <a:schemeClr val="accent4"/>
                </a:solidFill>
                <a:latin typeface="Atkinson Hyperlegible" pitchFamily="2" charset="77"/>
                <a:cs typeface="Times New Roman" panose="02020603050405020304" pitchFamily="18" charset="0"/>
              </a:rPr>
              <a:t>written 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consent 	waivers…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EDF038-3452-143A-433F-10ECCF58EF1E}"/>
              </a:ext>
            </a:extLst>
          </p:cNvPr>
          <p:cNvSpPr txBox="1"/>
          <p:nvPr/>
        </p:nvSpPr>
        <p:spPr>
          <a:xfrm>
            <a:off x="12121014" y="12718441"/>
            <a:ext cx="11593246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200" b="1" dirty="0">
                <a:solidFill>
                  <a:schemeClr val="accent4"/>
                </a:solidFill>
                <a:latin typeface="Atkinson Hyperlegible" pitchFamily="2" charset="77"/>
                <a:cs typeface="Times New Roman" panose="02020603050405020304" pitchFamily="18" charset="0"/>
              </a:rPr>
              <a:t>Waiver preference 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is </a:t>
            </a:r>
            <a:r>
              <a:rPr lang="en-US" sz="72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Atkinson Hyperlegible" pitchFamily="2" charset="77"/>
                <a:cs typeface="Times New Roman" panose="02020603050405020304" pitchFamily="18" charset="0"/>
              </a:rPr>
              <a:t>negatively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 associated with median </a:t>
            </a:r>
            <a:r>
              <a:rPr lang="en-US" sz="7200" b="1" dirty="0">
                <a:solidFill>
                  <a:schemeClr val="accent4"/>
                </a:solidFill>
                <a:latin typeface="Atkinson Hyperlegible" pitchFamily="2" charset="77"/>
                <a:cs typeface="Times New Roman" panose="02020603050405020304" pitchFamily="18" charset="0"/>
              </a:rPr>
              <a:t>age</a:t>
            </a:r>
            <a:r>
              <a:rPr lang="en-US" sz="7200" b="1" dirty="0">
                <a:solidFill>
                  <a:srgbClr val="D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 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but not median</a:t>
            </a:r>
            <a:r>
              <a:rPr lang="en-US" sz="7200" b="1" dirty="0">
                <a:solidFill>
                  <a:schemeClr val="accent4"/>
                </a:solidFill>
                <a:latin typeface="Atkinson Hyperlegible" pitchFamily="2" charset="77"/>
                <a:cs typeface="Times New Roman" panose="02020603050405020304" pitchFamily="18" charset="0"/>
              </a:rPr>
              <a:t> income 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or the percentage of 	</a:t>
            </a:r>
          </a:p>
          <a:p>
            <a:r>
              <a:rPr lang="en-US" sz="7200" b="1" dirty="0">
                <a:solidFill>
                  <a:schemeClr val="accent4"/>
                </a:solidFill>
                <a:latin typeface="Atkinson Hyperlegible" pitchFamily="2" charset="77"/>
                <a:cs typeface="Times New Roman" panose="02020603050405020304" pitchFamily="18" charset="0"/>
              </a:rPr>
              <a:t>Black residents</a:t>
            </a:r>
            <a:r>
              <a:rPr lang="en-US" sz="7200" b="1" dirty="0">
                <a:solidFill>
                  <a:schemeClr val="bg2"/>
                </a:solidFill>
                <a:latin typeface="Atkinson Hyperlegible" pitchFamily="2" charset="77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BDDB25-C0B3-B878-857E-9AF1DB3C9A82}"/>
              </a:ext>
            </a:extLst>
          </p:cNvPr>
          <p:cNvSpPr txBox="1"/>
          <p:nvPr/>
        </p:nvSpPr>
        <p:spPr>
          <a:xfrm>
            <a:off x="38330923" y="31152059"/>
            <a:ext cx="8891634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4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Acknowledgements</a:t>
            </a:r>
          </a:p>
          <a:p>
            <a:pPr>
              <a:spcBef>
                <a:spcPts val="0"/>
              </a:spcBef>
              <a:defRPr/>
            </a:pPr>
            <a:r>
              <a:rPr lang="en-US" altLang="en-US" sz="1800" dirty="0">
                <a:solidFill>
                  <a:srgbClr val="0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We would like to thank the Law and Policy Lab at the University of Nebraska-Lincoln for their support, guidance, and work on this project. We would also like to thank the municipal Massachusetts police departments for their cooperation.</a:t>
            </a:r>
            <a:endParaRPr lang="en-US" altLang="en-US" sz="1800" dirty="0">
              <a:solidFill>
                <a:srgbClr val="C00000"/>
              </a:solidFill>
              <a:latin typeface="Atkinson Hyperlegible" pitchFamily="2" charset="77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40" name="Picture 12" descr="http://media.glassdoor.com/sqll/26997/scripps-college-squarelogo.png">
            <a:extLst>
              <a:ext uri="{FF2B5EF4-FFF2-40B4-BE49-F238E27FC236}">
                <a16:creationId xmlns:a16="http://schemas.microsoft.com/office/drawing/2014/main" id="{469BA007-C2FC-146D-B882-B2CAE842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7898" y="738188"/>
            <a:ext cx="1915707" cy="191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 Box 34">
            <a:extLst>
              <a:ext uri="{FF2B5EF4-FFF2-40B4-BE49-F238E27FC236}">
                <a16:creationId xmlns:a16="http://schemas.microsoft.com/office/drawing/2014/main" id="{6B408644-2BF8-2CB2-859E-4895FE2537B5}"/>
              </a:ext>
            </a:extLst>
          </p:cNvPr>
          <p:cNvSpPr txBox="1"/>
          <p:nvPr/>
        </p:nvSpPr>
        <p:spPr>
          <a:xfrm>
            <a:off x="-30443" y="3635859"/>
            <a:ext cx="11573290" cy="830977"/>
          </a:xfrm>
          <a:prstGeom prst="rect">
            <a:avLst/>
          </a:prstGeom>
          <a:solidFill>
            <a:srgbClr val="D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0" tIns="45710" rIns="45710" bIns="45710">
            <a:spAutoFit/>
          </a:bodyPr>
          <a:lstStyle>
            <a:lvl1pPr algn="ctr">
              <a:spcBef>
                <a:spcPts val="2500"/>
              </a:spcBef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>
                <a:latin typeface="Atkinson Hyperlegible" pitchFamily="2" charset="77"/>
              </a:rPr>
              <a:t>Introduction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2738BE-4AFC-5173-6F27-350460A2FAA3}"/>
              </a:ext>
            </a:extLst>
          </p:cNvPr>
          <p:cNvSpPr txBox="1"/>
          <p:nvPr/>
        </p:nvSpPr>
        <p:spPr>
          <a:xfrm>
            <a:off x="268801" y="4723455"/>
            <a:ext cx="11129111" cy="10017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D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Police Searches &amp; Consent</a:t>
            </a:r>
          </a:p>
          <a:p>
            <a:pPr marL="457200" indent="-457200"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Atkinson Hyperlegible" pitchFamily="2" charset="77"/>
                <a:ea typeface="Georgia" panose="02040502050405020303" pitchFamily="18" charset="0"/>
                <a:cs typeface="Times New Roman" panose="02020603050405020304" pitchFamily="18" charset="0"/>
              </a:rPr>
              <a:t>The 4th Amendment protects individuals against unreasonable government searches and seizures </a:t>
            </a:r>
          </a:p>
          <a:p>
            <a:pPr marL="457200" indent="-457200"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Atkinson Hyperlegible" pitchFamily="2" charset="77"/>
              </a:rPr>
              <a:t>Police can request consent to search at any time, and consent searches do not violate the 4th Amendment so long as consent is voluntary and not “unduly coercive” (</a:t>
            </a:r>
            <a:r>
              <a:rPr lang="en-US" sz="3200" i="1" dirty="0">
                <a:latin typeface="Atkinson Hyperlegible" pitchFamily="2" charset="77"/>
              </a:rPr>
              <a:t>Schneckloth v. </a:t>
            </a:r>
            <a:r>
              <a:rPr lang="en-US" sz="3200" i="1" dirty="0" err="1">
                <a:latin typeface="Atkinson Hyperlegible" pitchFamily="2" charset="77"/>
              </a:rPr>
              <a:t>Bustamonte</a:t>
            </a:r>
            <a:r>
              <a:rPr lang="en-US" sz="3200" dirty="0">
                <a:latin typeface="Atkinson Hyperlegible" pitchFamily="2" charset="77"/>
              </a:rPr>
              <a:t>, 1973).</a:t>
            </a:r>
          </a:p>
          <a:p>
            <a:pPr>
              <a:lnSpc>
                <a:spcPct val="150000"/>
              </a:lnSpc>
              <a:spcBef>
                <a:spcPts val="135"/>
              </a:spcBef>
              <a:spcAft>
                <a:spcPts val="135"/>
              </a:spcAft>
              <a:defRPr/>
            </a:pPr>
            <a:r>
              <a:rPr lang="en-US" sz="3200" dirty="0">
                <a:solidFill>
                  <a:srgbClr val="D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Written &amp; Verbal Waivers of Rights</a:t>
            </a:r>
            <a:endParaRPr lang="en-US" sz="3200" dirty="0">
              <a:latin typeface="Atkinson Hyperlegible" pitchFamily="2" charset="77"/>
            </a:endParaRPr>
          </a:p>
          <a:p>
            <a:pPr marL="457200" indent="-457200"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effectLst/>
                <a:latin typeface="Atkinson Hyperlegible" pitchFamily="2" charset="77"/>
                <a:ea typeface="Georgia" panose="02040502050405020303" pitchFamily="18" charset="0"/>
                <a:cs typeface="Georgia" panose="02040502050405020303" pitchFamily="18" charset="0"/>
              </a:rPr>
              <a:t>Many states including Massachusetts</a:t>
            </a:r>
            <a:r>
              <a:rPr lang="en-US" sz="3200" dirty="0">
                <a:latin typeface="Atkinson Hyperlegible" pitchFamily="2" charset="77"/>
                <a:ea typeface="Georgia" panose="02040502050405020303" pitchFamily="18" charset="0"/>
                <a:cs typeface="Georgia" panose="02040502050405020303" pitchFamily="18" charset="0"/>
              </a:rPr>
              <a:t> (MA)</a:t>
            </a:r>
            <a:r>
              <a:rPr lang="en-US" sz="3200" dirty="0">
                <a:effectLst/>
                <a:latin typeface="Atkinson Hyperlegible" pitchFamily="2" charset="77"/>
                <a:ea typeface="Georgia" panose="02040502050405020303" pitchFamily="18" charset="0"/>
                <a:cs typeface="Georgia" panose="02040502050405020303" pitchFamily="18" charset="0"/>
              </a:rPr>
              <a:t> seek to provide additional safeguards for searches when based on a subject’s verbal or written consent</a:t>
            </a:r>
          </a:p>
          <a:p>
            <a:pPr marL="457200" indent="-457200"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atin typeface="Atkinson Hyperlegible" pitchFamily="2" charset="77"/>
                <a:ea typeface="Georgia" panose="02040502050405020303" pitchFamily="18" charset="0"/>
                <a:cs typeface="Times New Roman" panose="02020603050405020304" pitchFamily="18" charset="0"/>
              </a:rPr>
              <a:t>Recently, policy makers and police training committees in MA have encouraged municipal police departments to enact written consent-to-search waiver procedures</a:t>
            </a:r>
            <a:endParaRPr lang="en-US" sz="3200" dirty="0">
              <a:latin typeface="Atkinson Hyperlegible" pitchFamily="2" charset="77"/>
            </a:endParaRPr>
          </a:p>
          <a:p>
            <a:pPr marL="914400" lvl="1" indent="-457200" hangingPunct="0">
              <a:lnSpc>
                <a:spcPct val="12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dirty="0">
                <a:latin typeface="Atkinson Hyperlegible" pitchFamily="2" charset="77"/>
                <a:ea typeface="Georgia" panose="02040502050405020303" pitchFamily="18" charset="0"/>
                <a:cs typeface="Times New Roman" panose="02020603050405020304" pitchFamily="18" charset="0"/>
              </a:rPr>
              <a:t>But lack of formal mandate has resulted in patchwork of local protections and policies across the state</a:t>
            </a:r>
          </a:p>
        </p:txBody>
      </p:sp>
      <p:sp>
        <p:nvSpPr>
          <p:cNvPr id="54" name="Text Box 34">
            <a:extLst>
              <a:ext uri="{FF2B5EF4-FFF2-40B4-BE49-F238E27FC236}">
                <a16:creationId xmlns:a16="http://schemas.microsoft.com/office/drawing/2014/main" id="{F77B186F-671A-FC7A-9CED-E18F02419FC7}"/>
              </a:ext>
            </a:extLst>
          </p:cNvPr>
          <p:cNvSpPr txBox="1"/>
          <p:nvPr/>
        </p:nvSpPr>
        <p:spPr>
          <a:xfrm>
            <a:off x="-30443" y="15088482"/>
            <a:ext cx="11573290" cy="830977"/>
          </a:xfrm>
          <a:prstGeom prst="rect">
            <a:avLst/>
          </a:prstGeom>
          <a:solidFill>
            <a:srgbClr val="D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0" tIns="45710" rIns="45710" bIns="45710">
            <a:spAutoFit/>
          </a:bodyPr>
          <a:lstStyle>
            <a:lvl1pPr algn="ctr">
              <a:spcBef>
                <a:spcPts val="2500"/>
              </a:spcBef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Atkinson Hyperlegible" pitchFamily="2" charset="77"/>
              </a:rPr>
              <a:t>Research Questions</a:t>
            </a:r>
            <a:endParaRPr dirty="0">
              <a:latin typeface="Atkinson Hyperlegible" pitchFamily="2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32D67F-B1AA-C1F6-4186-F5D9F77DEA27}"/>
              </a:ext>
            </a:extLst>
          </p:cNvPr>
          <p:cNvSpPr txBox="1"/>
          <p:nvPr/>
        </p:nvSpPr>
        <p:spPr>
          <a:xfrm>
            <a:off x="119992" y="20636003"/>
            <a:ext cx="11455535" cy="1794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ts val="4456"/>
              </a:lnSpc>
              <a:spcBef>
                <a:spcPct val="20000"/>
              </a:spcBef>
              <a:defRPr/>
            </a:pPr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Archival Analysis: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Reviewed (</a:t>
            </a:r>
            <a:r>
              <a:rPr lang="en-US" altLang="en-US" sz="3200" i="1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N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= 344) Massachusetts</a:t>
            </a:r>
            <a:r>
              <a:rPr lang="en-US" altLang="en-US" sz="3200" i="1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’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municipal police departments websites for Search &amp; Seizure Policies</a:t>
            </a:r>
            <a:endParaRPr lang="en-US" dirty="0">
              <a:latin typeface="Atkinson Hyperlegible" pitchFamily="2" charset="77"/>
            </a:endParaRPr>
          </a:p>
        </p:txBody>
      </p:sp>
      <p:sp>
        <p:nvSpPr>
          <p:cNvPr id="57" name="Text Box 34">
            <a:extLst>
              <a:ext uri="{FF2B5EF4-FFF2-40B4-BE49-F238E27FC236}">
                <a16:creationId xmlns:a16="http://schemas.microsoft.com/office/drawing/2014/main" id="{68D51042-DEFB-6BE2-35B4-4D537FD3635D}"/>
              </a:ext>
            </a:extLst>
          </p:cNvPr>
          <p:cNvSpPr txBox="1"/>
          <p:nvPr/>
        </p:nvSpPr>
        <p:spPr>
          <a:xfrm>
            <a:off x="2237" y="19654347"/>
            <a:ext cx="11573290" cy="830977"/>
          </a:xfrm>
          <a:prstGeom prst="rect">
            <a:avLst/>
          </a:prstGeom>
          <a:solidFill>
            <a:srgbClr val="D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0" tIns="45710" rIns="45710" bIns="45710">
            <a:spAutoFit/>
          </a:bodyPr>
          <a:lstStyle>
            <a:lvl1pPr algn="ctr">
              <a:spcBef>
                <a:spcPts val="2500"/>
              </a:spcBef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Atkinson Hyperlegible" pitchFamily="2" charset="77"/>
              </a:rPr>
              <a:t>Methods</a:t>
            </a:r>
            <a:endParaRPr dirty="0">
              <a:latin typeface="Atkinson Hyperlegible" pitchFamily="2" charset="77"/>
            </a:endParaRPr>
          </a:p>
        </p:txBody>
      </p:sp>
      <p:pic>
        <p:nvPicPr>
          <p:cNvPr id="59" name="Picture 58" descr="A test sheet with cars and question marks&#10;&#10;Description automatically generated">
            <a:extLst>
              <a:ext uri="{FF2B5EF4-FFF2-40B4-BE49-F238E27FC236}">
                <a16:creationId xmlns:a16="http://schemas.microsoft.com/office/drawing/2014/main" id="{55F9A63B-E7E0-A6B4-A060-51D3FADB8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16" y="23186403"/>
            <a:ext cx="6038701" cy="637906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FBC2080-1071-CF6E-796B-62AB4D4DB2FA}"/>
              </a:ext>
            </a:extLst>
          </p:cNvPr>
          <p:cNvSpPr txBox="1"/>
          <p:nvPr/>
        </p:nvSpPr>
        <p:spPr>
          <a:xfrm>
            <a:off x="38468956" y="5232820"/>
            <a:ext cx="10808640" cy="1219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ts val="4456"/>
              </a:lnSpc>
              <a:spcBef>
                <a:spcPct val="20000"/>
              </a:spcBef>
              <a:defRPr/>
            </a:pPr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Waiver Preference in Policy: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Coded each departmental policy for inclusion of Written Consent Preference</a:t>
            </a:r>
            <a:endParaRPr lang="en-US" sz="3200" dirty="0">
              <a:latin typeface="Atkinson Hyperlegible" pitchFamily="2" charset="77"/>
              <a:ea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638D50-58C8-63AE-82AC-54DD07E2645D}"/>
              </a:ext>
            </a:extLst>
          </p:cNvPr>
          <p:cNvSpPr txBox="1"/>
          <p:nvPr/>
        </p:nvSpPr>
        <p:spPr>
          <a:xfrm>
            <a:off x="311534" y="22543983"/>
            <a:ext cx="11223656" cy="64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56"/>
              </a:lnSpc>
              <a:spcBef>
                <a:spcPct val="20000"/>
              </a:spcBef>
              <a:defRPr/>
            </a:pP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Located policies for 38.95% (</a:t>
            </a:r>
            <a:r>
              <a:rPr lang="en-US" altLang="en-US" sz="3200" i="1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n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 = 134) of departments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BF66D0-EE6C-3936-74E4-019F29723A70}"/>
              </a:ext>
            </a:extLst>
          </p:cNvPr>
          <p:cNvSpPr txBox="1"/>
          <p:nvPr/>
        </p:nvSpPr>
        <p:spPr>
          <a:xfrm>
            <a:off x="632638" y="29382685"/>
            <a:ext cx="10155614" cy="59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4456"/>
              </a:lnSpc>
              <a:spcBef>
                <a:spcPct val="20000"/>
              </a:spcBef>
              <a:defRPr/>
            </a:pPr>
            <a:r>
              <a:rPr lang="en-US" altLang="en-US" sz="2000" i="1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If policy not available online</a:t>
            </a:r>
            <a:r>
              <a:rPr lang="en-US" altLang="en-US" sz="20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, we contacted and requested the policy directly</a:t>
            </a:r>
          </a:p>
        </p:txBody>
      </p:sp>
      <p:sp>
        <p:nvSpPr>
          <p:cNvPr id="66" name="Text Box 34">
            <a:extLst>
              <a:ext uri="{FF2B5EF4-FFF2-40B4-BE49-F238E27FC236}">
                <a16:creationId xmlns:a16="http://schemas.microsoft.com/office/drawing/2014/main" id="{AFA43122-BF0F-179D-E5CA-15A8E3CA1826}"/>
              </a:ext>
            </a:extLst>
          </p:cNvPr>
          <p:cNvSpPr txBox="1"/>
          <p:nvPr/>
        </p:nvSpPr>
        <p:spPr>
          <a:xfrm>
            <a:off x="38053429" y="3533487"/>
            <a:ext cx="11445019" cy="850394"/>
          </a:xfrm>
          <a:prstGeom prst="rect">
            <a:avLst/>
          </a:prstGeom>
          <a:solidFill>
            <a:srgbClr val="D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0" tIns="45710" rIns="45710" bIns="45710">
            <a:spAutoFit/>
          </a:bodyPr>
          <a:lstStyle>
            <a:lvl1pPr algn="ctr">
              <a:spcBef>
                <a:spcPts val="2500"/>
              </a:spcBef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Atkinson Hyperlegible" pitchFamily="2" charset="77"/>
              </a:rPr>
              <a:t>Results</a:t>
            </a:r>
            <a:endParaRPr dirty="0">
              <a:latin typeface="Atkinson Hyperlegible" pitchFamily="2" charset="7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1715C0-F76E-B6D9-6232-D7C83B44CD08}"/>
              </a:ext>
            </a:extLst>
          </p:cNvPr>
          <p:cNvSpPr txBox="1"/>
          <p:nvPr/>
        </p:nvSpPr>
        <p:spPr>
          <a:xfrm>
            <a:off x="129183" y="30429844"/>
            <a:ext cx="114371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US Census Data: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Obtained local demographics by city/town from US Census (2020)  &amp; American Community Survey (2021) data via the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  <a:hlinkClick r:id="rId6"/>
              </a:rPr>
              <a:t>Census Bureau API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&amp;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  <a:hlinkClick r:id="rId7"/>
              </a:rPr>
              <a:t>tidycensus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 R packages (</a:t>
            </a:r>
            <a:r>
              <a:rPr lang="en-US" altLang="en-US" sz="3200" dirty="0" err="1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Recht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, 2024; Walker &amp; Herman, 2024) </a:t>
            </a:r>
          </a:p>
          <a:p>
            <a:endParaRPr lang="en-US" sz="3200" dirty="0">
              <a:latin typeface="Atkinson Hyperlegible" pitchFamily="2" charset="77"/>
            </a:endParaRPr>
          </a:p>
        </p:txBody>
      </p:sp>
      <p:sp>
        <p:nvSpPr>
          <p:cNvPr id="83" name="Text Box 34">
            <a:extLst>
              <a:ext uri="{FF2B5EF4-FFF2-40B4-BE49-F238E27FC236}">
                <a16:creationId xmlns:a16="http://schemas.microsoft.com/office/drawing/2014/main" id="{5A798C10-EDDD-4636-4D67-3840C46FA6B6}"/>
              </a:ext>
            </a:extLst>
          </p:cNvPr>
          <p:cNvSpPr txBox="1"/>
          <p:nvPr/>
        </p:nvSpPr>
        <p:spPr>
          <a:xfrm>
            <a:off x="37851499" y="21533236"/>
            <a:ext cx="11593245" cy="850394"/>
          </a:xfrm>
          <a:prstGeom prst="rect">
            <a:avLst/>
          </a:prstGeom>
          <a:solidFill>
            <a:srgbClr val="D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0" tIns="45710" rIns="45710" bIns="45710">
            <a:spAutoFit/>
          </a:bodyPr>
          <a:lstStyle>
            <a:lvl1pPr algn="ctr">
              <a:spcBef>
                <a:spcPts val="2500"/>
              </a:spcBef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Atkinson Hyperlegible" pitchFamily="2" charset="77"/>
              </a:rPr>
              <a:t>Discussion</a:t>
            </a:r>
            <a:endParaRPr dirty="0">
              <a:latin typeface="Atkinson Hyperlegible" pitchFamily="2" charset="7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4300AD-0120-D4EC-14F9-34065D206394}"/>
              </a:ext>
            </a:extLst>
          </p:cNvPr>
          <p:cNvSpPr txBox="1"/>
          <p:nvPr/>
        </p:nvSpPr>
        <p:spPr>
          <a:xfrm>
            <a:off x="38503997" y="13582323"/>
            <a:ext cx="104006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Binary Logistic Regression: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 Predicted inclusion of waiver preference (YES = 1; NO = 0) in policy based on median age, household income, &amp; the percentage of Black residents</a:t>
            </a:r>
            <a:endParaRPr lang="en-US" sz="3200" dirty="0">
              <a:latin typeface="Atkinson Hyperlegible" pitchFamily="2" charset="7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707E4A8-700A-6220-BB9D-A2E0268E1CB1}"/>
              </a:ext>
            </a:extLst>
          </p:cNvPr>
          <p:cNvSpPr txBox="1"/>
          <p:nvPr/>
        </p:nvSpPr>
        <p:spPr>
          <a:xfrm>
            <a:off x="38312795" y="22705151"/>
            <a:ext cx="10591900" cy="843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Towns younger residents prefer written consent to search waivers indication that there may be more political awareness around policing. 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Looking at Cambridge, MA, a university town home to Harvard and MIT, may be more likely to adopt the written waiver policy as they may be more responsive to political needs of younger residents. 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Increase of political and racial movements may allow for younger residents to be more aware of their rights. </a:t>
            </a:r>
          </a:p>
          <a:p>
            <a:pPr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defRPr/>
            </a:pPr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Limitations: </a:t>
            </a:r>
            <a:r>
              <a:rPr lang="en-US" altLang="en-US" sz="3200" dirty="0">
                <a:latin typeface="Atkinson Hyperlegible" pitchFamily="2" charset="77"/>
                <a:ea typeface="ＭＳ Ｐゴシック" panose="020B0600070205080204" pitchFamily="34" charset="-128"/>
                <a:cs typeface="Times New Roman" panose="02020603050405020304" pitchFamily="18" charset="0"/>
              </a:rPr>
              <a:t>Did not locate policies from every municipal police department &amp; analyses limited to MA </a:t>
            </a:r>
            <a:endParaRPr lang="en-US" altLang="en-US" sz="3200" dirty="0">
              <a:solidFill>
                <a:srgbClr val="D00000"/>
              </a:solidFill>
              <a:latin typeface="Atkinson Hyperlegible" pitchFamily="2" charset="77"/>
              <a:cs typeface="Times New Roman" panose="02020603050405020304" pitchFamily="18" charset="0"/>
            </a:endParaRPr>
          </a:p>
          <a:p>
            <a:pPr>
              <a:lnSpc>
                <a:spcPts val="4690"/>
              </a:lnSpc>
              <a:spcBef>
                <a:spcPts val="135"/>
              </a:spcBef>
              <a:spcAft>
                <a:spcPts val="135"/>
              </a:spcAft>
              <a:defRPr/>
            </a:pPr>
            <a:r>
              <a:rPr lang="en-US" altLang="en-US" sz="3200" dirty="0">
                <a:solidFill>
                  <a:srgbClr val="D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Future Directions: </a:t>
            </a:r>
            <a:r>
              <a:rPr lang="en-US" sz="3200" dirty="0">
                <a:latin typeface="Atkinson Hyperlegible" pitchFamily="2" charset="77"/>
                <a:ea typeface="Georgia" panose="02040502050405020303" pitchFamily="18" charset="0"/>
                <a:cs typeface="Times New Roman" panose="02020603050405020304" pitchFamily="18" charset="0"/>
              </a:rPr>
              <a:t>Examine the implications of adopting formal waiver procedures for both departments and individual consent search decisions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85B75B-CB15-5E7F-4615-F72E78889FED}"/>
              </a:ext>
            </a:extLst>
          </p:cNvPr>
          <p:cNvSpPr txBox="1"/>
          <p:nvPr/>
        </p:nvSpPr>
        <p:spPr>
          <a:xfrm>
            <a:off x="13987076" y="23451556"/>
            <a:ext cx="214711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Atkinson Hyperlegible" pitchFamily="2" charset="77"/>
                <a:cs typeface="Times New Roman" panose="02020603050405020304" pitchFamily="18" charset="0"/>
              </a:rPr>
              <a:t>Police Departments serving </a:t>
            </a:r>
            <a:r>
              <a:rPr lang="en-US" sz="7200" b="1" dirty="0">
                <a:solidFill>
                  <a:srgbClr val="D00000"/>
                </a:solidFill>
                <a:latin typeface="Atkinson Hyperlegible" pitchFamily="2" charset="77"/>
                <a:cs typeface="Times New Roman" panose="02020603050405020304" pitchFamily="18" charset="0"/>
              </a:rPr>
              <a:t>younger populations </a:t>
            </a:r>
            <a:r>
              <a:rPr lang="en-US" sz="7200" b="1" dirty="0">
                <a:latin typeface="Atkinson Hyperlegible" pitchFamily="2" charset="77"/>
                <a:cs typeface="Times New Roman" panose="02020603050405020304" pitchFamily="18" charset="0"/>
              </a:rPr>
              <a:t>may respond differently	to calls for consent search reforms…</a:t>
            </a:r>
            <a:endParaRPr lang="en-US" sz="7200" b="1" dirty="0">
              <a:solidFill>
                <a:schemeClr val="tx1">
                  <a:lumMod val="65000"/>
                  <a:lumOff val="35000"/>
                </a:schemeClr>
              </a:solidFill>
              <a:latin typeface="Atkinson Hyperlegible" pitchFamily="2" charset="77"/>
              <a:cs typeface="Times New Roman" panose="02020603050405020304" pitchFamily="18" charset="0"/>
            </a:endParaRPr>
          </a:p>
        </p:txBody>
      </p:sp>
      <p:pic>
        <p:nvPicPr>
          <p:cNvPr id="35" name="Picture 34" descr="A map of massachusetts with red squares&#10;&#10;Description automatically generated">
            <a:extLst>
              <a:ext uri="{FF2B5EF4-FFF2-40B4-BE49-F238E27FC236}">
                <a16:creationId xmlns:a16="http://schemas.microsoft.com/office/drawing/2014/main" id="{7A33CF85-812E-DDEB-6B43-7250AB6ED2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0276" y="27419590"/>
            <a:ext cx="8164615" cy="5013084"/>
          </a:xfrm>
          <a:prstGeom prst="rect">
            <a:avLst/>
          </a:prstGeom>
        </p:spPr>
      </p:pic>
      <p:pic>
        <p:nvPicPr>
          <p:cNvPr id="38" name="Picture 37" descr="A map of massachusetts and massachusetts state&#10;&#10;Description automatically generated">
            <a:extLst>
              <a:ext uri="{FF2B5EF4-FFF2-40B4-BE49-F238E27FC236}">
                <a16:creationId xmlns:a16="http://schemas.microsoft.com/office/drawing/2014/main" id="{0A9B6E0D-443F-3E3E-50FA-B6DD74DF4B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7157" y="26797417"/>
            <a:ext cx="9451025" cy="5802943"/>
          </a:xfrm>
          <a:prstGeom prst="rect">
            <a:avLst/>
          </a:prstGeom>
        </p:spPr>
      </p:pic>
      <p:pic>
        <p:nvPicPr>
          <p:cNvPr id="39" name="Picture 38" descr="A map of the state of massachusetts&#10;&#10;Description automatically generated">
            <a:extLst>
              <a:ext uri="{FF2B5EF4-FFF2-40B4-BE49-F238E27FC236}">
                <a16:creationId xmlns:a16="http://schemas.microsoft.com/office/drawing/2014/main" id="{7CA407B0-1E2E-D461-74F5-75D722253A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9547" y="27407069"/>
            <a:ext cx="8753870" cy="5374888"/>
          </a:xfrm>
          <a:prstGeom prst="rect">
            <a:avLst/>
          </a:prstGeom>
        </p:spPr>
      </p:pic>
      <p:pic>
        <p:nvPicPr>
          <p:cNvPr id="41" name="Picture 40" descr="A graph with a red line&#10;&#10;Description automatically generated">
            <a:extLst>
              <a:ext uri="{FF2B5EF4-FFF2-40B4-BE49-F238E27FC236}">
                <a16:creationId xmlns:a16="http://schemas.microsoft.com/office/drawing/2014/main" id="{0B5F64C5-8312-638D-3C26-DD89FC0030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1818" y="16648860"/>
            <a:ext cx="3168173" cy="3149077"/>
          </a:xfrm>
          <a:prstGeom prst="rect">
            <a:avLst/>
          </a:prstGeom>
        </p:spPr>
      </p:pic>
      <p:pic>
        <p:nvPicPr>
          <p:cNvPr id="42" name="Picture 41" descr="A graph with a red line&#10;&#10;Description automatically generated">
            <a:extLst>
              <a:ext uri="{FF2B5EF4-FFF2-40B4-BE49-F238E27FC236}">
                <a16:creationId xmlns:a16="http://schemas.microsoft.com/office/drawing/2014/main" id="{DF54D50F-E946-257F-E75B-FC639882A7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9282" y="16648860"/>
            <a:ext cx="3168173" cy="3149077"/>
          </a:xfrm>
          <a:prstGeom prst="rect">
            <a:avLst/>
          </a:prstGeom>
        </p:spPr>
      </p:pic>
      <p:pic>
        <p:nvPicPr>
          <p:cNvPr id="43" name="Picture 42" descr="A graph with a red line&#10;&#10;Description automatically generated">
            <a:extLst>
              <a:ext uri="{FF2B5EF4-FFF2-40B4-BE49-F238E27FC236}">
                <a16:creationId xmlns:a16="http://schemas.microsoft.com/office/drawing/2014/main" id="{944FCB29-67B0-DBD5-6006-55E491D1C1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037" y="16648860"/>
            <a:ext cx="3168173" cy="3149077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3EF4D8B-BFB8-EADE-FA1D-29A56ABC288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9690" y="7165736"/>
            <a:ext cx="7772400" cy="56834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6A2F1C-4B3F-13EF-8971-EB6C48FB90C5}"/>
              </a:ext>
            </a:extLst>
          </p:cNvPr>
          <p:cNvSpPr/>
          <p:nvPr/>
        </p:nvSpPr>
        <p:spPr>
          <a:xfrm>
            <a:off x="-63299" y="3636815"/>
            <a:ext cx="11593246" cy="29347573"/>
          </a:xfrm>
          <a:prstGeom prst="rect">
            <a:avLst/>
          </a:prstGeom>
          <a:noFill/>
          <a:ln w="193675">
            <a:solidFill>
              <a:srgbClr val="D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00CDA-6872-8B86-B4A8-ACAE338307F8}"/>
              </a:ext>
            </a:extLst>
          </p:cNvPr>
          <p:cNvSpPr/>
          <p:nvPr/>
        </p:nvSpPr>
        <p:spPr>
          <a:xfrm>
            <a:off x="38035326" y="3636815"/>
            <a:ext cx="11593246" cy="29347573"/>
          </a:xfrm>
          <a:prstGeom prst="rect">
            <a:avLst/>
          </a:prstGeom>
          <a:noFill/>
          <a:ln w="1936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106CD3-D11C-59FA-A3F2-465D604DDFDE}"/>
              </a:ext>
            </a:extLst>
          </p:cNvPr>
          <p:cNvGrpSpPr/>
          <p:nvPr/>
        </p:nvGrpSpPr>
        <p:grpSpPr>
          <a:xfrm>
            <a:off x="27755494" y="11318757"/>
            <a:ext cx="9439785" cy="9465039"/>
            <a:chOff x="27703482" y="10942167"/>
            <a:chExt cx="9439785" cy="9465039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3BB6B60-61E8-D4F7-882E-1134615628B3}"/>
                </a:ext>
              </a:extLst>
            </p:cNvPr>
            <p:cNvSpPr/>
            <p:nvPr/>
          </p:nvSpPr>
          <p:spPr>
            <a:xfrm>
              <a:off x="27703482" y="10942167"/>
              <a:ext cx="9439785" cy="9465039"/>
            </a:xfrm>
            <a:prstGeom prst="ellipse">
              <a:avLst/>
            </a:prstGeom>
            <a:solidFill>
              <a:schemeClr val="accent4"/>
            </a:solidFill>
            <a:ln w="1270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graph of numbers and a number of black and white squares&#10;&#10;Description automatically generated with medium confidence">
              <a:extLst>
                <a:ext uri="{FF2B5EF4-FFF2-40B4-BE49-F238E27FC236}">
                  <a16:creationId xmlns:a16="http://schemas.microsoft.com/office/drawing/2014/main" id="{4C0DC5EB-A727-DEFF-E9F6-3D0ED2D8D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29263" y="12577889"/>
              <a:ext cx="6586415" cy="6385750"/>
            </a:xfrm>
            <a:prstGeom prst="rect">
              <a:avLst/>
            </a:prstGeom>
            <a:solidFill>
              <a:schemeClr val="accent4"/>
            </a:solidFill>
            <a:ln w="127000">
              <a:noFill/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AF5BAE-BE73-2D2A-C0A5-5BEFF1FE4407}"/>
              </a:ext>
            </a:extLst>
          </p:cNvPr>
          <p:cNvGrpSpPr/>
          <p:nvPr/>
        </p:nvGrpSpPr>
        <p:grpSpPr>
          <a:xfrm>
            <a:off x="10765733" y="4439762"/>
            <a:ext cx="16813804" cy="7726272"/>
            <a:chOff x="11372093" y="4032292"/>
            <a:chExt cx="16813804" cy="772627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B9948F-C435-32E9-1781-5BD359BD93C8}"/>
                </a:ext>
              </a:extLst>
            </p:cNvPr>
            <p:cNvGrpSpPr/>
            <p:nvPr/>
          </p:nvGrpSpPr>
          <p:grpSpPr>
            <a:xfrm>
              <a:off x="12540435" y="4032292"/>
              <a:ext cx="14681321" cy="7690410"/>
              <a:chOff x="12540435" y="4032292"/>
              <a:chExt cx="14681321" cy="769041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367641-54AC-0B3A-7257-BDFA3FA779EB}"/>
                  </a:ext>
                </a:extLst>
              </p:cNvPr>
              <p:cNvSpPr/>
              <p:nvPr/>
            </p:nvSpPr>
            <p:spPr>
              <a:xfrm>
                <a:off x="12540435" y="4032292"/>
                <a:ext cx="14681321" cy="7690410"/>
              </a:xfrm>
              <a:prstGeom prst="rect">
                <a:avLst/>
              </a:prstGeom>
              <a:solidFill>
                <a:schemeClr val="accent4"/>
              </a:solidFill>
              <a:ln w="1270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EB7F5FB4-3197-66E0-6DDD-126CBFB6A933}"/>
                  </a:ext>
                </a:extLst>
              </p:cNvPr>
              <p:cNvGrpSpPr/>
              <p:nvPr/>
            </p:nvGrpSpPr>
            <p:grpSpPr>
              <a:xfrm>
                <a:off x="14014844" y="9119515"/>
                <a:ext cx="6092250" cy="1865884"/>
                <a:chOff x="36236788" y="1787517"/>
                <a:chExt cx="5488966" cy="2075688"/>
              </a:xfrm>
            </p:grpSpPr>
            <p:sp>
              <p:nvSpPr>
                <p:cNvPr id="71" name="Rounded Rectangle 70">
                  <a:extLst>
                    <a:ext uri="{FF2B5EF4-FFF2-40B4-BE49-F238E27FC236}">
                      <a16:creationId xmlns:a16="http://schemas.microsoft.com/office/drawing/2014/main" id="{FDDB4B19-D810-2519-86F5-E0F0A28DEEB1}"/>
                    </a:ext>
                  </a:extLst>
                </p:cNvPr>
                <p:cNvSpPr/>
                <p:nvPr/>
              </p:nvSpPr>
              <p:spPr>
                <a:xfrm>
                  <a:off x="36236788" y="3218059"/>
                  <a:ext cx="489191" cy="538769"/>
                </a:xfrm>
                <a:prstGeom prst="round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  <a:highlight>
                      <a:srgbClr val="808080"/>
                    </a:highlight>
                  </a:endParaRPr>
                </a:p>
              </p:txBody>
            </p: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081E01F6-22AC-BBC0-6644-8547C62CCBF1}"/>
                    </a:ext>
                  </a:extLst>
                </p:cNvPr>
                <p:cNvGrpSpPr/>
                <p:nvPr/>
              </p:nvGrpSpPr>
              <p:grpSpPr>
                <a:xfrm>
                  <a:off x="36236788" y="1787517"/>
                  <a:ext cx="5488966" cy="2075688"/>
                  <a:chOff x="36401242" y="5322627"/>
                  <a:chExt cx="5488966" cy="2075688"/>
                </a:xfrm>
              </p:grpSpPr>
              <p:sp>
                <p:nvSpPr>
                  <p:cNvPr id="68" name="Rounded Rectangle 67">
                    <a:extLst>
                      <a:ext uri="{FF2B5EF4-FFF2-40B4-BE49-F238E27FC236}">
                        <a16:creationId xmlns:a16="http://schemas.microsoft.com/office/drawing/2014/main" id="{755C3528-FD00-A26F-F30A-41AE73CB584B}"/>
                      </a:ext>
                    </a:extLst>
                  </p:cNvPr>
                  <p:cNvSpPr/>
                  <p:nvPr/>
                </p:nvSpPr>
                <p:spPr>
                  <a:xfrm>
                    <a:off x="36401242" y="5380729"/>
                    <a:ext cx="489191" cy="538769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9" name="Rounded Rectangle 68">
                    <a:extLst>
                      <a:ext uri="{FF2B5EF4-FFF2-40B4-BE49-F238E27FC236}">
                        <a16:creationId xmlns:a16="http://schemas.microsoft.com/office/drawing/2014/main" id="{0AF96B54-BDB7-9AB8-1B6E-FCECBD6CA046}"/>
                      </a:ext>
                    </a:extLst>
                  </p:cNvPr>
                  <p:cNvSpPr/>
                  <p:nvPr/>
                </p:nvSpPr>
                <p:spPr>
                  <a:xfrm>
                    <a:off x="36401242" y="6065735"/>
                    <a:ext cx="489191" cy="538769"/>
                  </a:xfrm>
                  <a:prstGeom prst="roundRect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792A8F3-81F3-92BF-A032-4A293F12DBE0}"/>
                      </a:ext>
                    </a:extLst>
                  </p:cNvPr>
                  <p:cNvSpPr txBox="1"/>
                  <p:nvPr/>
                </p:nvSpPr>
                <p:spPr>
                  <a:xfrm>
                    <a:off x="36952139" y="5964677"/>
                    <a:ext cx="4132588" cy="719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dirty="0">
                        <a:latin typeface="Atkinson Hyperlegible" pitchFamily="2" charset="77"/>
                        <a:cs typeface="Times New Roman" panose="02020603050405020304" pitchFamily="18" charset="0"/>
                      </a:rPr>
                      <a:t>N0, not included</a:t>
                    </a:r>
                    <a:endParaRPr lang="en-US" sz="3200" b="1" dirty="0">
                      <a:latin typeface="Atkinson Hyperlegible" pitchFamily="2" charset="7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4659F3CB-126C-738F-B762-100FD5BFF63D}"/>
                      </a:ext>
                    </a:extLst>
                  </p:cNvPr>
                  <p:cNvSpPr txBox="1"/>
                  <p:nvPr/>
                </p:nvSpPr>
                <p:spPr>
                  <a:xfrm>
                    <a:off x="36974982" y="6679309"/>
                    <a:ext cx="4048036" cy="719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dirty="0">
                        <a:latin typeface="Atkinson Hyperlegible" pitchFamily="2" charset="77"/>
                        <a:cs typeface="Times New Roman" panose="02020603050405020304" pitchFamily="18" charset="0"/>
                      </a:rPr>
                      <a:t>Policy Not Found</a:t>
                    </a:r>
                    <a:endParaRPr lang="en-US" sz="3200" b="1" dirty="0">
                      <a:latin typeface="Atkinson Hyperlegible" pitchFamily="2" charset="7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28A7ECBD-2F71-2434-0CBA-7BDDA82CC5A3}"/>
                      </a:ext>
                    </a:extLst>
                  </p:cNvPr>
                  <p:cNvSpPr txBox="1"/>
                  <p:nvPr/>
                </p:nvSpPr>
                <p:spPr>
                  <a:xfrm>
                    <a:off x="36952139" y="5322627"/>
                    <a:ext cx="4938069" cy="7190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b="1" dirty="0">
                        <a:latin typeface="Atkinson Hyperlegible" pitchFamily="2" charset="77"/>
                        <a:cs typeface="Times New Roman" panose="02020603050405020304" pitchFamily="18" charset="0"/>
                      </a:rPr>
                      <a:t>YES, written preference</a:t>
                    </a:r>
                    <a:endParaRPr lang="en-US" sz="3200" b="1" dirty="0">
                      <a:latin typeface="Atkinson Hyperlegible" pitchFamily="2" charset="7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pic>
          <p:nvPicPr>
            <p:cNvPr id="21" name="Picture 20" descr="A map of the state of massachusetts&#10;&#10;Description automatically generated">
              <a:extLst>
                <a:ext uri="{FF2B5EF4-FFF2-40B4-BE49-F238E27FC236}">
                  <a16:creationId xmlns:a16="http://schemas.microsoft.com/office/drawing/2014/main" id="{D1B6C99B-D88C-81D2-B1BA-48F82D965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224"/>
            <a:stretch/>
          </p:blipFill>
          <p:spPr>
            <a:xfrm>
              <a:off x="11372093" y="4286623"/>
              <a:ext cx="16813804" cy="7471941"/>
            </a:xfrm>
            <a:prstGeom prst="rect">
              <a:avLst/>
            </a:prstGeom>
            <a:noFill/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476F015-B7BA-317E-4148-3ABCC3DAA377}"/>
              </a:ext>
            </a:extLst>
          </p:cNvPr>
          <p:cNvSpPr/>
          <p:nvPr/>
        </p:nvSpPr>
        <p:spPr>
          <a:xfrm>
            <a:off x="-63300" y="0"/>
            <a:ext cx="49440899" cy="33136789"/>
          </a:xfrm>
          <a:prstGeom prst="rect">
            <a:avLst/>
          </a:prstGeom>
          <a:noFill/>
          <a:ln w="193675">
            <a:solidFill>
              <a:srgbClr val="D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7303A5-1D83-7E7F-D5F2-FB10B418201D}"/>
              </a:ext>
            </a:extLst>
          </p:cNvPr>
          <p:cNvSpPr/>
          <p:nvPr/>
        </p:nvSpPr>
        <p:spPr>
          <a:xfrm>
            <a:off x="99172" y="4509751"/>
            <a:ext cx="11290619" cy="10623237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D5089B-9E67-8847-099D-93B25F70D519}"/>
              </a:ext>
            </a:extLst>
          </p:cNvPr>
          <p:cNvSpPr/>
          <p:nvPr/>
        </p:nvSpPr>
        <p:spPr>
          <a:xfrm>
            <a:off x="105514" y="20544563"/>
            <a:ext cx="11327260" cy="12282397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CB9890-107A-50AC-8A62-236DDE5666A7}"/>
              </a:ext>
            </a:extLst>
          </p:cNvPr>
          <p:cNvSpPr/>
          <p:nvPr/>
        </p:nvSpPr>
        <p:spPr>
          <a:xfrm>
            <a:off x="38148434" y="22280301"/>
            <a:ext cx="11095975" cy="10704087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A87BE6-C151-17FC-1E46-2CDCA5BCE917}"/>
              </a:ext>
            </a:extLst>
          </p:cNvPr>
          <p:cNvSpPr/>
          <p:nvPr/>
        </p:nvSpPr>
        <p:spPr>
          <a:xfrm>
            <a:off x="38156358" y="4395531"/>
            <a:ext cx="11095975" cy="17126055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CAF7D0-A812-B6C7-FBF5-A06F0E96CCAF}"/>
              </a:ext>
            </a:extLst>
          </p:cNvPr>
          <p:cNvSpPr/>
          <p:nvPr/>
        </p:nvSpPr>
        <p:spPr>
          <a:xfrm>
            <a:off x="63116" y="15963003"/>
            <a:ext cx="11323186" cy="3646510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 red and white symbol with a black background&#10;&#10;Description automatically generated">
            <a:extLst>
              <a:ext uri="{FF2B5EF4-FFF2-40B4-BE49-F238E27FC236}">
                <a16:creationId xmlns:a16="http://schemas.microsoft.com/office/drawing/2014/main" id="{4037FBE1-9ECA-C0D3-371B-B07926F454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28445" y="31400847"/>
            <a:ext cx="1311587" cy="1311587"/>
          </a:xfrm>
          <a:prstGeom prst="rect">
            <a:avLst/>
          </a:prstGeom>
        </p:spPr>
      </p:pic>
      <p:pic>
        <p:nvPicPr>
          <p:cNvPr id="45" name="Picture 44" descr="A black and red logo&#10;&#10;Description automatically generated">
            <a:extLst>
              <a:ext uri="{FF2B5EF4-FFF2-40B4-BE49-F238E27FC236}">
                <a16:creationId xmlns:a16="http://schemas.microsoft.com/office/drawing/2014/main" id="{688D1896-15B4-5A0A-BB73-F35D286D43D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092" y="822956"/>
            <a:ext cx="5908577" cy="190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45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20972</TotalTime>
  <Words>658</Words>
  <Application>Microsoft Macintosh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Atkinson Hyperlegible</vt:lpstr>
      <vt:lpstr>DM Sans 14pt</vt:lpstr>
      <vt:lpstr>Calibri Light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Morrison</dc:creator>
  <cp:lastModifiedBy>Emma Marshall</cp:lastModifiedBy>
  <cp:revision>300</cp:revision>
  <dcterms:created xsi:type="dcterms:W3CDTF">2018-09-16T19:13:41Z</dcterms:created>
  <dcterms:modified xsi:type="dcterms:W3CDTF">2024-09-26T02:11:34Z</dcterms:modified>
</cp:coreProperties>
</file>