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3"/>
  </p:notesMasterIdLst>
  <p:sldIdLst>
    <p:sldId id="296" r:id="rId2"/>
  </p:sldIdLst>
  <p:sldSz cx="49377600" cy="32918400"/>
  <p:notesSz cx="6858000" cy="9144000"/>
  <p:embeddedFontLst>
    <p:embeddedFont>
      <p:font typeface="Atkinson Hyperlegible" pitchFamily="2" charset="77"/>
      <p:regular r:id="rId4"/>
      <p:bold r:id="rId5"/>
      <p:italic r:id="rId6"/>
      <p:boldItalic r:id="rId7"/>
    </p:embeddedFont>
    <p:embeddedFont>
      <p:font typeface="DM Sans 14pt" pitchFamily="2" charset="77"/>
      <p:regular r:id="rId8"/>
      <p:bold r:id="rId9"/>
      <p:italic r:id="rId10"/>
      <p:boldItalic r:id="rId1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2" pos="15576" userDrawn="1">
          <p15:clr>
            <a:srgbClr val="A4A3A4"/>
          </p15:clr>
        </p15:guide>
        <p15:guide id="3" pos="6024" userDrawn="1">
          <p15:clr>
            <a:srgbClr val="A4A3A4"/>
          </p15:clr>
        </p15:guide>
        <p15:guide id="4" pos="264" userDrawn="1">
          <p15:clr>
            <a:srgbClr val="A4A3A4"/>
          </p15:clr>
        </p15:guide>
        <p15:guide id="5" pos="744" userDrawn="1">
          <p15:clr>
            <a:srgbClr val="A4A3A4"/>
          </p15:clr>
        </p15:guide>
        <p15:guide id="6" orient="horz" pos="10368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0928879-1B5E-1B71-A198-F2B2077697AD}" name="Hazen, Katherine" initials="" userId="S::k.hazen@northeastern.edu::f75059dd-01e1-4c56-a772-0275ae881b38" providerId="AD"/>
  <p188:author id="{DD9B76C1-EA28-1D0C-D02C-0E7593FD584B}" name="Yanelli Guzman" initials="" userId="S::yguzman3@unl.edu::676de700-b043-482c-b884-16ef657e4b85" providerId="AD"/>
  <p188:author id="{44375CDE-03BC-08AA-0F3E-8B95A9F79D8F}" name="Emma Marshall" initials="EM" userId="S::emarshall5@unl.edu::40aa24a8-7689-4845-bbbd-494955c481c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00000"/>
    <a:srgbClr val="D00001"/>
    <a:srgbClr val="C00000"/>
    <a:srgbClr val="560002"/>
    <a:srgbClr val="1B5E20"/>
    <a:srgbClr val="333333"/>
    <a:srgbClr val="FFD54F"/>
    <a:srgbClr val="FFC107"/>
    <a:srgbClr val="263238"/>
    <a:srgbClr val="E1E0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595" autoAdjust="0"/>
    <p:restoredTop sz="86395" autoAdjust="0"/>
  </p:normalViewPr>
  <p:slideViewPr>
    <p:cSldViewPr snapToGrid="0" showGuides="1">
      <p:cViewPr>
        <p:scale>
          <a:sx n="30" d="100"/>
          <a:sy n="30" d="100"/>
        </p:scale>
        <p:origin x="880" y="392"/>
      </p:cViewPr>
      <p:guideLst>
        <p:guide pos="15576"/>
        <p:guide pos="6024"/>
        <p:guide pos="264"/>
        <p:guide pos="744"/>
        <p:guide orient="horz" pos="103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5.fntdata"/><Relationship Id="rId13" Type="http://schemas.openxmlformats.org/officeDocument/2006/relationships/viewProps" Target="viewProps.xml"/><Relationship Id="rId3" Type="http://schemas.openxmlformats.org/officeDocument/2006/relationships/notesMaster" Target="notesMasters/notesMaster1.xml"/><Relationship Id="rId7" Type="http://schemas.openxmlformats.org/officeDocument/2006/relationships/font" Target="fonts/font4.fntdata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8/10/relationships/authors" Target="authors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11" Type="http://schemas.openxmlformats.org/officeDocument/2006/relationships/font" Target="fonts/font8.fntdata"/><Relationship Id="rId5" Type="http://schemas.openxmlformats.org/officeDocument/2006/relationships/font" Target="fonts/font2.fntdata"/><Relationship Id="rId15" Type="http://schemas.openxmlformats.org/officeDocument/2006/relationships/tableStyles" Target="tableStyles.xml"/><Relationship Id="rId10" Type="http://schemas.openxmlformats.org/officeDocument/2006/relationships/font" Target="fonts/font7.fntdata"/><Relationship Id="rId4" Type="http://schemas.openxmlformats.org/officeDocument/2006/relationships/font" Target="fonts/font1.fntdata"/><Relationship Id="rId9" Type="http://schemas.openxmlformats.org/officeDocument/2006/relationships/font" Target="fonts/font6.fntdata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1CB04D-1C75-43E0-9B64-B7DDAA42BB2C}" type="datetimeFigureOut">
              <a:rPr lang="en-US" smtClean="0"/>
              <a:t>9/25/24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14425" y="1143000"/>
            <a:ext cx="46291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6C2670-3342-473C-969D-FDFF399F205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17496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Notes: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 </a:t>
            </a:r>
            <a:r>
              <a:rPr lang="en-US" dirty="0" err="1"/>
              <a:t>Powerpoint</a:t>
            </a:r>
            <a:r>
              <a:rPr lang="en-US" dirty="0"/>
              <a:t>, click View &gt; Guides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Keep text within gutter guides.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Author list: Don’t split names onto two lines (e.g., “Jimmy [break] Smith”). If that happens, use a new line, unless you need the space. </a:t>
            </a:r>
            <a:r>
              <a:rPr lang="en-US" b="1" dirty="0"/>
              <a:t>Bold the first names of anybody who’s presenting</a:t>
            </a:r>
            <a:r>
              <a:rPr lang="en-US" dirty="0"/>
              <a:t> in person.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Intro/methods/result: </a:t>
            </a:r>
            <a:r>
              <a:rPr lang="en-US" b="1" dirty="0"/>
              <a:t>Do not drop below font size 28</a:t>
            </a:r>
            <a:r>
              <a:rPr lang="en-US" dirty="0"/>
              <a:t>, but if you have extra space, jack up the font size until the space is full.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Do not use color in the sidebars except in graphs/figures. It’ll pull attention from the center and slow interpretation for passersby.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6C2670-3342-473C-969D-FDFF399F2050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49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03320" y="5387342"/>
            <a:ext cx="4197096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72200" y="17289782"/>
            <a:ext cx="370332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17559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11048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368995" y="8206749"/>
            <a:ext cx="4258818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68995" y="22029429"/>
            <a:ext cx="4258818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/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75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75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530500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3947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997410" y="8763000"/>
            <a:ext cx="20985480" cy="208864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21519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1" y="1752607"/>
            <a:ext cx="42588180" cy="6362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01147" y="8069582"/>
            <a:ext cx="20889036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01147" y="12024360"/>
            <a:ext cx="20889036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4997413" y="8069582"/>
            <a:ext cx="20991911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4997413" y="12024360"/>
            <a:ext cx="20991911" cy="176860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3873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0506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5658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0991911" y="4739647"/>
            <a:ext cx="2499741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3945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01142" y="2194560"/>
            <a:ext cx="15925561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0991911" y="4739647"/>
            <a:ext cx="2499741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01142" y="9875520"/>
            <a:ext cx="15925561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00141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369495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5335848" y="1752600"/>
            <a:ext cx="10647045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394713" y="1752600"/>
            <a:ext cx="31323915" cy="27896822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549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394710" y="1752607"/>
            <a:ext cx="4258818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394710" y="8763000"/>
            <a:ext cx="4258818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39471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135061-2F74-46D4-9F8F-C77EF304855D}" type="datetimeFigureOut">
              <a:rPr lang="en-US" smtClean="0"/>
              <a:t>9/25/24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356330" y="30510487"/>
            <a:ext cx="1666494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4872930" y="30510487"/>
            <a:ext cx="1110996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FC52CE-B062-47D6-A8CB-AF6B214D1A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2060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image" Target="../media/image9.png"/><Relationship Id="rId18" Type="http://schemas.openxmlformats.org/officeDocument/2006/relationships/image" Target="../media/image14.png"/><Relationship Id="rId3" Type="http://schemas.openxmlformats.org/officeDocument/2006/relationships/image" Target="../media/image1.png"/><Relationship Id="rId7" Type="http://schemas.openxmlformats.org/officeDocument/2006/relationships/hyperlink" Target="https://walker-data.com/tidycensus/index.html" TargetMode="External"/><Relationship Id="rId12" Type="http://schemas.openxmlformats.org/officeDocument/2006/relationships/image" Target="../media/image8.png"/><Relationship Id="rId17" Type="http://schemas.openxmlformats.org/officeDocument/2006/relationships/image" Target="../media/image13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www.hrecht.com/censusapi/index.html" TargetMode="External"/><Relationship Id="rId11" Type="http://schemas.openxmlformats.org/officeDocument/2006/relationships/image" Target="../media/image7.png"/><Relationship Id="rId5" Type="http://schemas.openxmlformats.org/officeDocument/2006/relationships/image" Target="../media/image3.png"/><Relationship Id="rId15" Type="http://schemas.openxmlformats.org/officeDocument/2006/relationships/image" Target="../media/image11.png"/><Relationship Id="rId10" Type="http://schemas.openxmlformats.org/officeDocument/2006/relationships/image" Target="../media/image6.png"/><Relationship Id="rId4" Type="http://schemas.openxmlformats.org/officeDocument/2006/relationships/image" Target="../media/image2.png"/><Relationship Id="rId9" Type="http://schemas.openxmlformats.org/officeDocument/2006/relationships/image" Target="../media/image5.png"/><Relationship Id="rId14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>
            <a:extLst>
              <a:ext uri="{FF2B5EF4-FFF2-40B4-BE49-F238E27FC236}">
                <a16:creationId xmlns:a16="http://schemas.microsoft.com/office/drawing/2014/main" id="{85A49E63-9189-F836-785D-ABF4F40408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6937" y="148437"/>
            <a:ext cx="49147472" cy="3352502"/>
          </a:xfrm>
          <a:prstGeom prst="rect">
            <a:avLst/>
          </a:prstGeom>
          <a:solidFill>
            <a:schemeClr val="bg2"/>
          </a:solidFill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35FEA98-AD84-1EF4-6EAD-1683233D72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484112" y="3554825"/>
            <a:ext cx="26605703" cy="29429563"/>
          </a:xfrm>
          <a:prstGeom prst="rect">
            <a:avLst/>
          </a:prstGeom>
          <a:solidFill>
            <a:srgbClr val="D0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4" name="Up Arrow Callout 93">
            <a:extLst>
              <a:ext uri="{FF2B5EF4-FFF2-40B4-BE49-F238E27FC236}">
                <a16:creationId xmlns:a16="http://schemas.microsoft.com/office/drawing/2014/main" id="{43B83C9B-B7C7-4105-B27A-7721FAB1EA4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2596071" y="17119599"/>
            <a:ext cx="24362756" cy="15798801"/>
          </a:xfrm>
          <a:prstGeom prst="upArrowCallout">
            <a:avLst/>
          </a:prstGeom>
          <a:solidFill>
            <a:schemeClr val="bg2"/>
          </a:solidFill>
          <a:ln w="1270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F99C0B5-26A7-73DF-E735-769315F87C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1519423" y="3636816"/>
            <a:ext cx="26511671" cy="29347573"/>
          </a:xfrm>
          <a:prstGeom prst="rect">
            <a:avLst/>
          </a:prstGeom>
          <a:noFill/>
          <a:ln w="193675">
            <a:solidFill>
              <a:srgbClr val="D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D00000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56A2F1C-4B3F-13EF-8971-EB6C48FB90C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63299" y="3636815"/>
            <a:ext cx="11593246" cy="29347573"/>
          </a:xfrm>
          <a:prstGeom prst="rect">
            <a:avLst/>
          </a:prstGeom>
          <a:noFill/>
          <a:ln w="193675">
            <a:solidFill>
              <a:srgbClr val="D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D00000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A500CDA-6872-8B86-B4A8-ACAE338307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035326" y="3636815"/>
            <a:ext cx="11593246" cy="29347573"/>
          </a:xfrm>
          <a:prstGeom prst="rect">
            <a:avLst/>
          </a:prstGeom>
          <a:noFill/>
          <a:ln w="1936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D0000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476F015-B7BA-317E-4148-3ABCC3DAA3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-63300" y="0"/>
            <a:ext cx="49440899" cy="33136789"/>
          </a:xfrm>
          <a:prstGeom prst="rect">
            <a:avLst/>
          </a:prstGeom>
          <a:noFill/>
          <a:ln w="193675">
            <a:solidFill>
              <a:srgbClr val="D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rgbClr val="D0000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EB7303A5-1D83-7E7F-D5F2-FB10B41820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99172" y="4509751"/>
            <a:ext cx="11290619" cy="10623237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AD5089B-9E67-8847-099D-93B25F70D5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05514" y="20544563"/>
            <a:ext cx="11327260" cy="12282397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ACCB9890-107A-50AC-8A62-236DDE566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48434" y="22280301"/>
            <a:ext cx="11095975" cy="10704087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99A87BE6-C151-17FC-1E46-2CDCA5BCE9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38156358" y="4395531"/>
            <a:ext cx="11095975" cy="17126055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69CAF7D0-A812-B6C7-FBF5-A06F0E96CCA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3116" y="15963003"/>
            <a:ext cx="11323186" cy="3646510"/>
          </a:xfrm>
          <a:prstGeom prst="rect">
            <a:avLst/>
          </a:prstGeom>
          <a:noFill/>
          <a:ln w="127000">
            <a:solidFill>
              <a:schemeClr val="tx1"/>
            </a:solidFill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CF37902-2C8D-3049-9881-50CB35F2A6BA}"/>
              </a:ext>
            </a:extLst>
          </p:cNvPr>
          <p:cNvSpPr txBox="1"/>
          <p:nvPr>
            <p:ph type="title"/>
          </p:nvPr>
        </p:nvSpPr>
        <p:spPr>
          <a:xfrm>
            <a:off x="5423437" y="581203"/>
            <a:ext cx="38881148" cy="2862322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en-US" sz="9000" b="1" dirty="0">
                <a:latin typeface="Atkinson Hyperlegible" pitchFamily="2" charset="77"/>
                <a:ea typeface="Georgia" panose="02040502050405020303" pitchFamily="18" charset="0"/>
                <a:cs typeface="Times New Roman" panose="02020603050405020304" pitchFamily="18" charset="0"/>
              </a:rPr>
              <a:t>An Archival Analysis of Massachusetts’ Census Data and Police Department Search &amp; Seizure Policies</a:t>
            </a:r>
            <a:endParaRPr lang="en-US" sz="9000" b="1" i="1" dirty="0">
              <a:latin typeface="Atkinson Hyperlegible" pitchFamily="2" charset="77"/>
              <a:cs typeface="Times New Roman" panose="02020603050405020304" pitchFamily="18" charset="0"/>
            </a:endParaRPr>
          </a:p>
        </p:txBody>
      </p:sp>
      <p:pic>
        <p:nvPicPr>
          <p:cNvPr id="44" name="Picture 43" descr="University of Nebraska–Lincoln Law-Psychology Program logo.">
            <a:extLst>
              <a:ext uri="{FF2B5EF4-FFF2-40B4-BE49-F238E27FC236}">
                <a16:creationId xmlns:a16="http://schemas.microsoft.com/office/drawing/2014/main" id="{4037FBE1-9ECA-C0D3-371B-B07926F454DC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7528445" y="31400847"/>
            <a:ext cx="1311587" cy="1311587"/>
          </a:xfrm>
          <a:prstGeom prst="rect">
            <a:avLst/>
          </a:prstGeom>
        </p:spPr>
      </p:pic>
      <p:pic>
        <p:nvPicPr>
          <p:cNvPr id="45" name="Picture 44" descr="University of Nebraska–Lincoln logo.">
            <a:extLst>
              <a:ext uri="{FF2B5EF4-FFF2-40B4-BE49-F238E27FC236}">
                <a16:creationId xmlns:a16="http://schemas.microsoft.com/office/drawing/2014/main" id="{688D1896-15B4-5A0A-BB73-F35D286D43D5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42092" y="822956"/>
            <a:ext cx="5908577" cy="1904417"/>
          </a:xfrm>
          <a:prstGeom prst="rect">
            <a:avLst/>
          </a:prstGeom>
        </p:spPr>
      </p:pic>
      <p:pic>
        <p:nvPicPr>
          <p:cNvPr id="9" name="Picture 8" descr="Northeastern University logo.">
            <a:extLst>
              <a:ext uri="{FF2B5EF4-FFF2-40B4-BE49-F238E27FC236}">
                <a16:creationId xmlns:a16="http://schemas.microsoft.com/office/drawing/2014/main" id="{B521A8F1-B8B2-5316-A94E-A5373C4D47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358424" y="72608"/>
            <a:ext cx="3135849" cy="3135849"/>
          </a:xfrm>
          <a:prstGeom prst="rect">
            <a:avLst/>
          </a:prstGeom>
        </p:spPr>
      </p:pic>
      <p:pic>
        <p:nvPicPr>
          <p:cNvPr id="40" name="Picture 12" descr="Scripps College logo.">
            <a:extLst>
              <a:ext uri="{FF2B5EF4-FFF2-40B4-BE49-F238E27FC236}">
                <a16:creationId xmlns:a16="http://schemas.microsoft.com/office/drawing/2014/main" id="{469BA007-C2FC-146D-B882-B2CAE84283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57898" y="738188"/>
            <a:ext cx="1915707" cy="19157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" name="Text Box 34">
            <a:extLst>
              <a:ext uri="{FF2B5EF4-FFF2-40B4-BE49-F238E27FC236}">
                <a16:creationId xmlns:a16="http://schemas.microsoft.com/office/drawing/2014/main" id="{6B408644-2BF8-2CB2-859E-4895FE2537B5}"/>
              </a:ext>
            </a:extLst>
          </p:cNvPr>
          <p:cNvSpPr txBox="1"/>
          <p:nvPr/>
        </p:nvSpPr>
        <p:spPr>
          <a:xfrm>
            <a:off x="-30443" y="3635859"/>
            <a:ext cx="11573290" cy="830977"/>
          </a:xfrm>
          <a:prstGeom prst="rect">
            <a:avLst/>
          </a:prstGeom>
          <a:solidFill>
            <a:srgbClr val="D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0" tIns="45710" rIns="45710" bIns="45710">
            <a:spAutoFit/>
          </a:bodyPr>
          <a:lstStyle>
            <a:lvl1pPr algn="ctr">
              <a:spcBef>
                <a:spcPts val="2500"/>
              </a:spcBef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dirty="0">
                <a:latin typeface="Atkinson Hyperlegible" pitchFamily="2" charset="77"/>
              </a:rPr>
              <a:t>Introduction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52738BE-4AFC-5173-6F27-350460A2FAA3}"/>
              </a:ext>
            </a:extLst>
          </p:cNvPr>
          <p:cNvSpPr txBox="1"/>
          <p:nvPr/>
        </p:nvSpPr>
        <p:spPr>
          <a:xfrm>
            <a:off x="268801" y="4723455"/>
            <a:ext cx="11129111" cy="100171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0000"/>
              </a:lnSpc>
            </a:pPr>
            <a:r>
              <a:rPr lang="en-US" sz="3200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Police Searches &amp; Consent</a:t>
            </a:r>
          </a:p>
          <a:p>
            <a:pPr marL="457200" indent="-45720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latin typeface="Atkinson Hyperlegible" pitchFamily="2" charset="77"/>
                <a:ea typeface="Georgia" panose="02040502050405020303" pitchFamily="18" charset="0"/>
                <a:cs typeface="Times New Roman" panose="02020603050405020304" pitchFamily="18" charset="0"/>
              </a:rPr>
              <a:t>The 4th Amendment protects individuals against unreasonable government searches and seizures </a:t>
            </a:r>
          </a:p>
          <a:p>
            <a:pPr marL="457200" indent="-45720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latin typeface="Atkinson Hyperlegible" pitchFamily="2" charset="77"/>
              </a:rPr>
              <a:t>Police can request consent to search at any time, and consent searches do not violate the 4th Amendment so long as consent is voluntary and not “unduly coercive” (</a:t>
            </a:r>
            <a:r>
              <a:rPr lang="en-US" sz="3200" i="1" dirty="0">
                <a:latin typeface="Atkinson Hyperlegible" pitchFamily="2" charset="77"/>
              </a:rPr>
              <a:t>Schneckloth v. </a:t>
            </a:r>
            <a:r>
              <a:rPr lang="en-US" sz="3200" i="1" dirty="0" err="1">
                <a:latin typeface="Atkinson Hyperlegible" pitchFamily="2" charset="77"/>
              </a:rPr>
              <a:t>Bustamonte</a:t>
            </a:r>
            <a:r>
              <a:rPr lang="en-US" sz="3200" dirty="0">
                <a:latin typeface="Atkinson Hyperlegible" pitchFamily="2" charset="77"/>
              </a:rPr>
              <a:t>, 1973).</a:t>
            </a:r>
          </a:p>
          <a:p>
            <a:pPr>
              <a:lnSpc>
                <a:spcPct val="150000"/>
              </a:lnSpc>
              <a:spcBef>
                <a:spcPts val="135"/>
              </a:spcBef>
              <a:spcAft>
                <a:spcPts val="135"/>
              </a:spcAft>
              <a:defRPr/>
            </a:pPr>
            <a:r>
              <a:rPr lang="en-US" sz="3200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Written &amp; Verbal Waivers of Rights</a:t>
            </a:r>
            <a:endParaRPr lang="en-US" sz="3200" dirty="0">
              <a:latin typeface="Atkinson Hyperlegible" pitchFamily="2" charset="77"/>
            </a:endParaRPr>
          </a:p>
          <a:p>
            <a:pPr marL="457200" indent="-45720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effectLst/>
                <a:latin typeface="Atkinson Hyperlegible" pitchFamily="2" charset="77"/>
                <a:ea typeface="Georgia" panose="02040502050405020303" pitchFamily="18" charset="0"/>
                <a:cs typeface="Georgia" panose="02040502050405020303" pitchFamily="18" charset="0"/>
              </a:rPr>
              <a:t>Many states including Massachusetts</a:t>
            </a:r>
            <a:r>
              <a:rPr lang="en-US" sz="3200" dirty="0">
                <a:latin typeface="Atkinson Hyperlegible" pitchFamily="2" charset="77"/>
                <a:ea typeface="Georgia" panose="02040502050405020303" pitchFamily="18" charset="0"/>
                <a:cs typeface="Georgia" panose="02040502050405020303" pitchFamily="18" charset="0"/>
              </a:rPr>
              <a:t> (MA)</a:t>
            </a:r>
            <a:r>
              <a:rPr lang="en-US" sz="3200" dirty="0">
                <a:effectLst/>
                <a:latin typeface="Atkinson Hyperlegible" pitchFamily="2" charset="77"/>
                <a:ea typeface="Georgia" panose="02040502050405020303" pitchFamily="18" charset="0"/>
                <a:cs typeface="Georgia" panose="02040502050405020303" pitchFamily="18" charset="0"/>
              </a:rPr>
              <a:t> seek to provide additional safeguards for searches when based on a subject’s verbal or written consent</a:t>
            </a:r>
          </a:p>
          <a:p>
            <a:pPr marL="457200" indent="-45720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Arial" panose="020B0604020202020204" pitchFamily="34" charset="0"/>
              <a:buChar char="•"/>
              <a:defRPr/>
            </a:pPr>
            <a:r>
              <a:rPr lang="en-US" sz="3200" dirty="0">
                <a:latin typeface="Atkinson Hyperlegible" pitchFamily="2" charset="77"/>
                <a:ea typeface="Georgia" panose="02040502050405020303" pitchFamily="18" charset="0"/>
                <a:cs typeface="Times New Roman" panose="02020603050405020304" pitchFamily="18" charset="0"/>
              </a:rPr>
              <a:t>Recently, policy makers and police training committees in MA have encouraged municipal police departments to enact written consent-to-search waiver procedures</a:t>
            </a:r>
            <a:endParaRPr lang="en-US" sz="3200" dirty="0">
              <a:latin typeface="Atkinson Hyperlegible" pitchFamily="2" charset="77"/>
            </a:endParaRPr>
          </a:p>
          <a:p>
            <a:pPr marL="914400" lvl="1" indent="-457200" hangingPunct="0">
              <a:lnSpc>
                <a:spcPct val="120000"/>
              </a:lnSpc>
              <a:spcBef>
                <a:spcPts val="600"/>
              </a:spcBef>
              <a:buSzPct val="100000"/>
              <a:buFont typeface="Arial" panose="020B0604020202020204" pitchFamily="34" charset="0"/>
              <a:buChar char="•"/>
              <a:defRPr sz="3000">
                <a:latin typeface="Arial"/>
                <a:ea typeface="Arial"/>
                <a:cs typeface="Arial"/>
                <a:sym typeface="Arial"/>
              </a:defRPr>
            </a:pPr>
            <a:r>
              <a:rPr lang="en-US" sz="3200" dirty="0">
                <a:latin typeface="Atkinson Hyperlegible" pitchFamily="2" charset="77"/>
                <a:ea typeface="Georgia" panose="02040502050405020303" pitchFamily="18" charset="0"/>
                <a:cs typeface="Times New Roman" panose="02020603050405020304" pitchFamily="18" charset="0"/>
              </a:rPr>
              <a:t>But lack of formal mandate has resulted in patchwork of local protections and policies across the state</a:t>
            </a:r>
          </a:p>
        </p:txBody>
      </p:sp>
      <p:sp>
        <p:nvSpPr>
          <p:cNvPr id="54" name="Text Box 34">
            <a:extLst>
              <a:ext uri="{FF2B5EF4-FFF2-40B4-BE49-F238E27FC236}">
                <a16:creationId xmlns:a16="http://schemas.microsoft.com/office/drawing/2014/main" id="{F77B186F-671A-FC7A-9CED-E18F02419FC7}"/>
              </a:ext>
            </a:extLst>
          </p:cNvPr>
          <p:cNvSpPr txBox="1"/>
          <p:nvPr/>
        </p:nvSpPr>
        <p:spPr>
          <a:xfrm>
            <a:off x="-30443" y="15088482"/>
            <a:ext cx="11573290" cy="830977"/>
          </a:xfrm>
          <a:prstGeom prst="rect">
            <a:avLst/>
          </a:prstGeom>
          <a:solidFill>
            <a:srgbClr val="D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0" tIns="45710" rIns="45710" bIns="45710">
            <a:spAutoFit/>
          </a:bodyPr>
          <a:lstStyle>
            <a:lvl1pPr algn="ctr">
              <a:spcBef>
                <a:spcPts val="2500"/>
              </a:spcBef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Atkinson Hyperlegible" pitchFamily="2" charset="77"/>
              </a:rPr>
              <a:t>Research Questions</a:t>
            </a:r>
            <a:endParaRPr dirty="0">
              <a:latin typeface="Atkinson Hyperlegible" pitchFamily="2" charset="7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E35B311-3C19-412C-ADE6-EB2E4158F366}"/>
              </a:ext>
            </a:extLst>
          </p:cNvPr>
          <p:cNvSpPr txBox="1"/>
          <p:nvPr/>
        </p:nvSpPr>
        <p:spPr>
          <a:xfrm>
            <a:off x="389717" y="16100100"/>
            <a:ext cx="10875349" cy="37049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14350" indent="-51435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+mj-lt"/>
              <a:buAutoNum type="arabicPeriod"/>
              <a:defRPr/>
            </a:pPr>
            <a:r>
              <a:rPr lang="en-US" altLang="en-US" sz="3200" dirty="0">
                <a:latin typeface="DM Sans 14pt" pitchFamily="2" charset="77"/>
                <a:cs typeface="Times New Roman" panose="02020603050405020304" pitchFamily="18" charset="0"/>
              </a:rPr>
              <a:t>How many Massachusetts (MA) departments prefer written consent over verbal consent? </a:t>
            </a:r>
          </a:p>
          <a:p>
            <a:pPr marL="514350" indent="-514350"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buFont typeface="+mj-lt"/>
              <a:buAutoNum type="arabicPeriod"/>
              <a:defRPr/>
            </a:pPr>
            <a:r>
              <a:rPr lang="en-US" altLang="en-US" sz="3200" dirty="0">
                <a:latin typeface="DM Sans 14pt" pitchFamily="2" charset="77"/>
                <a:cs typeface="Times New Roman" panose="02020603050405020304" pitchFamily="18" charset="0"/>
              </a:rPr>
              <a:t>Do local demographics predict whether a municipal police department in MA has adopted a written waiver preference? </a:t>
            </a:r>
            <a:endParaRPr lang="en-US" sz="3200" b="1" dirty="0">
              <a:latin typeface="DM Sans 14pt" pitchFamily="2" charset="77"/>
              <a:cs typeface="Arial" panose="020B0604020202020204" pitchFamily="34" charset="0"/>
            </a:endParaRPr>
          </a:p>
          <a:p>
            <a:pPr>
              <a:lnSpc>
                <a:spcPct val="120000"/>
              </a:lnSpc>
            </a:pPr>
            <a:endParaRPr lang="en-US" sz="3200" dirty="0">
              <a:latin typeface="DM Sans 14pt" pitchFamily="2" charset="77"/>
              <a:ea typeface="Georgia" panose="02040502050405020303" pitchFamily="18" charset="0"/>
              <a:cs typeface="Times New Roman" panose="02020603050405020304" pitchFamily="18" charset="0"/>
            </a:endParaRPr>
          </a:p>
        </p:txBody>
      </p:sp>
      <p:sp>
        <p:nvSpPr>
          <p:cNvPr id="57" name="Text Box 34">
            <a:extLst>
              <a:ext uri="{FF2B5EF4-FFF2-40B4-BE49-F238E27FC236}">
                <a16:creationId xmlns:a16="http://schemas.microsoft.com/office/drawing/2014/main" id="{68D51042-DEFB-6BE2-35B4-4D537FD3635D}"/>
              </a:ext>
            </a:extLst>
          </p:cNvPr>
          <p:cNvSpPr txBox="1"/>
          <p:nvPr/>
        </p:nvSpPr>
        <p:spPr>
          <a:xfrm>
            <a:off x="2237" y="19654347"/>
            <a:ext cx="11573290" cy="830977"/>
          </a:xfrm>
          <a:prstGeom prst="rect">
            <a:avLst/>
          </a:prstGeom>
          <a:solidFill>
            <a:srgbClr val="D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0" tIns="45710" rIns="45710" bIns="45710">
            <a:spAutoFit/>
          </a:bodyPr>
          <a:lstStyle>
            <a:lvl1pPr algn="ctr">
              <a:spcBef>
                <a:spcPts val="2500"/>
              </a:spcBef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Atkinson Hyperlegible" pitchFamily="2" charset="77"/>
              </a:rPr>
              <a:t>Methods</a:t>
            </a:r>
            <a:endParaRPr dirty="0">
              <a:latin typeface="Atkinson Hyperlegible" pitchFamily="2" charset="77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032D67F-B1AA-C1F6-4186-F5D9F77DEA27}"/>
              </a:ext>
            </a:extLst>
          </p:cNvPr>
          <p:cNvSpPr txBox="1"/>
          <p:nvPr/>
        </p:nvSpPr>
        <p:spPr>
          <a:xfrm>
            <a:off x="119992" y="20636003"/>
            <a:ext cx="11455535" cy="17944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ts val="4456"/>
              </a:lnSpc>
              <a:spcBef>
                <a:spcPct val="20000"/>
              </a:spcBef>
              <a:defRPr/>
            </a:pPr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Archival Analysis: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Reviewed (</a:t>
            </a:r>
            <a:r>
              <a:rPr lang="en-US" altLang="en-US" sz="3200" i="1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N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= 344) Massachusetts</a:t>
            </a:r>
            <a:r>
              <a:rPr lang="en-US" altLang="en-US" sz="3200" i="1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’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municipal police departments websites for Search &amp; Seizure Policies</a:t>
            </a:r>
            <a:endParaRPr lang="en-US" dirty="0">
              <a:latin typeface="Atkinson Hyperlegible" pitchFamily="2" charset="77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638D50-58C8-63AE-82AC-54DD07E2645D}"/>
              </a:ext>
            </a:extLst>
          </p:cNvPr>
          <p:cNvSpPr txBox="1"/>
          <p:nvPr/>
        </p:nvSpPr>
        <p:spPr>
          <a:xfrm>
            <a:off x="311534" y="22543983"/>
            <a:ext cx="11223656" cy="642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4456"/>
              </a:lnSpc>
              <a:spcBef>
                <a:spcPct val="20000"/>
              </a:spcBef>
              <a:defRPr/>
            </a:pP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Located policies for 38.95% (</a:t>
            </a:r>
            <a:r>
              <a:rPr lang="en-US" altLang="en-US" sz="3200" i="1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n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 = 134) of departments</a:t>
            </a:r>
          </a:p>
        </p:txBody>
      </p:sp>
      <p:pic>
        <p:nvPicPr>
          <p:cNvPr id="59" name="Picture 58" descr="Policy-availability pictogram. Search and seizure policies were located for 134 of the 344 Massachusetts municipal police departments reviewed (38.95%). Question marks represent departments whose policies were not located.">
            <a:extLst>
              <a:ext uri="{FF2B5EF4-FFF2-40B4-BE49-F238E27FC236}">
                <a16:creationId xmlns:a16="http://schemas.microsoft.com/office/drawing/2014/main" id="{55F9A63B-E7E0-A6B4-A060-51D3FADB80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8116" y="23186403"/>
            <a:ext cx="6038701" cy="6379064"/>
          </a:xfrm>
          <a:prstGeom prst="rect">
            <a:avLst/>
          </a:prstGeom>
        </p:spPr>
      </p:pic>
      <p:sp>
        <p:nvSpPr>
          <p:cNvPr id="65" name="TextBox 64">
            <a:extLst>
              <a:ext uri="{FF2B5EF4-FFF2-40B4-BE49-F238E27FC236}">
                <a16:creationId xmlns:a16="http://schemas.microsoft.com/office/drawing/2014/main" id="{29BF66D0-EE6C-3936-74E4-019F29723A70}"/>
              </a:ext>
            </a:extLst>
          </p:cNvPr>
          <p:cNvSpPr txBox="1"/>
          <p:nvPr/>
        </p:nvSpPr>
        <p:spPr>
          <a:xfrm>
            <a:off x="632638" y="29382685"/>
            <a:ext cx="10155614" cy="5984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1">
              <a:lnSpc>
                <a:spcPts val="4456"/>
              </a:lnSpc>
              <a:spcBef>
                <a:spcPct val="20000"/>
              </a:spcBef>
              <a:defRPr/>
            </a:pPr>
            <a:r>
              <a:rPr lang="en-US" altLang="en-US" sz="2000" i="1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If policy not available online</a:t>
            </a:r>
            <a:r>
              <a:rPr lang="en-US" altLang="en-US" sz="20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, we contacted and requested the policy directly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31715C0-F76E-B6D9-6232-D7C83B44CD08}"/>
              </a:ext>
            </a:extLst>
          </p:cNvPr>
          <p:cNvSpPr txBox="1"/>
          <p:nvPr/>
        </p:nvSpPr>
        <p:spPr>
          <a:xfrm>
            <a:off x="129183" y="30429844"/>
            <a:ext cx="11437151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US Census Data: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Obtained local demographics by city/town from US Census (2020)  &amp; American Community Survey (2021) data via the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  <a:hlinkClick r:id="rId6"/>
              </a:rPr>
              <a:t>Census Bureau API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&amp;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  <a:hlinkClick r:id="rId7"/>
              </a:rPr>
              <a:t>tidycensus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 R packages (</a:t>
            </a:r>
            <a:r>
              <a:rPr lang="en-US" altLang="en-US" sz="3200" dirty="0" err="1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Recht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, 2024; Walker &amp; Herman, 2024) </a:t>
            </a:r>
          </a:p>
          <a:p>
            <a:endParaRPr lang="en-US" sz="3200" dirty="0">
              <a:latin typeface="Atkinson Hyperlegible" pitchFamily="2" charset="77"/>
            </a:endParaRPr>
          </a:p>
        </p:txBody>
      </p:sp>
      <p:sp>
        <p:nvSpPr>
          <p:cNvPr id="66" name="Text Box 34">
            <a:extLst>
              <a:ext uri="{FF2B5EF4-FFF2-40B4-BE49-F238E27FC236}">
                <a16:creationId xmlns:a16="http://schemas.microsoft.com/office/drawing/2014/main" id="{AFA43122-BF0F-179D-E5CA-15A8E3CA1826}"/>
              </a:ext>
            </a:extLst>
          </p:cNvPr>
          <p:cNvSpPr txBox="1"/>
          <p:nvPr/>
        </p:nvSpPr>
        <p:spPr>
          <a:xfrm>
            <a:off x="38053429" y="3533487"/>
            <a:ext cx="11445019" cy="850394"/>
          </a:xfrm>
          <a:prstGeom prst="rect">
            <a:avLst/>
          </a:prstGeom>
          <a:solidFill>
            <a:srgbClr val="D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0" tIns="45710" rIns="45710" bIns="45710">
            <a:spAutoFit/>
          </a:bodyPr>
          <a:lstStyle>
            <a:lvl1pPr algn="ctr">
              <a:spcBef>
                <a:spcPts val="2500"/>
              </a:spcBef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Atkinson Hyperlegible" pitchFamily="2" charset="77"/>
              </a:rPr>
              <a:t>Results</a:t>
            </a:r>
            <a:endParaRPr dirty="0">
              <a:latin typeface="Atkinson Hyperlegible" pitchFamily="2" charset="77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FBC2080-1071-CF6E-796B-62AB4D4DB2FA}"/>
              </a:ext>
            </a:extLst>
          </p:cNvPr>
          <p:cNvSpPr txBox="1"/>
          <p:nvPr/>
        </p:nvSpPr>
        <p:spPr>
          <a:xfrm>
            <a:off x="38468956" y="5232820"/>
            <a:ext cx="10808640" cy="12195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ts val="4456"/>
              </a:lnSpc>
              <a:spcBef>
                <a:spcPct val="20000"/>
              </a:spcBef>
              <a:defRPr/>
            </a:pPr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Waiver Preference in Policy: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Coded each departmental policy for inclusion of Written Consent Preference</a:t>
            </a:r>
            <a:endParaRPr lang="en-US" sz="3200" dirty="0">
              <a:latin typeface="Atkinson Hyperlegible" pitchFamily="2" charset="77"/>
              <a:ea typeface="Georgia" panose="02040502050405020303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Picture 4" descr="Written-consent preference pictogram. The poster reports that 107 of the 134 located departmental policies (79.8%) preferred written consent waivers; 27 did not include that preference.">
            <a:extLst>
              <a:ext uri="{FF2B5EF4-FFF2-40B4-BE49-F238E27FC236}">
                <a16:creationId xmlns:a16="http://schemas.microsoft.com/office/drawing/2014/main" id="{13EF4D8B-BFB8-EADE-FA1D-29A56ABC2884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89690" y="7165736"/>
            <a:ext cx="7772400" cy="568342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357C64D1-B11B-ED8F-6123-A05AE3728A6D}"/>
              </a:ext>
            </a:extLst>
          </p:cNvPr>
          <p:cNvSpPr txBox="1"/>
          <p:nvPr/>
        </p:nvSpPr>
        <p:spPr>
          <a:xfrm>
            <a:off x="25936547" y="4339856"/>
            <a:ext cx="11593246" cy="59400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79.8% 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of department 	policies (107 out of 134) 	included a </a:t>
            </a:r>
            <a:r>
              <a:rPr lang="en-US" sz="72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Atkinson Hyperlegible" pitchFamily="2" charset="77"/>
                <a:cs typeface="Times New Roman" panose="02020603050405020304" pitchFamily="18" charset="0"/>
              </a:rPr>
              <a:t>preference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 	for </a:t>
            </a:r>
            <a:r>
              <a:rPr lang="en-US" sz="7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written 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consent 	waivers…</a:t>
            </a:r>
          </a:p>
        </p:txBody>
      </p:sp>
      <p:grpSp>
        <p:nvGrpSpPr>
          <p:cNvPr id="24" name="Group 23" descr="Map of Massachusetts municipal written-consent policies. Blue indicates a written-consent preference; red indicates no such preference in a located policy; gray indicates a policy was not found. Blue and red municipalities are dispersed across the state; many municipalities are gray. Overall, 107 of 134 located policies preferred written consent.">
            <a:extLst>
              <a:ext uri="{FF2B5EF4-FFF2-40B4-BE49-F238E27FC236}">
                <a16:creationId xmlns:a16="http://schemas.microsoft.com/office/drawing/2014/main" id="{47AF5BAE-BE73-2D2A-C0A5-5BEFF1FE4407}"/>
              </a:ext>
            </a:extLst>
          </p:cNvPr>
          <p:cNvGrpSpPr/>
          <p:nvPr/>
        </p:nvGrpSpPr>
        <p:grpSpPr>
          <a:xfrm>
            <a:off x="10765733" y="4439762"/>
            <a:ext cx="16813804" cy="7726272"/>
            <a:chOff x="11372093" y="4032292"/>
            <a:chExt cx="16813804" cy="7726272"/>
          </a:xfrm>
        </p:grpSpPr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33B9948F-C435-32E9-1781-5BD359BD93C8}"/>
                </a:ext>
              </a:extLst>
            </p:cNvPr>
            <p:cNvGrpSpPr/>
            <p:nvPr/>
          </p:nvGrpSpPr>
          <p:grpSpPr>
            <a:xfrm>
              <a:off x="12540435" y="4032292"/>
              <a:ext cx="14681321" cy="7690410"/>
              <a:chOff x="12540435" y="4032292"/>
              <a:chExt cx="14681321" cy="7690410"/>
            </a:xfrm>
          </p:grpSpPr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F9367641-54AC-0B3A-7257-BDFA3FA779EB}"/>
                  </a:ext>
                </a:extLst>
              </p:cNvPr>
              <p:cNvSpPr/>
              <p:nvPr/>
            </p:nvSpPr>
            <p:spPr>
              <a:xfrm>
                <a:off x="12540435" y="4032292"/>
                <a:ext cx="14681321" cy="7690410"/>
              </a:xfrm>
              <a:prstGeom prst="rect">
                <a:avLst/>
              </a:prstGeom>
              <a:solidFill>
                <a:schemeClr val="accent4"/>
              </a:solidFill>
              <a:ln w="1270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8" name="Group 77">
                <a:extLst>
                  <a:ext uri="{FF2B5EF4-FFF2-40B4-BE49-F238E27FC236}">
                    <a16:creationId xmlns:a16="http://schemas.microsoft.com/office/drawing/2014/main" id="{EB7F5FB4-3197-66E0-6DDD-126CBFB6A933}"/>
                  </a:ext>
                </a:extLst>
              </p:cNvPr>
              <p:cNvGrpSpPr/>
              <p:nvPr/>
            </p:nvGrpSpPr>
            <p:grpSpPr>
              <a:xfrm>
                <a:off x="14014844" y="9119515"/>
                <a:ext cx="6092250" cy="1865884"/>
                <a:chOff x="36236788" y="1787517"/>
                <a:chExt cx="5488966" cy="2075688"/>
              </a:xfrm>
            </p:grpSpPr>
            <p:sp>
              <p:nvSpPr>
                <p:cNvPr id="71" name="Rounded Rectangle 70">
                  <a:extLst>
                    <a:ext uri="{FF2B5EF4-FFF2-40B4-BE49-F238E27FC236}">
                      <a16:creationId xmlns:a16="http://schemas.microsoft.com/office/drawing/2014/main" id="{FDDB4B19-D810-2519-86F5-E0F0A28DEEB1}"/>
                    </a:ext>
                  </a:extLst>
                </p:cNvPr>
                <p:cNvSpPr/>
                <p:nvPr/>
              </p:nvSpPr>
              <p:spPr>
                <a:xfrm>
                  <a:off x="36236788" y="3218059"/>
                  <a:ext cx="489191" cy="538769"/>
                </a:xfrm>
                <a:prstGeom prst="round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>
                    <a:solidFill>
                      <a:schemeClr val="bg1"/>
                    </a:solidFill>
                    <a:highlight>
                      <a:srgbClr val="808080"/>
                    </a:highlight>
                  </a:endParaRPr>
                </a:p>
              </p:txBody>
            </p:sp>
            <p:grpSp>
              <p:nvGrpSpPr>
                <p:cNvPr id="76" name="Group 75">
                  <a:extLst>
                    <a:ext uri="{FF2B5EF4-FFF2-40B4-BE49-F238E27FC236}">
                      <a16:creationId xmlns:a16="http://schemas.microsoft.com/office/drawing/2014/main" id="{081E01F6-22AC-BBC0-6644-8547C62CCBF1}"/>
                    </a:ext>
                  </a:extLst>
                </p:cNvPr>
                <p:cNvGrpSpPr/>
                <p:nvPr/>
              </p:nvGrpSpPr>
              <p:grpSpPr>
                <a:xfrm>
                  <a:off x="36236788" y="1787517"/>
                  <a:ext cx="5488966" cy="2075688"/>
                  <a:chOff x="36401242" y="5322627"/>
                  <a:chExt cx="5488966" cy="2075688"/>
                </a:xfrm>
              </p:grpSpPr>
              <p:sp>
                <p:nvSpPr>
                  <p:cNvPr id="68" name="Rounded Rectangle 67">
                    <a:extLst>
                      <a:ext uri="{FF2B5EF4-FFF2-40B4-BE49-F238E27FC236}">
                        <a16:creationId xmlns:a16="http://schemas.microsoft.com/office/drawing/2014/main" id="{755C3528-FD00-A26F-F30A-41AE73CB584B}"/>
                      </a:ext>
                    </a:extLst>
                  </p:cNvPr>
                  <p:cNvSpPr/>
                  <p:nvPr/>
                </p:nvSpPr>
                <p:spPr>
                  <a:xfrm>
                    <a:off x="36401242" y="5380729"/>
                    <a:ext cx="489191" cy="538769"/>
                  </a:xfrm>
                  <a:prstGeom prst="roundRect">
                    <a:avLst/>
                  </a:prstGeom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69" name="Rounded Rectangle 68">
                    <a:extLst>
                      <a:ext uri="{FF2B5EF4-FFF2-40B4-BE49-F238E27FC236}">
                        <a16:creationId xmlns:a16="http://schemas.microsoft.com/office/drawing/2014/main" id="{0AF96B54-BDB7-9AB8-1B6E-FCECBD6CA046}"/>
                      </a:ext>
                    </a:extLst>
                  </p:cNvPr>
                  <p:cNvSpPr/>
                  <p:nvPr/>
                </p:nvSpPr>
                <p:spPr>
                  <a:xfrm>
                    <a:off x="36401242" y="6065735"/>
                    <a:ext cx="489191" cy="538769"/>
                  </a:xfrm>
                  <a:prstGeom prst="roundRect">
                    <a:avLst/>
                  </a:prstGeom>
                  <a:solidFill>
                    <a:srgbClr val="C00000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>
                      <a:solidFill>
                        <a:schemeClr val="bg1"/>
                      </a:solidFill>
                    </a:endParaRPr>
                  </a:p>
                </p:txBody>
              </p:sp>
              <p:sp>
                <p:nvSpPr>
                  <p:cNvPr id="70" name="TextBox 69">
                    <a:extLst>
                      <a:ext uri="{FF2B5EF4-FFF2-40B4-BE49-F238E27FC236}">
                        <a16:creationId xmlns:a16="http://schemas.microsoft.com/office/drawing/2014/main" id="{5792A8F3-81F3-92BF-A032-4A293F12DBE0}"/>
                      </a:ext>
                    </a:extLst>
                  </p:cNvPr>
                  <p:cNvSpPr txBox="1"/>
                  <p:nvPr/>
                </p:nvSpPr>
                <p:spPr>
                  <a:xfrm>
                    <a:off x="36952139" y="5964677"/>
                    <a:ext cx="4132588" cy="71900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3600" b="1" dirty="0">
                        <a:latin typeface="Atkinson Hyperlegible" pitchFamily="2" charset="77"/>
                        <a:cs typeface="Times New Roman" panose="02020603050405020304" pitchFamily="18" charset="0"/>
                      </a:rPr>
                      <a:t>N0, not included</a:t>
                    </a:r>
                    <a:endParaRPr lang="en-US" sz="3200" b="1" dirty="0">
                      <a:latin typeface="Atkinson Hyperlegible" pitchFamily="2" charset="77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72" name="TextBox 71">
                    <a:extLst>
                      <a:ext uri="{FF2B5EF4-FFF2-40B4-BE49-F238E27FC236}">
                        <a16:creationId xmlns:a16="http://schemas.microsoft.com/office/drawing/2014/main" id="{4659F3CB-126C-738F-B762-100FD5BFF63D}"/>
                      </a:ext>
                    </a:extLst>
                  </p:cNvPr>
                  <p:cNvSpPr txBox="1"/>
                  <p:nvPr/>
                </p:nvSpPr>
                <p:spPr>
                  <a:xfrm>
                    <a:off x="36974982" y="6679309"/>
                    <a:ext cx="4048036" cy="71900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3600" b="1" dirty="0">
                        <a:latin typeface="Atkinson Hyperlegible" pitchFamily="2" charset="77"/>
                        <a:cs typeface="Times New Roman" panose="02020603050405020304" pitchFamily="18" charset="0"/>
                      </a:rPr>
                      <a:t>Policy Not Found</a:t>
                    </a:r>
                    <a:endParaRPr lang="en-US" sz="3200" b="1" dirty="0">
                      <a:latin typeface="Atkinson Hyperlegible" pitchFamily="2" charset="77"/>
                      <a:cs typeface="Times New Roman" panose="02020603050405020304" pitchFamily="18" charset="0"/>
                    </a:endParaRPr>
                  </a:p>
                </p:txBody>
              </p:sp>
              <p:sp>
                <p:nvSpPr>
                  <p:cNvPr id="73" name="TextBox 72">
                    <a:extLst>
                      <a:ext uri="{FF2B5EF4-FFF2-40B4-BE49-F238E27FC236}">
                        <a16:creationId xmlns:a16="http://schemas.microsoft.com/office/drawing/2014/main" id="{28A7ECBD-2F71-2434-0CBA-7BDDA82CC5A3}"/>
                      </a:ext>
                    </a:extLst>
                  </p:cNvPr>
                  <p:cNvSpPr txBox="1"/>
                  <p:nvPr/>
                </p:nvSpPr>
                <p:spPr>
                  <a:xfrm>
                    <a:off x="36952139" y="5322627"/>
                    <a:ext cx="4938069" cy="719006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3600" b="1" dirty="0">
                        <a:latin typeface="Atkinson Hyperlegible" pitchFamily="2" charset="77"/>
                        <a:cs typeface="Times New Roman" panose="02020603050405020304" pitchFamily="18" charset="0"/>
                      </a:rPr>
                      <a:t>YES, written preference</a:t>
                    </a:r>
                    <a:endParaRPr lang="en-US" sz="3200" b="1" dirty="0">
                      <a:latin typeface="Atkinson Hyperlegible" pitchFamily="2" charset="77"/>
                      <a:cs typeface="Times New Roman" panose="02020603050405020304" pitchFamily="18" charset="0"/>
                    </a:endParaRPr>
                  </a:p>
                </p:txBody>
              </p:sp>
            </p:grpSp>
          </p:grpSp>
        </p:grpSp>
        <p:pic>
          <p:nvPicPr>
            <p:cNvPr id="21" name="Picture 20" descr="Map of Massachusetts municipal written-consent policies. Blue indicates a written-consent preference; red indicates no such preference in a located policy; gray indicates a policy was not found. Blue and red municipalities are dispersed across the state; many municipalities are gray. Overall, 107 of 134 located policies preferred written consent.">
              <a:extLst>
                <a:ext uri="{FF2B5EF4-FFF2-40B4-BE49-F238E27FC236}">
                  <a16:creationId xmlns:a16="http://schemas.microsoft.com/office/drawing/2014/main" id="{D1B6C99B-D88C-81D2-B1BA-48F82D9655FF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1224"/>
            <a:stretch/>
          </p:blipFill>
          <p:spPr>
            <a:xfrm>
              <a:off x="11372093" y="4286623"/>
              <a:ext cx="16813804" cy="7471941"/>
            </a:xfrm>
            <a:prstGeom prst="rect">
              <a:avLst/>
            </a:prstGeom>
            <a:noFill/>
          </p:spPr>
        </p:pic>
      </p:grpSp>
      <p:sp>
        <p:nvSpPr>
          <p:cNvPr id="85" name="TextBox 84">
            <a:extLst>
              <a:ext uri="{FF2B5EF4-FFF2-40B4-BE49-F238E27FC236}">
                <a16:creationId xmlns:a16="http://schemas.microsoft.com/office/drawing/2014/main" id="{524300AD-0120-D4EC-14F9-34065D206394}"/>
              </a:ext>
            </a:extLst>
          </p:cNvPr>
          <p:cNvSpPr txBox="1"/>
          <p:nvPr/>
        </p:nvSpPr>
        <p:spPr>
          <a:xfrm>
            <a:off x="38503997" y="13582323"/>
            <a:ext cx="10400698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Binary Logistic Regression: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 Predicted inclusion of waiver preference (YES = 1; NO = 0) in policy based on median age, household income, &amp; the percentage of Black residents</a:t>
            </a:r>
            <a:endParaRPr lang="en-US" sz="3200" dirty="0">
              <a:latin typeface="Atkinson Hyperlegible" pitchFamily="2" charset="77"/>
            </a:endParaRPr>
          </a:p>
        </p:txBody>
      </p:sp>
      <p:pic>
        <p:nvPicPr>
          <p:cNvPr id="41" name="Picture 40" descr="Logistic-regression plot of predicted written-consent preference against median household income. The fitted line rises from roughly 75% at $40,000 to around 90% at $220,000, but the uncertainty band is wide. The poster reports no reliable association with income.">
            <a:extLst>
              <a:ext uri="{FF2B5EF4-FFF2-40B4-BE49-F238E27FC236}">
                <a16:creationId xmlns:a16="http://schemas.microsoft.com/office/drawing/2014/main" id="{0B5F64C5-8312-638D-3C26-DD89FC00309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691818" y="16648860"/>
            <a:ext cx="3168173" cy="3149077"/>
          </a:xfrm>
          <a:prstGeom prst="rect">
            <a:avLst/>
          </a:prstGeom>
        </p:spPr>
      </p:pic>
      <p:pic>
        <p:nvPicPr>
          <p:cNvPr id="42" name="Picture 41" descr="Logistic-regression plot of predicted written-consent preference against median age. The fitted probability decreases from about 97% at age 20 to about 30% at age 70; uncertainty increases at higher ages. This is the negative age association highlighted in the poster.">
            <a:extLst>
              <a:ext uri="{FF2B5EF4-FFF2-40B4-BE49-F238E27FC236}">
                <a16:creationId xmlns:a16="http://schemas.microsoft.com/office/drawing/2014/main" id="{DF54D50F-E946-257F-E75B-FC639882A7C9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59282" y="16648860"/>
            <a:ext cx="3168173" cy="3149077"/>
          </a:xfrm>
          <a:prstGeom prst="rect">
            <a:avLst/>
          </a:prstGeom>
        </p:spPr>
      </p:pic>
      <p:pic>
        <p:nvPicPr>
          <p:cNvPr id="43" name="Picture 42" descr="Logistic-regression plot of predicted written-consent preference against percentage of Black residents. The fitted probability rises slightly, from about 80% at 0% Black residents to about 90% at 50%, but the uncertainty band widens substantially. The poster reports no reliable association.">
            <a:extLst>
              <a:ext uri="{FF2B5EF4-FFF2-40B4-BE49-F238E27FC236}">
                <a16:creationId xmlns:a16="http://schemas.microsoft.com/office/drawing/2014/main" id="{944FCB29-67B0-DBD5-6006-55E491D1C1EF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079037" y="16648860"/>
            <a:ext cx="3168173" cy="314907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CAEDF038-3452-143A-433F-10ECCF58EF1E}"/>
              </a:ext>
            </a:extLst>
          </p:cNvPr>
          <p:cNvSpPr txBox="1"/>
          <p:nvPr/>
        </p:nvSpPr>
        <p:spPr>
          <a:xfrm>
            <a:off x="12121014" y="12718441"/>
            <a:ext cx="11593246" cy="704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Waiver preference 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is </a:t>
            </a:r>
            <a:r>
              <a:rPr lang="en-US" sz="7200" b="1" dirty="0">
                <a:solidFill>
                  <a:schemeClr val="accent4">
                    <a:lumMod val="20000"/>
                    <a:lumOff val="80000"/>
                  </a:schemeClr>
                </a:solidFill>
                <a:latin typeface="Atkinson Hyperlegible" pitchFamily="2" charset="77"/>
                <a:cs typeface="Times New Roman" panose="02020603050405020304" pitchFamily="18" charset="0"/>
              </a:rPr>
              <a:t>negatively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 associated with median </a:t>
            </a:r>
            <a:r>
              <a:rPr lang="en-US" sz="7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age</a:t>
            </a:r>
            <a:r>
              <a:rPr lang="en-US" sz="7200" b="1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 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but not median</a:t>
            </a:r>
            <a:r>
              <a:rPr lang="en-US" sz="7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 income 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or the percentage of 	</a:t>
            </a:r>
          </a:p>
          <a:p>
            <a:r>
              <a:rPr lang="en-US" sz="7200" b="1" dirty="0">
                <a:solidFill>
                  <a:schemeClr val="accent4"/>
                </a:solidFill>
                <a:latin typeface="Atkinson Hyperlegible" pitchFamily="2" charset="77"/>
                <a:cs typeface="Times New Roman" panose="02020603050405020304" pitchFamily="18" charset="0"/>
              </a:rPr>
              <a:t>Black residents</a:t>
            </a:r>
            <a:r>
              <a:rPr lang="en-US" sz="7200" b="1" dirty="0">
                <a:solidFill>
                  <a:schemeClr val="bg2"/>
                </a:solidFill>
                <a:latin typeface="Atkinson Hyperlegible" pitchFamily="2" charset="77"/>
                <a:cs typeface="Times New Roman" panose="02020603050405020304" pitchFamily="18" charset="0"/>
              </a:rPr>
              <a:t>…</a:t>
            </a:r>
          </a:p>
        </p:txBody>
      </p:sp>
      <p:grpSp>
        <p:nvGrpSpPr>
          <p:cNvPr id="16" name="Group 15" descr="Correlation matrix. Median age correlates with waiver preference at −0.225 (two asterisks), median income at −0.138 (one asterisk), and percentage of Black residents at −0.350 (two asterisks). Median income correlates with percentage of Black residents at −0.132 (one asterisk) and waiver preference at 0.074. Percentage of Black residents correlates with waiver preference at 0.083. The image does not state the asterisk significance thresholds.">
            <a:extLst>
              <a:ext uri="{FF2B5EF4-FFF2-40B4-BE49-F238E27FC236}">
                <a16:creationId xmlns:a16="http://schemas.microsoft.com/office/drawing/2014/main" id="{7F106CD3-D11C-59FA-A3F2-465D604DDFDE}"/>
              </a:ext>
            </a:extLst>
          </p:cNvPr>
          <p:cNvGrpSpPr/>
          <p:nvPr/>
        </p:nvGrpSpPr>
        <p:grpSpPr>
          <a:xfrm>
            <a:off x="27755494" y="11318757"/>
            <a:ext cx="9439785" cy="9465039"/>
            <a:chOff x="27703482" y="10942167"/>
            <a:chExt cx="9439785" cy="9465039"/>
          </a:xfrm>
        </p:grpSpPr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13BB6B60-61E8-D4F7-882E-1134615628B3}"/>
                </a:ext>
              </a:extLst>
            </p:cNvPr>
            <p:cNvSpPr/>
            <p:nvPr/>
          </p:nvSpPr>
          <p:spPr>
            <a:xfrm>
              <a:off x="27703482" y="10942167"/>
              <a:ext cx="9439785" cy="9465039"/>
            </a:xfrm>
            <a:prstGeom prst="ellipse">
              <a:avLst/>
            </a:prstGeom>
            <a:solidFill>
              <a:schemeClr val="accent4"/>
            </a:solidFill>
            <a:ln w="127000">
              <a:solidFill>
                <a:schemeClr val="accent1">
                  <a:shade val="15000"/>
                </a:schemeClr>
              </a:solidFill>
            </a:ln>
          </p:spPr>
          <p:style>
            <a:lnRef idx="2">
              <a:schemeClr val="accent4"/>
            </a:lnRef>
            <a:fillRef idx="1">
              <a:schemeClr val="lt1"/>
            </a:fillRef>
            <a:effectRef idx="0">
              <a:schemeClr val="accent4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20" name="Picture 19" descr="Correlation matrix. Median age correlates with waiver preference at −0.225 (two asterisks), median income at −0.138 (one asterisk), and percentage of Black residents at −0.350 (two asterisks). Median income correlates with percentage of Black residents at −0.132 (one asterisk) and waiver preference at 0.074. Percentage of Black residents correlates with waiver preference at 0.083. The image does not state the asterisk significance thresholds.">
              <a:extLst>
                <a:ext uri="{FF2B5EF4-FFF2-40B4-BE49-F238E27FC236}">
                  <a16:creationId xmlns:a16="http://schemas.microsoft.com/office/drawing/2014/main" id="{4C0DC5EB-A727-DEFF-E9F6-3D0ED2D8DF8E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9229263" y="12577889"/>
              <a:ext cx="6586415" cy="6385750"/>
            </a:xfrm>
            <a:prstGeom prst="rect">
              <a:avLst/>
            </a:prstGeom>
            <a:solidFill>
              <a:schemeClr val="accent4"/>
            </a:solidFill>
            <a:ln w="127000">
              <a:noFill/>
            </a:ln>
          </p:spPr>
        </p:pic>
      </p:grpSp>
      <p:sp>
        <p:nvSpPr>
          <p:cNvPr id="33" name="TextBox 32">
            <a:extLst>
              <a:ext uri="{FF2B5EF4-FFF2-40B4-BE49-F238E27FC236}">
                <a16:creationId xmlns:a16="http://schemas.microsoft.com/office/drawing/2014/main" id="{CB85B75B-CB15-5E7F-4615-F72E78889FED}"/>
              </a:ext>
            </a:extLst>
          </p:cNvPr>
          <p:cNvSpPr txBox="1"/>
          <p:nvPr/>
        </p:nvSpPr>
        <p:spPr>
          <a:xfrm>
            <a:off x="13987076" y="23451556"/>
            <a:ext cx="21471185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7200" b="1" dirty="0">
                <a:latin typeface="Atkinson Hyperlegible" pitchFamily="2" charset="77"/>
                <a:cs typeface="Times New Roman" panose="02020603050405020304" pitchFamily="18" charset="0"/>
              </a:rPr>
              <a:t>Police Departments serving </a:t>
            </a:r>
            <a:r>
              <a:rPr lang="en-US" sz="7200" b="1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younger populations </a:t>
            </a:r>
            <a:r>
              <a:rPr lang="en-US" sz="7200" b="1" dirty="0">
                <a:latin typeface="Atkinson Hyperlegible" pitchFamily="2" charset="77"/>
                <a:cs typeface="Times New Roman" panose="02020603050405020304" pitchFamily="18" charset="0"/>
              </a:rPr>
              <a:t>may respond differently	to calls for consent search reforms…</a:t>
            </a:r>
            <a:endParaRPr lang="en-US" sz="7200" b="1" dirty="0">
              <a:solidFill>
                <a:schemeClr val="tx1">
                  <a:lumMod val="65000"/>
                  <a:lumOff val="35000"/>
                </a:schemeClr>
              </a:solidFill>
              <a:latin typeface="Atkinson Hyperlegible" pitchFamily="2" charset="77"/>
              <a:cs typeface="Times New Roman" panose="02020603050405020304" pitchFamily="18" charset="0"/>
            </a:endParaRPr>
          </a:p>
        </p:txBody>
      </p:sp>
      <p:pic>
        <p:nvPicPr>
          <p:cNvPr id="35" name="Picture 34" descr="Massachusetts municipal median household income map. Light pink to dark red represents approximately $50,000 to $250,000. Higher-income areas cluster west of Boston; most municipalities are lighter pink. This is descriptive context; the poster reports no association between median income and written-consent preference.">
            <a:extLst>
              <a:ext uri="{FF2B5EF4-FFF2-40B4-BE49-F238E27FC236}">
                <a16:creationId xmlns:a16="http://schemas.microsoft.com/office/drawing/2014/main" id="{7A33CF85-812E-DDEB-6B43-7250AB6ED28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0276" y="27419590"/>
            <a:ext cx="8164615" cy="5013084"/>
          </a:xfrm>
          <a:prstGeom prst="rect">
            <a:avLst/>
          </a:prstGeom>
        </p:spPr>
      </p:pic>
      <p:pic>
        <p:nvPicPr>
          <p:cNvPr id="38" name="Picture 37" descr="Two Massachusetts maps show population percentages on a red-to-blue scale from 0% to 100%. The left map represents Black residents and is predominantly at the low end; the right is predominantly at the high end. The displayed image does not label the right-hand population group. The regression analysis uses the percentage of Black residents and reports no association with written-consent preference.">
            <a:extLst>
              <a:ext uri="{FF2B5EF4-FFF2-40B4-BE49-F238E27FC236}">
                <a16:creationId xmlns:a16="http://schemas.microsoft.com/office/drawing/2014/main" id="{0A9B6E0D-443F-3E3E-50FA-B6DD74DF4B04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97157" y="26797417"/>
            <a:ext cx="9451025" cy="5802943"/>
          </a:xfrm>
          <a:prstGeom prst="rect">
            <a:avLst/>
          </a:prstGeom>
        </p:spPr>
      </p:pic>
      <p:pic>
        <p:nvPicPr>
          <p:cNvPr id="39" name="Picture 38" descr="Massachusetts municipal median-age map, with legend ticks at 30, 40, 50, and 60 years. Darker red represents older populations, including much of Cape Cod; younger areas are lighter. The poster reports that written-consent preference is more common in municipalities with younger populations.">
            <a:extLst>
              <a:ext uri="{FF2B5EF4-FFF2-40B4-BE49-F238E27FC236}">
                <a16:creationId xmlns:a16="http://schemas.microsoft.com/office/drawing/2014/main" id="{7CA407B0-1E2E-D461-74F5-75D722253A16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99547" y="27407069"/>
            <a:ext cx="8753870" cy="5374888"/>
          </a:xfrm>
          <a:prstGeom prst="rect">
            <a:avLst/>
          </a:prstGeom>
        </p:spPr>
      </p:pic>
      <p:sp>
        <p:nvSpPr>
          <p:cNvPr id="83" name="Text Box 34">
            <a:extLst>
              <a:ext uri="{FF2B5EF4-FFF2-40B4-BE49-F238E27FC236}">
                <a16:creationId xmlns:a16="http://schemas.microsoft.com/office/drawing/2014/main" id="{5A798C10-EDDD-4636-4D67-3840C46FA6B6}"/>
              </a:ext>
            </a:extLst>
          </p:cNvPr>
          <p:cNvSpPr txBox="1"/>
          <p:nvPr/>
        </p:nvSpPr>
        <p:spPr>
          <a:xfrm>
            <a:off x="37851499" y="21533236"/>
            <a:ext cx="11593245" cy="850394"/>
          </a:xfrm>
          <a:prstGeom prst="rect">
            <a:avLst/>
          </a:prstGeom>
          <a:solidFill>
            <a:srgbClr val="D00000"/>
          </a:solidFill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0" tIns="45710" rIns="45710" bIns="45710">
            <a:spAutoFit/>
          </a:bodyPr>
          <a:lstStyle>
            <a:lvl1pPr algn="ctr">
              <a:spcBef>
                <a:spcPts val="2500"/>
              </a:spcBef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</a:lstStyle>
          <a:p>
            <a:r>
              <a:rPr lang="en-US" dirty="0">
                <a:latin typeface="Atkinson Hyperlegible" pitchFamily="2" charset="77"/>
              </a:rPr>
              <a:t>Discussion</a:t>
            </a:r>
            <a:endParaRPr dirty="0">
              <a:latin typeface="Atkinson Hyperlegible" pitchFamily="2" charset="77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707E4A8-700A-6220-BB9D-A2E0268E1CB1}"/>
              </a:ext>
            </a:extLst>
          </p:cNvPr>
          <p:cNvSpPr txBox="1"/>
          <p:nvPr/>
        </p:nvSpPr>
        <p:spPr>
          <a:xfrm>
            <a:off x="38312795" y="22705151"/>
            <a:ext cx="10591900" cy="84352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Towns younger residents prefer written consent to search waivers indication that there may be more political awareness around policing. </a:t>
            </a: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Looking at Cambridge, MA, a university town home to Harvard and MIT, may be more likely to adopt the written waiver policy as they may be more responsive to political needs of younger residents. </a:t>
            </a:r>
          </a:p>
          <a:p>
            <a:pPr marL="457200" indent="-457200">
              <a:lnSpc>
                <a:spcPct val="120000"/>
              </a:lnSpc>
              <a:buFont typeface="Arial" panose="020B0604020202020204" pitchFamily="34" charset="0"/>
              <a:buChar char="•"/>
            </a:pP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Increase of political and racial movements may allow for younger residents to be more aware of their rights. </a:t>
            </a:r>
          </a:p>
          <a:p>
            <a:pPr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defRPr/>
            </a:pPr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Limitations: </a:t>
            </a:r>
            <a:r>
              <a:rPr lang="en-US" altLang="en-US" sz="3200" dirty="0"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Did not locate policies from every municipal police department &amp; analyses limited to MA </a:t>
            </a:r>
            <a:endParaRPr lang="en-US" altLang="en-US" sz="3200" dirty="0">
              <a:solidFill>
                <a:srgbClr val="D00000"/>
              </a:solidFill>
              <a:latin typeface="Atkinson Hyperlegible" pitchFamily="2" charset="77"/>
              <a:cs typeface="Times New Roman" panose="02020603050405020304" pitchFamily="18" charset="0"/>
            </a:endParaRPr>
          </a:p>
          <a:p>
            <a:pPr>
              <a:lnSpc>
                <a:spcPts val="4690"/>
              </a:lnSpc>
              <a:spcBef>
                <a:spcPts val="135"/>
              </a:spcBef>
              <a:spcAft>
                <a:spcPts val="135"/>
              </a:spcAft>
              <a:defRPr/>
            </a:pPr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Future Directions: </a:t>
            </a:r>
            <a:r>
              <a:rPr lang="en-US" sz="3200" dirty="0">
                <a:latin typeface="Atkinson Hyperlegible" pitchFamily="2" charset="77"/>
                <a:ea typeface="Georgia" panose="02040502050405020303" pitchFamily="18" charset="0"/>
                <a:cs typeface="Times New Roman" panose="02020603050405020304" pitchFamily="18" charset="0"/>
              </a:rPr>
              <a:t>Examine the implications of adopting formal waiver procedures for both departments and individual consent search decisions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BDDB25-C0B3-B878-857E-9AF1DB3C9A82}"/>
              </a:ext>
            </a:extLst>
          </p:cNvPr>
          <p:cNvSpPr txBox="1"/>
          <p:nvPr/>
        </p:nvSpPr>
        <p:spPr>
          <a:xfrm>
            <a:off x="38330923" y="31152059"/>
            <a:ext cx="8891634" cy="16030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4740"/>
              </a:lnSpc>
              <a:spcBef>
                <a:spcPts val="0"/>
              </a:spcBef>
              <a:spcAft>
                <a:spcPts val="600"/>
              </a:spcAft>
              <a:defRPr/>
            </a:pPr>
            <a:r>
              <a:rPr lang="en-US" altLang="en-US" sz="3200" dirty="0">
                <a:solidFill>
                  <a:srgbClr val="D00000"/>
                </a:solidFill>
                <a:latin typeface="Atkinson Hyperlegible" pitchFamily="2" charset="77"/>
                <a:ea typeface="ＭＳ Ｐゴシック" panose="020B0600070205080204" pitchFamily="34" charset="-128"/>
                <a:cs typeface="Times New Roman" panose="02020603050405020304" pitchFamily="18" charset="0"/>
              </a:rPr>
              <a:t>Acknowledgements</a:t>
            </a:r>
          </a:p>
          <a:p>
            <a:pPr>
              <a:spcBef>
                <a:spcPts val="0"/>
              </a:spcBef>
              <a:defRPr/>
            </a:pPr>
            <a:r>
              <a:rPr lang="en-US" altLang="en-US" sz="1800" dirty="0">
                <a:solidFill>
                  <a:srgbClr val="000000"/>
                </a:solidFill>
                <a:latin typeface="Atkinson Hyperlegible" pitchFamily="2" charset="77"/>
                <a:cs typeface="Times New Roman" panose="02020603050405020304" pitchFamily="18" charset="0"/>
              </a:rPr>
              <a:t>We would like to thank the Law and Policy Lab at the University of Nebraska-Lincoln for their support, guidance, and work on this project. We would also like to thank the municipal Massachusetts police departments for their cooperation.</a:t>
            </a:r>
            <a:endParaRPr lang="en-US" altLang="en-US" sz="1800" dirty="0">
              <a:solidFill>
                <a:srgbClr val="C00000"/>
              </a:solidFill>
              <a:latin typeface="Atkinson Hyperlegible" pitchFamily="2" charset="77"/>
              <a:ea typeface="ＭＳ Ｐゴシック" panose="020B0600070205080204" pitchFamily="34" charset="-128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284579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20972</TotalTime>
  <Words>658</Words>
  <Application>Microsoft Macintosh PowerPoint</Application>
  <PresentationFormat>Custom</PresentationFormat>
  <Paragraphs>42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Atkinson Hyperlegible</vt:lpstr>
      <vt:lpstr>DM Sans 14pt</vt:lpstr>
      <vt:lpstr>Calibri Light</vt:lpstr>
      <vt:lpstr>Arial</vt:lpstr>
      <vt:lpstr>Calibri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Massachusetts police written-consent policy research poster</dc:title>
  <dc:creator>Mike Morrison</dc:creator>
  <cp:lastModifiedBy>Emma Marshall</cp:lastModifiedBy>
  <cp:revision>300</cp:revision>
  <dcterms:created xsi:type="dcterms:W3CDTF">2018-09-16T19:13:41Z</dcterms:created>
  <dcterms:modified xsi:type="dcterms:W3CDTF">2024-09-26T02:11:34Z</dcterms:modified>
</cp:coreProperties>
</file>