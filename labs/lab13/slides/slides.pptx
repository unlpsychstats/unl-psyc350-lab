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notesMaster" Target="notesMasters/notesMaster1.xml" /><Relationship Id="rId1" Type="http://schemas.openxmlformats.org/officeDocument/2006/relationships/slideMaster" Target="slideMasters/slideMaster1.xml" /><Relationship Id="rId18" Type="http://schemas.openxmlformats.org/officeDocument/2006/relationships/presProps" Target="presProps.xml" /><Relationship Id="rId19" Type="http://schemas.openxmlformats.org/officeDocument/2006/relationships/viewProps" Target="viewProps.xml" /><Relationship Id="rId20" Type="http://schemas.openxmlformats.org/officeDocument/2006/relationships/theme" Target="theme/theme1.xml" /><Relationship Id="rId2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RH1 walkthrough in the Lab 13 worksheet. The guide demonstrates the procedure with other variables; use the Husker variables listed here. Keep the Data Editor, saved syntax, and Output Viewer open.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Classify each predictor as quantitative or binary in the worksheet. Check units and value labels: temperature is Fahrenheit, conference is 0 = non-conference and 1 = conference, and home is 0 = no and 1 = yes.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correlation describes a predictor’s relationship with Nebraska score on its own. The regression coefficient describes that relationship while holding the other predictors constant. Keep the same selected cases across these stages.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cutoff defines the worksheet’s historical sample and stays the same across course semesters. Keep the filter active for the walkthrough. If the case count differs, check the dataset and selection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frequencies to check variable types and coding. Record each predictor’s correlation and p-value with Nebraska score. LISTWISE keeps the correlation sample aligned with the model variables. All 340 selected games have complete RH1 data.</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Enter the five planned predictors together. Nebraska score is the criterion. Keep the worksheet’s model and predictor tables beside the output.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omnibus test assesses whether the predictors jointly explain variation in Nebraska score. R squared describes the proportion of variation explained in this sample. Neither result establishes causation or performance on new games.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unstandardized B for the worksheet. The image’s standardized Beta column is blank; beta is not requested in this worksheet. Read the predictor rows rather than the constant. The image retains the original SPSS-style values and colors.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bivariate relationships with Nebraska score. For a 0/1 predictor, positive r means the group coded 1 has the higher mean score; negative r means it has the lower mean. Do not add an adjustment claim to a correlation interpretation.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Express the predicted change or group difference in Nebraska score points. Name the predictor’s unit or both groups. Describe associations rather than causes, and distinguish the direction of an estimate from evidence that it differs from zero.</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worksheet’s a–d categories. It labels category d a suppressor effect. Compare significance and signs before choosing a category; a sign change alone does not put two nonsignificant results in d. The classification describes the statistical pattern, not a causal mechanism.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worksheet’s response spaces and review any checker feedback. Save the syntax and output. The walkthrough does not require an additional APA regression table or standardized beta values.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26080"/>
            <a:ext cx="4907280" cy="31775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187440" y="2926080"/>
            <a:ext cx="4907280" cy="317754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187440" y="2313433"/>
            <a:ext cx="4907280" cy="548640"/>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a:xfrm>
            <a:off x="1097280" y="964692"/>
            <a:ext cx="9997440" cy="1188720"/>
          </a:xfrm>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UNL-PSYC350-LAB/labs/lab13/slides/downloads/huskers_data.sav" TargetMode="External"/>
  <Relationship Id="rId4" Type="http://schemas.openxmlformats.org/officeDocument/2006/relationships/hyperlink" Target="https://unlpsychstats.github.io/PSYC350-spss-handouts/A1.multiple_regression_spss_handout_simple.pdf"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Read Multiple Regression</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13 · One Outcome, Several Predictors</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Open the Lab 13 files</a:t>
            </a:r>
          </a:p>
        </p:txBody>
      </p:sp>
      <p:sp>
        <p:nvSpPr>
          <p:cNvPr id="1001" name="card-steel" descr="card: Walkthrough data. Husker data"/>
          <p:cNvSpPr/>
          <p:nvPr/>
        </p:nvSpPr>
        <p:spPr>
          <a:xfrm>
            <a:off x="1097280" y="2633472"/>
            <a:ext cx="4924044"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Walkthrough data</a:t>
            </a:r>
          </a:p>
          <a:p>
            <a:pPr algn="l"/>
            <a:r>
              <a:rPr lang="en-US" sz="2000" b="0" dirty="0">
                <a:solidFill>
                  <a:srgbClr val="010B13"/>
                </a:solidFill>
                <a:hlinkClick r:id="rId3"/>
              </a:rPr>
              <a:t>Husker data</a:t>
            </a:r>
          </a:p>
        </p:txBody>
      </p:sp>
      <p:sp>
        <p:nvSpPr>
          <p:cNvPr id="1002" name="card-rail" descr="">
            <a:extLst>
              <a:ext uri="{C183D7F6-B498-43B3-948B-1728B52AA6E4}">
                <adec:decorative xmlns:adec="http://schemas.microsoft.com/office/drawing/2017/decorative" val="1"/>
              </a:ext>
            </a:extLst>
          </p:cNvPr>
          <p:cNvSpPr/>
          <p:nvPr/>
        </p:nvSpPr>
        <p:spPr>
          <a:xfrm>
            <a:off x="1097280"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Simple SPSS guide. Multiple regression PDF"/>
          <p:cNvSpPr/>
          <p:nvPr/>
        </p:nvSpPr>
        <p:spPr>
          <a:xfrm>
            <a:off x="6167628" y="2633472"/>
            <a:ext cx="4924044"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Simple SPSS guide</a:t>
            </a:r>
          </a:p>
          <a:p>
            <a:pPr algn="l"/>
            <a:r>
              <a:rPr lang="en-US" sz="2000" b="0" dirty="0">
                <a:solidFill>
                  <a:srgbClr val="010B13"/>
                </a:solidFill>
                <a:hlinkClick r:id="rId4"/>
              </a:rPr>
              <a:t>Multiple regression PDF</a:t>
            </a:r>
          </a:p>
        </p:txBody>
      </p:sp>
      <p:sp>
        <p:nvSpPr>
          <p:cNvPr id="1004" name="card-rail" descr="">
            <a:extLst>
              <a:ext uri="{C183D7F6-B498-43B3-948B-1728B52AA6E4}">
                <adec:decorative xmlns:adec="http://schemas.microsoft.com/office/drawing/2017/decorative" val="1"/>
              </a:ext>
            </a:extLst>
          </p:cNvPr>
          <p:cNvSpPr/>
          <p:nvPr/>
        </p:nvSpPr>
        <p:spPr>
          <a:xfrm>
            <a:off x="6167628"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Identify the criterion and predictors</a:t>
            </a:r>
          </a:p>
        </p:txBody>
      </p:sp>
      <p:sp>
        <p:nvSpPr>
          <p:cNvPr id="3" name="Content Placeholder 2"/>
          <p:cNvSpPr>
            <a:spLocks noGrp="1"/>
          </p:cNvSpPr>
          <p:nvPr>
            <p:ph idx="1"/>
          </p:nvPr>
        </p:nvSpPr>
        <p:spPr/>
        <p:txBody>
          <a:bodyPr/>
          <a:lstStyle/>
          <a:p>
            <a:pPr lvl="0" indent="0" marL="0">
              <a:buNone/>
            </a:pPr>
            <a:r>
              <a:rPr b="1"/>
              <a:t>Criterion:</a:t>
            </a:r>
            <a:r>
              <a:rPr/>
              <a:t> Nebraska total score (</a:t>
            </a:r>
            <a:r>
              <a:rPr>
                <a:latin typeface="Courier"/>
              </a:rPr>
              <a:t>ne_score</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2 Identify the criterion and predictors (continued)</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4991100"/>
                <a:gridCol w="4991100"/>
              </a:tblGrid>
              <a:tr h="0">
                <a:tc>
                  <a:txBody>
                    <a:bodyPr/>
                    <a:lstStyle/>
                    <a:p>
                      <a:pPr lvl="0" indent="0" marL="0">
                        <a:buNone/>
                      </a:pPr>
                      <a:r>
                        <a:rPr/>
                        <a:t>Predictor</a:t>
                      </a:r>
                    </a:p>
                  </a:txBody>
                  <a:tcPr/>
                </a:tc>
                <a:tc>
                  <a:txBody>
                    <a:bodyPr/>
                    <a:lstStyle/>
                    <a:p>
                      <a:pPr lvl="0" indent="0" marL="0">
                        <a:buNone/>
                      </a:pPr>
                      <a:r>
                        <a:rPr/>
                        <a:t>Variable</a:t>
                      </a:r>
                    </a:p>
                  </a:txBody>
                  <a:tcPr/>
                </a:tc>
              </a:tr>
              <a:tr h="0">
                <a:tc>
                  <a:txBody>
                    <a:bodyPr/>
                    <a:lstStyle/>
                    <a:p>
                      <a:pPr lvl="0" indent="0" marL="0">
                        <a:buNone/>
                      </a:pPr>
                      <a:r>
                        <a:rPr/>
                        <a:t>Nebraska rushing yards</a:t>
                      </a:r>
                    </a:p>
                  </a:txBody>
                </a:tc>
                <a:tc>
                  <a:txBody>
                    <a:bodyPr/>
                    <a:lstStyle/>
                    <a:p>
                      <a:pPr lvl="0" indent="0" marL="0">
                        <a:buNone/>
                      </a:pPr>
                      <a:r>
                        <a:rPr>
                          <a:latin typeface="Courier"/>
                        </a:rPr>
                        <a:t>ne_rush_yards</a:t>
                      </a:r>
                    </a:p>
                  </a:txBody>
                </a:tc>
              </a:tr>
              <a:tr h="0">
                <a:tc>
                  <a:txBody>
                    <a:bodyPr/>
                    <a:lstStyle/>
                    <a:p>
                      <a:pPr lvl="0" indent="0" marL="0">
                        <a:buNone/>
                      </a:pPr>
                      <a:r>
                        <a:rPr/>
                        <a:t>Nebraska passing yards</a:t>
                      </a:r>
                    </a:p>
                  </a:txBody>
                </a:tc>
                <a:tc>
                  <a:txBody>
                    <a:bodyPr/>
                    <a:lstStyle/>
                    <a:p>
                      <a:pPr lvl="0" indent="0" marL="0">
                        <a:buNone/>
                      </a:pPr>
                      <a:r>
                        <a:rPr>
                          <a:latin typeface="Courier"/>
                        </a:rPr>
                        <a:t>ne_pass_yards</a:t>
                      </a:r>
                    </a:p>
                  </a:txBody>
                </a:tc>
              </a:tr>
              <a:tr h="0">
                <a:tc>
                  <a:txBody>
                    <a:bodyPr/>
                    <a:lstStyle/>
                    <a:p>
                      <a:pPr lvl="0" indent="0" marL="0">
                        <a:buNone/>
                      </a:pPr>
                      <a:r>
                        <a:rPr/>
                        <a:t>Temperature at kickoff</a:t>
                      </a:r>
                    </a:p>
                  </a:txBody>
                </a:tc>
                <a:tc>
                  <a:txBody>
                    <a:bodyPr/>
                    <a:lstStyle/>
                    <a:p>
                      <a:pPr lvl="0" indent="0" marL="0">
                        <a:buNone/>
                      </a:pPr>
                      <a:r>
                        <a:rPr>
                          <a:latin typeface="Courier"/>
                        </a:rPr>
                        <a:t>temp</a:t>
                      </a:r>
                    </a:p>
                  </a:txBody>
                </a:tc>
              </a:tr>
              <a:tr h="0">
                <a:tc>
                  <a:txBody>
                    <a:bodyPr/>
                    <a:lstStyle/>
                    <a:p>
                      <a:pPr lvl="0" indent="0" marL="0">
                        <a:buNone/>
                      </a:pPr>
                      <a:r>
                        <a:rPr/>
                        <a:t>Conference game</a:t>
                      </a:r>
                    </a:p>
                  </a:txBody>
                </a:tc>
                <a:tc>
                  <a:txBody>
                    <a:bodyPr/>
                    <a:lstStyle/>
                    <a:p>
                      <a:pPr lvl="0" indent="0" marL="0">
                        <a:buNone/>
                      </a:pPr>
                      <a:r>
                        <a:rPr>
                          <a:latin typeface="Courier"/>
                        </a:rPr>
                        <a:t>conference</a:t>
                      </a:r>
                    </a:p>
                  </a:txBody>
                </a:tc>
              </a:tr>
              <a:tr h="0">
                <a:tc>
                  <a:txBody>
                    <a:bodyPr/>
                    <a:lstStyle/>
                    <a:p>
                      <a:pPr lvl="0" indent="0" marL="0">
                        <a:buNone/>
                      </a:pPr>
                      <a:r>
                        <a:rPr/>
                        <a:t>Home game</a:t>
                      </a:r>
                    </a:p>
                  </a:txBody>
                </a:tc>
                <a:tc>
                  <a:txBody>
                    <a:bodyPr/>
                    <a:lstStyle/>
                    <a:p>
                      <a:pPr lvl="0" indent="0" marL="0">
                        <a:buNone/>
                      </a:pPr>
                      <a:r>
                        <a:rPr>
                          <a:latin typeface="Courier"/>
                        </a:rPr>
                        <a:t>home</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Follow the worksheet stages</a:t>
            </a:r>
          </a:p>
        </p:txBody>
      </p:sp>
      <p:sp>
        <p:nvSpPr>
          <p:cNvPr id="3" name="Content Placeholder 2"/>
          <p:cNvSpPr>
            <a:spLocks noGrp="1"/>
          </p:cNvSpPr>
          <p:nvPr>
            <p:ph idx="1"/>
          </p:nvPr>
        </p:nvSpPr>
        <p:spPr/>
        <p:txBody>
          <a:bodyPr/>
          <a:lstStyle/>
          <a:p>
            <a:pPr lvl="0" indent="-457200" marL="457200">
              <a:buAutoNum type="arabicPeriod"/>
            </a:pPr>
            <a:r>
              <a:rPr b="1"/>
              <a:t>Univariate:</a:t>
            </a:r>
            <a:r>
              <a:rPr/>
              <a:t> inspect and classify each variable</a:t>
            </a:r>
          </a:p>
          <a:p>
            <a:pPr lvl="0" indent="-457200" marL="457200">
              <a:buAutoNum type="arabicPeriod"/>
            </a:pPr>
            <a:r>
              <a:rPr b="1"/>
              <a:t>Bivariate:</a:t>
            </a:r>
            <a:r>
              <a:rPr/>
              <a:t> correlate each predictor with the criterion</a:t>
            </a:r>
          </a:p>
          <a:p>
            <a:pPr lvl="0" indent="-457200" marL="457200">
              <a:buAutoNum type="arabicPeriod"/>
            </a:pPr>
            <a:r>
              <a:rPr b="1"/>
              <a:t>Multivariate:</a:t>
            </a:r>
            <a:r>
              <a:rPr/>
              <a:t> enter all predictors together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4 Select the walkthrough games</a:t>
            </a:r>
          </a:p>
        </p:txBody>
      </p:sp>
      <p:sp>
        <p:nvSpPr>
          <p:cNvPr id="3" name="Content Placeholder 2"/>
          <p:cNvSpPr>
            <a:spLocks noGrp="1"/>
          </p:cNvSpPr>
          <p:nvPr>
            <p:ph idx="1"/>
          </p:nvPr>
        </p:nvSpPr>
        <p:spPr/>
        <p:txBody>
          <a:bodyPr/>
          <a:lstStyle/>
          <a:p>
            <a:pPr lvl="0" indent="0">
              <a:buNone/>
            </a:pPr>
            <a:r>
              <a:rPr>
                <a:latin typeface="Courier"/>
              </a:rPr>
              <a:t>USE ALL.
COMPUTE filter_$ = (season &gt; 1997).
FILTER BY filter_$.
EXECUTE.
FREQUENCIES VARIABLES=season.</a:t>
            </a:r>
          </a:p>
          <a:p>
            <a:pPr lvl="0" indent="0" marL="0">
              <a:buNone/>
            </a:pPr>
            <a:r>
              <a:rPr b="1"/>
              <a:t>Confirm N = 340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5 Run univariate and bivariate analyses</a:t>
            </a:r>
          </a:p>
        </p:txBody>
      </p:sp>
      <p:sp>
        <p:nvSpPr>
          <p:cNvPr id="3" name="Content Placeholder 2"/>
          <p:cNvSpPr>
            <a:spLocks noGrp="1"/>
          </p:cNvSpPr>
          <p:nvPr>
            <p:ph idx="1"/>
          </p:nvPr>
        </p:nvSpPr>
        <p:spPr/>
        <p:txBody>
          <a:bodyPr/>
          <a:lstStyle/>
          <a:p>
            <a:pPr lvl="0" indent="0">
              <a:buNone/>
            </a:pPr>
            <a:r>
              <a:rPr>
                <a:latin typeface="Courier"/>
              </a:rPr>
              <a:t>FREQUENCIES VARIABLES=ne_score ne_rush_yards
  ne_pass_yards temp conference home.
CORRELATIONS
  /VARIABLES=ne_score ne_rush_yards
    ne_pass_yards temp conference home
  /PRINT=TWOTAIL /MISSING=LISTWISE.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Run the RH1 regression</a:t>
            </a:r>
          </a:p>
        </p:txBody>
      </p:sp>
      <p:sp>
        <p:nvSpPr>
          <p:cNvPr id="3" name="Content Placeholder 2"/>
          <p:cNvSpPr>
            <a:spLocks noGrp="1"/>
          </p:cNvSpPr>
          <p:nvPr>
            <p:ph idx="1"/>
          </p:nvPr>
        </p:nvSpPr>
        <p:spPr/>
        <p:txBody>
          <a:bodyPr/>
          <a:lstStyle/>
          <a:p>
            <a:pPr lvl="0" indent="0">
              <a:buNone/>
            </a:pPr>
            <a:r>
              <a:rPr>
                <a:latin typeface="Courier"/>
              </a:rPr>
              <a:t>REGRESSION
  /STATISTICS COEFF OUTS R ANOVA
    DESCRIPTIVES CORR
  /DEPENDENT ne_score
  /METHOD=ENTER
    ne_rush_yards
    ne_pass_yards
    temp conference home.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Evaluate the full model</a:t>
            </a:r>
          </a:p>
        </p:txBody>
      </p:sp>
      <p:sp>
        <p:nvSpPr>
          <p:cNvPr id="3" name="Content Placeholder 2"/>
          <p:cNvSpPr>
            <a:spLocks noGrp="1"/>
          </p:cNvSpPr>
          <p:nvPr>
            <p:ph idx="1"/>
          </p:nvPr>
        </p:nvSpPr>
        <p:spPr/>
        <p:txBody>
          <a:bodyPr/>
          <a:lstStyle/>
          <a:p>
            <a:pPr lvl="0"/>
            <a:r>
              <a:rPr b="1"/>
              <a:t>Does it work?</a:t>
            </a:r>
            <a:r>
              <a:rPr/>
              <a:t> Find the model F test and p-value</a:t>
            </a:r>
          </a:p>
          <a:p>
            <a:pPr lvl="0"/>
            <a:r>
              <a:rPr b="1"/>
              <a:t>How well?</a:t>
            </a:r>
            <a:r>
              <a:rPr/>
              <a:t> Find R² in Model Summary</a:t>
            </a:r>
          </a:p>
          <a:p>
            <a:pPr lvl="0"/>
            <a:r>
              <a:rPr/>
              <a:t>Record the model statistics requested by the worksheet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Read the coefficient rows</a:t>
            </a:r>
          </a:p>
        </p:txBody>
      </p:sp>
      <p:pic>
        <p:nvPicPr>
          <p:cNvPr descr="Coefficients for Nebraska score in the 340-game walkthrough. B: rushing yards 0.096, passing yards 0.074, temperature 0.003, conference game -3.270, and home game 2.035. Corresponding p-values: below .001, below .001, .915, .005, and .040. The standardized Beta column is blank." id="0" name="Picture 1"/>
          <p:cNvPicPr>
            <a:picLocks noGrp="1" noChangeAspect="1"/>
          </p:cNvPicPr>
          <p:nvPr/>
        </p:nvPicPr>
        <p:blipFill>
          <a:blip r:embed="rId2"/>
          <a:stretch>
            <a:fillRect/>
          </a:stretch>
        </p:blipFill>
        <p:spPr bwMode="auto">
          <a:xfrm>
            <a:off x="1092200" y="2692400"/>
            <a:ext cx="9994900" cy="298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Read the coefficient rows (continued)</a:t>
            </a:r>
          </a:p>
        </p:txBody>
      </p:sp>
      <p:sp>
        <p:nvSpPr>
          <p:cNvPr id="3" name="Content Placeholder 2"/>
          <p:cNvSpPr>
            <a:spLocks noGrp="1"/>
          </p:cNvSpPr>
          <p:nvPr>
            <p:ph idx="1"/>
          </p:nvPr>
        </p:nvSpPr>
        <p:spPr/>
        <p:txBody>
          <a:bodyPr/>
          <a:lstStyle/>
          <a:p>
            <a:pPr lvl="0" indent="0" marL="0">
              <a:buNone/>
            </a:pPr>
            <a:r>
              <a:rPr b="1"/>
              <a:t>Record B and Sig. in the worksheet’s b and p fields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Interpret each correlation</a:t>
            </a:r>
          </a:p>
        </p:txBody>
      </p:sp>
      <p:sp>
        <p:nvSpPr>
          <p:cNvPr id="3" name="Content Placeholder 2"/>
          <p:cNvSpPr>
            <a:spLocks noGrp="1"/>
          </p:cNvSpPr>
          <p:nvPr>
            <p:ph idx="1"/>
          </p:nvPr>
        </p:nvSpPr>
        <p:spPr/>
        <p:txBody>
          <a:bodyPr/>
          <a:lstStyle/>
          <a:p>
            <a:pPr lvl="0"/>
            <a:r>
              <a:rPr/>
              <a:t>For a quantitative predictor, describe direction and strength</a:t>
            </a:r>
          </a:p>
          <a:p>
            <a:pPr lvl="0"/>
            <a:r>
              <a:rPr/>
              <a:t>For a binary predictor, name the two groups and their coding</a:t>
            </a:r>
          </a:p>
          <a:p>
            <a:pPr lvl="0"/>
            <a:r>
              <a:rPr/>
              <a:t>Use the p-value to assess evidence for the relationship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Interpret each regression weight</a:t>
            </a:r>
          </a:p>
        </p:txBody>
      </p:sp>
      <p:sp>
        <p:nvSpPr>
          <p:cNvPr id="3" name="Content Placeholder 2"/>
          <p:cNvSpPr>
            <a:spLocks noGrp="1"/>
          </p:cNvSpPr>
          <p:nvPr>
            <p:ph idx="1"/>
          </p:nvPr>
        </p:nvSpPr>
        <p:spPr/>
        <p:txBody>
          <a:bodyPr/>
          <a:lstStyle/>
          <a:p>
            <a:pPr lvl="0"/>
            <a:r>
              <a:rPr/>
              <a:t>For a quantitative predictor, describe a one-unit change</a:t>
            </a:r>
          </a:p>
          <a:p>
            <a:pPr lvl="0"/>
            <a:r>
              <a:rPr/>
              <a:t>For a binary predictor, compare group 1 with group 0</a:t>
            </a:r>
          </a:p>
          <a:p>
            <a:pPr lvl="0"/>
            <a:r>
              <a:rPr/>
              <a:t>Hold the other predictors constant</a:t>
            </a:r>
          </a:p>
          <a:p>
            <a:pPr lvl="0"/>
            <a:r>
              <a:rPr/>
              <a:t>Use the coefficient’s p-value to assess the relationship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Compare r with b</a:t>
            </a:r>
          </a:p>
        </p:txBody>
      </p:sp>
      <p:graphicFrame>
        <p:nvGraphicFramePr>
          <p:cNvPr id="6" name="Content Placeholder 5"/>
          <p:cNvGraphicFramePr>
            <a:graphicFrameLocks noGrp="1"/>
          </p:cNvGraphicFramePr>
          <p:nvPr>
            <p:ph idx="1"/>
          </p:nvPr>
        </p:nvGraphicFramePr>
        <p:xfrm>
          <a:off x="1092200" y="2628900"/>
          <a:ext cx="9994900" cy="3098800"/>
        </p:xfrm>
        <a:graphic>
          <a:graphicData uri="http://schemas.openxmlformats.org/drawingml/2006/table">
            <a:tbl>
              <a:tblPr firstRow="1" bandRow="1">
                <a:tableStyleId>{5C22544A-7EE6-4342-B048-85BDC9FD1C3A}</a:tableStyleId>
              </a:tblPr>
              <a:tblGrid>
                <a:gridCol w="5003800"/>
                <a:gridCol w="5003800"/>
              </a:tblGrid>
              <a:tr h="0">
                <a:tc>
                  <a:txBody>
                    <a:bodyPr/>
                    <a:lstStyle/>
                    <a:p>
                      <a:pPr lvl="0" indent="0" marL="0">
                        <a:buNone/>
                      </a:pPr>
                      <a:r>
                        <a:rPr/>
                        <a:t>Pattern</a:t>
                      </a:r>
                    </a:p>
                  </a:txBody>
                  <a:tcPr/>
                </a:tc>
                <a:tc>
                  <a:txBody>
                    <a:bodyPr/>
                    <a:lstStyle/>
                    <a:p>
                      <a:pPr lvl="0" indent="0" marL="0">
                        <a:buNone/>
                      </a:pPr>
                      <a:r>
                        <a:rPr/>
                        <a:t>Worksheet category</a:t>
                      </a:r>
                    </a:p>
                  </a:txBody>
                  <a:tcPr/>
                </a:tc>
              </a:tr>
              <a:tr h="0">
                <a:tc>
                  <a:txBody>
                    <a:bodyPr/>
                    <a:lstStyle/>
                    <a:p>
                      <a:pPr lvl="0" indent="0" marL="0">
                        <a:buNone/>
                      </a:pPr>
                      <a:r>
                        <a:rPr/>
                        <a:t>Neither significant</a:t>
                      </a:r>
                    </a:p>
                  </a:txBody>
                </a:tc>
                <a:tc>
                  <a:txBody>
                    <a:bodyPr/>
                    <a:lstStyle/>
                    <a:p>
                      <a:pPr lvl="0" indent="0" marL="0">
                        <a:buNone/>
                      </a:pPr>
                      <a:r>
                        <a:rPr/>
                        <a:t>a</a:t>
                      </a:r>
                    </a:p>
                  </a:txBody>
                </a:tc>
              </a:tr>
              <a:tr h="0">
                <a:tc>
                  <a:txBody>
                    <a:bodyPr/>
                    <a:lstStyle/>
                    <a:p>
                      <a:pPr lvl="0" indent="0" marL="0">
                        <a:buNone/>
                      </a:pPr>
                      <a:r>
                        <a:rPr/>
                        <a:t>Both significant, same sign</a:t>
                      </a:r>
                    </a:p>
                  </a:txBody>
                </a:tc>
                <a:tc>
                  <a:txBody>
                    <a:bodyPr/>
                    <a:lstStyle/>
                    <a:p>
                      <a:pPr lvl="0" indent="0" marL="0">
                        <a:buNone/>
                      </a:pPr>
                      <a:r>
                        <a:rPr/>
                        <a:t>b</a:t>
                      </a:r>
                    </a:p>
                  </a:txBody>
                </a:tc>
              </a:tr>
              <a:tr h="0">
                <a:tc>
                  <a:txBody>
                    <a:bodyPr/>
                    <a:lstStyle/>
                    <a:p>
                      <a:pPr lvl="0" indent="0" marL="0">
                        <a:buNone/>
                      </a:pPr>
                      <a:r>
                        <a:rPr/>
                        <a:t>r significant, b not significant</a:t>
                      </a:r>
                    </a:p>
                  </a:txBody>
                </a:tc>
                <a:tc>
                  <a:txBody>
                    <a:bodyPr/>
                    <a:lstStyle/>
                    <a:p>
                      <a:pPr lvl="0" indent="0" marL="0">
                        <a:buNone/>
                      </a:pPr>
                      <a:r>
                        <a:rPr/>
                        <a:t>c</a:t>
                      </a:r>
                    </a:p>
                  </a:txBody>
                </a:tc>
              </a:tr>
              <a:tr h="0">
                <a:tc>
                  <a:txBody>
                    <a:bodyPr/>
                    <a:lstStyle/>
                    <a:p>
                      <a:pPr lvl="0" indent="0" marL="0">
                        <a:buNone/>
                      </a:pPr>
                      <a:r>
                        <a:rPr/>
                        <a:t>b significant, r not significant; or both significant with opposite signs</a:t>
                      </a:r>
                    </a:p>
                  </a:txBody>
                </a:tc>
                <a:tc>
                  <a:txBody>
                    <a:bodyPr/>
                    <a:lstStyle/>
                    <a:p>
                      <a:pPr lvl="0" indent="0" marL="0">
                        <a:buNone/>
                      </a:pPr>
                      <a:r>
                        <a:rPr/>
                        <a:t>d</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Finish the RH1 worksheet</a:t>
            </a:r>
          </a:p>
        </p:txBody>
      </p:sp>
      <p:sp>
        <p:nvSpPr>
          <p:cNvPr id="3" name="Content Placeholder 2"/>
          <p:cNvSpPr>
            <a:spLocks noGrp="1"/>
          </p:cNvSpPr>
          <p:nvPr>
            <p:ph idx="1"/>
          </p:nvPr>
        </p:nvSpPr>
        <p:spPr/>
        <p:txBody>
          <a:bodyPr/>
          <a:lstStyle/>
          <a:p>
            <a:pPr lvl="0"/>
            <a:r>
              <a:rPr/>
              <a:t>Complete variable types, r, b, p-values, and categories</a:t>
            </a:r>
          </a:p>
          <a:p>
            <a:pPr lvl="0"/>
            <a:r>
              <a:rPr/>
              <a:t>Answer whether the model works and how well</a:t>
            </a:r>
          </a:p>
          <a:p>
            <a:pPr lvl="0"/>
            <a:r>
              <a:rPr/>
              <a:t>Interpret each correlation and regression weight</a:t>
            </a:r>
          </a:p>
          <a:p>
            <a:pPr lvl="0"/>
            <a:r>
              <a:rPr/>
              <a:t>Add the required checker screenshot</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 Multiple Regression</dc:title>
  <dc:creator>PSYC 350 Laboratory</dc:creator>
  <cp:keywords/>
  <dcterms:created xsi:type="dcterms:W3CDTF">2026-09-10T18:12:27Z</dcterms:created>
  <dcterms:modified xsi:type="dcterms:W3CDTF">2026-09-10T18:12:27Z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13 · One Outcome, Several Predictors</vt:lpwstr>
  </property>
  <property fmtid="{D5CDD505-2E9C-101B-9397-08002B2CF9AE}" pid="20" name="toc-title">
    <vt:lpwstr>Table of contents</vt:lpwstr>
  </property>
</Properties>
</file>