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1" Type="http://schemas.openxmlformats.org/officeDocument/2006/relationships/slideMaster" Target="slideMasters/slideMaster1.xml" /><Relationship Id="rId32" Type="http://schemas.openxmlformats.org/officeDocument/2006/relationships/presProps" Target="presProps.xml" /><Relationship Id="rId33" Type="http://schemas.openxmlformats.org/officeDocument/2006/relationships/viewProps" Target="viewProps.xml" /><Relationship Id="rId34" Type="http://schemas.openxmlformats.org/officeDocument/2006/relationships/theme" Target="theme/theme1.xml" /><Relationship Id="rId35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13</a:t>
            </a:r>
            <a:br/>
            <a:br/>
            <a:r>
              <a:rPr/>
              <a:t>PSYCH 350-Lab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Tasks</a:t>
            </a:r>
          </a:p>
        </p:txBody>
      </p:sp>
      <p:sp>
        <p:nvSpPr>
          <p:cNvPr id="1001" name="box-post-it" descr="box: . From one predictor to many: the multiple regression modelTwo kinds of predictors: quantitative &amp; binary (0/1)Reading the output: model fit (R², F) + individual predictors (b, β, t)Multiple regression in SPSS + APA write-upLab 13 worksheet walk-through (Huskers data!)"/>
          <p:cNvSpPr/>
          <p:nvPr/>
        </p:nvSpPr>
        <p:spPr>
          <a:xfrm>
            <a:off x="1097280" y="2633472"/>
            <a:ext cx="9994392" cy="731520"/>
          </a:xfrm>
          <a:prstGeom prst="roundRect">
            <a:avLst>
              <a:gd name="adj" fmla="val 6000"/>
            </a:avLst>
          </a:prstGeom>
          <a:solidFill>
            <a:srgbClr val="FFF9C4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From one predictor to many: the multiple regression modelTwo kinds of predictors: quantitative &amp; binary (0/1)Reading the output: model fit (R², F) + individual predictors (b, β, t)Multiple regression in SPSS + APA write-upLab 13 worksheet walk-through (Huskers data!)</a:t>
            </a:r>
          </a:p>
        </p:txBody>
      </p:sp>
      <p:sp>
        <p:nvSpPr>
          <p:cNvPr id="1002" name="prose" descr=""/>
          <p:cNvSpPr/>
          <p:nvPr/>
        </p:nvSpPr>
        <p:spPr>
          <a:xfrm>
            <a:off x="1097280" y="345643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Last new analysis of the semester. Frame it as the culmination: correlation (Lab 07) grew up — several predictors at once, each controlled for the others.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You Need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for this week is linked on the next slides – and always on the lab page under </a:t>
            </a:r>
            <a:r>
              <a:rPr b="1"/>
              <a:t>Handouts &amp; References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Open these </a:t>
            </a:r>
            <a:r>
              <a:rPr b="1"/>
              <a:t>before we start</a:t>
            </a:r>
            <a:r>
              <a:rPr/>
              <a:t> so you can follow along.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Multiple Linear Regression</a:t>
            </a:r>
          </a:p>
        </p:txBody>
      </p:sp>
      <p:sp>
        <p:nvSpPr>
          <p:cNvPr id="1003" name="card-blue" descr="card: [book icon]. SPSS Handouts"/>
          <p:cNvSpPr/>
          <p:nvPr/>
        </p:nvSpPr>
        <p:spPr>
          <a:xfrm>
            <a:off x="1097280" y="2633472"/>
            <a:ext cx="3270504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SPSS Handouts</a:t>
            </a:r>
          </a:p>
        </p:txBody>
      </p:sp>
      <p:sp>
        <p:nvSpPr>
          <p:cNvPr id="1004" name="card-rail" descr=""/>
          <p:cNvSpPr/>
          <p:nvPr/>
        </p:nvSpPr>
        <p:spPr>
          <a:xfrm>
            <a:off x="1097280" y="2633472"/>
            <a:ext cx="54864" cy="57912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5" name="card-red" descr="card: [note icon]. Multiple Regression Example [PDF]"/>
          <p:cNvSpPr/>
          <p:nvPr/>
        </p:nvSpPr>
        <p:spPr>
          <a:xfrm>
            <a:off x="4459224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Multiple Regression Example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6" name="card-rail" descr=""/>
          <p:cNvSpPr/>
          <p:nvPr/>
        </p:nvSpPr>
        <p:spPr>
          <a:xfrm>
            <a:off x="4459224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07" name="card-red" descr="card: [note icon]. Another Multiple Regression Example [PDF]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D00000"/>
                </a:solidFill>
              </a:rPr>
              <a:t>[note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Another Multiple Regression Example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[PDF]</a:t>
            </a:r>
          </a:p>
        </p:txBody>
      </p:sp>
      <p:sp>
        <p:nvSpPr>
          <p:cNvPr id="1008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D000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Weekly Lab Assignment</a:t>
            </a:r>
          </a:p>
        </p:txBody>
      </p:sp>
      <p:sp>
        <p:nvSpPr>
          <p:cNvPr id="1009" name="card-steel" descr="card: [chart icon]. huskers_data.sav [SPSS data file]"/>
          <p:cNvSpPr/>
          <p:nvPr/>
        </p:nvSpPr>
        <p:spPr>
          <a:xfrm>
            <a:off x="1097280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10B13"/>
                </a:solidFill>
              </a:rPr>
              <a:t>[chart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huskers_data.sav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[SPSS data file]</a:t>
            </a:r>
          </a:p>
        </p:txBody>
      </p:sp>
      <p:sp>
        <p:nvSpPr>
          <p:cNvPr id="1010" name="card-rail" descr=""/>
          <p:cNvSpPr/>
          <p:nvPr/>
        </p:nvSpPr>
        <p:spPr>
          <a:xfrm>
            <a:off x="1097280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1" name="card-blue" descr="card: [book icon]. Multiple Linear Regression Worksheet [Word document]"/>
          <p:cNvSpPr/>
          <p:nvPr/>
        </p:nvSpPr>
        <p:spPr>
          <a:xfrm>
            <a:off x="4459224" y="2633472"/>
            <a:ext cx="3270504" cy="94488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[book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Multiple Linear Regression Worksheet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[Word document]</a:t>
            </a:r>
          </a:p>
        </p:txBody>
      </p:sp>
      <p:sp>
        <p:nvSpPr>
          <p:cNvPr id="1012" name="card-rail" descr=""/>
          <p:cNvSpPr/>
          <p:nvPr/>
        </p:nvSpPr>
        <p:spPr>
          <a:xfrm>
            <a:off x="4459224" y="2633472"/>
            <a:ext cx="54864" cy="94488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3" name="card-blue" descr="card: [arrow icon]. Multiple Regression hw checker [Web page]"/>
          <p:cNvSpPr/>
          <p:nvPr/>
        </p:nvSpPr>
        <p:spPr>
          <a:xfrm>
            <a:off x="7821168" y="2633472"/>
            <a:ext cx="3270504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005D84"/>
                </a:solidFill>
              </a:rPr>
              <a:t>[arrow icon]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Multiple Regression hw checker</a:t>
            </a:r>
          </a:p>
          <a:p>
            <a:pPr algn="l"/>
            <a:r>
              <a:rPr lang="en-US" sz="1200" b="0" dirty="0">
                <a:solidFill>
                  <a:srgbClr val="010B13"/>
                </a:solidFill>
              </a:rPr>
              <a:t>[Web page]</a:t>
            </a:r>
          </a:p>
        </p:txBody>
      </p:sp>
      <p:sp>
        <p:nvSpPr>
          <p:cNvPr id="1014" name="card-rail" descr=""/>
          <p:cNvSpPr/>
          <p:nvPr/>
        </p:nvSpPr>
        <p:spPr>
          <a:xfrm>
            <a:off x="7821168" y="2633472"/>
            <a:ext cx="54864" cy="762000"/>
          </a:xfrm>
          <a:prstGeom prst="roundRect">
            <a:avLst>
              <a:gd name="adj" fmla="val 20000"/>
            </a:avLst>
          </a:prstGeom>
          <a:solidFill>
            <a:srgbClr val="005D84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From One Predictor to Many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Review: One Predictor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Lab 07: Pearson’s </a:t>
                </a:r>
                <a:r>
                  <a:rPr i="1"/>
                  <a:t>r</a:t>
                </a:r>
                <a:r>
                  <a:rPr/>
                  <a:t> — how strongly are two </a:t>
                </a:r>
                <a:r>
                  <a:rPr b="1"/>
                  <a:t>quantitative</a:t>
                </a:r>
                <a:r>
                  <a:rPr/>
                  <a:t> variables related?</a:t>
                </a:r>
              </a:p>
              <a:p>
                <a:pPr lvl="0"/>
                <a:r>
                  <a:rPr/>
                  <a:t>Regression with one predictor turns that into a </a:t>
                </a:r>
                <a:r>
                  <a:rPr b="1"/>
                  <a:t>prediction line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 i="1"/>
                  <a:t>b</a:t>
                </a:r>
                <a:r>
                  <a:rPr baseline="-25000"/>
                  <a:t>1</a:t>
                </a:r>
                <a:r>
                  <a:rPr/>
                  <a:t> = slope: how much </a:t>
                </a:r>
                <a:r>
                  <a:rPr i="1"/>
                  <a:t>Y</a:t>
                </a:r>
                <a:r>
                  <a:rPr/>
                  <a:t> changes per unit of </a:t>
                </a:r>
                <a:r>
                  <a:rPr i="1"/>
                  <a:t>X</a:t>
                </a:r>
              </a:p>
              <a:p>
                <a:pPr lvl="0"/>
                <a:r>
                  <a:rPr i="1"/>
                  <a:t>r</a:t>
                </a:r>
                <a:r>
                  <a:rPr/>
                  <a:t>² = proportion of variance in </a:t>
                </a:r>
                <a:r>
                  <a:rPr i="1"/>
                  <a:t>Y</a:t>
                </a:r>
                <a:r>
                  <a:rPr/>
                  <a:t> the line explains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More Than One Predictor?</a:t>
            </a:r>
          </a:p>
        </p:txBody>
      </p:sp>
      <p:sp>
        <p:nvSpPr>
          <p:cNvPr id="1015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Two reasons:</a:t>
            </a:r>
          </a:p>
        </p:txBody>
      </p:sp>
      <p:sp>
        <p:nvSpPr>
          <p:cNvPr id="1016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Better predictions — rushing yards alone won’t predict a football score; rushing + passing + home field mightControl — estimate each predictor’s unique contribution, holding the others constant</a:t>
            </a:r>
          </a:p>
        </p:txBody>
      </p:sp>
      <p:sp>
        <p:nvSpPr>
          <p:cNvPr id="1017" name="callout-tip" descr="tip callout: Tip. “Holding constant” is the superpower: it’s how we ask whether passing yards matter beyond what rushing yards already explain."/>
          <p:cNvSpPr/>
          <p:nvPr/>
        </p:nvSpPr>
        <p:spPr>
          <a:xfrm>
            <a:off x="1097280" y="336499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18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19" name="callout-body" descr=""/>
          <p:cNvSpPr/>
          <p:nvPr/>
        </p:nvSpPr>
        <p:spPr>
          <a:xfrm>
            <a:off x="1097280" y="368503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“Holding constant” is the superpower: it’s how we ask whether passing yards matter beyond what rushing yards already explain.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Multiple Regression Model</a:t>
            </a:r>
          </a:p>
        </p:txBody>
      </p:sp>
      <p:sp>
        <p:nvSpPr>
          <p:cNvPr id="1020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\hat{Y} = b_0 + b_1 X_1 + b_2 X_2 + \dots + b_k X_k</a:t>
            </a:r>
          </a:p>
        </p:txBody>
      </p:sp>
      <p:sp>
        <p:nvSpPr>
          <p:cNvPr id="1021" name="prose" descr=""/>
          <p:cNvSpPr/>
          <p:nvPr/>
        </p:nvSpPr>
        <p:spPr>
          <a:xfrm>
            <a:off x="1097280" y="290779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Criterion (Y): the quantitative outcome you’re predictingPredictors (X’s): the variables doing the predictingb-weights: each predictor’s slope controlling for all the othersResidual: the gap between each real Y and its prediction</a:t>
            </a:r>
          </a:p>
        </p:txBody>
      </p:sp>
      <p:sp>
        <p:nvSpPr>
          <p:cNvPr id="1022" name="callout-warning" descr="warning callout: Warning. Same game as ANOVA’s “it depends”: predictors share variance, so a predictor’s b is usually smaller than its simple correlation."/>
          <p:cNvSpPr/>
          <p:nvPr/>
        </p:nvSpPr>
        <p:spPr>
          <a:xfrm>
            <a:off x="1097280" y="35478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66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3" name="callout-title" descr=""/>
          <p:cNvSpPr/>
          <p:nvPr/>
        </p:nvSpPr>
        <p:spPr>
          <a:xfrm>
            <a:off x="1097280" y="35478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66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Warning</a:t>
            </a:r>
          </a:p>
        </p:txBody>
      </p:sp>
      <p:sp>
        <p:nvSpPr>
          <p:cNvPr id="1024" name="callout-body" descr=""/>
          <p:cNvSpPr/>
          <p:nvPr/>
        </p:nvSpPr>
        <p:spPr>
          <a:xfrm>
            <a:off x="1097280" y="38679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Same game as ANOVA’s “it depends”: predictors share variance, so a predictor’s b is usually smaller than its simple correlation.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Meet the Predictors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 Kinds of Predictors</a:t>
            </a:r>
          </a:p>
        </p:txBody>
      </p:sp>
      <p:sp>
        <p:nvSpPr>
          <p:cNvPr id="1025" name="callout-note" descr="note callout: Quantitative. Rushing yards, passing yards, temperatureb = change in Y per 1 unit of X, holding the others constant"/>
          <p:cNvSpPr/>
          <p:nvPr/>
        </p:nvSpPr>
        <p:spPr>
          <a:xfrm>
            <a:off x="1097280" y="26334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66CC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6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66CC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Quantitative</a:t>
            </a:r>
          </a:p>
        </p:txBody>
      </p:sp>
      <p:sp>
        <p:nvSpPr>
          <p:cNvPr id="1027" name="callout-body" descr=""/>
          <p:cNvSpPr/>
          <p:nvPr/>
        </p:nvSpPr>
        <p:spPr>
          <a:xfrm>
            <a:off x="1097280" y="29535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Rushing yards, passing yards, temperatureb = change in Y per 1 unit of X, holding the others constant</a:t>
            </a:r>
          </a:p>
        </p:txBody>
      </p:sp>
      <p:sp>
        <p:nvSpPr>
          <p:cNvPr id="1028" name="callout-tip" descr="tip callout: Binary (0 / 1). Home game? Conference game? Win? (no = 0, yes = 1)b = the mean shift when the answer is “yes”"/>
          <p:cNvSpPr/>
          <p:nvPr/>
        </p:nvSpPr>
        <p:spPr>
          <a:xfrm>
            <a:off x="1097280" y="362407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29" name="callout-title" descr=""/>
          <p:cNvSpPr/>
          <p:nvPr/>
        </p:nvSpPr>
        <p:spPr>
          <a:xfrm>
            <a:off x="1097280" y="36240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Binary (0 / 1)</a:t>
            </a:r>
          </a:p>
        </p:txBody>
      </p:sp>
      <p:sp>
        <p:nvSpPr>
          <p:cNvPr id="1030" name="callout-body" descr=""/>
          <p:cNvSpPr/>
          <p:nvPr/>
        </p:nvSpPr>
        <p:spPr>
          <a:xfrm>
            <a:off x="1097280" y="394411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Home game? Conference game? Win? (no = 0, yes = 1)b = the mean shift when the answer is “yes”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Seeing a Binary Predictor</a:t>
            </a:r>
          </a:p>
        </p:txBody>
      </p:sp>
      <p:pic>
        <p:nvPicPr>
          <p:cNvPr descr="Scatterplot of Nebraska score versus rushing yards with parallel regression lines for home and away games, showing how a binary predictor shifts the intercept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2628900"/>
            <a:ext cx="4508500" cy="309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Same slope</a:t>
            </a:r>
            <a:r>
              <a:rPr/>
              <a:t> for rushing yards, home or away</a:t>
            </a:r>
          </a:p>
          <a:p>
            <a:pPr lvl="0"/>
            <a:r>
              <a:rPr/>
              <a:t>The home line sits </a:t>
            </a:r>
            <a:r>
              <a:rPr b="1"/>
              <a:t>higher</a:t>
            </a:r>
            <a:r>
              <a:rPr/>
              <a:t> by exactly the </a:t>
            </a:r>
            <a:r>
              <a:rPr i="1"/>
              <a:t>b</a:t>
            </a:r>
            <a:r>
              <a:rPr/>
              <a:t> for “home game”</a:t>
            </a:r>
          </a:p>
          <a:p>
            <a:pPr lvl="0"/>
            <a:r>
              <a:rPr/>
              <a:t>A binary predictor </a:t>
            </a:r>
            <a:r>
              <a:rPr b="1"/>
              <a:t>shifts the intercept</a:t>
            </a:r>
            <a:r>
              <a:rPr/>
              <a:t>, it doesn’t tilt the line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Reading the Output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Level 1: Does the Model Work?</a:t>
            </a:r>
          </a:p>
        </p:txBody>
      </p:sp>
      <p:sp>
        <p:nvSpPr>
          <p:cNvPr id="1031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The Model Summary + ANOVA tables:</a:t>
            </a:r>
          </a:p>
        </p:txBody>
      </p:sp>
      <p:sp>
        <p:nvSpPr>
          <p:cNvPr id="1032" name="prose" descr=""/>
          <p:cNvSpPr/>
          <p:nvPr/>
        </p:nvSpPr>
        <p:spPr>
          <a:xfrm>
            <a:off x="1097280" y="290779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R² — proportion of criterion variance the whole model explainsAdjusted R² — R² with a penalty for extra predictors (use this one when comparing models)Model F — is R² significantly greater than zero? F(k, n − k − 1), with k predictors</a:t>
            </a:r>
          </a:p>
        </p:txBody>
      </p:sp>
      <p:sp>
        <p:nvSpPr>
          <p:cNvPr id="1033" name="callout-tip" descr="tip callout: Tip. Start here. If the model F isn’t significant, the individual predictor tests below it are a house built on sand."/>
          <p:cNvSpPr/>
          <p:nvPr/>
        </p:nvSpPr>
        <p:spPr>
          <a:xfrm>
            <a:off x="1097280" y="35478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4" name="callout-title" descr=""/>
          <p:cNvSpPr/>
          <p:nvPr/>
        </p:nvSpPr>
        <p:spPr>
          <a:xfrm>
            <a:off x="1097280" y="35478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35" name="callout-body" descr=""/>
          <p:cNvSpPr/>
          <p:nvPr/>
        </p:nvSpPr>
        <p:spPr>
          <a:xfrm>
            <a:off x="1097280" y="38679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Start here. If the model F isn’t significant, the individual predictor tests below it are a house built on sand.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Level 2: Which Predictors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Coefficients</a:t>
            </a:r>
            <a:r>
              <a:rPr/>
              <a:t> table — one row per predictor: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Level 2: Which Predictors Matter? (continued)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0"/>
                <a:gridCol w="499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(unstandardized)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slope in </a:t>
                      </a:r>
                      <a:r>
                        <a:rPr b="1"/>
                        <a:t>original units</a:t>
                      </a:r>
                      <a:r>
                        <a:rPr/>
                        <a:t> (yards → points)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β (standardized)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slope in </a:t>
                      </a:r>
                      <a:r>
                        <a:rPr b="1"/>
                        <a:t>SD units</a:t>
                      </a:r>
                      <a:r>
                        <a:rPr/>
                        <a:t> — compare across predictors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</a:t>
                      </a:r>
                      <a:r>
                        <a:rPr/>
                        <a:t>, </a:t>
                      </a:r>
                      <a:r>
                        <a:rPr i="1"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this contribution ≠ 0, holding others constant?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Level 2: Which Predictors Matter? (continued)</a:t>
            </a:r>
          </a:p>
        </p:txBody>
      </p:sp>
      <p:sp>
        <p:nvSpPr>
          <p:cNvPr id="1036" name="callout-caution" descr="caution callout: Caution. Comparing importance across predictors? Use β, not b — “yards” and “degrees Fahrenheit” aren’t on the same scale."/>
          <p:cNvSpPr/>
          <p:nvPr/>
        </p:nvSpPr>
        <p:spPr>
          <a:xfrm>
            <a:off x="1097280" y="26334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B38F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37" name="callout-title" descr=""/>
          <p:cNvSpPr/>
          <p:nvPr/>
        </p:nvSpPr>
        <p:spPr>
          <a:xfrm>
            <a:off x="1097280" y="26334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B38F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Caution</a:t>
            </a:r>
          </a:p>
        </p:txBody>
      </p:sp>
      <p:sp>
        <p:nvSpPr>
          <p:cNvPr id="1038" name="callout-body" descr=""/>
          <p:cNvSpPr/>
          <p:nvPr/>
        </p:nvSpPr>
        <p:spPr>
          <a:xfrm>
            <a:off x="1097280" y="29535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Comparing importance across predictors? Use β, not b — “yards” and “degrees Fahrenheit” aren’t on the same scale.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Saying It In English</a:t>
            </a:r>
          </a:p>
        </p:txBody>
      </p:sp>
      <p:sp>
        <p:nvSpPr>
          <p:cNvPr id="1039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Template for each significant predictor:</a:t>
            </a:r>
          </a:p>
        </p:txBody>
      </p:sp>
      <p:sp>
        <p:nvSpPr>
          <p:cNvPr id="1040" name="prose" descr=""/>
          <p:cNvSpPr/>
          <p:nvPr/>
        </p:nvSpPr>
        <p:spPr>
          <a:xfrm>
            <a:off x="1097280" y="290779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“Each additional rushing yard was associated with a b-point increase in score, holding passing yards, temperature, conference, and home-field constant, t(df) = X.XX, p = .XXX.”</a:t>
            </a:r>
          </a:p>
        </p:txBody>
      </p:sp>
      <p:sp>
        <p:nvSpPr>
          <p:cNvPr id="1041" name="callout-warning" descr="warning callout: Warning. Not “rushing caused points.” These are game-level associations — no random assignment here."/>
          <p:cNvSpPr/>
          <p:nvPr/>
        </p:nvSpPr>
        <p:spPr>
          <a:xfrm>
            <a:off x="1097280" y="336499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6600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2" name="callout-title" descr=""/>
          <p:cNvSpPr/>
          <p:nvPr/>
        </p:nvSpPr>
        <p:spPr>
          <a:xfrm>
            <a:off x="1097280" y="336499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CC6600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Warning</a:t>
            </a:r>
          </a:p>
        </p:txBody>
      </p:sp>
      <p:sp>
        <p:nvSpPr>
          <p:cNvPr id="1043" name="callout-body" descr=""/>
          <p:cNvSpPr/>
          <p:nvPr/>
        </p:nvSpPr>
        <p:spPr>
          <a:xfrm>
            <a:off x="1097280" y="368503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Not “rushing caused points.” These are game-level associations — no random assignment here.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Running the Analysis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SPSS: Linear Regression</a:t>
            </a:r>
          </a:p>
        </p:txBody>
      </p:sp>
      <p:sp>
        <p:nvSpPr>
          <p:cNvPr id="1044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Analyze → Regression → LinearCriterion → Dependent; all predictors → Independent(s)Method: Enter (all predictors at once — that’s today)Statistics… → Estimates, Model fit, (optionally) Collinearity</a:t>
            </a:r>
          </a:p>
        </p:txBody>
      </p:sp>
      <p:sp>
        <p:nvSpPr>
          <p:cNvPr id="1045" name="callout-tip" descr="tip callout: Tip. You get three tables back: Model Summary (R²), ANOVA (model F), Coefficients (b, β, t). Read them in that order."/>
          <p:cNvSpPr/>
          <p:nvPr/>
        </p:nvSpPr>
        <p:spPr>
          <a:xfrm>
            <a:off x="1097280" y="30906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46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47" name="callout-body" descr=""/>
          <p:cNvSpPr/>
          <p:nvPr/>
        </p:nvSpPr>
        <p:spPr>
          <a:xfrm>
            <a:off x="1097280" y="34107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You get three tables back: Model Summary (R²), ANOVA (model F), Coefficients (b, β, t). Read them in that order.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Sanity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Signs make sense?</a:t>
            </a:r>
            <a:r>
              <a:rPr/>
              <a:t> Rushing yards </a:t>
            </a:r>
            <a:r>
              <a:rPr i="1"/>
              <a:t>negative</a:t>
            </a:r>
            <a:r>
              <a:rPr/>
              <a:t> would raise an eyebrow</a:t>
            </a:r>
          </a:p>
          <a:p>
            <a:pPr lvl="0"/>
            <a:r>
              <a:rPr b="1"/>
              <a:t>β sizes</a:t>
            </a:r>
            <a:r>
              <a:rPr/>
              <a:t> — which predictor dominates? Is that plausible?</a:t>
            </a:r>
          </a:p>
          <a:p>
            <a:pPr lvl="0"/>
            <a:r>
              <a:rPr b="1"/>
              <a:t>Adjusted vs. raw R²</a:t>
            </a:r>
            <a:r>
              <a:rPr/>
              <a:t> — a big gap means some predictors are dead weight</a:t>
            </a:r>
          </a:p>
          <a:p>
            <a:pPr lvl="0"/>
            <a:r>
              <a:rPr b="1"/>
              <a:t>n per predictor</a:t>
            </a:r>
            <a:r>
              <a:rPr/>
              <a:t> — models get shaky when predictors pile up relative to sample size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APA Write-Up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Model Sentence + Predictor Sentences</a:t>
            </a:r>
          </a:p>
        </p:txBody>
      </p:sp>
      <p:sp>
        <p:nvSpPr>
          <p:cNvPr id="1048" name="prose" descr=""/>
          <p:cNvSpPr/>
          <p:nvPr/>
        </p:nvSpPr>
        <p:spPr>
          <a:xfrm>
            <a:off x="1097280" y="263347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Model first: “The model predicted Nebraska’s score, F(5, 171) = XX.XX, p &lt; .001, explaining XX% of the variance (adjusted R² = .XX).”Then each significant predictor: “b = X.XX, β = .XX, t(171) = X.XX, p = .XXX,” in plain EnglishName the non-significant ones too — an expected predictor that fell short is still a finding</a:t>
            </a:r>
          </a:p>
        </p:txBody>
      </p:sp>
      <p:sp>
        <p:nvSpPr>
          <p:cNvPr id="1049" name="callout-tip" descr="tip callout: Tip. df1 = k (number of predictors); df2 = n − k − 1. Both are in the ANOVA table."/>
          <p:cNvSpPr/>
          <p:nvPr/>
        </p:nvSpPr>
        <p:spPr>
          <a:xfrm>
            <a:off x="1097280" y="3273552"/>
            <a:ext cx="9994392" cy="89916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0" name="callout-title" descr=""/>
          <p:cNvSpPr/>
          <p:nvPr/>
        </p:nvSpPr>
        <p:spPr>
          <a:xfrm>
            <a:off x="1097280" y="327355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51" name="callout-body" descr=""/>
          <p:cNvSpPr/>
          <p:nvPr/>
        </p:nvSpPr>
        <p:spPr>
          <a:xfrm>
            <a:off x="1097280" y="3593592"/>
            <a:ext cx="9994392" cy="57912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df1 = k (number of predictors); df2 = n − k − 1. Both are in the ANOVA table.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Worksheet Walk-Through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Analyses: Husker Football</a:t>
            </a:r>
          </a:p>
        </p:txBody>
      </p:sp>
      <p:sp>
        <p:nvSpPr>
          <p:cNvPr id="1052" name="prose" descr=""/>
          <p:cNvSpPr/>
          <p:nvPr/>
        </p:nvSpPr>
        <p:spPr>
          <a:xfrm>
            <a:off x="1097280" y="2633472"/>
            <a:ext cx="9994392" cy="1828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All games after 1997 (post-championship era):</a:t>
            </a:r>
          </a:p>
        </p:txBody>
      </p:sp>
      <p:sp>
        <p:nvSpPr>
          <p:cNvPr id="1053" name="prose" descr=""/>
          <p:cNvSpPr/>
          <p:nvPr/>
        </p:nvSpPr>
        <p:spPr>
          <a:xfrm>
            <a:off x="1097280" y="2907792"/>
            <a:ext cx="9994392" cy="54864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RH1 (walkthrough together): Nebraska’s score ← rushing, passing, temperature + conference game? + home game?RH2 (your turn): Opponent’s score ← opponent rushing &amp; passing, Nebraska penalty yards, temperature + Nebraska won? + home game?</a:t>
            </a:r>
          </a:p>
        </p:txBody>
      </p:sp>
      <p:sp>
        <p:nvSpPr>
          <p:cNvPr id="1054" name="callout-tip" descr="tip callout: Tip. For each RH: run the regression → record the Model Summary → record each predictor row → interpret → check your numbers in the Homework Checker."/>
          <p:cNvSpPr/>
          <p:nvPr/>
        </p:nvSpPr>
        <p:spPr>
          <a:xfrm>
            <a:off x="1097280" y="35478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5" name="callout-title" descr=""/>
          <p:cNvSpPr/>
          <p:nvPr/>
        </p:nvSpPr>
        <p:spPr>
          <a:xfrm>
            <a:off x="1097280" y="35478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56" name="callout-body" descr=""/>
          <p:cNvSpPr/>
          <p:nvPr/>
        </p:nvSpPr>
        <p:spPr>
          <a:xfrm>
            <a:off x="1097280" y="38679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For each RH: run the regression → record the Model Summary → record each predictor row → interpret → check your numbers in the Homework Checker.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Common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❌ Reading </a:t>
            </a:r>
            <a:r>
              <a:rPr i="1"/>
              <a:t>b</a:t>
            </a:r>
            <a:r>
              <a:rPr/>
              <a:t> as “importance” across predictors — use </a:t>
            </a:r>
            <a:r>
              <a:rPr b="1"/>
              <a:t>β</a:t>
            </a:r>
          </a:p>
          <a:p>
            <a:pPr lvl="0"/>
            <a:r>
              <a:rPr/>
              <a:t>❌ Forgetting “holding constant” when interpreting a coefficient</a:t>
            </a:r>
          </a:p>
          <a:p>
            <a:pPr lvl="0"/>
            <a:r>
              <a:rPr/>
              <a:t>❌ Treating a binary predictor’s </a:t>
            </a:r>
            <a:r>
              <a:rPr i="1"/>
              <a:t>b</a:t>
            </a:r>
            <a:r>
              <a:rPr/>
              <a:t> as a slope (it’s a </a:t>
            </a:r>
            <a:r>
              <a:rPr b="1"/>
              <a:t>shift</a:t>
            </a:r>
            <a:r>
              <a:rPr/>
              <a:t>)</a:t>
            </a:r>
          </a:p>
          <a:p>
            <a:pPr lvl="0"/>
            <a:r>
              <a:rPr/>
              <a:t>❌ Cherry-picking significant predictors without reporting the </a:t>
            </a:r>
            <a:r>
              <a:rPr b="1"/>
              <a:t>model</a:t>
            </a:r>
            <a:r>
              <a:rPr/>
              <a:t> first</a:t>
            </a:r>
          </a:p>
          <a:p>
            <a:pPr lvl="0"/>
            <a:r>
              <a:rPr/>
              <a:t>❌ “Predicts” ≠ “causes” — no random assignment in game data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The Semester in Review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 Now Own the Whole Toolkit</a:t>
            </a:r>
          </a:p>
        </p:txBody>
      </p:sp>
      <p:sp>
        <p:nvSpPr>
          <p:cNvPr id="1057" name="prose" descr=""/>
          <p:cNvSpPr/>
          <p:nvPr/>
        </p:nvSpPr>
        <p:spPr>
          <a:xfrm>
            <a:off x="1097280" y="2633472"/>
            <a:ext cx="999439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Lab 06 · univariates Lab 07 · r &amp; X² Lab 08 · one-way ANOVA Lab 11 · k-groups Lab 12 · factorial ANOVA Lab 13 · multiple regression</a:t>
            </a:r>
          </a:p>
        </p:txBody>
      </p:sp>
      <p:sp>
        <p:nvSpPr>
          <p:cNvPr id="1058" name="callout-tip" descr="tip callout: Tip. Every one of these answers the same core question differently: does the effect survive when you account for the other variables? That question is empirical psychology."/>
          <p:cNvSpPr/>
          <p:nvPr/>
        </p:nvSpPr>
        <p:spPr>
          <a:xfrm>
            <a:off x="1097280" y="3090672"/>
            <a:ext cx="9994392" cy="10820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009955"/>
            </a:solidFill>
          </a:ln>
        </p:spPr>
        <p:txBody>
          <a:bodyPr lIns="91440" tIns="68580" rIns="91440" bIns="68580" anchor="t" wrap="square">
            <a:normAutofit/>
          </a:bodyPr>
          <a:lstStyle/>
          <a:p/>
        </p:txBody>
      </p:sp>
      <p:sp>
        <p:nvSpPr>
          <p:cNvPr id="1059" name="callout-title" descr=""/>
          <p:cNvSpPr/>
          <p:nvPr/>
        </p:nvSpPr>
        <p:spPr>
          <a:xfrm>
            <a:off x="1097280" y="3090672"/>
            <a:ext cx="9994392" cy="320040"/>
          </a:xfrm>
          <a:prstGeom prst="roundRect">
            <a:avLst>
              <a:gd name="adj" fmla="val 6000"/>
            </a:avLst>
          </a:prstGeom>
          <a:solidFill>
            <a:srgbClr val="009955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EFDFA"/>
                </a:solidFill>
              </a:rPr>
              <a:t>Tip</a:t>
            </a:r>
          </a:p>
        </p:txBody>
      </p:sp>
      <p:sp>
        <p:nvSpPr>
          <p:cNvPr id="1060" name="callout-body" descr=""/>
          <p:cNvSpPr/>
          <p:nvPr/>
        </p:nvSpPr>
        <p:spPr>
          <a:xfrm>
            <a:off x="1097280" y="3410712"/>
            <a:ext cx="9994392" cy="76200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>
            <a:noFill/>
          </a:ln>
        </p:spPr>
        <p:txBody>
          <a:bodyPr lIns="91440" tIns="68580" rIns="91440" bIns="68580"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010B13"/>
                </a:solidFill>
              </a:rPr>
              <a:t>Every one of these answers the same core question differently: does the effect survive when you account for the other variables? That question is empirical psychology.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 &amp;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Given this week:</a:t>
            </a:r>
          </a:p>
          <a:p>
            <a:pPr lvl="0"/>
            <a:r>
              <a:rPr/>
              <a:t>Graded Research Project Reports will be returned</a:t>
            </a:r>
          </a:p>
          <a:p>
            <a:pPr lvl="0" indent="0" marL="0">
              <a:buNone/>
            </a:pPr>
            <a:r>
              <a:rPr b="1"/>
              <a:t>Due this week:</a:t>
            </a:r>
          </a:p>
          <a:p>
            <a:pPr lvl="0"/>
            <a:r>
              <a:rPr/>
              <a:t>Lab 12: Factorial Worksheet</a:t>
            </a:r>
          </a:p>
          <a:p>
            <a:pPr lvl="0"/>
            <a:r>
              <a:rPr/>
              <a:t>Lab 13: Multiple Regression Worksheet</a:t>
            </a:r>
          </a:p>
          <a:p>
            <a:pPr lvl="0"/>
            <a:r>
              <a:rPr/>
              <a:t>Rewrites of Research Project Reports due</a:t>
            </a:r>
          </a:p>
          <a:p>
            <a:pPr lvl="0" indent="0" marL="0">
              <a:buNone/>
            </a:pPr>
            <a:r>
              <a:rPr/>
              <a:t>Submit to your lab section in Canvas by 11:59pm the day before your lab meets.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Regression</dc:title>
  <dc:creator>PSYCH 350-Lab</dc:creator>
  <cp:keywords/>
  <dcterms:created xsi:type="dcterms:W3CDTF">2026-08-13T23:51:56Z</dcterms:created>
  <dcterms:modified xsi:type="dcterms:W3CDTF">2026-08-13T23:51:56Z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back-to-top-navigation">
    <vt:lpwstr>True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ack-link">
    <vt:lpwstr>False</vt:lpwstr>
  </property>
  <property fmtid="{D5CDD505-2E9C-101B-9397-08002B2CF9AE}" pid="12" name="include-before">
    <vt:lpwstr/>
  </property>
  <property fmtid="{D5CDD505-2E9C-101B-9397-08002B2CF9AE}" pid="13" name="knitr">
    <vt:lpwstr>True</vt:lpwstr>
  </property>
  <property fmtid="{D5CDD505-2E9C-101B-9397-08002B2CF9AE}" pid="14" name="labels">
    <vt:lpwstr/>
  </property>
  <property fmtid="{D5CDD505-2E9C-101B-9397-08002B2CF9AE}" pid="15" name="nebraska-pptx">
    <vt:lpwstr/>
  </property>
  <property fmtid="{D5CDD505-2E9C-101B-9397-08002B2CF9AE}" pid="16" name="revealjs-plugins">
    <vt:lpwstr/>
  </property>
  <property fmtid="{D5CDD505-2E9C-101B-9397-08002B2CF9AE}" pid="17" name="subtitle">
    <vt:lpwstr>Lab 13</vt:lpwstr>
  </property>
  <property fmtid="{D5CDD505-2E9C-101B-9397-08002B2CF9AE}" pid="18" name="toc-title">
    <vt:lpwstr>Table of contents</vt:lpwstr>
  </property>
</Properties>
</file>