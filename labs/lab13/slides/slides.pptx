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worksheet analyses use the same Husker file and the same post-1997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dataset and saved syntax open together. Inspect variables and cases in the Data Editor; reproduce every command in the Syntax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Output Viewer accumulates tables, charts, warnings, and processing notes. Keep it open beside the data and syntax windows, and export only the results needed for the worksheet or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worksheet’s central task is comparing each bivariate correlation with its adjusted regression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Quantitative coefficients describe a one-unit change. A binary 0/1 coefficient is an adjusted difference between group 1 and group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filter active for both models. No game from 1997 or earlier should appear in the active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Classify each predictor as quantitative or binary, then record its r and p with Nebraska total score in the worksheet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whether the full model works from the omnibus F test, and how well it works from R squared. Interpret coefficients only after the model-level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model-level ANOVA and R squared first, then use this coefficients table to interpret the planned predictors in their original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comparison describes what adjustment changed. It does not, by itself, identify a causal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model N and predictor correlations before interpreting unusual coefficient changes. Win and home are binary predictors, so verify their 0/1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output is generated with create_apa_regression_table(), following the final reporting section of the SPSS regression handout.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For rushing yards, passing yards, temperature, conference game, and home game, the standardized coefficients are β = .73, .49, .00, −.11, and .07,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conclusions associative. For binary predictors, name the group coded 1 and the reference group coded 0 rather than describing a one-unit quantitative increase.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  <Relationship Id="rId3" Type="http://schemas.openxmlformats.org/officeDocument/2006/relationships/hyperlink" Target="https://unlpsychstats.github.io/UNL-PSYC350-LAB/labs/lab13/slides/downloads/lab13_mreg.docx" TargetMode="External"/>
  <Relationship Id="rId4" Type="http://schemas.openxmlformats.org/officeDocument/2006/relationships/hyperlink" Target="https://unlpsychstats.github.io/UNL-PSYC350-LAB/labs/lab13/slides/downloads/huskers_data.sav" TargetMode="External"/>
  <Relationship Id="rId5" Type="http://schemas.openxmlformats.org/officeDocument/2006/relationships/hyperlink" Target="https://unlpsychstats.github.io/PSYC350-spss-handouts/A1.multiple_regression_spss_handout_simple.pdf" TargetMode="External"/>
  <Relationship Id="rId6" Type="http://schemas.openxmlformats.org/officeDocument/2006/relationships/hyperlink" Target="https://unlpsychstats.github.io/PSYC350-spss-handouts/A2.regression_example_spss_handout_simple.pdf" TargetMode="External"/>
</Relationships>
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2.xml" /><Relationship Id="rId4" Type="http://schemas.openxmlformats.org/officeDocument/2006/relationships/image" Target="../media/image2.png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Read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13 · One Outcome, Several Predictors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Download the Lab 13 files</a:t>
            </a:r>
          </a:p>
        </p:txBody>
      </p:sp>
      <p:sp>
        <p:nvSpPr>
          <p:cNvPr id="1001" name="card-steel" descr="card: Worksheet. Download worksheet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Worksheet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Download worksheet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Dataset. Download Husker data"/>
          <p:cNvSpPr/>
          <p:nvPr/>
        </p:nvSpPr>
        <p:spPr>
          <a:xfrm>
            <a:off x="6167628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Dataset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Download Husker data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6167628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Regression guide. Open the SPSS handout"/>
          <p:cNvSpPr/>
          <p:nvPr/>
        </p:nvSpPr>
        <p:spPr>
          <a:xfrm>
            <a:off x="1097280" y="3785616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Regression guide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5"/>
              </a:rPr>
              <a:t>Open the SPSS handout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1097280" y="3785616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7" name="card-steel" descr="card: Worked example. Open the full example"/>
          <p:cNvSpPr/>
          <p:nvPr/>
        </p:nvSpPr>
        <p:spPr>
          <a:xfrm>
            <a:off x="6167628" y="3785616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Worked example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6"/>
              </a:rPr>
              <a:t>Open the full example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6167628" y="3785616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Keep Data and Syntax Editors open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Editor</a:t>
            </a:r>
          </a:p>
        </p:txBody>
      </p:sp>
      <p:pic>
        <p:nvPicPr>
          <p:cNvPr descr="Focused SPSS Data Editor image showing spreadsheet columns and the Data View and Variable View tab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3416300"/>
            <a:ext cx="4267200" cy="203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Inspect outcomes and predictors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Syntax Editor</a:t>
            </a:r>
          </a:p>
        </p:txBody>
      </p:sp>
      <p:pic>
        <p:nvPicPr>
          <p:cNvPr descr="Focused SPSS Syntax Editor image showing the command area and an annotation pointing to the green Run button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337300" y="3429000"/>
            <a:ext cx="42418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Save and rerun commands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Read results in Output Viewer</a:t>
            </a:r>
          </a:p>
        </p:txBody>
      </p:sp>
      <p:pic>
        <p:nvPicPr>
          <p:cNvPr descr="SPSS-style regression coefficients output predicting Nebraska total score after 1997; the displayed standardized Beta column is blank, so students use the package-generated APA table later in the deck for beta valu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92200" y="2692400"/>
            <a:ext cx="99949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Regression adds adjustment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Correlation:</a:t>
            </a:r>
            <a:r>
              <a:rPr/>
              <a:t> How are X and Y related?</a:t>
            </a:r>
          </a:p>
          <a:p>
            <a:pPr lvl="0" indent="0" marL="0">
              <a:buNone/>
            </a:pPr>
            <a:r>
              <a:rPr b="1"/>
              <a:t>Regression:</a:t>
            </a:r>
            <a:r>
              <a:rPr/>
              <a:t> How is X related to Y while the other predictors are held constant?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Follow three analysis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Univariate:</a:t>
            </a:r>
            <a:r>
              <a:rPr/>
              <a:t> classify and summarize each variable.</a:t>
            </a:r>
          </a:p>
          <a:p>
            <a:pPr lvl="0" indent="-457200" marL="457200">
              <a:buAutoNum type="arabicPeriod"/>
            </a:pPr>
            <a:r>
              <a:rPr b="1"/>
              <a:t>Bivariate:</a:t>
            </a:r>
            <a:r>
              <a:rPr/>
              <a:t> correlate each predictor with the criterion.</a:t>
            </a:r>
          </a:p>
          <a:p>
            <a:pPr lvl="0" indent="-457200" marL="457200">
              <a:buAutoNum type="arabicPeriod"/>
            </a:pPr>
            <a:r>
              <a:rPr b="1"/>
              <a:t>Multivariate:</a:t>
            </a:r>
            <a:r>
              <a:rPr/>
              <a:t> enter all predictors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Select the walkthrough games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USE ALL.
COMPUTE filter_$ = (season &gt; 1997).
FILTER BY filter_$.
EXECUTE.
FREQUENCIES VARIABLES=season.</a:t>
            </a:r>
          </a:p>
          <a:p>
            <a:pPr lvl="0" indent="0" marL="0">
              <a:buNone/>
            </a:pPr>
            <a:r>
              <a:rPr/>
              <a:t>Confirm </a:t>
            </a:r>
            <a:r>
              <a:rPr b="1"/>
              <a:t>N = 340</a:t>
            </a:r>
            <a:r>
              <a:rPr/>
              <a:t> before continuing.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Run univariate and bivariate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FREQUENCIES VARIABLES=ne_score ne_rush_yards
  ne_pass_yards temp conference home
  /STATISTICS=MEAN STDDEV.
CORRELATIONS
  /VARIABLES=ne_score ne_rush_yards
    ne_pass_yards temp conference home
  /PRINT=TWOTAIL /MISSING=LISTWISE.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Run the RH1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REGRESSION
  /STATISTICS COEFF OUTS R ANOVA
    DESCRIPTIVES CORR
  /DEPENDENT ne_score
  /METHOD=ENTER
    ne_rush_yards
    ne_pass_yards
    temp conference home.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Read B, SE, t, and p by row</a:t>
            </a:r>
          </a:p>
        </p:txBody>
      </p:sp>
      <p:pic>
        <p:nvPicPr>
          <p:cNvPr descr="SPSS-style regression coefficients output predicting Nebraska total score after 1997; the displayed standardized Beta column is blank, so students use the package-generated APA table later in the deck for beta value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92200" y="2692400"/>
            <a:ext cx="99949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Read B, SE, t, and p by row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SPSS-style teaching image leaves standardized </a:t>
            </a:r>
            <a:r>
              <a:rPr b="1"/>
              <a:t>Beta</a:t>
            </a:r>
            <a:r>
              <a:rPr/>
              <a:t> blank. Read </a:t>
            </a:r>
            <a:r>
              <a:rPr i="1"/>
              <a:t>B</a:t>
            </a:r>
            <a:r>
              <a:rPr/>
              <a:t>, </a:t>
            </a:r>
            <a:r>
              <a:rPr i="1"/>
              <a:t>SE</a:t>
            </a:r>
            <a:r>
              <a:rPr/>
              <a:t>, </a:t>
            </a:r>
            <a:r>
              <a:rPr i="1"/>
              <a:t>t</a:t>
            </a:r>
            <a:r>
              <a:rPr/>
              <a:t>, and </a:t>
            </a:r>
            <a:r>
              <a:rPr i="1"/>
              <a:t>p</a:t>
            </a:r>
            <a:r>
              <a:rPr/>
              <a:t> here; use the package-generated APA table later in the deck for β.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Compare r with b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1100"/>
                <a:gridCol w="499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Worksheet category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Neither significant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Neither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Both significant, same sign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r</a:t>
                      </a:r>
                      <a:r>
                        <a:rPr/>
                        <a:t> significant, </a:t>
                      </a:r>
                      <a:r>
                        <a:rPr i="1"/>
                        <a:t>b</a:t>
                      </a:r>
                      <a:r>
                        <a:rPr/>
                        <a:t> not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prediction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emerges or reverses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Possible suppression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Complete the second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opponent total score from:</a:t>
            </a:r>
          </a:p>
          <a:p>
            <a:pPr lvl="0"/>
            <a:r>
              <a:rPr/>
              <a:t>opponent rushing and passing yards</a:t>
            </a:r>
          </a:p>
          <a:p>
            <a:pPr lvl="0"/>
            <a:r>
              <a:rPr/>
              <a:t>Nebraska penalty yards and temperature</a:t>
            </a:r>
          </a:p>
          <a:p>
            <a:pPr lvl="0"/>
            <a:r>
              <a:rPr/>
              <a:t>Nebraska win and home game</a:t>
            </a:r>
          </a:p>
          <a:p>
            <a:pPr lvl="0" indent="0" marL="0">
              <a:buNone/>
            </a:pPr>
            <a:r>
              <a:rPr/>
              <a:t>Repeat </a:t>
            </a:r>
            <a:r>
              <a:rPr b="1"/>
              <a:t>univariate → bivariate → multivariate</a:t>
            </a:r>
            <a:r>
              <a:rPr/>
              <a:t> with the same filter.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Make the APA regression table</a:t>
            </a:r>
          </a:p>
        </p:txBody>
      </p:sp>
      <p:pic>
        <p:nvPicPr>
          <p:cNvPr descr="APA-style multiple regression table with unstandardized and standardized coefficients for rushing yards, passing yards, temperature, conference game, and home game predicting Nebraska total scor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28800" y="2628900"/>
            <a:ext cx="8521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Write model, then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State the sample, criterion, and predictor set.</a:t>
            </a:r>
          </a:p>
          <a:p>
            <a:pPr lvl="0" indent="-457200" marL="457200">
              <a:buAutoNum type="arabicPeriod"/>
            </a:pPr>
            <a:r>
              <a:rPr/>
              <a:t>Report </a:t>
            </a:r>
            <a:r>
              <a:rPr i="1"/>
              <a:t>F</a:t>
            </a:r>
            <a:r>
              <a:rPr/>
              <a:t>, both </a:t>
            </a:r>
            <a:r>
              <a:rPr i="1"/>
              <a:t>df</a:t>
            </a:r>
            <a:r>
              <a:rPr/>
              <a:t>, </a:t>
            </a:r>
            <a:r>
              <a:rPr i="1"/>
              <a:t>p</a:t>
            </a:r>
            <a:r>
              <a:rPr/>
              <a:t>, and R².</a:t>
            </a:r>
          </a:p>
          <a:p>
            <a:pPr lvl="0" indent="-457200" marL="457200">
              <a:buAutoNum type="arabicPeriod"/>
            </a:pPr>
            <a:r>
              <a:rPr/>
              <a:t>Interpret each planned </a:t>
            </a:r>
            <a:r>
              <a:rPr i="1"/>
              <a:t>b</a:t>
            </a:r>
            <a:r>
              <a:rPr/>
              <a:t> in its units.</a:t>
            </a:r>
          </a:p>
          <a:p>
            <a:pPr lvl="0" indent="-457200" marL="457200">
              <a:buAutoNum type="arabicPeriod"/>
            </a:pPr>
            <a:r>
              <a:rPr/>
              <a:t>Compare each </a:t>
            </a:r>
            <a:r>
              <a:rPr i="1"/>
              <a:t>r</a:t>
            </a:r>
            <a:r>
              <a:rPr/>
              <a:t> with its adjusted </a:t>
            </a:r>
            <a:r>
              <a:rPr i="1"/>
              <a:t>b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Add the all-green checker screenshots.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Multiple Regression</dc:title>
  <dc:creator>PSYC 350 Laboratory</dc:creator>
  <cp:keywords/>
  <dcterms:created xsi:type="dcterms:W3CDTF">2026-09-02T01:12:03Z</dcterms:created>
  <dcterms:modified xsi:type="dcterms:W3CDTF">2026-09-02T01:12:03Z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13 · One Outcome, Several Predictors</vt:lpwstr>
  </property>
  <property fmtid="{D5CDD505-2E9C-101B-9397-08002B2CF9AE}" pid="20" name="toc-title">
    <vt:lpwstr>Table of contents</vt:lpwstr>
  </property>
</Properties>
</file>