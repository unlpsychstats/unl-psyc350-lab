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96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7524"/>
    <p:restoredTop sz="94694"/>
  </p:normalViewPr>
  <p:slideViewPr>
    <p:cSldViewPr snapToGrid="0">
      <p:cViewPr varScale="1">
        <p:scale>
          <a:sx d="100" n="119"/>
          <a:sy d="100" n="119"/>
        </p:scale>
        <p:origin x="232" y="23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20" Type="http://schemas.openxmlformats.org/officeDocument/2006/relationships/presProps" Target="presProps.xml" /><Relationship Id="rId21" Type="http://schemas.openxmlformats.org/officeDocument/2006/relationships/viewProps" Target="viewProps.xml" /><Relationship Id="rId22" Type="http://schemas.openxmlformats.org/officeDocument/2006/relationships/theme" Target="theme/theme1.xml" /><Relationship Id="rId23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jury file supports both walkthroughs. Football and tips are used in the independent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computator supports the worksheet’s LSD minimum-mean-difference steps. The APA template is used in the reporting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the dataset and saved syntax open together. Inspect variables and cases in the Data Editor; reproduce every command in the Syntax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Output Viewer accumulates tables, charts, warnings, and processing notes. Keep it open beside the data and syntax windows, and export only the results needed for the worksheet or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central concept in both halves of the lab. Starting with multiple pairwise tests inflates the Type I error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same omnibus-then-follow-up logic applies to both test families, but the evidence is means for ANOVA and cell counts or percentages for chi-square.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walkthrough output uses the specified crime subset. Verify the active cases and the attractiveness value labels before running either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Record group means, F, both degrees of freedom, MSe, p, and effect size before interpreting any pairwise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the model row first. The significant omnibus result justifies moving to the worksheet’s planned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SPSS prints each pair twice. Connect each planned pair to RH1, RH2, or RH3 and keep the stated direction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worksheet requires this recode before the crosstab. Create a new variable rather than changing </a:t>
            </a:r>
            <a:r>
              <a:rPr>
                <a:latin typeface="Courier"/>
              </a:rPr>
              <a:t>serious</a:t>
            </a:r>
            <a:r>
              <a:rPr/>
              <a:t>, then confirm its values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the same jury subset. Describe row or column percentages before statistical significance, then follow up with the worksheet’s corrected threshold only when justified.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Save every filter in syntax. A leftover pairwise filter will silently invalidate the next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independent analyses use different variables, but their order should match the walkthrough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output is generated with create_apa_anova_descriptives_table(), consistent with the course reporting functions and APA table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chi-square, replace means with the contingency-table pattern and report χ², df, p, sample size, and effect size before the pairwise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352544"/>
            <a:ext cx="9997440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638044"/>
            <a:ext cx="9997440" cy="3101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352465"/>
            <a:ext cx="9997440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4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w="31750">
            <a:solidFill>
              <a:srgbClr val="404040"/>
            </a:solidFill>
            <a:miter lim="800000"/>
          </a:ln>
        </p:spPr>
        <p:txBody>
          <a:bodyPr anchor="ctr" bIns="182880" lIns="182880" rIns="182880" rtlCol="0" tIns="18288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dirty="0" lang="en-US"/>
              <a:t>1/22/26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anchor="ctr" bIns="45720" lIns="18288" rIns="18288" rtlCol="0" tIns="45720" vert="horz">
            <a:noAutofit/>
          </a:bodyPr>
          <a:lstStyle>
            <a:lvl1pPr algn="ctr">
              <a:defRPr baseline="0" spc="0" sz="110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dirty="0" lang="en-US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dt="0" ftr="0" hdr="0" sldNum="0"/>
  <p:txStyles>
    <p:titleStyle>
      <a:lvl1pPr algn="ctr" defTabSz="914400" eaLnBrk="1" hangingPunct="1" latinLnBrk="0" rtl="0">
        <a:lnSpc>
          <a:spcPct val="90000"/>
        </a:lnSpc>
        <a:spcBef>
          <a:spcPct val="0"/>
        </a:spcBef>
        <a:buNone/>
        <a:defRPr baseline="0" cap="all" kern="1200" spc="200" sz="280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4572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6858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9144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11430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131286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148431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165735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1882775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.xml"/>
  <Relationship Id="rId3" Type="http://schemas.openxmlformats.org/officeDocument/2006/relationships/hyperlink" Target="https://unlpsychstats.github.io/UNL-PSYC350-LAB/labs/lab11/slides/downloads/lab11_kgroup.docx" TargetMode="External"/>
  <Relationship Id="rId4" Type="http://schemas.openxmlformats.org/officeDocument/2006/relationships/hyperlink" Target="https://unlpsychstats.github.io/UNL-PSYC350-LAB/labs/lab11/slides/downloads/jury_data.sav" TargetMode="External"/>
  <Relationship Id="rId5" Type="http://schemas.openxmlformats.org/officeDocument/2006/relationships/hyperlink" Target="https://unlpsychstats.github.io/UNL-PSYC350-LAB/labs/lab11/slides/downloads/football_data.sav" TargetMode="External"/>
  <Relationship Id="rId6" Type="http://schemas.openxmlformats.org/officeDocument/2006/relationships/hyperlink" Target="https://unlpsychstats.github.io/UNL-PSYC350-LAB/labs/lab11/slides/downloads/tips_data.sav" TargetMode="Externa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2.xml"/>
  <Relationship Id="rId3" Type="http://schemas.openxmlformats.org/officeDocument/2006/relationships/hyperlink" Target="https://unlpsychstats.github.io/PSYC350-spss-handouts/A1.kbgf_ph_spss_handout_simple.pdf" TargetMode="External"/>
  <Relationship Id="rId4" Type="http://schemas.openxmlformats.org/officeDocument/2006/relationships/hyperlink" Target="https://unlpsychstats.github.io/PSYC350-spss-handouts/A2.2xkchi_spss_handout_simple.pdf" TargetMode="External"/>
  <Relationship Id="rId5" Type="http://schemas.openxmlformats.org/officeDocument/2006/relationships/hyperlink" Target="https://unlpsychstats.github.io/UNL-PSYC350-LAB/labs/lab11/slides/downloads/A3.computator_131.xlsx" TargetMode="External"/>
  <Relationship Id="rId6" Type="http://schemas.openxmlformats.org/officeDocument/2006/relationships/hyperlink" Target="https://unlpsychstats.github.io/UNL-PSYC350-LAB/labs/lab11/slides/downloads/apa-table-templates.html" TargetMode="External"/>
</Relationships>
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notesSlide" Target="../notesSlides/notesSlide3.xml" /><Relationship Id="rId4" Type="http://schemas.openxmlformats.org/officeDocument/2006/relationships/image" Target="../media/image2.png" /><Relationship Id="rId3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Compare Multiple Groups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097280" y="4352544"/>
            <a:ext cx="9997440" cy="1239894"/>
          </a:xfrm>
          <a:noFill/>
        </p:spPr>
        <p:txBody>
          <a:bodyPr/>
          <a:lstStyle/>
          <a:p>
            <a:pPr lvl="0" indent="0" marL="0">
              <a:buNone/>
            </a:pPr>
            <a:r>
              <a:rPr/>
              <a:t>Lab 11 · k-Group ANOVA and Chi-Square</a:t>
            </a:r>
            <a:br/>
            <a:br/>
            <a:r>
              <a:rPr/>
              <a:t>PSYC 350 Laboratory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 Download the Lab 11 data</a:t>
            </a:r>
          </a:p>
        </p:txBody>
      </p:sp>
      <p:sp>
        <p:nvSpPr>
          <p:cNvPr id="1001" name="card-steel" descr="card: Worksheet. Download worksheet"/>
          <p:cNvSpPr/>
          <p:nvPr/>
        </p:nvSpPr>
        <p:spPr>
          <a:xfrm>
            <a:off x="1097280" y="2633472"/>
            <a:ext cx="4924044" cy="10058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010B13"/>
                </a:solidFill>
              </a:rPr>
              <a:t>Worksheet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3"/>
              </a:rPr>
              <a:t>Download worksheet</a:t>
            </a:r>
          </a:p>
        </p:txBody>
      </p:sp>
      <p:sp>
        <p:nvSpPr>
          <p:cNvPr id="1002" name="card-rail" descr=""/>
          <p:cNvSpPr/>
          <p:nvPr/>
        </p:nvSpPr>
        <p:spPr>
          <a:xfrm>
            <a:off x="1097280" y="2633472"/>
            <a:ext cx="54864" cy="100584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  <p:sp>
        <p:nvSpPr>
          <p:cNvPr id="1003" name="card-steel" descr="card: Walkthrough data. Download jury data"/>
          <p:cNvSpPr/>
          <p:nvPr/>
        </p:nvSpPr>
        <p:spPr>
          <a:xfrm>
            <a:off x="6167628" y="2633472"/>
            <a:ext cx="4924044" cy="10058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010B13"/>
                </a:solidFill>
              </a:rPr>
              <a:t>Walkthrough data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4"/>
              </a:rPr>
              <a:t>Download jury data</a:t>
            </a:r>
          </a:p>
        </p:txBody>
      </p:sp>
      <p:sp>
        <p:nvSpPr>
          <p:cNvPr id="1004" name="card-rail" descr=""/>
          <p:cNvSpPr/>
          <p:nvPr/>
        </p:nvSpPr>
        <p:spPr>
          <a:xfrm>
            <a:off x="6167628" y="2633472"/>
            <a:ext cx="54864" cy="100584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  <p:sp>
        <p:nvSpPr>
          <p:cNvPr id="1005" name="card-steel" descr="card: ANOVA practice. Download football data"/>
          <p:cNvSpPr/>
          <p:nvPr/>
        </p:nvSpPr>
        <p:spPr>
          <a:xfrm>
            <a:off x="1097280" y="3785616"/>
            <a:ext cx="4924044" cy="10058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010B13"/>
                </a:solidFill>
              </a:rPr>
              <a:t>ANOVA practice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5"/>
              </a:rPr>
              <a:t>Download football data</a:t>
            </a:r>
          </a:p>
        </p:txBody>
      </p:sp>
      <p:sp>
        <p:nvSpPr>
          <p:cNvPr id="1006" name="card-rail" descr=""/>
          <p:cNvSpPr/>
          <p:nvPr/>
        </p:nvSpPr>
        <p:spPr>
          <a:xfrm>
            <a:off x="1097280" y="3785616"/>
            <a:ext cx="54864" cy="100584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  <p:sp>
        <p:nvSpPr>
          <p:cNvPr id="1007" name="card-steel" descr="card: Chi-square practice. Download tips data"/>
          <p:cNvSpPr/>
          <p:nvPr/>
        </p:nvSpPr>
        <p:spPr>
          <a:xfrm>
            <a:off x="6167628" y="3785616"/>
            <a:ext cx="4924044" cy="10058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010B13"/>
                </a:solidFill>
              </a:rPr>
              <a:t>Chi-square practice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6"/>
              </a:rPr>
              <a:t>Download tips data</a:t>
            </a:r>
          </a:p>
        </p:txBody>
      </p:sp>
      <p:sp>
        <p:nvSpPr>
          <p:cNvPr id="1008" name="card-rail" descr=""/>
          <p:cNvSpPr/>
          <p:nvPr/>
        </p:nvSpPr>
        <p:spPr>
          <a:xfrm>
            <a:off x="6167628" y="3785616"/>
            <a:ext cx="54864" cy="100584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 Open the Lab 11 guides</a:t>
            </a:r>
          </a:p>
        </p:txBody>
      </p:sp>
      <p:sp>
        <p:nvSpPr>
          <p:cNvPr id="1009" name="card-steel" descr="card: Analysis guides. k-group ANOVA k-group chi-square"/>
          <p:cNvSpPr/>
          <p:nvPr/>
        </p:nvSpPr>
        <p:spPr>
          <a:xfrm>
            <a:off x="1097280" y="2633472"/>
            <a:ext cx="3233928" cy="13106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010B13"/>
                </a:solidFill>
              </a:rPr>
              <a:t>Analysis guides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3"/>
              </a:rPr>
              <a:t>k-group ANOVA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4"/>
              </a:rPr>
              <a:t>k-group chi-square</a:t>
            </a:r>
          </a:p>
        </p:txBody>
      </p:sp>
      <p:sp>
        <p:nvSpPr>
          <p:cNvPr id="1010" name="card-rail" descr=""/>
          <p:cNvSpPr/>
          <p:nvPr/>
        </p:nvSpPr>
        <p:spPr>
          <a:xfrm>
            <a:off x="1097280" y="2633472"/>
            <a:ext cx="54864" cy="131064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  <p:sp>
        <p:nvSpPr>
          <p:cNvPr id="1011" name="card-steel" descr="card: Post-hoc calculator. Download Computator"/>
          <p:cNvSpPr/>
          <p:nvPr/>
        </p:nvSpPr>
        <p:spPr>
          <a:xfrm>
            <a:off x="4477512" y="2633472"/>
            <a:ext cx="3233928" cy="1341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010B13"/>
                </a:solidFill>
              </a:rPr>
              <a:t>Post-hoc calculator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5"/>
              </a:rPr>
              <a:t>Download Computator</a:t>
            </a:r>
          </a:p>
        </p:txBody>
      </p:sp>
      <p:sp>
        <p:nvSpPr>
          <p:cNvPr id="1012" name="card-rail" descr=""/>
          <p:cNvSpPr/>
          <p:nvPr/>
        </p:nvSpPr>
        <p:spPr>
          <a:xfrm>
            <a:off x="4477512" y="2633472"/>
            <a:ext cx="54864" cy="134112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  <p:sp>
        <p:nvSpPr>
          <p:cNvPr id="1013" name="card-steel" descr="card: APA table help. Open templates"/>
          <p:cNvSpPr/>
          <p:nvPr/>
        </p:nvSpPr>
        <p:spPr>
          <a:xfrm>
            <a:off x="7857744" y="2633472"/>
            <a:ext cx="3233928" cy="10058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010B13"/>
                </a:solidFill>
              </a:rPr>
              <a:t>APA table help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6"/>
              </a:rPr>
              <a:t>Open templates</a:t>
            </a:r>
          </a:p>
        </p:txBody>
      </p:sp>
      <p:sp>
        <p:nvSpPr>
          <p:cNvPr id="1014" name="card-rail" descr=""/>
          <p:cNvSpPr/>
          <p:nvPr/>
        </p:nvSpPr>
        <p:spPr>
          <a:xfrm>
            <a:off x="7857744" y="2633472"/>
            <a:ext cx="54864" cy="100584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 Keep Data and Syntax Editors open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 Editor</a:t>
            </a:r>
          </a:p>
        </p:txBody>
      </p:sp>
      <p:pic>
        <p:nvPicPr>
          <p:cNvPr descr="Focused SPSS Data Editor image showing spreadsheet columns and the Data View and Variable View tabs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574800" y="3416300"/>
            <a:ext cx="4267200" cy="203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Inspect groups and outcomes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Syntax Editor</a:t>
            </a:r>
          </a:p>
        </p:txBody>
      </p:sp>
      <p:pic>
        <p:nvPicPr>
          <p:cNvPr descr="Focused SPSS Syntax Editor image showing the command area and an annotation pointing to the green Run button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6337300" y="3429000"/>
            <a:ext cx="4241800" cy="200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Save and rerun commands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Read results in Output Viewer</a:t>
            </a:r>
          </a:p>
        </p:txBody>
      </p:sp>
      <p:pic>
        <p:nvPicPr>
          <p:cNvPr descr="SPSS-style one-way ANOVA output for recommended prison sentence by defendant attractiveness, showing F equals 4.081 with 2 and 52 degrees of freedom and p equals .023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92200" y="2641600"/>
            <a:ext cx="99949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Omnibus comes before pairwise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Omnibus:</a:t>
            </a:r>
            <a:r>
              <a:rPr/>
              <a:t> Is there any group difference or association?</a:t>
            </a:r>
          </a:p>
          <a:p>
            <a:pPr lvl="0" indent="-457200" marL="457200">
              <a:buAutoNum type="arabicPeriod"/>
            </a:pPr>
            <a:r>
              <a:rPr b="1"/>
              <a:t>Pairwise:</a:t>
            </a:r>
            <a:r>
              <a:rPr/>
              <a:t> Which planned pairs differ?</a:t>
            </a:r>
          </a:p>
          <a:p>
            <a:pPr lvl="0" indent="0" marL="0">
              <a:buNone/>
            </a:pPr>
            <a:r>
              <a:rPr/>
              <a:t>Follow up only when the omnibus result justifies it.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6 Match variables to the test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92200" y="2628900"/>
          <a:ext cx="9994900" cy="309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1100"/>
                <a:gridCol w="4991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Predictor and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3+ groups and a quantitative outcome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k-group 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 categorical variables, one with 3+ levels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k-group chi-square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7 Select the jury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USE ALL.
COMPUTE filter_$ = (crime = 2).
FILTER BY filter_$.
EXECUTE.
FREQUENCIES VARIABLES=attr years.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8 Run the jury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UNIANOVA years BY attr
  /METHOD=SSTYPE(3)
  /POSTHOC=attr(LSD)
  /PRINT=DESCRIPTIVE ETASQ
  /CRITERIA=ALPHA(.05).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9 Let the omnibus result determine follow-up</a:t>
            </a:r>
          </a:p>
        </p:txBody>
      </p:sp>
      <p:pic>
        <p:nvPicPr>
          <p:cNvPr descr="SPSS-style one-way ANOVA output for recommended prison sentence by defendant attractiveness, showing F equals 4.081 with 2 and 52 degrees of freedom and p equals .023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92200" y="2641600"/>
            <a:ext cx="99949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10 Read one direction for each planned pair</a:t>
            </a:r>
          </a:p>
        </p:txBody>
      </p:sp>
      <p:pic>
        <p:nvPicPr>
          <p:cNvPr descr="SPSS-style LSD multiple-comparisons output for recommended prison sentence across beautiful, average, and unattractive defendant groups; comparisons with the unattractive group are statistically significant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92200" y="2667000"/>
            <a:ext cx="99949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11 Recode seriousness before the crosstab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* 1–4 = Serious Crime; 6–10 = Not Serious Crime; 5 = missing.
RECODE serious
  (1 THRU 4 = 1)
  (5 = SYSMIS)
  (6 THRU 10 = 2)
  INTO serious_cat.
EXECUTE.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12 Run the jury chi-square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CROSSTABS
  /TABLES=attr BY serious_cat
  /STATISTICS=CHISQ PHI
  /CELLS=COUNT EXPECTED ROW COLUMN.</a:t>
            </a:r>
          </a:p>
          <a:p>
            <a:pPr lvl="0" indent="0" marL="0">
              <a:buNone/>
            </a:pPr>
            <a:r>
              <a:rPr/>
              <a:t>Read the full table and omnibus χ² before filtering to any 2 × 2 pair.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13 Follow up with 2-by-2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Restore the full selected jury sample.</a:t>
            </a:r>
          </a:p>
          <a:p>
            <a:pPr lvl="0" indent="-457200" marL="457200">
              <a:buAutoNum type="arabicPeriod"/>
            </a:pPr>
            <a:r>
              <a:rPr/>
              <a:t>Keep only one planned pair of attractiveness levels.</a:t>
            </a:r>
          </a:p>
          <a:p>
            <a:pPr lvl="0" indent="-457200" marL="457200">
              <a:buAutoNum type="arabicPeriod"/>
            </a:pPr>
            <a:r>
              <a:rPr/>
              <a:t>Rerun the same crosstab syntax.</a:t>
            </a:r>
          </a:p>
          <a:p>
            <a:pPr lvl="0" indent="-457200" marL="457200">
              <a:buAutoNum type="arabicPeriod"/>
            </a:pPr>
            <a:r>
              <a:rPr/>
              <a:t>Compare the result with the corrected criterion.</a:t>
            </a:r>
          </a:p>
          <a:p>
            <a:pPr lvl="0" indent="-457200" marL="457200">
              <a:buAutoNum type="arabicPeriod"/>
            </a:pPr>
            <a:r>
              <a:rPr/>
              <a:t>Restore cases before the next pair.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14 Repeat with new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Football:</a:t>
            </a:r>
            <a:r>
              <a:rPr/>
              <a:t> k-group ANOVA on hippocampal volume</a:t>
            </a:r>
          </a:p>
          <a:p>
            <a:pPr lvl="0"/>
            <a:r>
              <a:rPr b="1"/>
              <a:t>Tips:</a:t>
            </a:r>
            <a:r>
              <a:rPr/>
              <a:t> k-group chi-square on card condition and tipping</a:t>
            </a:r>
          </a:p>
          <a:p>
            <a:pPr lvl="0" indent="0" marL="0">
              <a:buNone/>
            </a:pPr>
            <a:r>
              <a:rPr/>
              <a:t>For each: </a:t>
            </a:r>
            <a:r>
              <a:rPr b="1"/>
              <a:t>prepare → omnibus → pairwise → effect size → RH decision</a:t>
            </a:r>
            <a:r>
              <a:rPr/>
              <a:t>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15 Make the APA descriptives table</a:t>
            </a:r>
          </a:p>
        </p:txBody>
      </p:sp>
      <p:pic>
        <p:nvPicPr>
          <p:cNvPr descr="APA-style table of recommended prison-sentence means and standard deviations for beautiful, average, and unattractive defendants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92200" y="2743200"/>
            <a:ext cx="99949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16 Write the full result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Refer to the descriptive table or figure.</a:t>
            </a:r>
          </a:p>
          <a:p>
            <a:pPr lvl="0" indent="-457200" marL="457200">
              <a:buAutoNum type="arabicPeriod"/>
            </a:pPr>
            <a:r>
              <a:rPr/>
              <a:t>Report the omnibus test and effect size.</a:t>
            </a:r>
          </a:p>
          <a:p>
            <a:pPr lvl="0" indent="-457200" marL="457200">
              <a:buAutoNum type="arabicPeriod"/>
            </a:pPr>
            <a:r>
              <a:rPr/>
              <a:t>Name the follow-up method and corrected criterion.</a:t>
            </a:r>
          </a:p>
          <a:p>
            <a:pPr lvl="0" indent="-457200" marL="457200">
              <a:buAutoNum type="arabicPeriod"/>
            </a:pPr>
            <a:r>
              <a:rPr/>
              <a:t>Describe each planned pair and RH decision.</a:t>
            </a:r>
          </a:p>
          <a:p>
            <a:pPr lvl="0" indent="-457200" marL="457200">
              <a:buAutoNum type="arabicPeriod"/>
            </a:pPr>
            <a:r>
              <a:rPr/>
              <a:t>Add the all-green checker screenshot.</a:t>
            </a:r>
          </a:p>
        </p:txBody>
      </p:sp>
    </p:spTree>
  </p:cSld>
</p:sld>
</file>

<file path=ppt/theme/theme1.xml><?xml version="1.0" encoding="utf-8"?>
<a:theme xmlns:a="http://schemas.openxmlformats.org/drawingml/2006/main" name="Parcel">
  <a:themeElements>
    <a:clrScheme name="Custom 3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B65B00"/>
      </a:accent1>
      <a:accent2>
        <a:srgbClr val="5E5E5E"/>
      </a:accent2>
      <a:accent3>
        <a:srgbClr val="005392"/>
      </a:accent3>
      <a:accent4>
        <a:srgbClr val="FEFB00"/>
      </a:accent4>
      <a:accent5>
        <a:srgbClr val="87795D"/>
      </a:accent5>
      <a:accent6>
        <a:srgbClr val="A0988C"/>
      </a:accent6>
      <a:hlink>
        <a:srgbClr val="005392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Compare Multiple Groups</dc:title>
  <dc:creator>PSYC 350 Laboratory</dc:creator>
  <cp:keywords/>
  <dcterms:created xsi:type="dcterms:W3CDTF">2026-09-02T01:12:17Z</dcterms:created>
  <dcterms:modified xsi:type="dcterms:W3CDTF">2026-09-02T01:12:17Z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ffiliations">
    <vt:lpwstr/>
  </property>
  <property fmtid="{D5CDD505-2E9C-101B-9397-08002B2CF9AE}" pid="4" name="authors">
    <vt:lpwstr/>
  </property>
  <property fmtid="{D5CDD505-2E9C-101B-9397-08002B2CF9AE}" pid="5" name="back-to-top-navigation">
    <vt:lpwstr>True</vt:lpwstr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execute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ack-link">
    <vt:lpwstr>False</vt:lpwstr>
  </property>
  <property fmtid="{D5CDD505-2E9C-101B-9397-08002B2CF9AE}" pid="13" name="include-before">
    <vt:lpwstr/>
  </property>
  <property fmtid="{D5CDD505-2E9C-101B-9397-08002B2CF9AE}" pid="14" name="institute">
    <vt:lpwstr>University of Nebraska–Lincoln</vt:lpwstr>
  </property>
  <property fmtid="{D5CDD505-2E9C-101B-9397-08002B2CF9AE}" pid="15" name="institutes">
    <vt:lpwstr/>
  </property>
  <property fmtid="{D5CDD505-2E9C-101B-9397-08002B2CF9AE}" pid="16" name="labels">
    <vt:lpwstr/>
  </property>
  <property fmtid="{D5CDD505-2E9C-101B-9397-08002B2CF9AE}" pid="17" name="nebraska-pptx">
    <vt:lpwstr/>
  </property>
  <property fmtid="{D5CDD505-2E9C-101B-9397-08002B2CF9AE}" pid="18" name="revealjs-plugins">
    <vt:lpwstr/>
  </property>
  <property fmtid="{D5CDD505-2E9C-101B-9397-08002B2CF9AE}" pid="19" name="subtitle">
    <vt:lpwstr>Lab 11 · k-Group ANOVA and Chi-Square</vt:lpwstr>
  </property>
  <property fmtid="{D5CDD505-2E9C-101B-9397-08002B2CF9AE}" pid="20" name="toc-title">
    <vt:lpwstr>Table of contents</vt:lpwstr>
  </property>
</Properties>
</file>