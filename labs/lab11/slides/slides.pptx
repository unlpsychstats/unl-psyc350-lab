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>
  <p:sldMasterIdLst>
    <p:sldMasterId id="214748369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7524"/>
    <p:restoredTop sz="94694"/>
  </p:normalViewPr>
  <p:slideViewPr>
    <p:cSldViewPr snapToGrid="0">
      <p:cViewPr varScale="1">
        <p:scale>
          <a:sx d="100" n="119"/>
          <a:sy d="100" n="119"/>
        </p:scale>
        <p:origin x="232" y="23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" Type="http://schemas.openxmlformats.org/officeDocument/2006/relationships/slideMaster" Target="slideMasters/slideMaster1.xml" /><Relationship Id="rId18" Type="http://schemas.openxmlformats.org/officeDocument/2006/relationships/presProps" Target="presProps.xml" /><Relationship Id="rId19" Type="http://schemas.openxmlformats.org/officeDocument/2006/relationships/viewProps" Target="viewProps.xml" /><Relationship Id="rId20" Type="http://schemas.openxmlformats.org/officeDocument/2006/relationships/theme" Target="theme/theme1.xml" /><Relationship Id="rId21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7280" y="4352544"/>
            <a:ext cx="9997440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2638044"/>
            <a:ext cx="9997440" cy="3101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352465"/>
            <a:ext cx="9997440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8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40" y="2638044"/>
            <a:ext cx="4907280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1/22/26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cap="sq" w="31750">
            <a:solidFill>
              <a:srgbClr val="404040"/>
            </a:solidFill>
            <a:miter lim="800000"/>
          </a:ln>
        </p:spPr>
        <p:txBody>
          <a:bodyPr anchor="ctr" bIns="182880" lIns="182880" rIns="182880" rtlCol="0" tIns="18288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dirty="0" lang="en-US"/>
              <a:t>1/22/26</a:t>
            </a:fld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dirty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anchor="ctr" bIns="45720" lIns="18288" rIns="18288" rtlCol="0" tIns="45720" vert="horz">
            <a:noAutofit/>
          </a:bodyPr>
          <a:lstStyle>
            <a:lvl1pPr algn="ctr">
              <a:defRPr baseline="0" spc="0" sz="110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dirty="0" lang="en-US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dt="0" ftr="0" hdr="0" sldNum="0"/>
  <p:txStyles>
    <p:titleStyle>
      <a:lvl1pPr algn="ctr" defTabSz="914400" eaLnBrk="1" hangingPunct="1" latinLnBrk="0" rtl="0">
        <a:lnSpc>
          <a:spcPct val="90000"/>
        </a:lnSpc>
        <a:spcBef>
          <a:spcPct val="0"/>
        </a:spcBef>
        <a:buNone/>
        <a:defRPr baseline="0" cap="all" kern="1200" spc="200" sz="280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8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4572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6858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9144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114300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131286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1484313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1657350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1882775" rtl="0">
        <a:lnSpc>
          <a:spcPct val="100000"/>
        </a:lnSpc>
        <a:spcBef>
          <a:spcPts val="1000"/>
        </a:spcBef>
        <a:buClr>
          <a:schemeClr val="accent2"/>
        </a:buClr>
        <a:buFont charset="0" panose="020B0604020202020204" pitchFamily="34" typeface="Arial"/>
        <a:buChar char="•"/>
        <a:defRPr baseline="0" kern="1200" sz="16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k-Groups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097280" y="4352544"/>
            <a:ext cx="9997440" cy="1239894"/>
          </a:xfrm>
          <a:noFill/>
        </p:spPr>
        <p:txBody>
          <a:bodyPr/>
          <a:lstStyle/>
          <a:p>
            <a:pPr lvl="0" indent="0" marL="0">
              <a:buNone/>
            </a:pPr>
            <a:r>
              <a:rPr/>
              <a:t>Lab 11</a:t>
            </a:r>
            <a:br/>
            <a:br/>
            <a:r>
              <a:rPr/>
              <a:t>PSYCH 350-Lab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Tasks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 b="1"/>
              <a:t>Get set up</a:t>
            </a:r>
            <a:r>
              <a:rPr/>
              <a:t> – open the materials linked on the next slides</a:t>
            </a:r>
          </a:p>
          <a:p>
            <a:pPr lvl="0" indent="-457200" marL="457200">
              <a:buAutoNum type="arabicPeriod"/>
            </a:pPr>
            <a:r>
              <a:rPr b="1"/>
              <a:t>Walkthrough together</a:t>
            </a:r>
            <a:r>
              <a:rPr/>
              <a:t> – Mock Jury study: k-group ANOVA (RH1) and Chi-Square (RH2)</a:t>
            </a:r>
          </a:p>
          <a:p>
            <a:pPr lvl="0" indent="-457200" marL="457200">
              <a:buAutoNum type="arabicPeriod"/>
            </a:pPr>
            <a:r>
              <a:rPr b="1"/>
              <a:t>Your turn</a:t>
            </a:r>
            <a:r>
              <a:rPr/>
              <a:t> – Football study (RH3) and Tip Jokes study (RH4)</a:t>
            </a:r>
          </a:p>
          <a:p>
            <a:pPr lvl="0" indent="-457200" marL="457200">
              <a:buAutoNum type="arabicPeriod"/>
            </a:pPr>
            <a:r>
              <a:rPr b="1"/>
              <a:t>Wrap up</a:t>
            </a:r>
            <a:r>
              <a:rPr/>
              <a:t> – worksheet, homework checker, and assignments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 Need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for this week is linked on the next slides – and always on the lab page under </a:t>
            </a:r>
            <a:r>
              <a:rPr b="1"/>
              <a:t>Handouts &amp; References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Open these </a:t>
            </a:r>
            <a:r>
              <a:rPr b="1"/>
              <a:t>before we start</a:t>
            </a:r>
            <a:r>
              <a:rPr/>
              <a:t> so you can follow along.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Multiple-Group Data Coding &amp; Analyses</a:t>
            </a:r>
          </a:p>
        </p:txBody>
      </p:sp>
      <p:sp>
        <p:nvSpPr>
          <p:cNvPr id="1001" name="card-blue" descr="card: [book icon]. SPSS Handouts"/>
          <p:cNvSpPr/>
          <p:nvPr/>
        </p:nvSpPr>
        <p:spPr>
          <a:xfrm>
            <a:off x="1097280" y="263347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SPSS Handouts</a:t>
            </a:r>
          </a:p>
        </p:txBody>
      </p:sp>
      <p:sp>
        <p:nvSpPr>
          <p:cNvPr id="1002" name="card-rail" descr=""/>
          <p:cNvSpPr/>
          <p:nvPr/>
        </p:nvSpPr>
        <p:spPr>
          <a:xfrm>
            <a:off x="1097280" y="263347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3" name="card-blue" descr="card: [book icon]. APA Table Templates"/>
          <p:cNvSpPr/>
          <p:nvPr/>
        </p:nvSpPr>
        <p:spPr>
          <a:xfrm>
            <a:off x="4459224" y="2633472"/>
            <a:ext cx="3270504" cy="57912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APA Table Templates</a:t>
            </a:r>
          </a:p>
        </p:txBody>
      </p:sp>
      <p:sp>
        <p:nvSpPr>
          <p:cNvPr id="1004" name="card-rail" descr=""/>
          <p:cNvSpPr/>
          <p:nvPr/>
        </p:nvSpPr>
        <p:spPr>
          <a:xfrm>
            <a:off x="4459224" y="2633472"/>
            <a:ext cx="54864" cy="57912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5" name="card-red" descr="card: [note icon]. kBG ANOVA [PDF]"/>
          <p:cNvSpPr/>
          <p:nvPr/>
        </p:nvSpPr>
        <p:spPr>
          <a:xfrm>
            <a:off x="7821168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kBG ANOVA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06" name="card-rail" descr=""/>
          <p:cNvSpPr/>
          <p:nvPr/>
        </p:nvSpPr>
        <p:spPr>
          <a:xfrm>
            <a:off x="7821168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7" name="card-red" descr="card: [note icon]. kwgf.pdf [PDF]"/>
          <p:cNvSpPr/>
          <p:nvPr/>
        </p:nvSpPr>
        <p:spPr>
          <a:xfrm>
            <a:off x="1097280" y="348691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kwgf.pdf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08" name="card-rail" descr=""/>
          <p:cNvSpPr/>
          <p:nvPr/>
        </p:nvSpPr>
        <p:spPr>
          <a:xfrm>
            <a:off x="1097280" y="348691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09" name="card-red" descr="card: [note icon]. 2xkchi_spss.pdf [PDF]"/>
          <p:cNvSpPr/>
          <p:nvPr/>
        </p:nvSpPr>
        <p:spPr>
          <a:xfrm>
            <a:off x="4459224" y="348691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D00000"/>
                </a:solidFill>
              </a:rPr>
              <a:t>[note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2xkchi_spss.pdf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[PDF]</a:t>
            </a:r>
          </a:p>
        </p:txBody>
      </p:sp>
      <p:sp>
        <p:nvSpPr>
          <p:cNvPr id="1010" name="card-rail" descr=""/>
          <p:cNvSpPr/>
          <p:nvPr/>
        </p:nvSpPr>
        <p:spPr>
          <a:xfrm>
            <a:off x="4459224" y="348691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D00000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1" name="card-light-blue" descr="card: [arrow icon]. xls computator [External link]"/>
          <p:cNvSpPr/>
          <p:nvPr/>
        </p:nvSpPr>
        <p:spPr>
          <a:xfrm>
            <a:off x="7821168" y="348691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1B768B"/>
                </a:solidFill>
              </a:rPr>
              <a:t>[arrow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xls computator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[External link]</a:t>
            </a:r>
          </a:p>
        </p:txBody>
      </p:sp>
      <p:sp>
        <p:nvSpPr>
          <p:cNvPr id="1012" name="card-rail" descr=""/>
          <p:cNvSpPr/>
          <p:nvPr/>
        </p:nvSpPr>
        <p:spPr>
          <a:xfrm>
            <a:off x="7821168" y="348691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249AB5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Weekly Lab Assignment</a:t>
            </a:r>
          </a:p>
        </p:txBody>
      </p:sp>
      <p:sp>
        <p:nvSpPr>
          <p:cNvPr id="1013" name="card-steel" descr="card: [chart icon]. jury_data.sav (RH1 &amp; RH2) [SPSS data file]"/>
          <p:cNvSpPr/>
          <p:nvPr/>
        </p:nvSpPr>
        <p:spPr>
          <a:xfrm>
            <a:off x="1097280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10B13"/>
                </a:solidFill>
              </a:rPr>
              <a:t>[chart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jury_data.sav (RH1 &amp; RH2)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[SPSS data file]</a:t>
            </a:r>
          </a:p>
        </p:txBody>
      </p:sp>
      <p:sp>
        <p:nvSpPr>
          <p:cNvPr id="1014" name="card-rail" descr=""/>
          <p:cNvSpPr/>
          <p:nvPr/>
        </p:nvSpPr>
        <p:spPr>
          <a:xfrm>
            <a:off x="1097280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5" name="card-steel" descr="card: [chart icon]. football_data.sav (RH3) [SPSS data file]"/>
          <p:cNvSpPr/>
          <p:nvPr/>
        </p:nvSpPr>
        <p:spPr>
          <a:xfrm>
            <a:off x="4459224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10B13"/>
                </a:solidFill>
              </a:rPr>
              <a:t>[chart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football_data.sav (RH3)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[SPSS data file]</a:t>
            </a:r>
          </a:p>
        </p:txBody>
      </p:sp>
      <p:sp>
        <p:nvSpPr>
          <p:cNvPr id="1016" name="card-rail" descr=""/>
          <p:cNvSpPr/>
          <p:nvPr/>
        </p:nvSpPr>
        <p:spPr>
          <a:xfrm>
            <a:off x="4459224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7" name="card-steel" descr="card: [chart icon]. tips_data.sav (RH4) [SPSS data file]"/>
          <p:cNvSpPr/>
          <p:nvPr/>
        </p:nvSpPr>
        <p:spPr>
          <a:xfrm>
            <a:off x="7821168" y="263347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10B13"/>
                </a:solidFill>
              </a:rPr>
              <a:t>[chart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tips_data.sav (RH4)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[SPSS data file]</a:t>
            </a:r>
          </a:p>
        </p:txBody>
      </p:sp>
      <p:sp>
        <p:nvSpPr>
          <p:cNvPr id="1018" name="card-rail" descr=""/>
          <p:cNvSpPr/>
          <p:nvPr/>
        </p:nvSpPr>
        <p:spPr>
          <a:xfrm>
            <a:off x="7821168" y="263347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10B13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19" name="card-blue" descr="card: [book icon]. Multi-Group Coding &amp; Analyses worksheet [Word document]"/>
          <p:cNvSpPr/>
          <p:nvPr/>
        </p:nvSpPr>
        <p:spPr>
          <a:xfrm>
            <a:off x="1097280" y="3486912"/>
            <a:ext cx="3270504" cy="94488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[book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Multi-Group Coding &amp; Analyses worksheet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[Word document]</a:t>
            </a:r>
          </a:p>
        </p:txBody>
      </p:sp>
      <p:sp>
        <p:nvSpPr>
          <p:cNvPr id="1020" name="card-rail" descr=""/>
          <p:cNvSpPr/>
          <p:nvPr/>
        </p:nvSpPr>
        <p:spPr>
          <a:xfrm>
            <a:off x="1097280" y="3486912"/>
            <a:ext cx="54864" cy="94488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  <p:sp>
        <p:nvSpPr>
          <p:cNvPr id="1021" name="card-blue" descr="card: [arrow icon]. Multi-Group Analyses hw checker [Web page]"/>
          <p:cNvSpPr/>
          <p:nvPr/>
        </p:nvSpPr>
        <p:spPr>
          <a:xfrm>
            <a:off x="4459224" y="3486912"/>
            <a:ext cx="3270504" cy="762000"/>
          </a:xfrm>
          <a:prstGeom prst="roundRect">
            <a:avLst>
              <a:gd name="adj" fmla="val 6000"/>
            </a:avLst>
          </a:prstGeom>
          <a:solidFill>
            <a:srgbClr val="FEFDFA"/>
          </a:solidFill>
          <a:ln w="19050">
            <a:solidFill>
              <a:srgbClr val="CCCCCC"/>
            </a:solidFill>
          </a:ln>
        </p:spPr>
        <p:txBody>
          <a:bodyPr lIns="91440" tIns="68580" rIns="91440" bIns="68580" anchor="t" wrap="square">
            <a:normAutofit/>
          </a:bodyPr>
          <a:lstStyle/>
          <a:p>
            <a:pPr algn="l"/>
            <a:r>
              <a:rPr lang="en-US" sz="1400" b="1" dirty="0">
                <a:solidFill>
                  <a:srgbClr val="005D84"/>
                </a:solidFill>
              </a:rPr>
              <a:t>[arrow icon]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Multi-Group Analyses hw checker</a:t>
            </a:r>
          </a:p>
          <a:p>
            <a:pPr algn="l"/>
            <a:r>
              <a:rPr lang="en-US" sz="1200" b="0" dirty="0">
                <a:solidFill>
                  <a:srgbClr val="010B13"/>
                </a:solidFill>
              </a:rPr>
              <a:t>[Web page]</a:t>
            </a:r>
          </a:p>
        </p:txBody>
      </p:sp>
      <p:sp>
        <p:nvSpPr>
          <p:cNvPr id="1022" name="card-rail" descr=""/>
          <p:cNvSpPr/>
          <p:nvPr/>
        </p:nvSpPr>
        <p:spPr>
          <a:xfrm>
            <a:off x="4459224" y="3486912"/>
            <a:ext cx="54864" cy="762000"/>
          </a:xfrm>
          <a:prstGeom prst="roundRect">
            <a:avLst>
              <a:gd name="adj" fmla="val 20000"/>
            </a:avLst>
          </a:prstGeom>
          <a:solidFill>
            <a:srgbClr val="005D84"/>
          </a:solidFill>
          <a:ln>
            <a:noFill/>
          </a:ln>
        </p:spPr>
        <p:txBody>
          <a:bodyPr lIns="91440" tIns="68580" rIns="91440" bIns="68580" anchor="t" wrap="square">
            <a:normAutofit/>
          </a:bodyPr>
          <a:lstStyle/>
          <a:p/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Walkthrough: Multi-Group Analyses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Today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do the first two analyses </a:t>
            </a:r>
            <a:r>
              <a:rPr b="1"/>
              <a:t>together</a:t>
            </a:r>
            <a:r>
              <a:rPr/>
              <a:t>:</a:t>
            </a:r>
          </a:p>
          <a:p>
            <a:pPr lvl="0"/>
            <a:r>
              <a:rPr b="1"/>
              <a:t>RH1:</a:t>
            </a:r>
            <a:r>
              <a:rPr/>
              <a:t> Mock Jury study – k-group One-Way ANOVA in SPSS</a:t>
            </a:r>
          </a:p>
          <a:p>
            <a:pPr lvl="0"/>
            <a:r>
              <a:rPr b="1"/>
              <a:t>RH2:</a:t>
            </a:r>
            <a:r>
              <a:rPr/>
              <a:t> Mock Jury study – k-group Chi-Square in SPSS</a:t>
            </a:r>
          </a:p>
          <a:p>
            <a:pPr lvl="0" indent="0" marL="0">
              <a:buNone/>
            </a:pPr>
            <a:r>
              <a:rPr/>
              <a:t>As we go:</a:t>
            </a:r>
          </a:p>
          <a:p>
            <a:pPr lvl="0" indent="-457200" marL="457200">
              <a:buAutoNum type="arabicPeriod"/>
            </a:pPr>
            <a:r>
              <a:rPr/>
              <a:t>Open </a:t>
            </a:r>
            <a:r>
              <a:rPr>
                <a:latin typeface="Courier"/>
              </a:rPr>
              <a:t>jury_data.sav</a:t>
            </a:r>
          </a:p>
          <a:p>
            <a:pPr lvl="0" indent="-457200" marL="457200">
              <a:buAutoNum type="arabicPeriod"/>
            </a:pPr>
            <a:r>
              <a:rPr/>
              <a:t>Follow the </a:t>
            </a:r>
            <a:r>
              <a:rPr b="1"/>
              <a:t>kBG ANOVA</a:t>
            </a:r>
            <a:r>
              <a:rPr/>
              <a:t> and </a:t>
            </a:r>
            <a:r>
              <a:rPr b="1"/>
              <a:t>2xk Chi-Square</a:t>
            </a:r>
            <a:r>
              <a:rPr/>
              <a:t> SPSS handouts step by step</a:t>
            </a:r>
          </a:p>
          <a:p>
            <a:pPr lvl="0" indent="-457200" marL="457200">
              <a:buAutoNum type="arabicPeriod"/>
            </a:pPr>
            <a:r>
              <a:rPr/>
              <a:t>Enter your answers in the </a:t>
            </a:r>
            <a:r>
              <a:rPr b="1"/>
              <a:t>homework checker</a:t>
            </a:r>
            <a:r>
              <a:rPr/>
              <a:t> on the lab page and take a screenshot when they turn green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(continued)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7400"/>
                <a:gridCol w="3327400"/>
                <a:gridCol w="332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3.794701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9.017559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7.784758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4.651193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6.811566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7.747311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4.273766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7.278396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7.561461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5.024673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9.519218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7.447487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4.817659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8.377388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8.062840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3.790207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5.947777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8.831179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4.378168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6.635963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6.485790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3.054591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7.799219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8.711980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4.856923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8.865779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9.736675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3.538962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7.898117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10.537574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6.416773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8.624187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9.801176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2.348951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8.959005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9.256775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3.536013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9.671055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6.773270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4.825380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8.056017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7.898493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4.510133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7.948018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8.147954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3.410519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6.246763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9.203524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3.003219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8.099328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8.394329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4.144476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7.428150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7.241351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3.985693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7.025990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10.184436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2.209719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7.820094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9.411391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4.034551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9.014943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8.737430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4.190230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6.007252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9.718109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4.174726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7.572721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7.161226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2.944983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8.116637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9.160820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4.476133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7.106792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7.977088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5.378570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8.333903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9.183746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4.456236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8.411430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8.439178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2.864412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7.966964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9.132961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3.564355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5.534102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9.835518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4.346104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10.571458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8.507290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Data (continued)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ANOVA Tells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The ANOVA (formula: body ~ dancer) suggests that:
  - The main effect of dancer is statistically significant and large (F(2, 87) =
170.56, p &lt; .001; Eta2 = 0.80, 95% CI [0.74, 1.00])
Effect sizes were labelled following Field's (2013) recommendations.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ANOVA Tells Us (continued)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092200" y="2628900"/>
          <a:ext cx="9994900" cy="309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  <a:gridCol w="82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Skewness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Kurtosis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4.095535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0.9557137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4.104949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0.6177722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1.962318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5.877864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-0.4810970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0.27633982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8.310650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1.2163277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8.449779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0.7984322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5.789367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10.691714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-0.2000572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0.05681082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body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8.575175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0.9698645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8.516068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1.0683436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6.885961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10.958060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0.1215120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0.02236201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the ANOVA Tells Us (continued)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097280" y="2386744"/>
            <a:ext cx="999744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RH3 &amp; RH4: On Your Own (or with a neighbor)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procedures, new datasets:</a:t>
            </a:r>
          </a:p>
          <a:p>
            <a:pPr lvl="0"/>
            <a:r>
              <a:rPr b="1"/>
              <a:t>RH3:</a:t>
            </a:r>
            <a:r>
              <a:rPr/>
              <a:t> Football study – k-group ANOVA with </a:t>
            </a:r>
            <a:r>
              <a:rPr>
                <a:latin typeface="Courier"/>
              </a:rPr>
              <a:t>football_data.sav</a:t>
            </a:r>
          </a:p>
          <a:p>
            <a:pPr lvl="0"/>
            <a:r>
              <a:rPr b="1"/>
              <a:t>RH4:</a:t>
            </a:r>
            <a:r>
              <a:rPr/>
              <a:t> Tip Jokes study – k-group Chi-Square with </a:t>
            </a:r>
            <a:r>
              <a:rPr>
                <a:latin typeface="Courier"/>
              </a:rPr>
              <a:t>tips_data.sav</a:t>
            </a:r>
          </a:p>
          <a:p>
            <a:pPr lvl="0" indent="0" marL="0">
              <a:buNone/>
            </a:pPr>
            <a:r>
              <a:rPr/>
              <a:t>Record your answers on the </a:t>
            </a:r>
            <a:r>
              <a:rPr b="1"/>
              <a:t>Multi-Group Coding &amp; Analyses worksheet</a:t>
            </a:r>
            <a:r>
              <a:rPr/>
              <a:t> and verify each one in the </a:t>
            </a:r>
            <a:r>
              <a:rPr b="1"/>
              <a:t>homework checker</a:t>
            </a:r>
            <a:r>
              <a:rPr/>
              <a:t> before you leave.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964692"/>
            <a:ext cx="9997440" cy="118872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Assignments &amp; Reminders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Given this week:</a:t>
            </a:r>
          </a:p>
          <a:p>
            <a:pPr lvl="0"/>
            <a:r>
              <a:rPr/>
              <a:t>Multi-Group Coding &amp; Analysis Worksheet</a:t>
            </a:r>
          </a:p>
          <a:p>
            <a:pPr lvl="0"/>
            <a:r>
              <a:rPr/>
              <a:t>Complete Research Project Report by the end of lab during the week of Nov 21</a:t>
            </a:r>
          </a:p>
          <a:p>
            <a:pPr lvl="0" indent="0" marL="0">
              <a:buNone/>
            </a:pPr>
            <a:r>
              <a:rPr/>
              <a:t>Submit to your lab section in Canvas by 11:59pm the day before your lab meets.</a:t>
            </a:r>
          </a:p>
        </p:txBody>
      </p:sp>
    </p:spTree>
  </p:cSld>
</p:sld>
</file>

<file path=ppt/theme/theme1.xml><?xml version="1.0" encoding="utf-8"?>
<a:theme xmlns:a="http://schemas.openxmlformats.org/drawingml/2006/main" name="Parcel">
  <a:themeElements>
    <a:clrScheme name="Custom 3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5E5E5E"/>
      </a:accent2>
      <a:accent3>
        <a:srgbClr val="005392"/>
      </a:accent3>
      <a:accent4>
        <a:srgbClr val="FEFB00"/>
      </a:accent4>
      <a:accent5>
        <a:srgbClr val="87795D"/>
      </a:accent5>
      <a:accent6>
        <a:srgbClr val="A0988C"/>
      </a:accent6>
      <a:hlink>
        <a:srgbClr val="005392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4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Gill Sans MT</vt:lpstr>
      <vt:lpstr>Parcel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k-Groups Analysis</dc:title>
  <dc:creator>PSYCH 350-Lab</dc:creator>
  <cp:keywords/>
  <dcterms:created xsi:type="dcterms:W3CDTF">2026-08-13T23:51:45Z</dcterms:created>
  <dcterms:modified xsi:type="dcterms:W3CDTF">2026-08-13T23:51:45Z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back-to-top-navigation">
    <vt:lpwstr>True</vt:lpwstr>
  </property>
  <property fmtid="{D5CDD505-2E9C-101B-9397-08002B2CF9AE}" pid="5" name="biblio-config">
    <vt:lpwstr>True</vt:lpwstr>
  </property>
  <property fmtid="{D5CDD505-2E9C-101B-9397-08002B2CF9AE}" pid="6" name="by-author">
    <vt:lpwstr/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ack-link">
    <vt:lpwstr>False</vt:lpwstr>
  </property>
  <property fmtid="{D5CDD505-2E9C-101B-9397-08002B2CF9AE}" pid="12" name="include-before">
    <vt:lpwstr/>
  </property>
  <property fmtid="{D5CDD505-2E9C-101B-9397-08002B2CF9AE}" pid="13" name="knitr">
    <vt:lpwstr>True</vt:lpwstr>
  </property>
  <property fmtid="{D5CDD505-2E9C-101B-9397-08002B2CF9AE}" pid="14" name="labels">
    <vt:lpwstr/>
  </property>
  <property fmtid="{D5CDD505-2E9C-101B-9397-08002B2CF9AE}" pid="15" name="nebraska-pptx">
    <vt:lpwstr/>
  </property>
  <property fmtid="{D5CDD505-2E9C-101B-9397-08002B2CF9AE}" pid="16" name="revealjs-plugins">
    <vt:lpwstr/>
  </property>
  <property fmtid="{D5CDD505-2E9C-101B-9397-08002B2CF9AE}" pid="17" name="subtitle">
    <vt:lpwstr>Lab 11</vt:lpwstr>
  </property>
  <property fmtid="{D5CDD505-2E9C-101B-9397-08002B2CF9AE}" pid="18" name="toc-title">
    <vt:lpwstr>Table of contents</vt:lpwstr>
  </property>
</Properties>
</file>