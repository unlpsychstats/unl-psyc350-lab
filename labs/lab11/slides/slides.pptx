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notesMaster" Target="notesMasters/notesMaster1.xml" /><Relationship Id="rId1" Type="http://schemas.openxmlformats.org/officeDocument/2006/relationships/slideMaster" Target="slideMasters/slideMaster1.xml" /><Relationship Id="rId18" Type="http://schemas.openxmlformats.org/officeDocument/2006/relationships/presProps" Target="presProps.xml" /><Relationship Id="rId19" Type="http://schemas.openxmlformats.org/officeDocument/2006/relationships/viewProps" Target="viewProps.xml" /><Relationship Id="rId20" Type="http://schemas.openxmlformats.org/officeDocument/2006/relationships/theme" Target="theme/theme1.xml" /><Relationship Id="rId2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walkthroughs use jury_data.sav. Keep the Lab 11 worksheet, syntax, and Output Viewer open. The simple guides demonstrate the procedures with other datasets; use the jury variables and coding specified in this worksheet.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omnibus result, then read the worksheet’s pairwise questions. A significant omnibus result does not identify which pairs differ. For this lab, complete the assigned comparison tables and keep their interpretation consistent with the overall result.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attractiveness codes are 1 = Beautiful, 2 = Average, and 3 = Unattractive. Have students state the three predictions before looking at the means. The 114-row dataset contains both crime conditions; the walkthrough uses only the swindle cases.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all rows in the file and filter the analysis to crime = 2. Check the selected cases and variable labels before continuing. Keep this filter active for both walkthroughs; do not select the swindle cases again from a smaller pairwise subset.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years as the dependent variable and attr as the factor. This is the syntax in the worksheet. The worksheet’s comparison table uses the LSD minimum mean difference from the Computator, so a completed SPSS post-hoc table is not needed here.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MSe is the Within Groups mean square. Compare p with the worksheet’s significance level, then decide whether follow-up comparisons are needed. The omnibus test does not tell you which specific predictions were supported.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LSD-HSD tab for the worksheet’s common cutoff and pr_means-&gt; r &amp; d for the pairwise effect sizes. The worksheet/checker use average group size and a t-table lookup. The newer guide distinguishes equal-group formulas from pair-specific formulas for unequal groups; those exact cutoffs can differ from the worksheet’s approximation. Follow the worksheet method for its answer fields. Complete its power-question column using the accompanying course guidance. A nonsignificant comparison does not establish equal population means.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worksheet’s tables and the simple guide to check the reporting details. Include the group descriptives, F, both degrees of freedom, MSe, and p. Identify the comparison method and describe the observed direction. Finish this walkthrough before starting the seriousness analysis.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the crime = 2 filter active. These category names and ranges follow the worksheet: 1–4 become Serious Crime, 6–10 become Not Serious Crime, and 5 is excluded. Preserve serious and create serious_cat separately. Check the new frequencies before running the crosstab.</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orientation matches the worksheet: seriousness categories are rows and attractiveness groups are columns. Column percentages describe seriousness within each attractiveness group. The expected counts help you check the Pearson test’s conditions. The guide uses a different dataset, so its results should not be copied into this worksheet.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Pearson Chi-Square row, not a continuity-correction or Fisher result. Describe the proportions before deciding whether the evidence supports an association. The worksheet asks for pairwise calculations too; completing those practice fields does not change the omnibus conclusion.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pr_chi&gt;r tab in the same Computator workbook. Compare Beautiful with Average, Beautiful with Unattractive, and Average with Unattractive. The current worksheet/checker use the unadjusted one-df critical value, not a Bonferroni-corrected threshold. Take the counts from the swindle crosstab; do not combine crime conditions. Describe a nonsignificant result as insufficient evidence of a difference, not proof that the proportions are equal.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 the sample size, chi-square, degrees of freedom, and p alongside the pattern of counts or proportions. Use the worksheet for the pairwise effect-size and decision fields. Save the syntax and output. Turn the filter off when you finish working with this dataset.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9728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26080"/>
            <a:ext cx="4907280" cy="31775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187440" y="2926080"/>
            <a:ext cx="4907280" cy="317754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18744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a:xfrm>
            <a:off x="1097280" y="964692"/>
            <a:ext cx="9997440" cy="1188720"/>
          </a:xfrm>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unlpsychstats.github.io/UNL-PSYC350-LAB/labs/lab11/slides/downloads/jury_data.sav" TargetMode="External"/>
  <Relationship Id="rId4" Type="http://schemas.openxmlformats.org/officeDocument/2006/relationships/hyperlink" Target="https://unlpsychstats.github.io/PSYC350-spss-handouts/A1.kbgf_ph_spss_handout_simple.pdf" TargetMode="External"/>
  <Relationship Id="rId5" Type="http://schemas.openxmlformats.org/officeDocument/2006/relationships/hyperlink" Target="https://unlpsychstats.github.io/PSYC350-spss-handouts/A2.2xkchi_spss_handout_simple.pdf"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unlpsychstats.github.io/UNL-PSYC350-LAB/labs/lab11/slides/downloads/A3.computator_131.xlsx"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Compare Multiple Groups</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11 · k-Group ANOVA and Chi-Square</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Open the Lab 11 files</a:t>
            </a:r>
          </a:p>
        </p:txBody>
      </p:sp>
      <p:sp>
        <p:nvSpPr>
          <p:cNvPr id="1001" name="card-steel" descr="card: Walkthrough data. Jury data"/>
          <p:cNvSpPr/>
          <p:nvPr/>
        </p:nvSpPr>
        <p:spPr>
          <a:xfrm>
            <a:off x="1097280" y="2633472"/>
            <a:ext cx="4924044" cy="1005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Walkthrough data</a:t>
            </a:r>
          </a:p>
          <a:p>
            <a:pPr algn="l"/>
            <a:r>
              <a:rPr lang="en-US" sz="2000" b="0" dirty="0">
                <a:solidFill>
                  <a:srgbClr val="010B13"/>
                </a:solidFill>
                <a:hlinkClick r:id="rId3"/>
              </a:rPr>
              <a:t>Jury data</a:t>
            </a:r>
          </a:p>
        </p:txBody>
      </p:sp>
      <p:sp>
        <p:nvSpPr>
          <p:cNvPr id="1002" name="card-rail" descr="">
            <a:extLst>
              <a:ext uri="{C183D7F6-B498-43B3-948B-1728B52AA6E4}">
                <adec:decorative xmlns:adec="http://schemas.microsoft.com/office/drawing/2017/decorative" val="1"/>
              </a:ext>
            </a:extLst>
          </p:cNvPr>
          <p:cNvSpPr/>
          <p:nvPr/>
        </p:nvSpPr>
        <p:spPr>
          <a:xfrm>
            <a:off x="1097280" y="2633472"/>
            <a:ext cx="54864" cy="10058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3" name="card-steel" descr="card: Simple SPSS guides. k-group ANOVA PDF k-group chi-square PDF"/>
          <p:cNvSpPr/>
          <p:nvPr/>
        </p:nvSpPr>
        <p:spPr>
          <a:xfrm>
            <a:off x="6167628" y="2633472"/>
            <a:ext cx="4924044" cy="13106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Simple SPSS guides</a:t>
            </a:r>
          </a:p>
          <a:p>
            <a:pPr algn="l"/>
            <a:r>
              <a:rPr lang="en-US" sz="2000" b="0" dirty="0">
                <a:solidFill>
                  <a:srgbClr val="010B13"/>
                </a:solidFill>
                <a:hlinkClick r:id="rId4"/>
              </a:rPr>
              <a:t>k-group ANOVA PDF</a:t>
            </a:r>
          </a:p>
          <a:p>
            <a:pPr algn="l"/>
            <a:r>
              <a:rPr lang="en-US" sz="2000" b="0" dirty="0">
                <a:solidFill>
                  <a:srgbClr val="010B13"/>
                </a:solidFill>
                <a:hlinkClick r:id="rId5"/>
              </a:rPr>
              <a:t>k-group chi-square PDF</a:t>
            </a:r>
          </a:p>
        </p:txBody>
      </p:sp>
      <p:sp>
        <p:nvSpPr>
          <p:cNvPr id="1004" name="card-rail" descr="">
            <a:extLst>
              <a:ext uri="{C183D7F6-B498-43B3-948B-1728B52AA6E4}">
                <adec:decorative xmlns:adec="http://schemas.microsoft.com/office/drawing/2017/decorative" val="1"/>
              </a:ext>
            </a:extLst>
          </p:cNvPr>
          <p:cNvSpPr/>
          <p:nvPr/>
        </p:nvSpPr>
        <p:spPr>
          <a:xfrm>
            <a:off x="6167628" y="2633472"/>
            <a:ext cx="54864" cy="13106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Separate omnibus and pairwise questions</a:t>
            </a:r>
          </a:p>
        </p:txBody>
      </p:sp>
      <p:sp>
        <p:nvSpPr>
          <p:cNvPr id="3" name="Content Placeholder 2"/>
          <p:cNvSpPr>
            <a:spLocks noGrp="1"/>
          </p:cNvSpPr>
          <p:nvPr>
            <p:ph idx="1"/>
          </p:nvPr>
        </p:nvSpPr>
        <p:spPr/>
        <p:txBody>
          <a:bodyPr/>
          <a:lstStyle/>
          <a:p>
            <a:pPr lvl="0" indent="0" marL="0">
              <a:buNone/>
            </a:pPr>
            <a:r>
              <a:rPr b="1"/>
              <a:t>Omnibus:</a:t>
            </a:r>
            <a:r>
              <a:rPr/>
              <a:t> Is there a difference or association across the groups?</a:t>
            </a:r>
          </a:p>
          <a:p>
            <a:pPr lvl="0" indent="0" marL="0">
              <a:buNone/>
            </a:pPr>
            <a:r>
              <a:rPr b="1"/>
              <a:t>Pairwise:</a:t>
            </a:r>
            <a:r>
              <a:rPr/>
              <a:t> How do two particular groups compare?</a:t>
            </a:r>
          </a:p>
          <a:p>
            <a:pPr lvl="0"/>
            <a:r>
              <a:rPr/>
              <a:t>ANOVA compares means</a:t>
            </a:r>
          </a:p>
          <a:p>
            <a:pPr lvl="0"/>
            <a:r>
              <a:rPr/>
              <a:t>Chi-square examines counts and proportions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Prepare the jury walkthrough</a:t>
            </a:r>
          </a:p>
        </p:txBody>
      </p:sp>
      <p:sp>
        <p:nvSpPr>
          <p:cNvPr id="3" name="Content Placeholder 2"/>
          <p:cNvSpPr>
            <a:spLocks noGrp="1"/>
          </p:cNvSpPr>
          <p:nvPr>
            <p:ph idx="1"/>
          </p:nvPr>
        </p:nvSpPr>
        <p:spPr/>
        <p:txBody>
          <a:bodyPr/>
          <a:lstStyle/>
          <a:p>
            <a:pPr lvl="0" indent="0" marL="0">
              <a:buNone/>
            </a:pPr>
            <a:r>
              <a:rPr/>
              <a:t>[RH1 · Recommended prison sentences]</a:t>
            </a:r>
          </a:p>
          <a:p>
            <a:pPr lvl="0"/>
            <a:r>
              <a:rPr/>
              <a:t>Grouping variable: </a:t>
            </a:r>
            <a:r>
              <a:rPr>
                <a:latin typeface="Courier"/>
              </a:rPr>
              <a:t>attr</a:t>
            </a:r>
          </a:p>
          <a:p>
            <a:pPr lvl="0"/>
            <a:r>
              <a:rPr/>
              <a:t>Outcome: </a:t>
            </a:r>
            <a:r>
              <a:rPr>
                <a:latin typeface="Courier"/>
              </a:rPr>
              <a:t>years</a:t>
            </a:r>
          </a:p>
          <a:p>
            <a:pPr lvl="0"/>
            <a:r>
              <a:rPr/>
              <a:t>Select the swindle condition: </a:t>
            </a:r>
            <a:r>
              <a:rPr>
                <a:latin typeface="Courier"/>
              </a:rPr>
              <a:t>crime = 2</a:t>
            </a:r>
          </a:p>
          <a:p>
            <a:pPr lvl="0" indent="0" marL="0">
              <a:buNone/>
            </a:pPr>
            <a:r>
              <a:rPr b="1"/>
              <a:t>What does the worksheet predict for each pair?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4 Select the swindle cases</a:t>
            </a:r>
          </a:p>
        </p:txBody>
      </p:sp>
      <p:sp>
        <p:nvSpPr>
          <p:cNvPr id="3" name="Content Placeholder 2"/>
          <p:cNvSpPr>
            <a:spLocks noGrp="1"/>
          </p:cNvSpPr>
          <p:nvPr>
            <p:ph idx="1"/>
          </p:nvPr>
        </p:nvSpPr>
        <p:spPr/>
        <p:txBody>
          <a:bodyPr/>
          <a:lstStyle/>
          <a:p>
            <a:pPr lvl="0" indent="0">
              <a:buNone/>
            </a:pPr>
            <a:r>
              <a:rPr>
                <a:latin typeface="Courier"/>
              </a:rPr>
              <a:t>FILTER OFF.
USE ALL.
COMPUTE filter_$ = (crime = 2).
FILTER BY filter_$.
EXECUTE.
FREQUENCIES VARIABLES=crime attr years.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Run the RH1 ANOVA</a:t>
            </a:r>
          </a:p>
        </p:txBody>
      </p:sp>
      <p:sp>
        <p:nvSpPr>
          <p:cNvPr id="3" name="Content Placeholder 2"/>
          <p:cNvSpPr>
            <a:spLocks noGrp="1"/>
          </p:cNvSpPr>
          <p:nvPr>
            <p:ph idx="1"/>
          </p:nvPr>
        </p:nvSpPr>
        <p:spPr/>
        <p:txBody>
          <a:bodyPr/>
          <a:lstStyle/>
          <a:p>
            <a:pPr lvl="0" indent="0">
              <a:buNone/>
            </a:pPr>
            <a:r>
              <a:rPr>
                <a:latin typeface="Courier"/>
              </a:rPr>
              <a:t>ONEWAY years BY attr
  /STATISTICS DESCRIPTIVES
  /MISSING ANALYSIS.</a:t>
            </a:r>
          </a:p>
          <a:p>
            <a:pPr lvl="0" indent="0" marL="0">
              <a:buNone/>
            </a:pPr>
            <a:r>
              <a:rPr b="1"/>
              <a:t>Start with each group’s mean, SD, and sample size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Read the RH1 output</a:t>
            </a:r>
          </a:p>
        </p:txBody>
      </p:sp>
      <p:pic>
        <p:nvPicPr>
          <p:cNvPr descr="ANOVA for years. Between Groups: sum of squares 123.300, df 2, mean square 61.650, F 4.081, Sig. .023. Within Groups: sum of squares 785.500, df 52, mean square 15.106. Total: sum of squares 908.800, df 54." id="0" name="Picture 1"/>
          <p:cNvPicPr>
            <a:picLocks noGrp="1" noChangeAspect="1"/>
          </p:cNvPicPr>
          <p:nvPr/>
        </p:nvPicPr>
        <p:blipFill>
          <a:blip r:embed="rId2"/>
          <a:stretch>
            <a:fillRect/>
          </a:stretch>
        </p:blipFill>
        <p:spPr bwMode="auto">
          <a:xfrm>
            <a:off x="1892300" y="2628900"/>
            <a:ext cx="84074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b="1"/>
              <a:t>Identify </a:t>
            </a:r>
            <a:r>
              <a:rPr b="1" i="1"/>
              <a:t>F</a:t>
            </a:r>
            <a:r>
              <a:rPr b="1"/>
              <a:t>, both </a:t>
            </a:r>
            <a:r>
              <a:rPr b="1" i="1"/>
              <a:t>df</a:t>
            </a:r>
            <a:r>
              <a:rPr b="1"/>
              <a:t>, </a:t>
            </a:r>
            <a:r>
              <a:rPr b="1" i="1"/>
              <a:t>MSe</a:t>
            </a:r>
            <a:r>
              <a:rPr b="1"/>
              <a:t>, and </a:t>
            </a:r>
            <a:r>
              <a:rPr b="1" i="1"/>
              <a:t>p</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Read the RH1 output (continued)</a:t>
            </a:r>
          </a:p>
        </p:txBody>
      </p:sp>
      <p:sp>
        <p:nvSpPr>
          <p:cNvPr id="3" name="Content Placeholder 2"/>
          <p:cNvSpPr>
            <a:spLocks noGrp="1"/>
          </p:cNvSpPr>
          <p:nvPr>
            <p:ph idx="1"/>
          </p:nvPr>
        </p:nvSpPr>
        <p:spPr/>
        <p:txBody>
          <a:bodyPr/>
          <a:lstStyle/>
          <a:p>
            <a:pPr lvl="0" indent="0" marL="0">
              <a:buNone/>
            </a:pPr>
            <a:r>
              <a:rPr/>
              <a:t>What does the omnibus result tell you about the three means?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Compare the RH1 means</a:t>
            </a:r>
          </a:p>
        </p:txBody>
      </p:sp>
      <p:sp>
        <p:nvSpPr>
          <p:cNvPr id="3" name="Content Placeholder 2"/>
          <p:cNvSpPr>
            <a:spLocks noGrp="1"/>
          </p:cNvSpPr>
          <p:nvPr>
            <p:ph idx="1"/>
          </p:nvPr>
        </p:nvSpPr>
        <p:spPr/>
        <p:txBody>
          <a:bodyPr/>
          <a:lstStyle/>
          <a:p>
            <a:pPr lvl="0" indent="0" marL="0">
              <a:buNone/>
            </a:pPr>
            <a:r>
              <a:rPr>
                <a:hlinkClick r:id="rId3"/>
              </a:rPr>
              <a:t>Computator workbook</a:t>
            </a:r>
          </a:p>
          <a:p>
            <a:pPr lvl="0"/>
            <a:r>
              <a:rPr/>
              <a:t>Calculate the worksheet’s LSD minimum mean difference</a:t>
            </a:r>
          </a:p>
          <a:p>
            <a:pPr lvl="0"/>
            <a:r>
              <a:rPr/>
              <a:t>Compare each pair’s mean difference with that cutoff</a:t>
            </a:r>
          </a:p>
          <a:p>
            <a:pPr lvl="0"/>
            <a:r>
              <a:rPr/>
              <a:t>Complete the effect-size and decision-error columns</a:t>
            </a:r>
          </a:p>
          <a:p>
            <a:pPr lvl="0"/>
            <a:r>
              <a:rPr/>
              <a:t>Use the differences and decisions to evaluate each prediction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Finish the RH1 report</a:t>
            </a:r>
          </a:p>
        </p:txBody>
      </p:sp>
      <p:sp>
        <p:nvSpPr>
          <p:cNvPr id="3" name="Content Placeholder 2"/>
          <p:cNvSpPr>
            <a:spLocks noGrp="1"/>
          </p:cNvSpPr>
          <p:nvPr>
            <p:ph idx="1"/>
          </p:nvPr>
        </p:nvSpPr>
        <p:spPr/>
        <p:txBody>
          <a:bodyPr/>
          <a:lstStyle/>
          <a:p>
            <a:pPr lvl="0"/>
            <a:r>
              <a:rPr/>
              <a:t>Write up the omnibus </a:t>
            </a:r>
            <a:r>
              <a:rPr i="1"/>
              <a:t>F</a:t>
            </a:r>
            <a:r>
              <a:rPr/>
              <a:t> and LSD comparisons</a:t>
            </a:r>
          </a:p>
          <a:p>
            <a:pPr lvl="0"/>
            <a:r>
              <a:rPr/>
              <a:t>Explain how the results relate to the three predictions</a:t>
            </a:r>
          </a:p>
          <a:p>
            <a:pPr lvl="0"/>
            <a:r>
              <a:rPr/>
              <a:t>Include a table or figure and refer to it in the text</a:t>
            </a:r>
          </a:p>
          <a:p>
            <a:pPr lvl="0"/>
            <a:r>
              <a:rPr/>
              <a:t>Add the required checker screenshot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Recode seriousness for RH2</a:t>
            </a:r>
          </a:p>
        </p:txBody>
      </p:sp>
      <p:sp>
        <p:nvSpPr>
          <p:cNvPr id="3" name="Content Placeholder 2"/>
          <p:cNvSpPr>
            <a:spLocks noGrp="1"/>
          </p:cNvSpPr>
          <p:nvPr>
            <p:ph idx="1"/>
          </p:nvPr>
        </p:nvSpPr>
        <p:spPr/>
        <p:txBody>
          <a:bodyPr/>
          <a:lstStyle/>
          <a:p>
            <a:pPr lvl="0" indent="0">
              <a:buNone/>
            </a:pPr>
            <a:r>
              <a:rPr>
                <a:latin typeface="Courier"/>
              </a:rPr>
              <a:t>RECODE serious
  (1 THRU 4 = 1) (5 = SYSMIS)
  (6 THRU 10 = 2) INTO serious_cat.
VALUE LABELS serious_cat
  1 'Serious Crime' 2 'Not Serious Crime'.
EXECUTE.
FREQUENCIES VARIABLES=serious serious_cat.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Run the RH2 crosstab</a:t>
            </a:r>
          </a:p>
        </p:txBody>
      </p:sp>
      <p:sp>
        <p:nvSpPr>
          <p:cNvPr id="3" name="Content Placeholder 2"/>
          <p:cNvSpPr>
            <a:spLocks noGrp="1"/>
          </p:cNvSpPr>
          <p:nvPr>
            <p:ph idx="1"/>
          </p:nvPr>
        </p:nvSpPr>
        <p:spPr/>
        <p:txBody>
          <a:bodyPr/>
          <a:lstStyle/>
          <a:p>
            <a:pPr lvl="0" indent="0">
              <a:buNone/>
            </a:pPr>
            <a:r>
              <a:rPr>
                <a:latin typeface="Courier"/>
              </a:rPr>
              <a:t>CROSSTABS
  /TABLES=serious_cat BY attr
  /STATISTICS=CHISQ
  /CELLS=COUNT EXPECTED COLUMN.</a:t>
            </a:r>
          </a:p>
          <a:p>
            <a:pPr lvl="0" indent="0" marL="0">
              <a:buNone/>
            </a:pPr>
            <a:r>
              <a:rPr b="1"/>
              <a:t>Read the counts before the test statistic</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Read the RH2 output</a:t>
            </a:r>
          </a:p>
        </p:txBody>
      </p:sp>
      <p:sp>
        <p:nvSpPr>
          <p:cNvPr id="3" name="Content Placeholder 2"/>
          <p:cNvSpPr>
            <a:spLocks noGrp="1"/>
          </p:cNvSpPr>
          <p:nvPr>
            <p:ph idx="1"/>
          </p:nvPr>
        </p:nvSpPr>
        <p:spPr/>
        <p:txBody>
          <a:bodyPr/>
          <a:lstStyle/>
          <a:p>
            <a:pPr lvl="0"/>
            <a:r>
              <a:rPr/>
              <a:t>How many selected cases remain after the recode?</a:t>
            </a:r>
          </a:p>
          <a:p>
            <a:pPr lvl="0"/>
            <a:r>
              <a:rPr/>
              <a:t>What percentage in each group rated the crime as serious?</a:t>
            </a:r>
          </a:p>
          <a:p>
            <a:pPr lvl="0"/>
            <a:r>
              <a:rPr/>
              <a:t>What are Pearson χ², </a:t>
            </a:r>
            <a:r>
              <a:rPr i="1"/>
              <a:t>df</a:t>
            </a:r>
            <a:r>
              <a:rPr/>
              <a:t>, and </a:t>
            </a:r>
            <a:r>
              <a:rPr i="1"/>
              <a:t>p</a:t>
            </a:r>
            <a:r>
              <a:rPr/>
              <a:t>?</a:t>
            </a:r>
          </a:p>
          <a:p>
            <a:pPr lvl="0"/>
            <a:r>
              <a:rPr/>
              <a:t>What does the omnibus result say about the association?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Complete the RH2 comparisons</a:t>
            </a:r>
          </a:p>
        </p:txBody>
      </p:sp>
      <p:sp>
        <p:nvSpPr>
          <p:cNvPr id="3" name="Content Placeholder 2"/>
          <p:cNvSpPr>
            <a:spLocks noGrp="1"/>
          </p:cNvSpPr>
          <p:nvPr>
            <p:ph idx="1"/>
          </p:nvPr>
        </p:nvSpPr>
        <p:spPr/>
        <p:txBody>
          <a:bodyPr/>
          <a:lstStyle/>
          <a:p>
            <a:pPr lvl="0"/>
            <a:r>
              <a:rPr/>
              <a:t>Use the four counts for each attractiveness pair</a:t>
            </a:r>
          </a:p>
          <a:p>
            <a:pPr lvl="0"/>
            <a:r>
              <a:rPr/>
              <a:t>Calculate the pairwise Pearson χ² and effect size</a:t>
            </a:r>
          </a:p>
          <a:p>
            <a:pPr lvl="0"/>
            <a:r>
              <a:rPr/>
              <a:t>Compare χ² with the worksheet’s critical value</a:t>
            </a:r>
          </a:p>
          <a:p>
            <a:pPr lvl="0"/>
            <a:r>
              <a:rPr/>
              <a:t>Complete the remaining columns and evaluate the predictions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13 Finish the RH2 report</a:t>
            </a:r>
          </a:p>
        </p:txBody>
      </p:sp>
      <p:sp>
        <p:nvSpPr>
          <p:cNvPr id="3" name="Content Placeholder 2"/>
          <p:cNvSpPr>
            <a:spLocks noGrp="1"/>
          </p:cNvSpPr>
          <p:nvPr>
            <p:ph idx="1"/>
          </p:nvPr>
        </p:nvSpPr>
        <p:spPr/>
        <p:txBody>
          <a:bodyPr/>
          <a:lstStyle/>
          <a:p>
            <a:pPr lvl="0"/>
            <a:r>
              <a:rPr/>
              <a:t>Write up the omnibus χ² and assigned comparisons</a:t>
            </a:r>
          </a:p>
          <a:p>
            <a:pPr lvl="0"/>
            <a:r>
              <a:rPr/>
              <a:t>Explain how the results relate to the three predictions</a:t>
            </a:r>
          </a:p>
          <a:p>
            <a:pPr lvl="0"/>
            <a:r>
              <a:rPr/>
              <a:t>Include a table or figure and refer to it in the text</a:t>
            </a:r>
          </a:p>
          <a:p>
            <a:pPr lvl="0"/>
            <a:r>
              <a:rPr/>
              <a:t>Add the required checker screenshot</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Compare Multiple Groups</dc:title>
  <dc:creator>PSYC 350 Laboratory</dc:creator>
  <cp:keywords/>
  <dcterms:created xsi:type="dcterms:W3CDTF">2026-09-10T18:12:42Z</dcterms:created>
  <dcterms:modified xsi:type="dcterms:W3CDTF">2026-09-10T18:12:42Z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11 · k-Group ANOVA and Chi-Square</vt:lpwstr>
  </property>
  <property fmtid="{D5CDD505-2E9C-101B-9397-08002B2CF9AE}" pid="20" name="toc-title">
    <vt:lpwstr>Table of contents</vt:lpwstr>
  </property>
</Properties>
</file>