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1" Type="http://schemas.openxmlformats.org/officeDocument/2006/relationships/slideMaster" Target="slideMasters/slideMaster1.xml" /><Relationship Id="rId34" Type="http://schemas.openxmlformats.org/officeDocument/2006/relationships/presProps" Target="presProps.xml" /><Relationship Id="rId35" Type="http://schemas.openxmlformats.org/officeDocument/2006/relationships/viewProps" Target="viewProps.xml" /><Relationship Id="rId36" Type="http://schemas.openxmlformats.org/officeDocument/2006/relationships/theme" Target="theme/theme1.xml" /><Relationship Id="rId37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Factorial Designs &amp; Analyses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12</a:t>
            </a:r>
            <a:br/>
            <a:br/>
            <a:r>
              <a:rPr/>
              <a:t>PSYCH 350-Lab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Tasks</a:t>
            </a:r>
          </a:p>
        </p:txBody>
      </p:sp>
      <p:sp>
        <p:nvSpPr>
          <p:cNvPr id="1001" name="box-post-it" descr="box: . From one IV to two: the logic of factorial designsThree effects in every factorial ANOVA: Main effect A Main effect B A × B interaction Reading cell means &amp; profile plotsFactorial ANOVA in SPSS + APA write-upLab 12 worksheet walk-through"/>
          <p:cNvSpPr/>
          <p:nvPr/>
        </p:nvSpPr>
        <p:spPr>
          <a:xfrm>
            <a:off x="1097280" y="2633472"/>
            <a:ext cx="9994392" cy="731520"/>
          </a:xfrm>
          <a:prstGeom prst="roundRect">
            <a:avLst>
              <a:gd name="adj" fmla="val 6000"/>
            </a:avLst>
          </a:prstGeom>
          <a:solidFill>
            <a:srgbClr val="FFF9C4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From one IV to two: the logic of factorial designsThree effects in every factorial ANOVA: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Main effect A Main effect B A × B interaction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Reading cell means &amp; profile plotsFactorial ANOVA in SPSS + APA write-upLab 12 worksheet walk-through</a:t>
            </a:r>
          </a:p>
        </p:txBody>
      </p:sp>
      <p:sp>
        <p:nvSpPr>
          <p:cNvPr id="1002" name="prose" descr=""/>
          <p:cNvSpPr/>
          <p:nvPr/>
        </p:nvSpPr>
        <p:spPr>
          <a:xfrm>
            <a:off x="1097280" y="345643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The interaction is the whole point today. Students reliably under-grasp “it depends,” so budget the most time on the three pattern plots.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 Need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for this week is linked on the next slides – and always on the lab page under </a:t>
            </a:r>
            <a:r>
              <a:rPr b="1"/>
              <a:t>Handouts &amp; References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Open these </a:t>
            </a:r>
            <a:r>
              <a:rPr b="1"/>
              <a:t>before we start</a:t>
            </a:r>
            <a:r>
              <a:rPr/>
              <a:t> so you can follow along.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Design &amp; Analysis</a:t>
            </a:r>
          </a:p>
        </p:txBody>
      </p:sp>
      <p:sp>
        <p:nvSpPr>
          <p:cNvPr id="1003" name="card-blue" descr="card: [book icon]. SPSS Handouts"/>
          <p:cNvSpPr/>
          <p:nvPr/>
        </p:nvSpPr>
        <p:spPr>
          <a:xfrm>
            <a:off x="1097280" y="2633472"/>
            <a:ext cx="3270504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SPSS Handouts</a:t>
            </a:r>
          </a:p>
        </p:txBody>
      </p:sp>
      <p:sp>
        <p:nvSpPr>
          <p:cNvPr id="1004" name="card-rail" descr=""/>
          <p:cNvSpPr/>
          <p:nvPr/>
        </p:nvSpPr>
        <p:spPr>
          <a:xfrm>
            <a:off x="1097280" y="2633472"/>
            <a:ext cx="54864" cy="57912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5" name="card-red" descr="card: [note icon]. 2x2 BG ANOVA on SPSS [PDF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2x2 BG ANOVA on SPSS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6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7" name="card-red" descr="card: [note icon]. 2x2 MG ANOVA on SPSS [PDF]"/>
          <p:cNvSpPr/>
          <p:nvPr/>
        </p:nvSpPr>
        <p:spPr>
          <a:xfrm>
            <a:off x="7821168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2x2 MG ANOVA on SPSS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8" name="card-rail" descr=""/>
          <p:cNvSpPr/>
          <p:nvPr/>
        </p:nvSpPr>
        <p:spPr>
          <a:xfrm>
            <a:off x="7821168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9" name="card-light-blue" descr="card: [arrow icon]. xls computator [External link]"/>
          <p:cNvSpPr/>
          <p:nvPr/>
        </p:nvSpPr>
        <p:spPr>
          <a:xfrm>
            <a:off x="1097280" y="348691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1B768B"/>
                </a:solidFill>
              </a:rPr>
              <a:t>[arrow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xls computator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[External link]</a:t>
            </a:r>
          </a:p>
        </p:txBody>
      </p:sp>
      <p:sp>
        <p:nvSpPr>
          <p:cNvPr id="1010" name="card-rail" descr=""/>
          <p:cNvSpPr/>
          <p:nvPr/>
        </p:nvSpPr>
        <p:spPr>
          <a:xfrm>
            <a:off x="1097280" y="348691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249AB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1" name="card-red" descr="card: [note icon]. Factorial ‘effect map’"/>
          <p:cNvSpPr/>
          <p:nvPr/>
        </p:nvSpPr>
        <p:spPr>
          <a:xfrm>
            <a:off x="4459224" y="3486912"/>
            <a:ext cx="3270504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Factorial ‘effect map’</a:t>
            </a:r>
          </a:p>
        </p:txBody>
      </p:sp>
      <p:sp>
        <p:nvSpPr>
          <p:cNvPr id="1012" name="card-rail" descr=""/>
          <p:cNvSpPr/>
          <p:nvPr/>
        </p:nvSpPr>
        <p:spPr>
          <a:xfrm>
            <a:off x="4459224" y="3486912"/>
            <a:ext cx="54864" cy="57912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Weekly Lab Assignment</a:t>
            </a:r>
          </a:p>
        </p:txBody>
      </p:sp>
      <p:sp>
        <p:nvSpPr>
          <p:cNvPr id="1013" name="card-steel" descr="card: [chart icon]. parent_child_data.sav [SPSS data file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10B13"/>
                </a:solidFill>
              </a:rPr>
              <a:t>[chart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parent_child_data.sav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[SPSS data file]</a:t>
            </a:r>
          </a:p>
        </p:txBody>
      </p:sp>
      <p:sp>
        <p:nvSpPr>
          <p:cNvPr id="1014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5" name="card-blue" descr="card: [book icon]. Factorial Analyses Worksheet [Word document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Factorial Analyses Worksheet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[Word document]</a:t>
            </a:r>
          </a:p>
        </p:txBody>
      </p:sp>
      <p:sp>
        <p:nvSpPr>
          <p:cNvPr id="1016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7" name="card-blue" descr="card: [arrow icon]. Factorial Analyses hw checker [Web page]"/>
          <p:cNvSpPr/>
          <p:nvPr/>
        </p:nvSpPr>
        <p:spPr>
          <a:xfrm>
            <a:off x="7821168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[arrow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Factorial Analyses hw checker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[Web page]</a:t>
            </a:r>
          </a:p>
        </p:txBody>
      </p:sp>
      <p:sp>
        <p:nvSpPr>
          <p:cNvPr id="1018" name="card-rail" descr=""/>
          <p:cNvSpPr/>
          <p:nvPr/>
        </p:nvSpPr>
        <p:spPr>
          <a:xfrm>
            <a:off x="7821168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From One-Way to Factorial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Review: The One-Way ANOVA</a:t>
            </a:r>
          </a:p>
        </p:txBody>
      </p:sp>
      <p:sp>
        <p:nvSpPr>
          <p:cNvPr id="1019" name="prose" descr=""/>
          <p:cNvSpPr/>
          <p:nvPr/>
        </p:nvSpPr>
        <p:spPr>
          <a:xfrm>
            <a:off x="1097280" y="263347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Lab 08: one qualitative factor → one quantitative outcomee.g., does treatment (yes/no) affect parental praise?One F-test answers one question: do the group means differ?</a:t>
            </a:r>
          </a:p>
        </p:txBody>
      </p:sp>
      <p:sp>
        <p:nvSpPr>
          <p:cNvPr id="1020" name="callout-caution" descr="caution callout: Caution. But real research questions rarely involve one variable at a time. Does treatment affect praise… the same way for every kind of family?"/>
          <p:cNvSpPr/>
          <p:nvPr/>
        </p:nvSpPr>
        <p:spPr>
          <a:xfrm>
            <a:off x="1097280" y="30906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B38F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1" name="callout-title" descr=""/>
          <p:cNvSpPr/>
          <p:nvPr/>
        </p:nvSpPr>
        <p:spPr>
          <a:xfrm>
            <a:off x="1097280" y="30906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B38F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Caution</a:t>
            </a:r>
          </a:p>
        </p:txBody>
      </p:sp>
      <p:sp>
        <p:nvSpPr>
          <p:cNvPr id="1022" name="callout-body" descr=""/>
          <p:cNvSpPr/>
          <p:nvPr/>
        </p:nvSpPr>
        <p:spPr>
          <a:xfrm>
            <a:off x="1097280" y="34107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But real research questions rarely involve one variable at a time. Does treatment affect praise… the same way for every kind of family?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Factorial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factorial design</a:t>
            </a:r>
            <a:r>
              <a:rPr/>
              <a:t> crosses two (or more) factors so every </a:t>
            </a:r>
            <a:r>
              <a:rPr b="1"/>
              <a:t>combination</a:t>
            </a:r>
            <a:r>
              <a:rPr/>
              <a:t> of levels appears: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Factorial Idea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92200" y="2628900"/>
          <a:ext cx="99949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400"/>
                <a:gridCol w="3327400"/>
                <a:gridCol w="3327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Treatment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2-Parent Family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Mother-Only Family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Factorial Idea (continued)</a:t>
            </a:r>
          </a:p>
        </p:txBody>
      </p:sp>
      <p:sp>
        <p:nvSpPr>
          <p:cNvPr id="1023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2 factors × 2 levels each = a 2 × 2 design = 4 cellsEach cell holds a subgroup mean</a:t>
            </a:r>
          </a:p>
        </p:txBody>
      </p:sp>
      <p:sp>
        <p:nvSpPr>
          <p:cNvPr id="1024" name="callout-tip" descr="tip callout: Tip. One study, three questions: Does treatment matter? Does family type matter? And does treatment matter differently depending on family type?"/>
          <p:cNvSpPr/>
          <p:nvPr/>
        </p:nvSpPr>
        <p:spPr>
          <a:xfrm>
            <a:off x="1097280" y="290779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5" name="callout-title" descr=""/>
          <p:cNvSpPr/>
          <p:nvPr/>
        </p:nvSpPr>
        <p:spPr>
          <a:xfrm>
            <a:off x="1097280" y="29077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26" name="callout-body" descr=""/>
          <p:cNvSpPr/>
          <p:nvPr/>
        </p:nvSpPr>
        <p:spPr>
          <a:xfrm>
            <a:off x="1097280" y="322783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One study, three questions: Does treatment matter? Does family type matter? And does treatment matter differently depending on family type?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Factor:</a:t>
            </a:r>
            <a:r>
              <a:rPr/>
              <a:t> an independent variable (Family Type, Treatment)</a:t>
            </a:r>
          </a:p>
          <a:p>
            <a:pPr lvl="0"/>
            <a:r>
              <a:rPr b="1"/>
              <a:t>Level:</a:t>
            </a:r>
            <a:r>
              <a:rPr/>
              <a:t> a category within a factor (2-Parent / Mother-Only)</a:t>
            </a:r>
          </a:p>
          <a:p>
            <a:pPr lvl="0"/>
            <a:r>
              <a:rPr b="1"/>
              <a:t>Cell:</a:t>
            </a:r>
            <a:r>
              <a:rPr/>
              <a:t> one combination of levels (2-Parent + Treatment)</a:t>
            </a:r>
          </a:p>
          <a:p>
            <a:pPr lvl="0"/>
            <a:r>
              <a:rPr b="1"/>
              <a:t>“Two-by-two” (2 × 2):</a:t>
            </a:r>
            <a:r>
              <a:rPr/>
              <a:t> levels of A × levels of B — a 3 × 2 design has 6 cells</a:t>
            </a:r>
          </a:p>
          <a:p>
            <a:pPr lvl="0"/>
            <a:r>
              <a:rPr b="1"/>
              <a:t>BG factorial:</a:t>
            </a:r>
            <a:r>
              <a:rPr/>
              <a:t> different people in every cell (that’s today’s design)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Three Effects in Every Factorial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Effect 1 &amp; 2: Main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 1 &amp; 2: Main Effects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main effect</a:t>
            </a:r>
            <a:r>
              <a:rPr/>
              <a:t> is the effect of one factor </a:t>
            </a:r>
            <a:r>
              <a:rPr b="1"/>
              <a:t>averaged across</a:t>
            </a:r>
            <a:r>
              <a:rPr/>
              <a:t> the levels of the other factor (the “margin” means):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Effect 1 &amp; 2: Main Effects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92200" y="2628900"/>
          <a:ext cx="99949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/>
                <a:gridCol w="2489200"/>
                <a:gridCol w="2489200"/>
                <a:gridCol w="2489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Row mean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2-Parent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Mother-Only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Column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Effect 1 &amp; 2: Main Effects (continued)</a:t>
            </a:r>
          </a:p>
        </p:txBody>
      </p:sp>
      <p:sp>
        <p:nvSpPr>
          <p:cNvPr id="1027" name="prose" descr=""/>
          <p:cNvSpPr/>
          <p:nvPr/>
        </p:nvSpPr>
        <p:spPr>
          <a:xfrm>
            <a:off x="1097280" y="263347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Main effect of Treatment? 5 → 7 (averaging over family types)Main effect of Family Type? 7 vs 5 (averaging over treatments)</a:t>
            </a:r>
          </a:p>
        </p:txBody>
      </p:sp>
      <p:sp>
        <p:nvSpPr>
          <p:cNvPr id="1028" name="callout-tip" descr="tip callout: Tip. Each main effect gets its own F-test — same logic as a one-way ANOVA on the marginal means."/>
          <p:cNvSpPr/>
          <p:nvPr/>
        </p:nvSpPr>
        <p:spPr>
          <a:xfrm>
            <a:off x="1097280" y="309067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9" name="callout-title" descr=""/>
          <p:cNvSpPr/>
          <p:nvPr/>
        </p:nvSpPr>
        <p:spPr>
          <a:xfrm>
            <a:off x="1097280" y="30906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30" name="callout-body" descr=""/>
          <p:cNvSpPr/>
          <p:nvPr/>
        </p:nvSpPr>
        <p:spPr>
          <a:xfrm>
            <a:off x="1097280" y="341071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Each main effect gets its own F-test — same logic as a one-way ANOVA on the marginal means.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Effect 3: The Interaction (A × B)</a:t>
            </a:r>
          </a:p>
        </p:txBody>
      </p:sp>
      <p:sp>
        <p:nvSpPr>
          <p:cNvPr id="1031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An interaction means the effect of one factor depends on the level of the other factor.</a:t>
            </a:r>
          </a:p>
        </p:txBody>
      </p:sp>
      <p:sp>
        <p:nvSpPr>
          <p:cNvPr id="1032" name="prose" descr=""/>
          <p:cNvSpPr/>
          <p:nvPr/>
        </p:nvSpPr>
        <p:spPr>
          <a:xfrm>
            <a:off x="1097280" y="290779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“Treatment increased praise more for mother-only families than for two-parent families.”The magic words: “it depends.”</a:t>
            </a:r>
          </a:p>
        </p:txBody>
      </p:sp>
      <p:sp>
        <p:nvSpPr>
          <p:cNvPr id="1033" name="callout-warning" descr="warning callout: Warning. If the interaction is significant, the main effects can be misleading on their own — the honest answer to “does treatment work?” becomes “it depends on the family.”"/>
          <p:cNvSpPr/>
          <p:nvPr/>
        </p:nvSpPr>
        <p:spPr>
          <a:xfrm>
            <a:off x="1097280" y="336499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66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34" name="callout-title" descr=""/>
          <p:cNvSpPr/>
          <p:nvPr/>
        </p:nvSpPr>
        <p:spPr>
          <a:xfrm>
            <a:off x="1097280" y="33649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CC66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Warning</a:t>
            </a:r>
          </a:p>
        </p:txBody>
      </p:sp>
      <p:sp>
        <p:nvSpPr>
          <p:cNvPr id="1035" name="callout-body" descr=""/>
          <p:cNvSpPr/>
          <p:nvPr/>
        </p:nvSpPr>
        <p:spPr>
          <a:xfrm>
            <a:off x="1097280" y="368503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If the interaction is significant, the main effects can be misleading on their own — the honest answer to “does treatment work?” becomes “it depends on the family.”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Seeing It: No Interaction</a:t>
            </a:r>
          </a:p>
        </p:txBody>
      </p:sp>
      <p:pic>
        <p:nvPicPr>
          <p:cNvPr descr="Line chart of mean praise by family type with parallel lines for the treatment and no treatment groups, showing no interaction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2628900"/>
            <a:ext cx="4508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Lines are </a:t>
            </a:r>
            <a:r>
              <a:rPr b="1"/>
              <a:t>parallel</a:t>
            </a:r>
          </a:p>
          <a:p>
            <a:pPr lvl="0"/>
            <a:r>
              <a:rPr/>
              <a:t>Treatment adds the </a:t>
            </a:r>
            <a:r>
              <a:rPr b="1"/>
              <a:t>same</a:t>
            </a:r>
            <a:r>
              <a:rPr/>
              <a:t> boost (+2) in both family types</a:t>
            </a:r>
          </a:p>
          <a:p>
            <a:pPr lvl="0"/>
            <a:r>
              <a:rPr/>
              <a:t>Effects are </a:t>
            </a:r>
            <a:r>
              <a:rPr b="1"/>
              <a:t>additive</a:t>
            </a:r>
            <a:r>
              <a:rPr/>
              <a:t> — no interaction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Seeing It: Ordinal Interaction</a:t>
            </a:r>
          </a:p>
        </p:txBody>
      </p:sp>
      <p:pic>
        <p:nvPicPr>
          <p:cNvPr descr="Line chart of mean praise by family type with non-parallel, non-crossing lines for the treatment and no treatment groups, showing an ordinal interaction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2628900"/>
            <a:ext cx="4508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Lines are </a:t>
            </a:r>
            <a:r>
              <a:rPr b="1"/>
              <a:t>not parallel</a:t>
            </a:r>
            <a:r>
              <a:rPr/>
              <a:t>, but don’t cross</a:t>
            </a:r>
          </a:p>
          <a:p>
            <a:pPr lvl="0"/>
            <a:r>
              <a:rPr/>
              <a:t>Treatment helps </a:t>
            </a:r>
            <a:r>
              <a:rPr b="1"/>
              <a:t>both</a:t>
            </a:r>
            <a:r>
              <a:rPr/>
              <a:t> groups — but helps mother-only families </a:t>
            </a:r>
            <a:r>
              <a:rPr b="1"/>
              <a:t>more</a:t>
            </a:r>
            <a:r>
              <a:rPr/>
              <a:t> (+3 vs. +2)</a:t>
            </a:r>
          </a:p>
          <a:p>
            <a:pPr lvl="0"/>
            <a:r>
              <a:rPr/>
              <a:t>Same direction, different </a:t>
            </a:r>
            <a:r>
              <a:rPr b="1"/>
              <a:t>magnitude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Seeing It: Crossover Interaction</a:t>
            </a:r>
          </a:p>
        </p:txBody>
      </p:sp>
      <p:pic>
        <p:nvPicPr>
          <p:cNvPr descr="Line chart of mean praise by family type with crossing lines where the treatment effect reverses across family types, showing a disordinal interaction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2628900"/>
            <a:ext cx="4508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Lines </a:t>
            </a:r>
            <a:r>
              <a:rPr b="1"/>
              <a:t>cross</a:t>
            </a:r>
          </a:p>
          <a:p>
            <a:pPr lvl="0"/>
            <a:r>
              <a:rPr/>
              <a:t>Treatment </a:t>
            </a:r>
            <a:r>
              <a:rPr b="1"/>
              <a:t>helps</a:t>
            </a:r>
            <a:r>
              <a:rPr/>
              <a:t> mother-only families but </a:t>
            </a:r>
            <a:r>
              <a:rPr b="1"/>
              <a:t>hurts</a:t>
            </a:r>
            <a:r>
              <a:rPr/>
              <a:t> two-parent families</a:t>
            </a:r>
          </a:p>
          <a:p>
            <a:pPr lvl="0"/>
            <a:r>
              <a:rPr/>
              <a:t>The effect </a:t>
            </a:r>
            <a:r>
              <a:rPr b="1"/>
              <a:t>reverses</a:t>
            </a:r>
            <a:r>
              <a:rPr/>
              <a:t> — the main effect of treatment could even average out to zero!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Your Turn: Describe the Pattern</a:t>
            </a:r>
          </a:p>
        </p:txBody>
      </p:sp>
      <p:sp>
        <p:nvSpPr>
          <p:cNvPr id="1036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For each result, say: main effect(s)? interaction? what kind?</a:t>
            </a:r>
          </a:p>
        </p:txBody>
      </p:sp>
      <p:sp>
        <p:nvSpPr>
          <p:cNvPr id="1037" name="prose" descr=""/>
          <p:cNvSpPr/>
          <p:nvPr/>
        </p:nvSpPr>
        <p:spPr>
          <a:xfrm>
            <a:off x="1097280" y="290779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No Tx/Tx means — 2-Parent: 5, 8; Mother-Only: 5, 82-Parent: 4, 8; Mother-Only: 8, 42-Parent: 5, 7; Mother-Only: 6, 9</a:t>
            </a:r>
          </a:p>
        </p:txBody>
      </p:sp>
      <p:sp>
        <p:nvSpPr>
          <p:cNvPr id="1038" name="callout-tip" descr="tip callout: Tip. Treatment main effect only (parallel, no family-type difference)Crossover interaction — no main effects at all (means wash out)Main effects of both factors, no interaction (parallel: +2 everywhere)"/>
          <p:cNvSpPr/>
          <p:nvPr/>
        </p:nvSpPr>
        <p:spPr>
          <a:xfrm>
            <a:off x="1097280" y="336499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39" name="callout-title" descr=""/>
          <p:cNvSpPr/>
          <p:nvPr/>
        </p:nvSpPr>
        <p:spPr>
          <a:xfrm>
            <a:off x="1097280" y="33649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40" name="callout-body" descr=""/>
          <p:cNvSpPr/>
          <p:nvPr/>
        </p:nvSpPr>
        <p:spPr>
          <a:xfrm>
            <a:off x="1097280" y="368503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Treatment main effect only (parallel, no family-type difference)Crossover interaction — no main effects at all (means wash out)Main effects of both factors, no interaction (parallel: +2 everywhere)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Running the Factorial ANOVA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SPSS: Two-Way Between-Groups</a:t>
            </a:r>
          </a:p>
        </p:txBody>
      </p:sp>
      <p:sp>
        <p:nvSpPr>
          <p:cNvPr id="1041" name="prose" descr=""/>
          <p:cNvSpPr/>
          <p:nvPr/>
        </p:nvSpPr>
        <p:spPr>
          <a:xfrm>
            <a:off x="1097280" y="2633472"/>
            <a:ext cx="9994392" cy="73152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Analyze → General Linear Model → UnivariateDV → Dependent; both factors → Fixed FactorsPlots… → put one factor on Horizontal Axis, the other in Separate Lines → Add (this is your profile plot!)EM Means… → get estimated marginal means for each factor and the A × B cellsOptions… → Descriptive statistics, estimates of effect size</a:t>
            </a:r>
          </a:p>
        </p:txBody>
      </p:sp>
      <p:sp>
        <p:nvSpPr>
          <p:cNvPr id="1042" name="callout-tip" descr="tip callout: Tip. Always make the profile plot — it’s how you see the interaction before you read a single F."/>
          <p:cNvSpPr/>
          <p:nvPr/>
        </p:nvSpPr>
        <p:spPr>
          <a:xfrm>
            <a:off x="1097280" y="345643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43" name="callout-title" descr=""/>
          <p:cNvSpPr/>
          <p:nvPr/>
        </p:nvSpPr>
        <p:spPr>
          <a:xfrm>
            <a:off x="1097280" y="345643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44" name="callout-body" descr=""/>
          <p:cNvSpPr/>
          <p:nvPr/>
        </p:nvSpPr>
        <p:spPr>
          <a:xfrm>
            <a:off x="1097280" y="377647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Always make the profile plot — it’s how you see the interaction before you read a single F.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i="1"/>
              <a:t>Tests of Between-Subjects Effects</a:t>
            </a:r>
            <a:r>
              <a:rPr/>
              <a:t> table gives you </a:t>
            </a:r>
            <a:r>
              <a:rPr b="1"/>
              <a:t>three F-tests</a:t>
            </a:r>
            <a:r>
              <a:rPr/>
              <a:t>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Output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92200" y="2628900"/>
          <a:ext cx="99949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1100"/>
                <a:gridCol w="499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Factor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effect of A?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Factor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effect of B?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 ×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Interaction?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(within-cells variability)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Output (continued)</a:t>
            </a:r>
          </a:p>
        </p:txBody>
      </p:sp>
      <p:sp>
        <p:nvSpPr>
          <p:cNvPr id="1045" name="callout-caution" descr="caution callout: Caution. Read the interaction FIRST. If A × B is significant, interpret the pattern cell by cell — significant main effects may not mean what they appear to mean."/>
          <p:cNvSpPr/>
          <p:nvPr/>
        </p:nvSpPr>
        <p:spPr>
          <a:xfrm>
            <a:off x="1097280" y="26334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B38F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46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B38F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Caution</a:t>
            </a:r>
          </a:p>
        </p:txBody>
      </p:sp>
      <p:sp>
        <p:nvSpPr>
          <p:cNvPr id="1047" name="callout-body" descr=""/>
          <p:cNvSpPr/>
          <p:nvPr/>
        </p:nvSpPr>
        <p:spPr>
          <a:xfrm>
            <a:off x="1097280" y="29535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Read the interaction FIRST. If A × B is significant, interpret the pattern cell by cell — significant main effects may not mean what they appear to mean.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APA Write-Up: Factorial Style</a:t>
            </a:r>
          </a:p>
        </p:txBody>
      </p:sp>
      <p:sp>
        <p:nvSpPr>
          <p:cNvPr id="1048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One sentence per effect, then the story:</a:t>
            </a:r>
          </a:p>
        </p:txBody>
      </p:sp>
      <p:sp>
        <p:nvSpPr>
          <p:cNvPr id="1049" name="prose" descr=""/>
          <p:cNvSpPr/>
          <p:nvPr/>
        </p:nvSpPr>
        <p:spPr>
          <a:xfrm>
            <a:off x="1097280" y="290779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Main effect: F(1, 96) = 5.42, p = .022Interaction: F(1, 96) = 4.87, p = .030Then describe it: “Treatment increased praise among mother-only families (M = 8.0) more than among two-parent families (M = 7.0).”</a:t>
            </a:r>
          </a:p>
        </p:txBody>
      </p:sp>
      <p:sp>
        <p:nvSpPr>
          <p:cNvPr id="1050" name="callout-tip" descr="tip callout: Tip. df1 = levels − 1 for each effect (all 1’s in a 2 × 2); df2 = the error df from the same row of the table."/>
          <p:cNvSpPr/>
          <p:nvPr/>
        </p:nvSpPr>
        <p:spPr>
          <a:xfrm>
            <a:off x="1097280" y="336499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51" name="callout-title" descr=""/>
          <p:cNvSpPr/>
          <p:nvPr/>
        </p:nvSpPr>
        <p:spPr>
          <a:xfrm>
            <a:off x="1097280" y="33649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52" name="callout-body" descr=""/>
          <p:cNvSpPr/>
          <p:nvPr/>
        </p:nvSpPr>
        <p:spPr>
          <a:xfrm>
            <a:off x="1097280" y="368503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df1 = levels − 1 for each effect (all 1’s in a 2 × 2); df2 = the error df from the same row of the table.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Worksheet Walk-Through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Analyses</a:t>
            </a:r>
          </a:p>
        </p:txBody>
      </p:sp>
      <p:sp>
        <p:nvSpPr>
          <p:cNvPr id="1053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All three use the parent–child dataset (2 × 2 BG factorials):</a:t>
            </a:r>
          </a:p>
        </p:txBody>
      </p:sp>
      <p:sp>
        <p:nvSpPr>
          <p:cNvPr id="1054" name="prose" descr=""/>
          <p:cNvSpPr/>
          <p:nvPr/>
        </p:nvSpPr>
        <p:spPr>
          <a:xfrm>
            <a:off x="1097280" y="290779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RH1 (walkthrough together): Family Type × Treatment → praiseRH2 (your turn): Mother’s Age Group × Child’s Age Group → directivenessRH3 (your turn): Treatment × Child’s Age Group → negative affect</a:t>
            </a:r>
          </a:p>
        </p:txBody>
      </p:sp>
      <p:sp>
        <p:nvSpPr>
          <p:cNvPr id="1055" name="callout-tip" descr="tip callout: Tip. For each RH: run the ANOVA → make the profile plot → decide which of the three effects are significant → write the APA sentences → check your numbers in the Homework Checker."/>
          <p:cNvSpPr/>
          <p:nvPr/>
        </p:nvSpPr>
        <p:spPr>
          <a:xfrm>
            <a:off x="1097280" y="336499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56" name="callout-title" descr=""/>
          <p:cNvSpPr/>
          <p:nvPr/>
        </p:nvSpPr>
        <p:spPr>
          <a:xfrm>
            <a:off x="1097280" y="33649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57" name="callout-body" descr=""/>
          <p:cNvSpPr/>
          <p:nvPr/>
        </p:nvSpPr>
        <p:spPr>
          <a:xfrm>
            <a:off x="1097280" y="368503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For each RH: run the ANOVA → make the profile plot → decide which of the three effects are significant → write the APA sentences → check your numbers in the Homework Checker.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Common Traps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❌ Reporting only the main effects and </a:t>
            </a:r>
            <a:r>
              <a:rPr b="1"/>
              <a:t>ignoring the interaction</a:t>
            </a:r>
          </a:p>
          <a:p>
            <a:pPr lvl="0"/>
            <a:r>
              <a:rPr/>
              <a:t>❌ Interpreting a main effect without checking whether the interaction </a:t>
            </a:r>
            <a:r>
              <a:rPr b="1"/>
              <a:t>qualifies</a:t>
            </a:r>
            <a:r>
              <a:rPr/>
              <a:t> it</a:t>
            </a:r>
          </a:p>
          <a:p>
            <a:pPr lvl="0"/>
            <a:r>
              <a:rPr/>
              <a:t>❌ Post-hoc hunting in a 2 × 2 — with 2 levels per factor, a significant effect tells you </a:t>
            </a:r>
            <a:r>
              <a:rPr b="1"/>
              <a:t>which</a:t>
            </a:r>
            <a:r>
              <a:rPr/>
              <a:t> means differ already</a:t>
            </a:r>
          </a:p>
          <a:p>
            <a:pPr lvl="0"/>
            <a:r>
              <a:rPr/>
              <a:t>❌ Mixing up </a:t>
            </a:r>
            <a:r>
              <a:rPr i="1"/>
              <a:t>df</a:t>
            </a:r>
            <a:r>
              <a:rPr/>
              <a:t>s across the three effects (same </a:t>
            </a:r>
            <a:r>
              <a:rPr i="1"/>
              <a:t>df</a:t>
            </a:r>
            <a:r>
              <a:rPr baseline="-25000"/>
              <a:t>2</a:t>
            </a:r>
            <a:r>
              <a:rPr/>
              <a:t>, but check </a:t>
            </a:r>
            <a:r>
              <a:rPr i="1"/>
              <a:t>df</a:t>
            </a:r>
            <a:r>
              <a:rPr baseline="-25000"/>
              <a:t>1</a:t>
            </a:r>
            <a:r>
              <a:rPr/>
              <a:t> per row)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Lab 13:</a:t>
            </a:r>
            <a:r>
              <a:rPr/>
              <a:t> multiple regression — from comparing group means to modeling a quantitative outcome with </a:t>
            </a:r>
            <a:r>
              <a:rPr b="1"/>
              <a:t>several predictors at once</a:t>
            </a:r>
          </a:p>
          <a:p>
            <a:pPr lvl="0"/>
            <a:r>
              <a:rPr/>
              <a:t>The mindset is the same: effects can </a:t>
            </a:r>
            <a:r>
              <a:rPr b="1"/>
              <a:t>depend</a:t>
            </a:r>
            <a:r>
              <a:rPr/>
              <a:t> on other variables. You’re ready for it.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Assignments &amp;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Given this week:</a:t>
            </a:r>
          </a:p>
          <a:p>
            <a:pPr lvl="0"/>
            <a:r>
              <a:rPr/>
              <a:t>Factorial Worksheet</a:t>
            </a:r>
          </a:p>
          <a:p>
            <a:pPr lvl="0" indent="0" marL="0">
              <a:buNone/>
            </a:pPr>
            <a:r>
              <a:rPr b="1"/>
              <a:t>Due this week:</a:t>
            </a:r>
          </a:p>
          <a:p>
            <a:pPr lvl="0"/>
            <a:r>
              <a:rPr/>
              <a:t>Lab 11: Multi-Group Coding &amp; Analysis Worksheet</a:t>
            </a:r>
          </a:p>
          <a:p>
            <a:pPr lvl="0" indent="0" marL="0">
              <a:buNone/>
            </a:pPr>
            <a:r>
              <a:rPr/>
              <a:t>Submit to your lab section in Canvas by 11:59pm the day before your lab meets.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Factorial Designs &amp; Analyses</dc:title>
  <dc:creator>PSYCH 350-Lab</dc:creator>
  <cp:keywords/>
  <dcterms:created xsi:type="dcterms:W3CDTF">2026-08-13T23:51:51Z</dcterms:created>
  <dcterms:modified xsi:type="dcterms:W3CDTF">2026-08-13T23:51:51Z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back-to-top-navigation">
    <vt:lpwstr>True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ack-link">
    <vt:lpwstr>False</vt:lpwstr>
  </property>
  <property fmtid="{D5CDD505-2E9C-101B-9397-08002B2CF9AE}" pid="12" name="include-before">
    <vt:lpwstr/>
  </property>
  <property fmtid="{D5CDD505-2E9C-101B-9397-08002B2CF9AE}" pid="13" name="knitr">
    <vt:lpwstr>True</vt:lpwstr>
  </property>
  <property fmtid="{D5CDD505-2E9C-101B-9397-08002B2CF9AE}" pid="14" name="labels">
    <vt:lpwstr/>
  </property>
  <property fmtid="{D5CDD505-2E9C-101B-9397-08002B2CF9AE}" pid="15" name="nebraska-pptx">
    <vt:lpwstr/>
  </property>
  <property fmtid="{D5CDD505-2E9C-101B-9397-08002B2CF9AE}" pid="16" name="revealjs-plugins">
    <vt:lpwstr/>
  </property>
  <property fmtid="{D5CDD505-2E9C-101B-9397-08002B2CF9AE}" pid="17" name="subtitle">
    <vt:lpwstr>Lab 12</vt:lpwstr>
  </property>
  <property fmtid="{D5CDD505-2E9C-101B-9397-08002B2CF9AE}" pid="18" name="toc-title">
    <vt:lpwstr>Table of contents</vt:lpwstr>
  </property>
</Properties>
</file>