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18" Type="http://schemas.openxmlformats.org/officeDocument/2006/relationships/presProps" Target="presProps.xml" /><Relationship Id="rId19" Type="http://schemas.openxmlformats.org/officeDocument/2006/relationships/viewProps" Target="viewProps.xml" /><Relationship Id="rId20" Type="http://schemas.openxmlformats.org/officeDocument/2006/relationships/theme" Target="theme/theme1.xml" /><Relationship Id="rId2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worksheet analyses use the same parent–child file. The between-groups handout matches the walkthrough and the two independent analyses.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dataset and saved syntax open together. Inspect variables and cases in the Data Editor; reproduce every command in the Syntax 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Output Viewer accumulates tables, charts, warnings, and processing notes. Keep it open beside the data and syntax windows, and export only the results needed for the worksheet or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Students need all four cell means and both sets of model-predicted marginal means. These are not raw means weighted by the observed cell sizes. State whether each predictor is between- or within-groups before selecting the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interaction is the conditional effect. Read it before deciding whether either marginal main effect is a useful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Interpret the interaction before either main effect. A strong interaction can make marginal main effects misleading.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transformation or selection is required. Confirm value labels for famtype and tx, check missing values, and verify that praise is quantitative.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Record the four cell means before interpreting the table. In the ANOVA output, read famtype by tx before the two main-effect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interaction is significant, so interpret it before treating either main effect as a complete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Simple effects answer a conditional question. Do not list every possible cell comparison when the worksheet requests a particular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Neither independent analysis should start with the main effects. Complete the cell and marginal means first so the interaction can be described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output is generated with create_apa_factbg_desc_table(), the factorial reporting function used with the course handout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write-up should include F, both degrees of freedom, p, MSe, and effect size for each reported effect. Explain whether each main effect is descriptive or misleading.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  <Relationship Id="rId3" Type="http://schemas.openxmlformats.org/officeDocument/2006/relationships/hyperlink" Target="https://unlpsychstats.github.io/UNL-PSYC350-LAB/labs/lab12/slides/downloads/lab12_fact.docx" TargetMode="External"/>
  <Relationship Id="rId4" Type="http://schemas.openxmlformats.org/officeDocument/2006/relationships/hyperlink" Target="https://unlpsychstats.github.io/UNL-PSYC350-LAB/labs/lab12/slides/downloads/parent_child_data.sav" TargetMode="External"/>
  <Relationship Id="rId5" Type="http://schemas.openxmlformats.org/officeDocument/2006/relationships/hyperlink" Target="https://unlpsychstats.github.io/PSYC350-spss-handouts/A1.2x2bg_factorial_anova_spss_handout_simple.pdf" TargetMode="External"/>
  <Relationship Id="rId6" Type="http://schemas.openxmlformats.org/officeDocument/2006/relationships/hyperlink" Target="https://unlpsychstats.github.io/PSYC350-spss-handouts/A4.2x2mg_factorial_anova_spss_handout_simple.pdf" TargetMode="External"/>
  <Relationship Id="rId7" Type="http://schemas.openxmlformats.org/officeDocument/2006/relationships/hyperlink" Target="https://unlpsychstats.github.io/UNL-PSYC350-LAB/labs/lab12/slides/downloads/A3.computator_131.xlsx" TargetMode="External"/>
</Relationships>
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2.xml" /><Relationship Id="rId4" Type="http://schemas.openxmlformats.org/officeDocument/2006/relationships/image" Target="../media/image2.png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6.xml" /><Relationship Id="rId4" Type="http://schemas.openxmlformats.org/officeDocument/2006/relationships/image" Target="../media/image5.svg" /><Relationship Id="rId3" Type="http://schemas.openxmlformats.org/officeDocument/2006/relationships/image" Target="../media/image4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 Factorial Effects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12 · Two-Predictor ANOVA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Download the Lab 12 files</a:t>
            </a:r>
          </a:p>
        </p:txBody>
      </p:sp>
      <p:sp>
        <p:nvSpPr>
          <p:cNvPr id="1001" name="card-steel" descr="card: Worksheet. Download worksheet"/>
          <p:cNvSpPr/>
          <p:nvPr/>
        </p:nvSpPr>
        <p:spPr>
          <a:xfrm>
            <a:off x="1097280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Worksheet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3"/>
              </a:rPr>
              <a:t>Download worksheet</a:t>
            </a:r>
          </a:p>
        </p:txBody>
      </p:sp>
      <p:sp>
        <p:nvSpPr>
          <p:cNvPr id="1002" name="card-rail" descr=""/>
          <p:cNvSpPr/>
          <p:nvPr/>
        </p:nvSpPr>
        <p:spPr>
          <a:xfrm>
            <a:off x="1097280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steel" descr="card: Dataset. Download parent–child data"/>
          <p:cNvSpPr/>
          <p:nvPr/>
        </p:nvSpPr>
        <p:spPr>
          <a:xfrm>
            <a:off x="6167628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Dataset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4"/>
              </a:rPr>
              <a:t>Download parent–child data</a:t>
            </a:r>
          </a:p>
        </p:txBody>
      </p:sp>
      <p:sp>
        <p:nvSpPr>
          <p:cNvPr id="1004" name="card-rail" descr=""/>
          <p:cNvSpPr/>
          <p:nvPr/>
        </p:nvSpPr>
        <p:spPr>
          <a:xfrm>
            <a:off x="6167628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5" name="card-steel" descr="card: SPSS guides. Between-groups factorial Mixed factorial"/>
          <p:cNvSpPr/>
          <p:nvPr/>
        </p:nvSpPr>
        <p:spPr>
          <a:xfrm>
            <a:off x="1097280" y="3785616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SPSS guides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5"/>
              </a:rPr>
              <a:t>Between-groups factorial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6"/>
              </a:rPr>
              <a:t>Mixed factorial</a:t>
            </a:r>
          </a:p>
        </p:txBody>
      </p:sp>
      <p:sp>
        <p:nvSpPr>
          <p:cNvPr id="1006" name="card-rail" descr=""/>
          <p:cNvSpPr/>
          <p:nvPr/>
        </p:nvSpPr>
        <p:spPr>
          <a:xfrm>
            <a:off x="1097280" y="3785616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7" name="card-steel" descr="card: Comparison calculator. Download Computator"/>
          <p:cNvSpPr/>
          <p:nvPr/>
        </p:nvSpPr>
        <p:spPr>
          <a:xfrm>
            <a:off x="6167628" y="3785616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Comparison calculator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7"/>
              </a:rPr>
              <a:t>Download Computator</a:t>
            </a:r>
          </a:p>
        </p:txBody>
      </p:sp>
      <p:sp>
        <p:nvSpPr>
          <p:cNvPr id="1008" name="card-rail" descr=""/>
          <p:cNvSpPr/>
          <p:nvPr/>
        </p:nvSpPr>
        <p:spPr>
          <a:xfrm>
            <a:off x="6167628" y="3785616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 Keep Data and Syntax Editors open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Editor</a:t>
            </a:r>
          </a:p>
        </p:txBody>
      </p:sp>
      <p:pic>
        <p:nvPicPr>
          <p:cNvPr descr="Focused SPSS Data Editor image showing spreadsheet columns and the Data View and Variable View tab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3416300"/>
            <a:ext cx="4267200" cy="203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Inspect predictors and outcomes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Syntax Editor</a:t>
            </a:r>
          </a:p>
        </p:txBody>
      </p:sp>
      <p:pic>
        <p:nvPicPr>
          <p:cNvPr descr="Focused SPSS Syntax Editor image showing the command area and an annotation pointing to the green Run button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6337300" y="3429000"/>
            <a:ext cx="42418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Save and rerun commands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Read results in Output Viewer</a:t>
            </a:r>
          </a:p>
        </p:txBody>
      </p:sp>
      <p:pic>
        <p:nvPicPr>
          <p:cNvPr descr="SPSS-style factorial ANOVA output for praise by family type and treatment, showing significant family-type and treatment main effects and a significant family-type by treatment interac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616200" y="2628900"/>
            <a:ext cx="69469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A 2-by-2 has four cell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92200" y="2628900"/>
          <a:ext cx="99949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400"/>
                <a:gridCol w="3327400"/>
                <a:gridCol w="332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cell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cell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cell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cell mean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A 2-by-2 has four cell means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SPSS estimated marginal means give </a:t>
            </a:r>
            <a:r>
              <a:rPr b="1"/>
              <a:t>equal weight</a:t>
            </a:r>
            <a:r>
              <a:rPr/>
              <a:t> to both levels of the other factor.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Test three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Main effect of A</a:t>
            </a:r>
          </a:p>
          <a:p>
            <a:pPr lvl="0" indent="-457200" marL="457200">
              <a:buAutoNum type="arabicPeriod"/>
            </a:pPr>
            <a:r>
              <a:rPr/>
              <a:t>Main effect of B</a:t>
            </a:r>
          </a:p>
          <a:p>
            <a:pPr lvl="0" indent="-457200" marL="457200">
              <a:buAutoNum type="arabicPeriod"/>
            </a:pPr>
            <a:r>
              <a:rPr/>
              <a:t>A × B interaction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 Interaction changes the story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Parallel slopes</a:t>
            </a:r>
          </a:p>
        </p:txBody>
      </p:sp>
      <p:pic>
        <p:nvPicPr>
          <p:cNvPr descr="Two large parallel lines across B1 and B2, indicating no interaction between A and B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739900" y="3136900"/>
            <a:ext cx="39370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Text Placeholder 4"/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Crossing slopes</a:t>
            </a:r>
          </a:p>
        </p:txBody>
      </p:sp>
      <p:pic>
        <p:nvPicPr>
          <p:cNvPr descr="Two large lines crossing between B1 and B2, indicating that the direction of A's effect reverses across B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6489700" y="3136900"/>
            <a:ext cx="39370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Check the walkthrough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USE ALL.
FILTER OFF.
FREQUENCIES VARIABLES=famtype tx.
DESCRIPTIVES VARIABLES=praise.</a:t>
            </a:r>
          </a:p>
          <a:p>
            <a:pPr lvl="0" indent="0" marL="0">
              <a:buNone/>
            </a:pPr>
            <a:r>
              <a:rPr b="1"/>
              <a:t>RH1:</a:t>
            </a:r>
            <a:r>
              <a:rPr/>
              <a:t> family type × treatment status predicting praise.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Run the RH1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UNIANOVA praise BY famtype tx
  /METHOD=SSTYPE(3)
  /PRINT=DESCRIPTIVE ETASQ
  /EMMEANS=TABLES(famtype*tx)
  /PLOT=PROFILE(famtype*tx)
  /CRITERIA=ALPHA(.05).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Start with the family type × treatment row</a:t>
            </a:r>
          </a:p>
        </p:txBody>
      </p:sp>
      <p:pic>
        <p:nvPicPr>
          <p:cNvPr descr="SPSS-style factorial ANOVA output for praise by family type and treatment, showing significant family-type and treatment main effects and a significant family-type by treatment interaction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616200" y="2628900"/>
            <a:ext cx="69469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Probe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Describe how treatment changes within each family type.</a:t>
            </a:r>
          </a:p>
          <a:p>
            <a:pPr lvl="0" indent="-457200" marL="457200">
              <a:buAutoNum type="arabicPeriod"/>
            </a:pPr>
            <a:r>
              <a:rPr/>
              <a:t>Compute the worksheet’s LSD minimum mean difference if needed.</a:t>
            </a:r>
          </a:p>
          <a:p>
            <a:pPr lvl="0" indent="-457200" marL="457200">
              <a:buAutoNum type="arabicPeriod"/>
            </a:pPr>
            <a:r>
              <a:rPr/>
              <a:t>Evaluate the requested simple effects.</a:t>
            </a:r>
          </a:p>
          <a:p>
            <a:pPr lvl="0" indent="-457200" marL="457200">
              <a:buAutoNum type="arabicPeriod"/>
            </a:pPr>
            <a:r>
              <a:rPr/>
              <a:t>Decide whether each main effect is descriptive or misleading.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Repeat the model twice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RH2:</a:t>
            </a:r>
            <a:r>
              <a:rPr/>
              <a:t> mother’s age group × child’s age group → direct commands</a:t>
            </a:r>
          </a:p>
          <a:p>
            <a:pPr lvl="0"/>
            <a:r>
              <a:rPr b="1"/>
              <a:t>RH3:</a:t>
            </a:r>
            <a:r>
              <a:rPr/>
              <a:t> treatment status × child’s age group → negative feedback</a:t>
            </a:r>
          </a:p>
          <a:p>
            <a:pPr lvl="0" indent="0" marL="0">
              <a:buNone/>
            </a:pPr>
            <a:r>
              <a:rPr/>
              <a:t>Use the same order: </a:t>
            </a:r>
            <a:r>
              <a:rPr b="1"/>
              <a:t>means → interaction → simple effects → main effects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Make the APA cell table</a:t>
            </a:r>
          </a:p>
        </p:txBody>
      </p:sp>
      <p:pic>
        <p:nvPicPr>
          <p:cNvPr descr="APA-style table showing praise descriptives for the four combinations of family type and treatment statu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133600" y="2628900"/>
            <a:ext cx="7899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Write the factorial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Refer to the four-cell table or plot.</a:t>
            </a:r>
          </a:p>
          <a:p>
            <a:pPr lvl="0" indent="-457200" marL="457200">
              <a:buAutoNum type="arabicPeriod"/>
            </a:pPr>
            <a:r>
              <a:rPr/>
              <a:t>Describe and report the interaction.</a:t>
            </a:r>
          </a:p>
          <a:p>
            <a:pPr lvl="0" indent="-457200" marL="457200">
              <a:buAutoNum type="arabicPeriod"/>
            </a:pPr>
            <a:r>
              <a:rPr/>
              <a:t>Report the requested simple effects.</a:t>
            </a:r>
          </a:p>
          <a:p>
            <a:pPr lvl="0" indent="-457200" marL="457200">
              <a:buAutoNum type="arabicPeriod"/>
            </a:pPr>
            <a:r>
              <a:rPr/>
              <a:t>Report and qualify both main effects.</a:t>
            </a:r>
          </a:p>
          <a:p>
            <a:pPr lvl="0" indent="-457200" marL="457200">
              <a:buAutoNum type="arabicPeriod"/>
            </a:pPr>
            <a:r>
              <a:rPr/>
              <a:t>Add the all-green checker screenshots.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Interpret Factorial Effects</dc:title>
  <dc:creator>PSYC 350 Laboratory</dc:creator>
  <cp:keywords/>
  <dcterms:created xsi:type="dcterms:W3CDTF">2026-09-02T01:12:24Z</dcterms:created>
  <dcterms:modified xsi:type="dcterms:W3CDTF">2026-09-02T01:12:24Z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12 · Two-Predictor ANOVA</vt:lpwstr>
  </property>
  <property fmtid="{D5CDD505-2E9C-101B-9397-08002B2CF9AE}" pid="20" name="toc-title">
    <vt:lpwstr>Table of contents</vt:lpwstr>
  </property>
</Properties>
</file>