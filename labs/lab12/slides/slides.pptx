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96"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7524"/>
    <p:restoredTop sz="94694"/>
  </p:normalViewPr>
  <p:slideViewPr>
    <p:cSldViewPr snapToGrid="0">
      <p:cViewPr varScale="1">
        <p:scale>
          <a:sx d="100" n="119"/>
          <a:sy d="100" n="119"/>
        </p:scale>
        <p:origin x="232" y="232"/>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notesMaster" Target="notesMasters/notesMaster1.xml" /><Relationship Id="rId1" Type="http://schemas.openxmlformats.org/officeDocument/2006/relationships/slideMaster" Target="slideMasters/slideMaster1.xml" /><Relationship Id="rId20" Type="http://schemas.openxmlformats.org/officeDocument/2006/relationships/presProps" Target="presProps.xml" /><Relationship Id="rId21" Type="http://schemas.openxmlformats.org/officeDocument/2006/relationships/viewProps" Target="viewProps.xml" /><Relationship Id="rId22" Type="http://schemas.openxmlformats.org/officeDocument/2006/relationships/theme" Target="theme/theme1.xml" /><Relationship Id="rId23"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parent_child_data.sav and the RH1 walkthrough in the Lab 12 worksheet. Keep syntax and Output Viewer open. The guide demonstrates the procedure with other variables; use famtype, tx, and praise here. This walkthrough uses a between-groups design.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mother–child pair belongs to one cell. Family type and treatment status are both between-groups variables; praise is the number of praise statements during the play session. Identify the three effects before running the analysis.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diagrams illustrate patterns, not the parent–child data. Lines need not cross for an interaction: the difference can grow or shrink while keeping the same direction. Use the interaction test to assess the evidence, then use the cell means to describe the pattern.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 recode or case selection is required. Check famtype: 1 = 2-parent family, 2 = mother-only family; tx: 0 = no treatment, 1 = treatment. The download has 147 records, and SPSS excludes any case missing a variable used in the model. Keep the declared missing-value codes out of the analysis.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model includes both main effects and their interaction. The EMMEANS request provides the four cell means. Average the corresponding cell means to complete the worksheet margins. In the ANOVA output, read famtype by tx before the two main-effect rows.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each worksheet margin, add the two corresponding cell means and divide by two. This matches the model’s estimated marginal means. Raw totals in a descriptive table may weight cells by their sample sizes and can differ from the checker. Use the Excel Computator later for the LSD minimum mean difference. Save the comparison symbols for that step.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image labels the variables family_type and treatment; these correspond to famtype and tx in the download. Use the family_type by treatment row for the interaction and the Error row for MSe and the error degrees of freedom. Decide whether the interaction warrants comparing cell means before interpreting the main effects.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LSD-HSD tab and the worksheet’s number of conditions, average cell size, error df, and MSe. The worksheet/checker use a common approximate cutoff; the updated guide explains pair-specific cutoffs for unequal cell sizes. Follow the worksheet method for its answer fields. These treatment comparisons are the simple effects requested for the interaction write-up. Complete the other comparison fields needed to interpret the family-type main effect too.</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cell means and comparison results to describe the interaction. State which group has the higher mean and whether the comparison is significant. Keep the focus on treatment within each family type, as the worksheet requests. A significant interaction alone does not describe its direction or pattern.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 test assesses the difference; the means show its direction. With a two-level factor, no extra LSD comparison is needed for the marginal means. Use the worksheet’s descriptive-or-misleading question to compare the marginal result with the conditional pattern. Explain any change in the size or direction of the treatment difference.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switch the direction of comparison: examine family types among untreated mothers, then among treated mothers. Use those simple effects to explain whether the family-type main effect is descriptive or misleading. A significant interaction does not automatically make both main effects misleading.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worksheet’s response spaces and check all requested fields. Save the syntax and output. The walkthrough does not ask for a separate APA table, figure, or effect-size report, so those are not additional deliverables here.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1097280" y="4352544"/>
            <a:ext cx="9997440" cy="1239894"/>
          </a:xfrm>
          <a:noFill/>
        </p:spPr>
        <p:txBody>
          <a:bodyPr>
            <a:normAutofit/>
          </a:bodyPr>
          <a:lstStyle>
            <a:lvl1pPr marL="0" indent="0" algn="ctr">
              <a:buNone/>
              <a:defRPr sz="20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1097280" y="2638044"/>
            <a:ext cx="9997440" cy="3101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352465"/>
            <a:ext cx="9997440"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744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1/22/26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97280" y="2313433"/>
            <a:ext cx="4907280" cy="548640"/>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926080"/>
            <a:ext cx="4907280" cy="31775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187440" y="2926080"/>
            <a:ext cx="4907280" cy="317754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187440" y="2313433"/>
            <a:ext cx="4907280" cy="548640"/>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a:xfrm>
            <a:off x="1097280" y="964692"/>
            <a:ext cx="9997440" cy="1188720"/>
          </a:xfrm>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1/22/26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1/22/26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1/22/26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1/22/26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cap="sq" w="31750">
            <a:solidFill>
              <a:srgbClr val="404040"/>
            </a:solidFill>
            <a:miter lim="800000"/>
          </a:ln>
        </p:spPr>
        <p:txBody>
          <a:bodyPr anchor="ctr" bIns="182880" lIns="182880" rIns="182880" rtlCol="0" tIns="18288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2231136" y="2638044"/>
            <a:ext cx="7729728" cy="3101983"/>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7821429" y="6238816"/>
            <a:ext cx="2753746" cy="323968"/>
          </a:xfrm>
          <a:prstGeom prst="rect">
            <a:avLst/>
          </a:prstGeom>
        </p:spPr>
        <p:txBody>
          <a:bodyPr anchor="ctr" bIns="45720" lIns="91440" rIns="91440" rtlCol="0" tIns="45720" vert="horz"/>
          <a:lstStyle>
            <a:lvl1pPr algn="r">
              <a:defRPr sz="1050">
                <a:solidFill>
                  <a:schemeClr val="tx1">
                    <a:alpha val="70000"/>
                  </a:schemeClr>
                </a:solidFill>
              </a:defRPr>
            </a:lvl1pPr>
          </a:lstStyle>
          <a:p>
            <a:fld id="{1160EA64-D806-43AC-9DF2-F8C432F32B4C}" type="datetimeFigureOut">
              <a:rPr dirty="0" lang="en-US"/>
              <a:t>1/22/26</a:t>
            </a:fld>
            <a:endParaRPr dirty="0" lang="en-US"/>
          </a:p>
        </p:txBody>
      </p:sp>
      <p:sp>
        <p:nvSpPr>
          <p:cNvPr id="5" name="Footer Placeholder 4"/>
          <p:cNvSpPr>
            <a:spLocks noGrp="1"/>
          </p:cNvSpPr>
          <p:nvPr>
            <p:ph idx="3" sz="quarter" type="ftr"/>
          </p:nvPr>
        </p:nvSpPr>
        <p:spPr>
          <a:xfrm>
            <a:off x="1600200" y="6236208"/>
            <a:ext cx="5901189" cy="320040"/>
          </a:xfrm>
          <a:prstGeom prst="rect">
            <a:avLst/>
          </a:prstGeom>
        </p:spPr>
        <p:txBody>
          <a:bodyPr anchor="ctr" bIns="45720" lIns="91440" rIns="91440" rtlCol="0" tIns="45720" vert="horz"/>
          <a:lstStyle>
            <a:lvl1pPr algn="l">
              <a:defRPr sz="1050">
                <a:solidFill>
                  <a:schemeClr val="tx1">
                    <a:alpha val="70000"/>
                  </a:schemeClr>
                </a:solidFill>
              </a:defRPr>
            </a:lvl1pPr>
          </a:lstStyle>
          <a:p>
            <a:endParaRPr dirty="0" lang="en-US"/>
          </a:p>
        </p:txBody>
      </p:sp>
      <p:sp>
        <p:nvSpPr>
          <p:cNvPr id="6" name="Slide Number Placeholder 5"/>
          <p:cNvSpPr>
            <a:spLocks noGrp="1"/>
          </p:cNvSpPr>
          <p:nvPr>
            <p:ph idx="4" sz="quarter" type="sldNum"/>
          </p:nvPr>
        </p:nvSpPr>
        <p:spPr>
          <a:xfrm>
            <a:off x="10758922" y="6217920"/>
            <a:ext cx="365760" cy="365760"/>
          </a:xfrm>
          <a:prstGeom prst="ellipse">
            <a:avLst/>
          </a:prstGeom>
          <a:solidFill>
            <a:srgbClr val="1D1D1D">
              <a:alpha val="70000"/>
            </a:srgbClr>
          </a:solidFill>
        </p:spPr>
        <p:txBody>
          <a:bodyPr anchor="ctr" bIns="45720" lIns="18288" rIns="18288" rtlCol="0" tIns="45720" vert="horz">
            <a:noAutofit/>
          </a:bodyPr>
          <a:lstStyle>
            <a:lvl1pPr algn="ctr">
              <a:defRPr baseline="0" spc="0" sz="1100">
                <a:solidFill>
                  <a:srgbClr val="FFFFFF"/>
                </a:solidFill>
              </a:defRPr>
            </a:lvl1pPr>
          </a:lstStyle>
          <a:p>
            <a:fld id="{8A7A6979-0714-4377-B894-6BE4C2D6E202}" type="slidenum">
              <a:rPr dirty="0" lang="en-US"/>
              <a:pPr/>
              <a:t>‹#›</a:t>
            </a:fld>
            <a:endParaRPr dirty="0" lang="en-US"/>
          </a:p>
        </p:txBody>
      </p:sp>
    </p:spTree>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dt="0" ftr="0" hdr="0" sldNum="0"/>
  <p:txStyles>
    <p:titleStyle>
      <a:lvl1pPr algn="ctr" defTabSz="914400" eaLnBrk="1" hangingPunct="1" latinLnBrk="0" rtl="0">
        <a:lnSpc>
          <a:spcPct val="90000"/>
        </a:lnSpc>
        <a:spcBef>
          <a:spcPct val="0"/>
        </a:spcBef>
        <a:buNone/>
        <a:defRPr baseline="0" cap="all" kern="1200" spc="200" sz="2800">
          <a:solidFill>
            <a:srgbClr val="262626"/>
          </a:solidFill>
          <a:latin typeface="+mj-lt"/>
          <a:ea typeface="+mj-ea"/>
          <a:cs typeface="+mj-cs"/>
        </a:defRPr>
      </a:lvl1pPr>
    </p:titleStyle>
    <p:bodyStyle>
      <a:lvl1pPr algn="l" defTabSz="914400" eaLnBrk="1" hangingPunct="1" indent="-228600" latinLnBrk="0" marL="2286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1pPr>
      <a:lvl2pPr algn="l" defTabSz="914400" eaLnBrk="1" hangingPunct="1" indent="-228600" latinLnBrk="0" marL="4572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2pPr>
      <a:lvl3pPr algn="l" defTabSz="914400" eaLnBrk="1" hangingPunct="1" indent="-228600" latinLnBrk="0" marL="6858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3pPr>
      <a:lvl4pPr algn="l" defTabSz="914400" eaLnBrk="1" hangingPunct="1" indent="-228600" latinLnBrk="0" marL="9144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4pPr>
      <a:lvl5pPr algn="l" defTabSz="914400" eaLnBrk="1" hangingPunct="1" indent="-228600" latinLnBrk="0" marL="11430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5pPr>
      <a:lvl6pPr algn="l" defTabSz="914400" eaLnBrk="1" hangingPunct="1" indent="-228600" latinLnBrk="0" marL="131286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6pPr>
      <a:lvl7pPr algn="l" defTabSz="914400" eaLnBrk="1" hangingPunct="1" indent="-228600" latinLnBrk="0" marL="148431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7pPr>
      <a:lvl8pPr algn="l" defTabSz="914400" eaLnBrk="1" hangingPunct="1" indent="-228600" latinLnBrk="0" marL="1657350"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8pPr>
      <a:lvl9pPr algn="l" defTabSz="914400" eaLnBrk="1" hangingPunct="1" indent="-228600" latinLnBrk="0" marL="1882775"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9pPr>
    </p:bodyStyle>
    <p:otherStyle>
      <a:defPPr>
        <a:defRPr lang="en-US"/>
      </a:defPPr>
      <a:lvl1pPr algn="l" defTabSz="914400" eaLnBrk="1" hangingPunct="1" latinLnBrk="0" marL="0" rtl="0">
        <a:defRPr kern="1200" sz="2000">
          <a:solidFill>
            <a:schemeClr val="tx1"/>
          </a:solidFill>
          <a:latin typeface="+mn-lt"/>
          <a:ea typeface="+mn-ea"/>
          <a:cs typeface="+mn-cs"/>
        </a:defRPr>
      </a:lvl1pPr>
      <a:lvl2pPr algn="l" defTabSz="914400" eaLnBrk="1" hangingPunct="1" latinLnBrk="0" marL="457200" rtl="0">
        <a:defRPr kern="1200" sz="2000">
          <a:solidFill>
            <a:schemeClr val="tx1"/>
          </a:solidFill>
          <a:latin typeface="+mn-lt"/>
          <a:ea typeface="+mn-ea"/>
          <a:cs typeface="+mn-cs"/>
        </a:defRPr>
      </a:lvl2pPr>
      <a:lvl3pPr algn="l" defTabSz="914400" eaLnBrk="1" hangingPunct="1" latinLnBrk="0" marL="914400" rtl="0">
        <a:defRPr kern="1200" sz="2000">
          <a:solidFill>
            <a:schemeClr val="tx1"/>
          </a:solidFill>
          <a:latin typeface="+mn-lt"/>
          <a:ea typeface="+mn-ea"/>
          <a:cs typeface="+mn-cs"/>
        </a:defRPr>
      </a:lvl3pPr>
      <a:lvl4pPr algn="l" defTabSz="914400" eaLnBrk="1" hangingPunct="1" latinLnBrk="0" marL="1371600" rtl="0">
        <a:defRPr kern="1200" sz="2000">
          <a:solidFill>
            <a:schemeClr val="tx1"/>
          </a:solidFill>
          <a:latin typeface="+mn-lt"/>
          <a:ea typeface="+mn-ea"/>
          <a:cs typeface="+mn-cs"/>
        </a:defRPr>
      </a:lvl4pPr>
      <a:lvl5pPr algn="l" defTabSz="914400" eaLnBrk="1" hangingPunct="1" latinLnBrk="0" marL="1828800" rtl="0">
        <a:defRPr kern="1200" sz="2000">
          <a:solidFill>
            <a:schemeClr val="tx1"/>
          </a:solidFill>
          <a:latin typeface="+mn-lt"/>
          <a:ea typeface="+mn-ea"/>
          <a:cs typeface="+mn-cs"/>
        </a:defRPr>
      </a:lvl5pPr>
      <a:lvl6pPr algn="l" defTabSz="914400" eaLnBrk="1" hangingPunct="1" latinLnBrk="0" marL="2286000" rtl="0">
        <a:defRPr kern="1200" sz="2000">
          <a:solidFill>
            <a:schemeClr val="tx1"/>
          </a:solidFill>
          <a:latin typeface="+mn-lt"/>
          <a:ea typeface="+mn-ea"/>
          <a:cs typeface="+mn-cs"/>
        </a:defRPr>
      </a:lvl6pPr>
      <a:lvl7pPr algn="l" defTabSz="914400" eaLnBrk="1" hangingPunct="1" latinLnBrk="0" marL="2743200" rtl="0">
        <a:defRPr kern="1200" sz="2000">
          <a:solidFill>
            <a:schemeClr val="tx1"/>
          </a:solidFill>
          <a:latin typeface="+mn-lt"/>
          <a:ea typeface="+mn-ea"/>
          <a:cs typeface="+mn-cs"/>
        </a:defRPr>
      </a:lvl7pPr>
      <a:lvl8pPr algn="l" defTabSz="914400" eaLnBrk="1" hangingPunct="1" latinLnBrk="0" marL="3200400" rtl="0">
        <a:defRPr kern="1200" sz="2000">
          <a:solidFill>
            <a:schemeClr val="tx1"/>
          </a:solidFill>
          <a:latin typeface="+mn-lt"/>
          <a:ea typeface="+mn-ea"/>
          <a:cs typeface="+mn-cs"/>
        </a:defRPr>
      </a:lvl8pPr>
      <a:lvl9pPr algn="l" defTabSz="914400" eaLnBrk="1" hangingPunct="1" latinLnBrk="0" marL="3657600" rtl="0">
        <a:defRPr kern="1200" sz="20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unlpsychstats.github.io/UNL-PSYC350-LAB/labs/lab12/slides/downloads/parent_child_data.sav" TargetMode="External"/>
  <Relationship Id="rId4" Type="http://schemas.openxmlformats.org/officeDocument/2006/relationships/hyperlink" Target="https://unlpsychstats.github.io/PSYC350-spss-handouts/A1.2x2bg_factorial_anova_spss_handout_simple.pdf"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svg" /><Relationship Id="rId2" Type="http://schemas.openxmlformats.org/officeDocument/2006/relationships/image" Target="../media/image1.sv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https://unlpsychstats.github.io/UNL-PSYC350-LAB/labs/lab12/slides/downloads/A3.computator_131.xls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a:lstStyle/>
          <a:p>
            <a:pPr lvl="0" indent="0" marL="0">
              <a:buNone/>
            </a:pPr>
            <a:r>
              <a:rPr/>
              <a:t>Interpret Factorial Effects</a:t>
            </a:r>
          </a:p>
        </p:txBody>
      </p:sp>
      <p:sp>
        <p:nvSpPr>
          <p:cNvPr id="3" name="Subtitle 2"/>
          <p:cNvSpPr>
            <a:spLocks noGrp="1"/>
          </p:cNvSpPr>
          <p:nvPr>
            <p:ph idx="1" type="subTitle"/>
          </p:nvPr>
        </p:nvSpPr>
        <p:spPr>
          <a:xfrm>
            <a:off x="1097280" y="4352544"/>
            <a:ext cx="9997440" cy="1239894"/>
          </a:xfrm>
          <a:noFill/>
        </p:spPr>
        <p:txBody>
          <a:bodyPr/>
          <a:lstStyle/>
          <a:p>
            <a:pPr lvl="0" indent="0" marL="0">
              <a:buNone/>
            </a:pPr>
            <a:r>
              <a:rPr/>
              <a:t>Lab 12 · Two-Predictor ANOVA</a:t>
            </a:r>
            <a:br/>
            <a:br/>
            <a:r>
              <a:rPr/>
              <a:t>PSYC 350 Laboratory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 Open the Lab 12 files</a:t>
            </a:r>
          </a:p>
        </p:txBody>
      </p:sp>
      <p:sp>
        <p:nvSpPr>
          <p:cNvPr id="1001" name="card-steel" descr="card: Walkthrough data. Parent–child data"/>
          <p:cNvSpPr/>
          <p:nvPr/>
        </p:nvSpPr>
        <p:spPr>
          <a:xfrm>
            <a:off x="1097280" y="2633472"/>
            <a:ext cx="4924044" cy="10058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Walkthrough data</a:t>
            </a:r>
          </a:p>
          <a:p>
            <a:pPr algn="l"/>
            <a:r>
              <a:rPr lang="en-US" sz="2000" b="0" dirty="0">
                <a:solidFill>
                  <a:srgbClr val="010B13"/>
                </a:solidFill>
                <a:hlinkClick r:id="rId3"/>
              </a:rPr>
              <a:t>Parent–child data</a:t>
            </a:r>
          </a:p>
        </p:txBody>
      </p:sp>
      <p:sp>
        <p:nvSpPr>
          <p:cNvPr id="1002" name="card-rail" descr="">
            <a:extLst>
              <a:ext uri="{C183D7F6-B498-43B3-948B-1728B52AA6E4}">
                <adec:decorative xmlns:adec="http://schemas.microsoft.com/office/drawing/2017/decorative" val="1"/>
              </a:ext>
            </a:extLst>
          </p:cNvPr>
          <p:cNvSpPr/>
          <p:nvPr/>
        </p:nvSpPr>
        <p:spPr>
          <a:xfrm>
            <a:off x="1097280" y="2633472"/>
            <a:ext cx="54864" cy="1005840"/>
          </a:xfrm>
          <a:prstGeom prst="roundRect">
            <a:avLst>
              <a:gd name="adj" fmla="val 20000"/>
            </a:avLst>
          </a:prstGeom>
          <a:solidFill>
            <a:srgbClr val="010B13"/>
          </a:solidFill>
          <a:ln>
            <a:noFill/>
          </a:ln>
        </p:spPr>
        <p:txBody>
          <a:bodyPr lIns="182880" tIns="182880" rIns="182880" bIns="182880" anchor="t" wrap="square">
            <a:normAutofit/>
          </a:bodyPr>
          <a:lstStyle/>
          <a:p/>
        </p:txBody>
      </p:sp>
      <p:sp>
        <p:nvSpPr>
          <p:cNvPr id="1003" name="card-steel" descr="card: Simple SPSS guide. 2 × 2 between-groups PDF"/>
          <p:cNvSpPr/>
          <p:nvPr/>
        </p:nvSpPr>
        <p:spPr>
          <a:xfrm>
            <a:off x="6167628" y="2633472"/>
            <a:ext cx="4924044" cy="10058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Simple SPSS guide</a:t>
            </a:r>
          </a:p>
          <a:p>
            <a:pPr algn="l"/>
            <a:r>
              <a:rPr lang="en-US" sz="2000" b="0" dirty="0">
                <a:solidFill>
                  <a:srgbClr val="010B13"/>
                </a:solidFill>
                <a:hlinkClick r:id="rId4"/>
              </a:rPr>
              <a:t>2 × 2 between-groups PDF</a:t>
            </a:r>
          </a:p>
        </p:txBody>
      </p:sp>
      <p:sp>
        <p:nvSpPr>
          <p:cNvPr id="1004" name="card-rail" descr="">
            <a:extLst>
              <a:ext uri="{C183D7F6-B498-43B3-948B-1728B52AA6E4}">
                <adec:decorative xmlns:adec="http://schemas.microsoft.com/office/drawing/2017/decorative" val="1"/>
              </a:ext>
            </a:extLst>
          </p:cNvPr>
          <p:cNvSpPr/>
          <p:nvPr/>
        </p:nvSpPr>
        <p:spPr>
          <a:xfrm>
            <a:off x="6167628" y="2633472"/>
            <a:ext cx="54864" cy="1005840"/>
          </a:xfrm>
          <a:prstGeom prst="roundRect">
            <a:avLst>
              <a:gd name="adj" fmla="val 20000"/>
            </a:avLst>
          </a:prstGeom>
          <a:solidFill>
            <a:srgbClr val="010B13"/>
          </a:solidFill>
          <a:ln>
            <a:noFill/>
          </a:ln>
        </p:spPr>
        <p:txBody>
          <a:bodyPr lIns="182880" tIns="182880" rIns="182880" bIns="182880" anchor="t" wrap="square">
            <a:normAutofit/>
          </a:bodyPr>
          <a:lstStyl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 Identify the four groups</a:t>
            </a:r>
          </a:p>
        </p:txBody>
      </p:sp>
      <p:sp>
        <p:nvSpPr>
          <p:cNvPr id="3" name="Content Placeholder 2"/>
          <p:cNvSpPr>
            <a:spLocks noGrp="1"/>
          </p:cNvSpPr>
          <p:nvPr>
            <p:ph idx="1"/>
          </p:nvPr>
        </p:nvSpPr>
        <p:spPr/>
        <p:txBody>
          <a:bodyPr/>
          <a:lstStyle/>
          <a:p>
            <a:pPr lvl="0" indent="0" marL="0">
              <a:buNone/>
            </a:pPr>
            <a:r>
              <a:rPr/>
              <a:t>[RH1 · Step 1]</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 Identify the four groups (continued)</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3327400"/>
                <a:gridCol w="3327400"/>
                <a:gridCol w="3327400"/>
              </a:tblGrid>
              <a:tr h="0">
                <a:tc>
                  <a:txBody>
                    <a:bodyPr/>
                    <a:lstStyle/>
                    <a:p>
                      <a:pPr lvl="0" indent="0" marL="0">
                        <a:buNone/>
                      </a:pPr>
                      <a:r>
                        <a:rPr/>
                        <a:t>Family type</a:t>
                      </a:r>
                    </a:p>
                  </a:txBody>
                  <a:tcPr/>
                </a:tc>
                <a:tc>
                  <a:txBody>
                    <a:bodyPr/>
                    <a:lstStyle/>
                    <a:p>
                      <a:pPr lvl="0" indent="0" marL="0">
                        <a:buNone/>
                      </a:pPr>
                      <a:r>
                        <a:rPr/>
                        <a:t>No treatment</a:t>
                      </a:r>
                    </a:p>
                  </a:txBody>
                  <a:tcPr/>
                </a:tc>
                <a:tc>
                  <a:txBody>
                    <a:bodyPr/>
                    <a:lstStyle/>
                    <a:p>
                      <a:pPr lvl="0" indent="0" marL="0">
                        <a:buNone/>
                      </a:pPr>
                      <a:r>
                        <a:rPr/>
                        <a:t>Treatment</a:t>
                      </a:r>
                    </a:p>
                  </a:txBody>
                  <a:tcPr/>
                </a:tc>
              </a:tr>
              <a:tr h="0">
                <a:tc>
                  <a:txBody>
                    <a:bodyPr/>
                    <a:lstStyle/>
                    <a:p>
                      <a:pPr lvl="0" indent="0" marL="0">
                        <a:buNone/>
                      </a:pPr>
                      <a:r>
                        <a:rPr/>
                        <a:t>2-parent family</a:t>
                      </a:r>
                    </a:p>
                  </a:txBody>
                </a:tc>
                <a:tc>
                  <a:txBody>
                    <a:bodyPr/>
                    <a:lstStyle/>
                    <a:p>
                      <a:pPr lvl="0" indent="0" marL="0">
                        <a:buNone/>
                      </a:pPr>
                      <a:r>
                        <a:rPr/>
                        <a:t>Mean praise</a:t>
                      </a:r>
                    </a:p>
                  </a:txBody>
                </a:tc>
                <a:tc>
                  <a:txBody>
                    <a:bodyPr/>
                    <a:lstStyle/>
                    <a:p>
                      <a:pPr lvl="0" indent="0" marL="0">
                        <a:buNone/>
                      </a:pPr>
                      <a:r>
                        <a:rPr/>
                        <a:t>Mean praise</a:t>
                      </a:r>
                    </a:p>
                  </a:txBody>
                </a:tc>
              </a:tr>
              <a:tr h="0">
                <a:tc>
                  <a:txBody>
                    <a:bodyPr/>
                    <a:lstStyle/>
                    <a:p>
                      <a:pPr lvl="0" indent="0" marL="0">
                        <a:buNone/>
                      </a:pPr>
                      <a:r>
                        <a:rPr/>
                        <a:t>Mother-only family</a:t>
                      </a:r>
                    </a:p>
                  </a:txBody>
                </a:tc>
                <a:tc>
                  <a:txBody>
                    <a:bodyPr/>
                    <a:lstStyle/>
                    <a:p>
                      <a:pPr lvl="0" indent="0" marL="0">
                        <a:buNone/>
                      </a:pPr>
                      <a:r>
                        <a:rPr/>
                        <a:t>Mean praise</a:t>
                      </a:r>
                    </a:p>
                  </a:txBody>
                </a:tc>
                <a:tc>
                  <a:txBody>
                    <a:bodyPr/>
                    <a:lstStyle/>
                    <a:p>
                      <a:pPr lvl="0" indent="0" marL="0">
                        <a:buNone/>
                      </a:pPr>
                      <a:r>
                        <a:rPr/>
                        <a:t>Mean praise</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 Identify the four groups (continued 2)</a:t>
            </a:r>
          </a:p>
        </p:txBody>
      </p:sp>
      <p:sp>
        <p:nvSpPr>
          <p:cNvPr id="3" name="Content Placeholder 2"/>
          <p:cNvSpPr>
            <a:spLocks noGrp="1"/>
          </p:cNvSpPr>
          <p:nvPr>
            <p:ph idx="1"/>
          </p:nvPr>
        </p:nvSpPr>
        <p:spPr/>
        <p:txBody>
          <a:bodyPr/>
          <a:lstStyle/>
          <a:p>
            <a:pPr lvl="0" indent="0" marL="0">
              <a:buNone/>
            </a:pPr>
            <a:r>
              <a:rPr b="1"/>
              <a:t>What are the two main effects and the interaction?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a:xfrm>
            <a:off x="1097280" y="964692"/>
            <a:ext cx="9997440" cy="1188720"/>
          </a:xfrm>
        </p:spPr>
        <p:txBody>
          <a:bodyPr/>
          <a:lstStyle/>
          <a:p>
            <a:pPr lvl="0" indent="0" marL="0">
              <a:buNone/>
            </a:pPr>
            <a:r>
              <a:rPr/>
              <a:t>3 Look for a changing difference</a:t>
            </a:r>
          </a:p>
        </p:txBody>
      </p:sp>
      <p:sp>
        <p:nvSpPr>
          <p:cNvPr id="3" name="Text Placeholder 2"/>
          <p:cNvSpPr>
            <a:spLocks noGrp="1"/>
          </p:cNvSpPr>
          <p:nvPr>
            <p:ph idx="1" type="body"/>
          </p:nvPr>
        </p:nvSpPr>
        <p:spPr/>
        <p:txBody>
          <a:bodyPr/>
          <a:lstStyle/>
          <a:p>
            <a:pPr lvl="0" indent="0" marL="0">
              <a:buNone/>
            </a:pPr>
            <a:r>
              <a:rPr b="1"/>
              <a:t>Same difference</a:t>
            </a:r>
          </a:p>
        </p:txBody>
      </p:sp>
      <p:pic>
        <p:nvPicPr>
          <p:cNvPr descr="Illustrative parallel lines: A1 is above A2 by the same amount at B1 and B2" id="0" name="Picture 1"/>
          <p:cNvPicPr>
            <a:picLocks noGrp="1" noChangeAspect="1"/>
          </p:cNvPicPr>
          <p:nvPr/>
        </p:nvPicPr>
        <p:blipFill>
          <a:blip r:embed="rId2"/>
          <a:stretch>
            <a:fillRect/>
          </a:stretch>
        </p:blipFill>
        <p:spPr bwMode="auto">
          <a:xfrm>
            <a:off x="1130300" y="2921000"/>
            <a:ext cx="4813300" cy="3175000"/>
          </a:xfrm>
          <a:prstGeom prst="rect">
            <a:avLst/>
          </a:prstGeom>
          <a:noFill/>
          <a:ln w="9525">
            <a:noFill/>
            <a:headEnd/>
            <a:tailEnd/>
          </a:ln>
        </p:spPr>
      </p:pic>
      <p:sp>
        <p:nvSpPr>
          <p:cNvPr id="11" name="Text Placeholder 4"/>
          <p:cNvSpPr>
            <a:spLocks noGrp="1"/>
          </p:cNvSpPr>
          <p:nvPr>
            <p:ph idx="13" sz="quarter" type="body"/>
          </p:nvPr>
        </p:nvSpPr>
        <p:spPr/>
        <p:txBody>
          <a:bodyPr/>
          <a:lstStyle/>
          <a:p>
            <a:pPr lvl="0" indent="0" marL="0">
              <a:buNone/>
            </a:pPr>
            <a:r>
              <a:rPr b="1"/>
              <a:t>Direction reverses</a:t>
            </a:r>
          </a:p>
        </p:txBody>
      </p:sp>
      <p:pic>
        <p:nvPicPr>
          <p:cNvPr descr="Illustrative crossing lines: A1 is above A2 at B1 but below A2 at B2" id="0" name="Picture 1"/>
          <p:cNvPicPr>
            <a:picLocks noGrp="1" noChangeAspect="1"/>
          </p:cNvPicPr>
          <p:nvPr/>
        </p:nvPicPr>
        <p:blipFill>
          <a:blip r:embed="rId3"/>
          <a:stretch>
            <a:fillRect/>
          </a:stretch>
        </p:blipFill>
        <p:spPr bwMode="auto">
          <a:xfrm>
            <a:off x="6223000" y="2921000"/>
            <a:ext cx="4813300" cy="31750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3 Look for a changing difference (continued)</a:t>
            </a:r>
          </a:p>
        </p:txBody>
      </p:sp>
      <p:sp>
        <p:nvSpPr>
          <p:cNvPr id="3" name="Content Placeholder 2"/>
          <p:cNvSpPr>
            <a:spLocks noGrp="1"/>
          </p:cNvSpPr>
          <p:nvPr>
            <p:ph idx="1"/>
          </p:nvPr>
        </p:nvSpPr>
        <p:spPr/>
        <p:txBody>
          <a:bodyPr/>
          <a:lstStyle/>
          <a:p>
            <a:pPr lvl="0" indent="0" marL="0">
              <a:buNone/>
            </a:pPr>
            <a:r>
              <a:rPr b="1"/>
              <a:t>An interaction can change the size or direction of a difference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4 Prepare the RH1 variables</a:t>
            </a:r>
          </a:p>
        </p:txBody>
      </p:sp>
      <p:sp>
        <p:nvSpPr>
          <p:cNvPr id="3" name="Content Placeholder 2"/>
          <p:cNvSpPr>
            <a:spLocks noGrp="1"/>
          </p:cNvSpPr>
          <p:nvPr>
            <p:ph idx="1"/>
          </p:nvPr>
        </p:nvSpPr>
        <p:spPr/>
        <p:txBody>
          <a:bodyPr/>
          <a:lstStyle/>
          <a:p>
            <a:pPr lvl="0" indent="0">
              <a:buNone/>
            </a:pPr>
            <a:r>
              <a:rPr>
                <a:latin typeface="Courier"/>
              </a:rPr>
              <a:t>FILTER OFF.
USE ALL.
FREQUENCIES VARIABLES=famtype tx.
DESCRIPTIVES VARIABLES=praise.</a:t>
            </a:r>
          </a:p>
          <a:p>
            <a:pPr lvl="0" indent="0" marL="0">
              <a:buNone/>
            </a:pPr>
            <a:r>
              <a:rPr b="1"/>
              <a:t>Check group labels and missing 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5 Run the RH1 factorial model</a:t>
            </a:r>
          </a:p>
        </p:txBody>
      </p:sp>
      <p:sp>
        <p:nvSpPr>
          <p:cNvPr id="3" name="Content Placeholder 2"/>
          <p:cNvSpPr>
            <a:spLocks noGrp="1"/>
          </p:cNvSpPr>
          <p:nvPr>
            <p:ph idx="1"/>
          </p:nvPr>
        </p:nvSpPr>
        <p:spPr/>
        <p:txBody>
          <a:bodyPr/>
          <a:lstStyle/>
          <a:p>
            <a:pPr lvl="0" indent="0">
              <a:buNone/>
            </a:pPr>
            <a:r>
              <a:rPr>
                <a:latin typeface="Courier"/>
              </a:rPr>
              <a:t>UNIANOVA praise BY famtype tx
  /METHOD=SSTYPE(3)
  /EMMEANS=TABLES(famtype*tx)
  /PRINT=DESCRIPTIVE
  /DESIGN=famtype tx famtype*tx.</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6 Complete the cell and marginal means</a:t>
            </a:r>
          </a:p>
        </p:txBody>
      </p:sp>
      <p:sp>
        <p:nvSpPr>
          <p:cNvPr id="3" name="Content Placeholder 2"/>
          <p:cNvSpPr>
            <a:spLocks noGrp="1"/>
          </p:cNvSpPr>
          <p:nvPr>
            <p:ph idx="1"/>
          </p:nvPr>
        </p:nvSpPr>
        <p:spPr/>
        <p:txBody>
          <a:bodyPr/>
          <a:lstStyle/>
          <a:p>
            <a:pPr lvl="0" indent="0" marL="0">
              <a:buNone/>
            </a:pPr>
            <a:r>
              <a:rPr/>
              <a:t>[RH1 · Step 2]</a:t>
            </a:r>
          </a:p>
          <a:p>
            <a:pPr lvl="0"/>
            <a:r>
              <a:rPr/>
              <a:t>Enter the four cell means in the worksheet</a:t>
            </a:r>
          </a:p>
          <a:p>
            <a:pPr lvl="0"/>
            <a:r>
              <a:rPr/>
              <a:t>Average across treatment levels for each family type</a:t>
            </a:r>
          </a:p>
          <a:p>
            <a:pPr lvl="0"/>
            <a:r>
              <a:rPr/>
              <a:t>Average across family types for each treatment level</a:t>
            </a:r>
          </a:p>
          <a:p>
            <a:pPr lvl="0" indent="0" marL="0">
              <a:buNone/>
            </a:pPr>
            <a:r>
              <a:rPr b="1"/>
              <a:t>Marginal means give equal weight to the other factor’s two levels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7 Read the interaction first</a:t>
            </a:r>
          </a:p>
        </p:txBody>
      </p:sp>
      <p:pic>
        <p:nvPicPr>
          <p:cNvPr descr="Type III tests for praise. Family type: F 19.585, df 1, p below .001. Treatment: F 60.678, df 1, p below .001. Family type by treatment: F 8.684, df 1, p .004. Error: df 142 and mean square 3.821." id="0" name="Picture 1"/>
          <p:cNvPicPr>
            <a:picLocks noGrp="1" noChangeAspect="1"/>
          </p:cNvPicPr>
          <p:nvPr/>
        </p:nvPicPr>
        <p:blipFill>
          <a:blip r:embed="rId2"/>
          <a:stretch>
            <a:fillRect/>
          </a:stretch>
        </p:blipFill>
        <p:spPr bwMode="auto">
          <a:xfrm>
            <a:off x="2616200" y="2628900"/>
            <a:ext cx="6946900" cy="30988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7 Read the interaction first (continued)</a:t>
            </a:r>
          </a:p>
        </p:txBody>
      </p:sp>
      <p:sp>
        <p:nvSpPr>
          <p:cNvPr id="3" name="Content Placeholder 2"/>
          <p:cNvSpPr>
            <a:spLocks noGrp="1"/>
          </p:cNvSpPr>
          <p:nvPr>
            <p:ph idx="1"/>
          </p:nvPr>
        </p:nvSpPr>
        <p:spPr/>
        <p:txBody>
          <a:bodyPr/>
          <a:lstStyle/>
          <a:p>
            <a:pPr lvl="0" indent="0" marL="0">
              <a:buNone/>
            </a:pPr>
            <a:r>
              <a:rPr b="1"/>
              <a:t>Identify the interaction’s </a:t>
            </a:r>
            <a:r>
              <a:rPr b="1" i="1"/>
              <a:t>F</a:t>
            </a:r>
            <a:r>
              <a:rPr b="1"/>
              <a:t>, both </a:t>
            </a:r>
            <a:r>
              <a:rPr b="1" i="1"/>
              <a:t>df</a:t>
            </a:r>
            <a:r>
              <a:rPr b="1"/>
              <a:t>, </a:t>
            </a:r>
            <a:r>
              <a:rPr b="1" i="1"/>
              <a:t>p</a:t>
            </a:r>
            <a:r>
              <a:rPr b="1"/>
              <a:t>, and </a:t>
            </a:r>
            <a:r>
              <a:rPr b="1" i="1"/>
              <a:t>MSe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8 Compare treatment within each family type</a:t>
            </a:r>
          </a:p>
        </p:txBody>
      </p:sp>
      <p:sp>
        <p:nvSpPr>
          <p:cNvPr id="3" name="Content Placeholder 2"/>
          <p:cNvSpPr>
            <a:spLocks noGrp="1"/>
          </p:cNvSpPr>
          <p:nvPr>
            <p:ph idx="1"/>
          </p:nvPr>
        </p:nvSpPr>
        <p:spPr/>
        <p:txBody>
          <a:bodyPr/>
          <a:lstStyle/>
          <a:p>
            <a:pPr lvl="0" indent="0" marL="0">
              <a:buNone/>
            </a:pPr>
            <a:r>
              <a:rPr>
                <a:hlinkClick r:id="rId3"/>
              </a:rPr>
              <a:t>Computator workbook</a:t>
            </a:r>
          </a:p>
          <a:p>
            <a:pPr lvl="0"/>
            <a:r>
              <a:rPr/>
              <a:t>Calculate the worksheet’s LSD minimum mean difference</a:t>
            </a:r>
          </a:p>
          <a:p>
            <a:pPr lvl="0"/>
            <a:r>
              <a:rPr/>
              <a:t>Compare treatment with no treatment within 2-parent families</a:t>
            </a:r>
          </a:p>
          <a:p>
            <a:pPr lvl="0"/>
            <a:r>
              <a:rPr/>
              <a:t>Repeat within mother-only families</a:t>
            </a:r>
          </a:p>
          <a:p>
            <a:pPr lvl="0"/>
            <a:r>
              <a:rPr/>
              <a:t>Enter the comparison symbols in the worksheet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9 Write the interaction result</a:t>
            </a:r>
          </a:p>
        </p:txBody>
      </p:sp>
      <p:sp>
        <p:nvSpPr>
          <p:cNvPr id="3" name="Content Placeholder 2"/>
          <p:cNvSpPr>
            <a:spLocks noGrp="1"/>
          </p:cNvSpPr>
          <p:nvPr>
            <p:ph idx="1"/>
          </p:nvPr>
        </p:nvSpPr>
        <p:spPr/>
        <p:txBody>
          <a:bodyPr/>
          <a:lstStyle/>
          <a:p>
            <a:pPr lvl="0" indent="0" marL="0">
              <a:buNone/>
            </a:pPr>
            <a:r>
              <a:rPr/>
              <a:t>[RH1 · Interaction write-up]</a:t>
            </a:r>
          </a:p>
          <a:p>
            <a:pPr lvl="0"/>
            <a:r>
              <a:rPr/>
              <a:t>Report </a:t>
            </a:r>
            <a:r>
              <a:rPr i="1"/>
              <a:t>F</a:t>
            </a:r>
            <a:r>
              <a:rPr/>
              <a:t>, both </a:t>
            </a:r>
            <a:r>
              <a:rPr i="1"/>
              <a:t>df</a:t>
            </a:r>
            <a:r>
              <a:rPr/>
              <a:t>, </a:t>
            </a:r>
            <a:r>
              <a:rPr i="1"/>
              <a:t>p</a:t>
            </a:r>
            <a:r>
              <a:rPr/>
              <a:t>, and </a:t>
            </a:r>
            <a:r>
              <a:rPr i="1"/>
              <a:t>MSe</a:t>
            </a:r>
          </a:p>
          <a:p>
            <a:pPr lvl="0"/>
            <a:r>
              <a:rPr/>
              <a:t>Describe treatment’s effect within each family type</a:t>
            </a:r>
          </a:p>
          <a:p>
            <a:pPr lvl="0"/>
            <a:r>
              <a:rPr/>
              <a:t>Explain how those two comparisons differ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10 Interpret the treatment main effect</a:t>
            </a:r>
          </a:p>
        </p:txBody>
      </p:sp>
      <p:sp>
        <p:nvSpPr>
          <p:cNvPr id="3" name="Content Placeholder 2"/>
          <p:cNvSpPr>
            <a:spLocks noGrp="1"/>
          </p:cNvSpPr>
          <p:nvPr>
            <p:ph idx="1"/>
          </p:nvPr>
        </p:nvSpPr>
        <p:spPr/>
        <p:txBody>
          <a:bodyPr/>
          <a:lstStyle/>
          <a:p>
            <a:pPr lvl="0"/>
            <a:r>
              <a:rPr/>
              <a:t>Read the treatment row: </a:t>
            </a:r>
            <a:r>
              <a:rPr i="1"/>
              <a:t>F</a:t>
            </a:r>
            <a:r>
              <a:rPr/>
              <a:t>, both </a:t>
            </a:r>
            <a:r>
              <a:rPr i="1"/>
              <a:t>df</a:t>
            </a:r>
            <a:r>
              <a:rPr/>
              <a:t>, </a:t>
            </a:r>
            <a:r>
              <a:rPr i="1"/>
              <a:t>p</a:t>
            </a:r>
            <a:r>
              <a:rPr/>
              <a:t>, and </a:t>
            </a:r>
            <a:r>
              <a:rPr i="1"/>
              <a:t>MSe</a:t>
            </a:r>
          </a:p>
          <a:p>
            <a:pPr lvl="0"/>
            <a:r>
              <a:rPr/>
              <a:t>Compare the two treatment marginal means</a:t>
            </a:r>
          </a:p>
          <a:p>
            <a:pPr lvl="0"/>
            <a:r>
              <a:rPr/>
              <a:t>Check treatment’s simple effects within each family type</a:t>
            </a:r>
          </a:p>
          <a:p>
            <a:pPr lvl="0" indent="0" marL="0">
              <a:buNone/>
            </a:pPr>
            <a:r>
              <a:rPr b="1"/>
              <a:t>Is the marginal summary descriptive or misleading?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11 Interpret the family-type main effect</a:t>
            </a:r>
          </a:p>
        </p:txBody>
      </p:sp>
      <p:sp>
        <p:nvSpPr>
          <p:cNvPr id="3" name="Content Placeholder 2"/>
          <p:cNvSpPr>
            <a:spLocks noGrp="1"/>
          </p:cNvSpPr>
          <p:nvPr>
            <p:ph idx="1"/>
          </p:nvPr>
        </p:nvSpPr>
        <p:spPr/>
        <p:txBody>
          <a:bodyPr/>
          <a:lstStyle/>
          <a:p>
            <a:pPr lvl="0"/>
            <a:r>
              <a:rPr/>
              <a:t>Read the family-type row: </a:t>
            </a:r>
            <a:r>
              <a:rPr i="1"/>
              <a:t>F</a:t>
            </a:r>
            <a:r>
              <a:rPr/>
              <a:t>, both </a:t>
            </a:r>
            <a:r>
              <a:rPr i="1"/>
              <a:t>df</a:t>
            </a:r>
            <a:r>
              <a:rPr/>
              <a:t>, </a:t>
            </a:r>
            <a:r>
              <a:rPr i="1"/>
              <a:t>p</a:t>
            </a:r>
            <a:r>
              <a:rPr/>
              <a:t>, and </a:t>
            </a:r>
            <a:r>
              <a:rPr i="1"/>
              <a:t>MSe</a:t>
            </a:r>
          </a:p>
          <a:p>
            <a:pPr lvl="0"/>
            <a:r>
              <a:rPr/>
              <a:t>Compare the two family-type marginal means</a:t>
            </a:r>
          </a:p>
          <a:p>
            <a:pPr lvl="0"/>
            <a:r>
              <a:rPr/>
              <a:t>Compare family types within each treatment status</a:t>
            </a:r>
          </a:p>
          <a:p>
            <a:pPr lvl="0" indent="0" marL="0">
              <a:buNone/>
            </a:pPr>
            <a:r>
              <a:rPr b="1"/>
              <a:t>Does the marginal result describe both comparisons?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12 Finish the RH1 worksheet</a:t>
            </a:r>
          </a:p>
        </p:txBody>
      </p:sp>
      <p:sp>
        <p:nvSpPr>
          <p:cNvPr id="3" name="Content Placeholder 2"/>
          <p:cNvSpPr>
            <a:spLocks noGrp="1"/>
          </p:cNvSpPr>
          <p:nvPr>
            <p:ph idx="1"/>
          </p:nvPr>
        </p:nvSpPr>
        <p:spPr/>
        <p:txBody>
          <a:bodyPr/>
          <a:lstStyle/>
          <a:p>
            <a:pPr lvl="0"/>
            <a:r>
              <a:rPr/>
              <a:t>Complete the means, comparison symbols, and test statistics</a:t>
            </a:r>
          </a:p>
          <a:p>
            <a:pPr lvl="0"/>
            <a:r>
              <a:rPr/>
              <a:t>Explain the interaction and both main effects</a:t>
            </a:r>
          </a:p>
          <a:p>
            <a:pPr lvl="0"/>
            <a:r>
              <a:rPr/>
              <a:t>Justify the descriptive-or-misleading decisions</a:t>
            </a:r>
          </a:p>
          <a:p>
            <a:pPr lvl="0"/>
            <a:r>
              <a:rPr/>
              <a:t>Add the required checker screenshot</a:t>
            </a:r>
          </a:p>
        </p:txBody>
      </p:sp>
    </p:spTree>
  </p:cSld>
</p:sld>
</file>

<file path=ppt/theme/theme1.xml><?xml version="1.0" encoding="utf-8"?>
<a:theme xmlns:a="http://schemas.openxmlformats.org/drawingml/2006/main" name="Parcel">
  <a:themeElements>
    <a:clrScheme name="Custom 3">
      <a:dk1>
        <a:srgbClr val="000000"/>
      </a:dk1>
      <a:lt1>
        <a:srgbClr val="FFFFFF"/>
      </a:lt1>
      <a:dk2>
        <a:srgbClr val="4A5356"/>
      </a:dk2>
      <a:lt2>
        <a:srgbClr val="E8E3CE"/>
      </a:lt2>
      <a:accent1>
        <a:srgbClr val="B65B00"/>
      </a:accent1>
      <a:accent2>
        <a:srgbClr val="5E5E5E"/>
      </a:accent2>
      <a:accent3>
        <a:srgbClr val="005392"/>
      </a:accent3>
      <a:accent4>
        <a:srgbClr val="FEFB00"/>
      </a:accent4>
      <a:accent5>
        <a:srgbClr val="87795D"/>
      </a:accent5>
      <a:accent6>
        <a:srgbClr val="A0988C"/>
      </a:accent6>
      <a:hlink>
        <a:srgbClr val="005392"/>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4</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Gill Sans MT</vt:lpstr>
      <vt:lpstr>Parcel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Interpret Factorial Effects</dc:title>
  <dc:creator>PSYC 350 Laboratory</dc:creator>
  <cp:keywords/>
  <dcterms:created xsi:type="dcterms:W3CDTF">2026-09-10T18:12:50Z</dcterms:created>
  <dcterms:modified xsi:type="dcterms:W3CDTF">2026-09-10T18:12:50Z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ffiliations">
    <vt:lpwstr/>
  </property>
  <property fmtid="{D5CDD505-2E9C-101B-9397-08002B2CF9AE}" pid="4" name="authors">
    <vt:lpwstr/>
  </property>
  <property fmtid="{D5CDD505-2E9C-101B-9397-08002B2CF9AE}" pid="5" name="back-to-top-navigation">
    <vt:lpwstr>True</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ack-link">
    <vt:lpwstr>False</vt:lpwstr>
  </property>
  <property fmtid="{D5CDD505-2E9C-101B-9397-08002B2CF9AE}" pid="13" name="include-before">
    <vt:lpwstr/>
  </property>
  <property fmtid="{D5CDD505-2E9C-101B-9397-08002B2CF9AE}" pid="14" name="institute">
    <vt:lpwstr>University of Nebraska–Lincoln</vt:lpwstr>
  </property>
  <property fmtid="{D5CDD505-2E9C-101B-9397-08002B2CF9AE}" pid="15" name="institutes">
    <vt:lpwstr/>
  </property>
  <property fmtid="{D5CDD505-2E9C-101B-9397-08002B2CF9AE}" pid="16" name="labels">
    <vt:lpwstr/>
  </property>
  <property fmtid="{D5CDD505-2E9C-101B-9397-08002B2CF9AE}" pid="17" name="nebraska-pptx">
    <vt:lpwstr/>
  </property>
  <property fmtid="{D5CDD505-2E9C-101B-9397-08002B2CF9AE}" pid="18" name="revealjs-plugins">
    <vt:lpwstr/>
  </property>
  <property fmtid="{D5CDD505-2E9C-101B-9397-08002B2CF9AE}" pid="19" name="subtitle">
    <vt:lpwstr>Lab 12 · Two-Predictor ANOVA</vt:lpwstr>
  </property>
  <property fmtid="{D5CDD505-2E9C-101B-9397-08002B2CF9AE}" pid="20" name="toc-title">
    <vt:lpwstr>Table of contents</vt:lpwstr>
  </property>
</Properties>
</file>