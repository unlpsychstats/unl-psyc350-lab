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24"/>
    <p:restoredTop sz="94694"/>
  </p:normalViewPr>
  <p:slideViewPr>
    <p:cSldViewPr snapToGrid="0">
      <p:cViewPr varScale="1">
        <p:scale>
          <a:sx d="100" n="119"/>
          <a:sy d="100" n="119"/>
        </p:scale>
        <p:origin x="232" y="23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32" Type="http://schemas.openxmlformats.org/officeDocument/2006/relationships/presProps" Target="presProps.xml" /><Relationship Id="rId33" Type="http://schemas.openxmlformats.org/officeDocument/2006/relationships/viewProps" Target="viewProps.xml" /><Relationship Id="rId34" Type="http://schemas.openxmlformats.org/officeDocument/2006/relationships/theme" Target="theme/theme1.xml" /><Relationship Id="rId35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today’s sequence: read the report, identify the evidence, evaluate validity, and plan improvements. Follow each worksheet’s limits on redesign.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that both critique worksheets and both reference guides are open. Students should use the guides while reading rather than relying on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students to find the report section that answers each question. The abstract is a starting point; they need the full report to check the details.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report-parts guide to connect section labels with the information students need. Citations help them trace sources; clear language helps them interpret the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abstract, then use the Introduction to understand why the study was done and the Method to see how it was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Results section reports the statistical findings. Check the Discussion’s interpretation against those findings and use References to trace the cited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students to locate the background, the gap, and the hypothesis. Use the funnel to show how the Introduction connects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who participated, how the variables were defined, and what happened in each condition. Identify any details the report leaves unclear.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the description of the data from the hypothesis test. Save explanations of why the findings occurred for the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the authors’ interpretation against the Method and Results. Ask which conclusions the reported evidence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abstract gives a quick overview, but it may leave out details that matter for the critique. Have students check the full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whether students can find what they need in each report section before starting the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Critique 1, the first pass is Step 1. On the second pass, follow Steps 2–4: hypothesis, external validity, then internal validity. Critique 2 also begins with a skim and a slower annotated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article details to support each critique. Critique 1 keeps the existing purpose, hypothesis, and design; Critique 2 asks for specific redesigns in Part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Introduce the first article and worksheet. Students first identify the hypothesis and evidence about external and internal validity.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worksheet order: identify the hypothesis, then evidence about external and internal validity. Highlight the passages in yellow, green, and blue, respectively, and add the matching labels and requested comments.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students circle causal or associative verbs and compare them with the actual assignment and manipulation. The wording must not exceed what the design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whether the conclusion extends beyond the people, setting, task, or time represented in the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validity depends on initial and ongoing equivalence. Ask what else differed systematically and how that difference could change the dependent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students compare the construct with the actual manipulation or measurement. Ask what the operation captures and what it might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Compare the two video-game conditions. For each difference students identify, ask how it could affect the aggression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students to explain why each problem matters and how their proposed change would address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Introduce the second worksheet after Critique 1. Students should distinguish the intended hypothesis from the design, then follow the redesign prompts in Part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students locate the relevant Method details before evaluating the design. Keep the authors’ intended hypothesis separate from what the procedures can establish.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Part A in worksheet order: internal validity, measurement validity, external validity, and generalizability. If a detail is missing, say so. Use the final question to discuss whether the findings apply to the friend’s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the worksheet’s hypotheses unchanged. Question 1a temporarily removes practical and ethical constraints; 1b restores them and keeps the original assignment method and IV. Students need the lecture slides on acceptable assignment for a causal hypothesis and evaluating ongoing equivalence. Questions 1c–e evaluate the revised and within-groups designs. For 2b, specify whether the proposed nonexperimental design compares between or within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students time to work. As you circulate, ask how each problem affects the study’s conclusion. Have them finish Critique 1 before starting Critique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submission, check that answers cite article details, explain their implications, and follow each worksheet prompt. Both critiques are due before Week 4, as listed in the course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352544"/>
            <a:ext cx="9997440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638044"/>
            <a:ext cx="9997440" cy="3101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352465"/>
            <a:ext cx="9997440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4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313433"/>
            <a:ext cx="4907280" cy="548640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26080"/>
            <a:ext cx="4907280" cy="31775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40" y="2926080"/>
            <a:ext cx="4907280" cy="3177540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87440" y="2313433"/>
            <a:ext cx="4907280" cy="548640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1/22/26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2.xml"/>
  <Relationship Id="rId3" Type="http://schemas.openxmlformats.org/officeDocument/2006/relationships/hyperlink" Target="https://unlpsychstats.github.io/UNL-PSYC350-LAB/schedule.html" TargetMode="External"/>
  <Relationship Id="rId4" Type="http://schemas.openxmlformats.org/officeDocument/2006/relationships/hyperlink" Target="https://unlpsychstats.github.io/UNL-PSYC350-LAB/schedule.html" TargetMode="External"/>
  <Relationship Id="rId5" Type="http://schemas.openxmlformats.org/officeDocument/2006/relationships/hyperlink" Target="https://unlpsychstats.github.io/UNL-PSYC350-LAB/lab-materials/lab03/files/lab03_apa_report_parts.docx" TargetMode="External"/>
  <Relationship Id="rId6" Type="http://schemas.openxmlformats.org/officeDocument/2006/relationships/hyperlink" Target="https://unlpsychstats.github.io/UNL-PSYC350-LAB/lab-materials/lab03/files/lab03_research_design.docx" TargetMode="External"/>
</Relationships>
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1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7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Reading &amp; Writing Research Reports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097280" y="4352544"/>
            <a:ext cx="9997440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Lab 03</a:t>
            </a:r>
            <a:br/>
            <a:br/>
            <a:r>
              <a:rPr/>
              <a:t>PSYC 350 Laboratory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Today’s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Read a research report by section and purpose</a:t>
            </a:r>
          </a:p>
          <a:p>
            <a:pPr lvl="0"/>
            <a:r>
              <a:rPr/>
              <a:t>Identify the evidence for a study’s hypothesis, design, and conclusions</a:t>
            </a:r>
          </a:p>
          <a:p>
            <a:pPr lvl="0"/>
            <a:r>
              <a:rPr/>
              <a:t>Apply the validity framework while completing Research Critique 1</a:t>
            </a:r>
          </a:p>
          <a:p>
            <a:pPr lvl="0"/>
            <a:r>
              <a:rPr/>
              <a:t>Begin Research Critique 2 and plan an improved study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Have these files ready</a:t>
            </a:r>
          </a:p>
        </p:txBody>
      </p:sp>
      <p:sp>
        <p:nvSpPr>
          <p:cNvPr id="1001" name="card-steel" descr="card: Research Critique 1. Complete this critique during lab Critique 1: lab schedule"/>
          <p:cNvSpPr/>
          <p:nvPr/>
        </p:nvSpPr>
        <p:spPr>
          <a:xfrm>
            <a:off x="1097280" y="2633472"/>
            <a:ext cx="4924044" cy="1201743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46" b="1" dirty="0">
                <a:solidFill>
                  <a:srgbClr val="010B13"/>
                </a:solidFill>
              </a:rPr>
              <a:t>Research Critique 1</a:t>
            </a:r>
          </a:p>
          <a:p>
            <a:pPr algn="l"/>
            <a:r>
              <a:rPr lang="en-US" sz="1769" b="0" dirty="0">
                <a:solidFill>
                  <a:srgbClr val="010B13"/>
                </a:solidFill>
              </a:rPr>
              <a:t>Complete this critique during lab</a:t>
            </a:r>
          </a:p>
          <a:p>
            <a:pPr algn="l"/>
            <a:r>
              <a:rPr lang="en-US" sz="1769" b="0" dirty="0">
                <a:solidFill>
                  <a:srgbClr val="010B13"/>
                </a:solidFill>
                <a:hlinkClick r:id="rId3"/>
              </a:rPr>
              <a:t>Critique 1: lab schedule</a:t>
            </a:r>
          </a:p>
        </p:txBody>
      </p:sp>
      <p:sp>
        <p:nvSpPr>
          <p:cNvPr id="1002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201743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3" name="card-steel" descr="card: Research Critique 2. Begin this critique after Critique 1 Critique 2: lab schedule"/>
          <p:cNvSpPr/>
          <p:nvPr/>
        </p:nvSpPr>
        <p:spPr>
          <a:xfrm>
            <a:off x="6167628" y="2633472"/>
            <a:ext cx="4924044" cy="1471415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46" b="1" dirty="0">
                <a:solidFill>
                  <a:srgbClr val="010B13"/>
                </a:solidFill>
              </a:rPr>
              <a:t>Research Critique 2</a:t>
            </a:r>
          </a:p>
          <a:p>
            <a:pPr algn="l"/>
            <a:r>
              <a:rPr lang="en-US" sz="1769" b="0" dirty="0">
                <a:solidFill>
                  <a:srgbClr val="010B13"/>
                </a:solidFill>
              </a:rPr>
              <a:t>Begin this critique after Critique 1</a:t>
            </a:r>
          </a:p>
          <a:p>
            <a:pPr algn="l"/>
            <a:r>
              <a:rPr lang="en-US" sz="1769" b="0" dirty="0">
                <a:solidFill>
                  <a:srgbClr val="010B13"/>
                </a:solidFill>
                <a:hlinkClick r:id="rId4"/>
              </a:rPr>
              <a:t>Critique 2: lab schedule</a:t>
            </a:r>
          </a:p>
        </p:txBody>
      </p:sp>
      <p:sp>
        <p:nvSpPr>
          <p:cNvPr id="1004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2633472"/>
            <a:ext cx="54864" cy="1471415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5" name="card-steel" descr="card: APA report-parts guide. Use it to find the information you need in each report section Report guide (Word)"/>
          <p:cNvSpPr/>
          <p:nvPr/>
        </p:nvSpPr>
        <p:spPr>
          <a:xfrm>
            <a:off x="1097280" y="4251191"/>
            <a:ext cx="4924044" cy="1471415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46" b="1" dirty="0">
                <a:solidFill>
                  <a:srgbClr val="010B13"/>
                </a:solidFill>
              </a:rPr>
              <a:t>APA report-parts guide</a:t>
            </a:r>
          </a:p>
          <a:p>
            <a:pPr algn="l"/>
            <a:r>
              <a:rPr lang="en-US" sz="1769" b="0" dirty="0">
                <a:solidFill>
                  <a:srgbClr val="010B13"/>
                </a:solidFill>
              </a:rPr>
              <a:t>Use it to find the information you need in each report section</a:t>
            </a:r>
          </a:p>
          <a:p>
            <a:pPr algn="l"/>
            <a:r>
              <a:rPr lang="en-US" sz="1769" b="0" dirty="0">
                <a:solidFill>
                  <a:srgbClr val="010B13"/>
                </a:solidFill>
                <a:hlinkClick r:id="rId5"/>
              </a:rPr>
              <a:t>Report guide (Word)</a:t>
            </a:r>
          </a:p>
        </p:txBody>
      </p:sp>
      <p:sp>
        <p:nvSpPr>
          <p:cNvPr id="1006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4251191"/>
            <a:ext cx="54864" cy="1471415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7" name="card-steel" descr="card: Research-design guide. Use the validity net and design terms as you evaluate each study Design guide (Word)"/>
          <p:cNvSpPr/>
          <p:nvPr/>
        </p:nvSpPr>
        <p:spPr>
          <a:xfrm>
            <a:off x="6167628" y="4251191"/>
            <a:ext cx="4924044" cy="1471415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46" b="1" dirty="0">
                <a:solidFill>
                  <a:srgbClr val="010B13"/>
                </a:solidFill>
              </a:rPr>
              <a:t>Research-design guide</a:t>
            </a:r>
          </a:p>
          <a:p>
            <a:pPr algn="l"/>
            <a:r>
              <a:rPr lang="en-US" sz="1769" b="0" dirty="0">
                <a:solidFill>
                  <a:srgbClr val="010B13"/>
                </a:solidFill>
              </a:rPr>
              <a:t>Use the validity net and design terms as you evaluate each study</a:t>
            </a:r>
          </a:p>
          <a:p>
            <a:pPr algn="l"/>
            <a:r>
              <a:rPr lang="en-US" sz="1769" b="0" dirty="0">
                <a:solidFill>
                  <a:srgbClr val="010B13"/>
                </a:solidFill>
                <a:hlinkClick r:id="rId6"/>
              </a:rPr>
              <a:t>Design guide (Word)</a:t>
            </a:r>
          </a:p>
        </p:txBody>
      </p:sp>
      <p:sp>
        <p:nvSpPr>
          <p:cNvPr id="1008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4251191"/>
            <a:ext cx="54864" cy="1471415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Six questions guide report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What prior research prompted the study?</a:t>
            </a:r>
          </a:p>
          <a:p>
            <a:pPr lvl="0" indent="-457200" marL="457200">
              <a:buAutoNum type="arabicPeriod"/>
            </a:pPr>
            <a:r>
              <a:rPr/>
              <a:t>What is the study’s purpose?</a:t>
            </a:r>
          </a:p>
          <a:p>
            <a:pPr lvl="0" indent="-457200" marL="457200">
              <a:buAutoNum type="arabicPeriod"/>
            </a:pPr>
            <a:r>
              <a:rPr/>
              <a:t>What is the research question or hypothesis?</a:t>
            </a:r>
          </a:p>
          <a:p>
            <a:pPr lvl="0" indent="-457200" marL="457200">
              <a:buAutoNum type="arabicPeriod"/>
            </a:pPr>
            <a:r>
              <a:rPr/>
              <a:t>How was the research conducted?</a:t>
            </a:r>
          </a:p>
          <a:p>
            <a:pPr lvl="0" indent="-457200" marL="457200">
              <a:buAutoNum type="arabicPeriod"/>
            </a:pPr>
            <a:r>
              <a:rPr/>
              <a:t>What were the relevant results?</a:t>
            </a:r>
          </a:p>
          <a:p>
            <a:pPr lvl="0" indent="-457200" marL="457200">
              <a:buAutoNum type="arabicPeriod"/>
            </a:pPr>
            <a:r>
              <a:rPr/>
              <a:t>How do the findings connect to prior research?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APA style guides the reader</a:t>
            </a:r>
          </a:p>
        </p:txBody>
      </p:sp>
      <p:pic>
        <p:nvPicPr>
          <p:cNvPr descr="Collage of APA Publication Manual books, including stacked copies and open pages with tab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32000" y="2628900"/>
            <a:ext cx="30226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Content:</a:t>
            </a:r>
            <a:r>
              <a:rPr/>
              <a:t> find the information expected in each section</a:t>
            </a:r>
          </a:p>
          <a:p>
            <a:pPr lvl="0" indent="0" marL="0">
              <a:buNone/>
            </a:pPr>
            <a:r>
              <a:rPr b="1"/>
              <a:t>Format:</a:t>
            </a:r>
            <a:r>
              <a:rPr/>
              <a:t> citations, references, tables, and page layout</a:t>
            </a:r>
          </a:p>
          <a:p>
            <a:pPr lvl="0" indent="0" marL="0">
              <a:buNone/>
            </a:pPr>
            <a:r>
              <a:rPr b="1"/>
              <a:t>Style:</a:t>
            </a:r>
            <a:r>
              <a:rPr/>
              <a:t> use precise, clear, and respectful language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Find the question and design</a:t>
            </a:r>
          </a:p>
        </p:txBody>
      </p:sp>
      <p:sp>
        <p:nvSpPr>
          <p:cNvPr id="1009" name="card-steel" descr="card: Abstract. A short overview of the study’s purpose, method, results, and conclusion"/>
          <p:cNvSpPr/>
          <p:nvPr/>
        </p:nvSpPr>
        <p:spPr>
          <a:xfrm>
            <a:off x="1097280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Abstract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A short overview of the study’s purpose, method, results, and conclusion</a:t>
            </a:r>
          </a:p>
        </p:txBody>
      </p:sp>
      <p:sp>
        <p:nvSpPr>
          <p:cNvPr id="1010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1" name="card-steel" descr="card: Introduction. The prior research, gap, and hypothesis that motivate the study"/>
          <p:cNvSpPr/>
          <p:nvPr/>
        </p:nvSpPr>
        <p:spPr>
          <a:xfrm>
            <a:off x="4477512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Introduction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prior research, gap, and hypothesis that motivate the study</a:t>
            </a:r>
          </a:p>
        </p:txBody>
      </p:sp>
      <p:sp>
        <p:nvSpPr>
          <p:cNvPr id="1012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77512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3" name="card-steel" descr="card: Method. The participants, measures or materials, design, and procedure"/>
          <p:cNvSpPr/>
          <p:nvPr/>
        </p:nvSpPr>
        <p:spPr>
          <a:xfrm>
            <a:off x="7857744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Method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participants, measures or materials, design, and procedure</a:t>
            </a:r>
          </a:p>
        </p:txBody>
      </p:sp>
      <p:sp>
        <p:nvSpPr>
          <p:cNvPr id="1014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57744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Find evidence and interpretation</a:t>
            </a:r>
          </a:p>
        </p:txBody>
      </p:sp>
      <p:sp>
        <p:nvSpPr>
          <p:cNvPr id="1015" name="card-steel" descr="card: Results. The analyses and findings used to evaluate the hypothesis"/>
          <p:cNvSpPr/>
          <p:nvPr/>
        </p:nvSpPr>
        <p:spPr>
          <a:xfrm>
            <a:off x="1097280" y="2633472"/>
            <a:ext cx="3233928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Results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analyses and findings used to evaluate the hypothesis</a:t>
            </a:r>
          </a:p>
        </p:txBody>
      </p:sp>
      <p:sp>
        <p:nvSpPr>
          <p:cNvPr id="1016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7" name="card-steel" descr="card: Discussion. The interpretation, limits, implications, and next steps"/>
          <p:cNvSpPr/>
          <p:nvPr/>
        </p:nvSpPr>
        <p:spPr>
          <a:xfrm>
            <a:off x="4477512" y="2633472"/>
            <a:ext cx="3233928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Discussion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interpretation, limits, implications, and next steps</a:t>
            </a:r>
          </a:p>
        </p:txBody>
      </p:sp>
      <p:sp>
        <p:nvSpPr>
          <p:cNvPr id="1018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77512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9" name="card-steel" descr="card: References. The sources that informed the report and connect it to earlier research"/>
          <p:cNvSpPr/>
          <p:nvPr/>
        </p:nvSpPr>
        <p:spPr>
          <a:xfrm>
            <a:off x="7857744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References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sources that informed the report and connect it to earlier research</a:t>
            </a:r>
          </a:p>
        </p:txBody>
      </p:sp>
      <p:sp>
        <p:nvSpPr>
          <p:cNvPr id="1020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57744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Introductions lead to the hypothesis</a:t>
            </a:r>
          </a:p>
        </p:txBody>
      </p:sp>
      <p:pic>
        <p:nvPicPr>
          <p:cNvPr descr="Illustrated funnel representing an introduction narrowing from a broad topic to a specific research question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Background:</a:t>
            </a:r>
            <a:r>
              <a:rPr/>
              <a:t> What is known, and how were the key concepts studied?</a:t>
            </a:r>
          </a:p>
          <a:p>
            <a:pPr lvl="0" indent="0" marL="0">
              <a:buNone/>
            </a:pPr>
            <a:r>
              <a:rPr b="1"/>
              <a:t>Gap:</a:t>
            </a:r>
            <a:r>
              <a:rPr/>
              <a:t> What remains uncertain?</a:t>
            </a:r>
          </a:p>
          <a:p>
            <a:pPr lvl="0" indent="0" marL="0">
              <a:buNone/>
            </a:pPr>
            <a:r>
              <a:rPr b="1"/>
              <a:t>Current study:</a:t>
            </a:r>
            <a:r>
              <a:rPr/>
              <a:t> What will the authors test and predict?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Find the method details</a:t>
            </a:r>
          </a:p>
        </p:txBody>
      </p:sp>
      <p:pic>
        <p:nvPicPr>
          <p:cNvPr descr="Illustrated soup recipe with a central bowl surrounded by labeled ingredients, used as an analogy for the components of a research method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Participants:</a:t>
            </a:r>
            <a:r>
              <a:rPr/>
              <a:t> Who took part, how many people participated, and how were they selected?</a:t>
            </a:r>
          </a:p>
          <a:p>
            <a:pPr lvl="0" indent="0" marL="0">
              <a:buNone/>
            </a:pPr>
            <a:r>
              <a:rPr b="1"/>
              <a:t>Materials and measures:</a:t>
            </a:r>
            <a:r>
              <a:rPr/>
              <a:t> How were the variables manipulated or measured?</a:t>
            </a:r>
          </a:p>
          <a:p>
            <a:pPr lvl="0" indent="0" marL="0">
              <a:buNone/>
            </a:pPr>
            <a:r>
              <a:rPr b="1"/>
              <a:t>Procedure and design:</a:t>
            </a:r>
            <a:r>
              <a:rPr/>
              <a:t> What happened, in what order, and under which conditions?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Results report analyses</a:t>
            </a:r>
          </a:p>
        </p:txBody>
      </p:sp>
      <p:pic>
        <p:nvPicPr>
          <p:cNvPr descr="Spider-Man pointing meme contrasting the claim that data speak for themselves with the risk that data reflect a researcher's assumption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409700" y="2628900"/>
            <a:ext cx="42672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Descriptive evidence</a:t>
            </a:r>
          </a:p>
          <a:p>
            <a:pPr lvl="0" indent="0" marL="0">
              <a:buNone/>
            </a:pPr>
            <a:r>
              <a:rPr/>
              <a:t>How were the variables distributed? Were there unusual values or data problems?</a:t>
            </a:r>
          </a:p>
          <a:p>
            <a:pPr lvl="0" indent="0" marL="0">
              <a:buNone/>
            </a:pPr>
            <a:r>
              <a:rPr b="1"/>
              <a:t>Hypothesis test</a:t>
            </a:r>
          </a:p>
          <a:p>
            <a:pPr lvl="0" indent="0" marL="0">
              <a:buNone/>
            </a:pPr>
            <a:r>
              <a:rPr/>
              <a:t>What relationship or difference was tested? What did the analysis show?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Discussion interprets the findings</a:t>
            </a:r>
          </a:p>
        </p:txBody>
      </p:sp>
      <p:pic>
        <p:nvPicPr>
          <p:cNvPr descr="Four-panel baking-show meme moving from starting a recipe through a breakdown to a finished dish, used to represent how a discussion reconstructs a study's meani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68500" y="2628900"/>
            <a:ext cx="31369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</a:t>
            </a:r>
          </a:p>
          <a:p>
            <a:pPr lvl="0" indent="0" marL="0">
              <a:buNone/>
            </a:pPr>
            <a:r>
              <a:rPr/>
              <a:t>Summarize the main finding, then ask whether it supports the hypothesis and fits prior research</a:t>
            </a:r>
          </a:p>
          <a:p>
            <a:pPr lvl="0" indent="0" marL="0">
              <a:buNone/>
            </a:pPr>
            <a:r>
              <a:rPr b="1"/>
              <a:t>Qualify</a:t>
            </a:r>
          </a:p>
          <a:p>
            <a:pPr lvl="0" indent="0" marL="0">
              <a:buNone/>
            </a:pPr>
            <a:r>
              <a:rPr/>
              <a:t>Name limits, appropriate generalizations, and next steps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Check the full report</a:t>
            </a:r>
          </a:p>
        </p:txBody>
      </p:sp>
      <p:pic>
        <p:nvPicPr>
          <p:cNvPr descr="Two-panel meme contrasting confidence after reading an abstract with concern after reading the full publication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44600" y="2628900"/>
            <a:ext cx="45974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Caution</a:t>
            </a:r>
          </a:p>
          <a:p>
            <a:pPr lvl="0" indent="0" marL="0">
              <a:buNone/>
            </a:pPr>
            <a:r>
              <a:rPr/>
              <a:t>Start with the abstract. Check the design, measures, and generalizability in the full report.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Questions before we critique?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12 Critique in two passes</a:t>
            </a:r>
          </a:p>
        </p:txBody>
      </p:sp>
      <p:pic>
        <p:nvPicPr>
          <p:cNvPr descr="Social-media post about highlighting important text above a page that is almost entirely highlighted, illustrating why selective annotation matter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2628900"/>
            <a:ext cx="22606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Skim for the big picture:</a:t>
            </a:r>
            <a:r>
              <a:rPr/>
              <a:t> Purpose, design, and conclusion</a:t>
            </a:r>
          </a:p>
          <a:p>
            <a:pPr lvl="0" indent="-457200" marL="457200">
              <a:buAutoNum type="arabicPeriod"/>
            </a:pPr>
            <a:r>
              <a:rPr b="1"/>
              <a:t>Work through the worksheet:</a:t>
            </a:r>
            <a:r>
              <a:rPr/>
              <a:t> Identify the relevant passages, add comments, and explain what the evidence shows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13 Critique the actual study</a:t>
            </a:r>
          </a:p>
        </p:txBody>
      </p:sp>
      <p:sp>
        <p:nvSpPr>
          <p:cNvPr id="1021" name="card-steel" descr="card: Identify. Find the hypothesis and the evidence about sampling, assignment, measures, and procedures"/>
          <p:cNvSpPr/>
          <p:nvPr/>
        </p:nvSpPr>
        <p:spPr>
          <a:xfrm>
            <a:off x="1097280" y="2633472"/>
            <a:ext cx="4924044" cy="1471415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46" b="1" dirty="0">
                <a:solidFill>
                  <a:srgbClr val="010B13"/>
                </a:solidFill>
              </a:rPr>
              <a:t>Identify</a:t>
            </a:r>
          </a:p>
          <a:p>
            <a:pPr algn="l"/>
            <a:r>
              <a:rPr lang="en-US" sz="1769" b="0" dirty="0">
                <a:solidFill>
                  <a:srgbClr val="010B13"/>
                </a:solidFill>
              </a:rPr>
              <a:t>Find the hypothesis and the evidence about sampling, assignment, measures, and procedures</a:t>
            </a:r>
          </a:p>
        </p:txBody>
      </p:sp>
      <p:sp>
        <p:nvSpPr>
          <p:cNvPr id="1022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471415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3" name="card-steel" descr="card: Evaluate. Ask what is strong, weak, or unclear and why it matters for the stated claim"/>
          <p:cNvSpPr/>
          <p:nvPr/>
        </p:nvSpPr>
        <p:spPr>
          <a:xfrm>
            <a:off x="6167628" y="2633472"/>
            <a:ext cx="4924044" cy="1471415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46" b="1" dirty="0">
                <a:solidFill>
                  <a:srgbClr val="010B13"/>
                </a:solidFill>
              </a:rPr>
              <a:t>Evaluate</a:t>
            </a:r>
          </a:p>
          <a:p>
            <a:pPr algn="l"/>
            <a:r>
              <a:rPr lang="en-US" sz="1769" b="0" dirty="0">
                <a:solidFill>
                  <a:srgbClr val="010B13"/>
                </a:solidFill>
              </a:rPr>
              <a:t>Ask what is strong, weak, or unclear and why it matters for the stated claim</a:t>
            </a:r>
          </a:p>
        </p:txBody>
      </p:sp>
      <p:sp>
        <p:nvSpPr>
          <p:cNvPr id="1024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2633472"/>
            <a:ext cx="54864" cy="1471415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5" name="card-steel" descr="card: Explain. Connect each concern to interpretation, causal inference, or generalization"/>
          <p:cNvSpPr/>
          <p:nvPr/>
        </p:nvSpPr>
        <p:spPr>
          <a:xfrm>
            <a:off x="1097280" y="4251191"/>
            <a:ext cx="4924044" cy="1471415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46" b="1" dirty="0">
                <a:solidFill>
                  <a:srgbClr val="010B13"/>
                </a:solidFill>
              </a:rPr>
              <a:t>Explain</a:t>
            </a:r>
          </a:p>
          <a:p>
            <a:pPr algn="l"/>
            <a:r>
              <a:rPr lang="en-US" sz="1769" b="0" dirty="0">
                <a:solidFill>
                  <a:srgbClr val="010B13"/>
                </a:solidFill>
              </a:rPr>
              <a:t>Connect each concern to interpretation, causal inference, or generalization</a:t>
            </a:r>
          </a:p>
        </p:txBody>
      </p:sp>
      <p:sp>
        <p:nvSpPr>
          <p:cNvPr id="1026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4251191"/>
            <a:ext cx="54864" cy="1471415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7" name="card-steel" descr="card: Improve. For Critique 1, suggest a methods or procedure change that preserves the purpose, hypothesis, and overall design"/>
          <p:cNvSpPr/>
          <p:nvPr/>
        </p:nvSpPr>
        <p:spPr>
          <a:xfrm>
            <a:off x="6167628" y="4251191"/>
            <a:ext cx="4924044" cy="1741087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46" b="1" dirty="0">
                <a:solidFill>
                  <a:srgbClr val="010B13"/>
                </a:solidFill>
              </a:rPr>
              <a:t>Improve</a:t>
            </a:r>
          </a:p>
          <a:p>
            <a:pPr algn="l"/>
            <a:r>
              <a:rPr lang="en-US" sz="1769" b="0" dirty="0">
                <a:solidFill>
                  <a:srgbClr val="010B13"/>
                </a:solidFill>
              </a:rPr>
              <a:t>For Critique 1, suggest a methods or procedure change that preserves the purpose, hypothesis, and overall design</a:t>
            </a:r>
          </a:p>
        </p:txBody>
      </p:sp>
      <p:sp>
        <p:nvSpPr>
          <p:cNvPr id="1028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4251191"/>
            <a:ext cx="54864" cy="1741087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Research Critique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14 Use three labels in Critique 1</a:t>
            </a:r>
          </a:p>
        </p:txBody>
      </p:sp>
      <p:sp>
        <p:nvSpPr>
          <p:cNvPr id="1029" name="card-steel" descr="card: [YELLOW · hypothesis]. Identify every passage that states or implies the research hypothesis"/>
          <p:cNvSpPr/>
          <p:nvPr/>
        </p:nvSpPr>
        <p:spPr>
          <a:xfrm>
            <a:off x="1097280" y="2633472"/>
            <a:ext cx="3233928" cy="1252631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561" b="1" dirty="0">
                <a:solidFill>
                  <a:srgbClr val="010B13"/>
                </a:solidFill>
              </a:rPr>
              <a:t>[YELLOW · hypothesis]</a:t>
            </a:r>
          </a:p>
          <a:p>
            <a:pPr algn="l"/>
            <a:r>
              <a:rPr lang="en-US" sz="1419" b="0" dirty="0">
                <a:solidFill>
                  <a:srgbClr val="010B13"/>
                </a:solidFill>
              </a:rPr>
              <a:t>Identify every passage that states or implies the research hypothesis</a:t>
            </a:r>
          </a:p>
        </p:txBody>
      </p:sp>
      <p:sp>
        <p:nvSpPr>
          <p:cNvPr id="1030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252631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1" name="card-steel" descr="card: [GREEN · external validity]. Identify evidence about the population, setting, task, and time"/>
          <p:cNvSpPr/>
          <p:nvPr/>
        </p:nvSpPr>
        <p:spPr>
          <a:xfrm>
            <a:off x="4477512" y="2633472"/>
            <a:ext cx="3233928" cy="1490572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561" b="1" dirty="0">
                <a:solidFill>
                  <a:srgbClr val="010B13"/>
                </a:solidFill>
              </a:rPr>
              <a:t>[GREEN · external validity]</a:t>
            </a:r>
          </a:p>
          <a:p>
            <a:pPr algn="l"/>
            <a:r>
              <a:rPr lang="en-US" sz="1419" b="0" dirty="0">
                <a:solidFill>
                  <a:srgbClr val="010B13"/>
                </a:solidFill>
              </a:rPr>
              <a:t>Identify evidence about the population, setting, task, and time</a:t>
            </a:r>
          </a:p>
        </p:txBody>
      </p:sp>
      <p:sp>
        <p:nvSpPr>
          <p:cNvPr id="1032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77512" y="2633472"/>
            <a:ext cx="54864" cy="1490572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3" name="card-steel" descr="card: [BLUE · internal validity]. Identify evidence about assignment, equivalence, procedures, and possible confounds"/>
          <p:cNvSpPr/>
          <p:nvPr/>
        </p:nvSpPr>
        <p:spPr>
          <a:xfrm>
            <a:off x="7857744" y="2633472"/>
            <a:ext cx="3233928" cy="1706882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561" b="1" dirty="0">
                <a:solidFill>
                  <a:srgbClr val="010B13"/>
                </a:solidFill>
              </a:rPr>
              <a:t>[BLUE · internal validity]</a:t>
            </a:r>
          </a:p>
          <a:p>
            <a:pPr algn="l"/>
            <a:r>
              <a:rPr lang="en-US" sz="1419" b="0" dirty="0">
                <a:solidFill>
                  <a:srgbClr val="010B13"/>
                </a:solidFill>
              </a:rPr>
              <a:t>Identify evidence about assignment, equivalence, procedures, and possible confounds</a:t>
            </a:r>
          </a:p>
        </p:txBody>
      </p:sp>
      <p:sp>
        <p:nvSpPr>
          <p:cNvPr id="1034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57744" y="2633472"/>
            <a:ext cx="54864" cy="1706882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5" name="callout-note" descr="note callout: Note. Highlight the passages you identify and add the matching written labels"/>
          <p:cNvSpPr/>
          <p:nvPr/>
        </p:nvSpPr>
        <p:spPr>
          <a:xfrm>
            <a:off x="1097280" y="4486658"/>
            <a:ext cx="9994392" cy="1122845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66CC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6" name="callout-title" descr=""/>
          <p:cNvSpPr/>
          <p:nvPr/>
        </p:nvSpPr>
        <p:spPr>
          <a:xfrm>
            <a:off x="1097280" y="4486658"/>
            <a:ext cx="9994392" cy="302834"/>
          </a:xfrm>
          <a:prstGeom prst="roundRect">
            <a:avLst>
              <a:gd name="adj" fmla="val 6000"/>
            </a:avLst>
          </a:prstGeom>
          <a:solidFill>
            <a:srgbClr val="0066CC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1561" b="1" dirty="0">
                <a:solidFill>
                  <a:srgbClr val="FEFDFA"/>
                </a:solidFill>
              </a:rPr>
              <a:t>Note</a:t>
            </a:r>
          </a:p>
        </p:txBody>
      </p:sp>
      <p:sp>
        <p:nvSpPr>
          <p:cNvPr id="1037" name="callout-body" descr=""/>
          <p:cNvSpPr/>
          <p:nvPr/>
        </p:nvSpPr>
        <p:spPr>
          <a:xfrm>
            <a:off x="1097280" y="4789492"/>
            <a:ext cx="9994392" cy="820011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419" b="0" dirty="0">
                <a:solidFill>
                  <a:srgbClr val="010B13"/>
                </a:solidFill>
              </a:rPr>
              <a:t>Highlight the passages you identify and add the matching written labels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15 Identify the intended claim</a:t>
            </a:r>
          </a:p>
        </p:txBody>
      </p:sp>
      <p:sp>
        <p:nvSpPr>
          <p:cNvPr id="1038" name="card-steel" descr="card: Associative language. • relates to • predicts • is linked with • differs across existing groups"/>
          <p:cNvSpPr/>
          <p:nvPr/>
        </p:nvSpPr>
        <p:spPr>
          <a:xfrm>
            <a:off x="1097280" y="2633472"/>
            <a:ext cx="4924044" cy="1647701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814" b="1" dirty="0">
                <a:solidFill>
                  <a:srgbClr val="010B13"/>
                </a:solidFill>
              </a:rPr>
              <a:t>Associative language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• relates to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• predicts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• is linked with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• differs across existing groups</a:t>
            </a:r>
          </a:p>
        </p:txBody>
      </p:sp>
      <p:sp>
        <p:nvSpPr>
          <p:cNvPr id="1039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647701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40" name="card-steel" descr="card: Causal language. • causes • affects • leads to • changes"/>
          <p:cNvSpPr/>
          <p:nvPr/>
        </p:nvSpPr>
        <p:spPr>
          <a:xfrm>
            <a:off x="6167628" y="2633472"/>
            <a:ext cx="4924044" cy="1647701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814" b="1" dirty="0">
                <a:solidFill>
                  <a:srgbClr val="010B13"/>
                </a:solidFill>
              </a:rPr>
              <a:t>Causal language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• causes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• affects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• leads to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• changes</a:t>
            </a:r>
          </a:p>
        </p:txBody>
      </p:sp>
      <p:sp>
        <p:nvSpPr>
          <p:cNvPr id="1041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2633472"/>
            <a:ext cx="54864" cy="1647701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42" name="callout-important" descr="important callout: Important. Compare the intended claim with the design"/>
          <p:cNvSpPr/>
          <p:nvPr/>
        </p:nvSpPr>
        <p:spPr>
          <a:xfrm>
            <a:off x="1097280" y="4427477"/>
            <a:ext cx="9994392" cy="1245523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0000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43" name="callout-title" descr=""/>
          <p:cNvSpPr/>
          <p:nvPr/>
        </p:nvSpPr>
        <p:spPr>
          <a:xfrm>
            <a:off x="1097280" y="4427477"/>
            <a:ext cx="9994392" cy="351905"/>
          </a:xfrm>
          <a:prstGeom prst="roundRect">
            <a:avLst>
              <a:gd name="adj" fmla="val 6000"/>
            </a:avLst>
          </a:prstGeom>
          <a:solidFill>
            <a:srgbClr val="CC0000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1814" b="1" dirty="0">
                <a:solidFill>
                  <a:srgbClr val="FEFDFA"/>
                </a:solidFill>
              </a:rPr>
              <a:t>Important</a:t>
            </a:r>
          </a:p>
        </p:txBody>
      </p:sp>
      <p:sp>
        <p:nvSpPr>
          <p:cNvPr id="1044" name="callout-body" descr=""/>
          <p:cNvSpPr/>
          <p:nvPr/>
        </p:nvSpPr>
        <p:spPr>
          <a:xfrm>
            <a:off x="1097280" y="4779382"/>
            <a:ext cx="9994392" cy="893618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649" b="0" dirty="0">
                <a:solidFill>
                  <a:srgbClr val="010B13"/>
                </a:solidFill>
              </a:rPr>
              <a:t>Compare the intended claim with the design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16 Define where findings generalize</a:t>
            </a:r>
          </a:p>
        </p:txBody>
      </p:sp>
      <p:sp>
        <p:nvSpPr>
          <p:cNvPr id="1045" name="card-steel" descr="card: Population. Who was the target population, and how did the sample enter the study?"/>
          <p:cNvSpPr/>
          <p:nvPr/>
        </p:nvSpPr>
        <p:spPr>
          <a:xfrm>
            <a:off x="1097280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Population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Who was the target population, and how did the sample enter the study?</a:t>
            </a:r>
          </a:p>
        </p:txBody>
      </p:sp>
      <p:sp>
        <p:nvSpPr>
          <p:cNvPr id="1046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47" name="card-steel" descr="card: Setting. Does the research setting resemble the settings named in the conclusion?"/>
          <p:cNvSpPr/>
          <p:nvPr/>
        </p:nvSpPr>
        <p:spPr>
          <a:xfrm>
            <a:off x="6167628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Setting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Does the research setting resemble the settings named in the conclusion?</a:t>
            </a:r>
          </a:p>
        </p:txBody>
      </p:sp>
      <p:sp>
        <p:nvSpPr>
          <p:cNvPr id="1048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49" name="card-steel" descr="card: Task or stimulus. Does the specific activity represent the broader behavior the authors discuss?"/>
          <p:cNvSpPr/>
          <p:nvPr/>
        </p:nvSpPr>
        <p:spPr>
          <a:xfrm>
            <a:off x="1097280" y="4395216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Task or stimulus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Does the specific activity represent the broader behavior the authors discuss?</a:t>
            </a:r>
          </a:p>
        </p:txBody>
      </p:sp>
      <p:sp>
        <p:nvSpPr>
          <p:cNvPr id="1050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4395216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51" name="card-steel" descr="card: Time and context. Could the relationship depend on a particular social or historical moment?"/>
          <p:cNvSpPr/>
          <p:nvPr/>
        </p:nvSpPr>
        <p:spPr>
          <a:xfrm>
            <a:off x="6167628" y="4395216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Time and context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Could the relationship depend on a particular social or historical moment?</a:t>
            </a:r>
          </a:p>
        </p:txBody>
      </p:sp>
      <p:sp>
        <p:nvSpPr>
          <p:cNvPr id="1052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4395216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17 Rule out alternative explanations</a:t>
            </a:r>
          </a:p>
        </p:txBody>
      </p:sp>
      <p:sp>
        <p:nvSpPr>
          <p:cNvPr id="1053" name="card-steel" descr="card: Initial equivalence. Were groups comparable before the independent variable differed? Check assignment and preexisting differences."/>
          <p:cNvSpPr/>
          <p:nvPr/>
        </p:nvSpPr>
        <p:spPr>
          <a:xfrm>
            <a:off x="1097280" y="2633472"/>
            <a:ext cx="4924044" cy="13963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814" b="1" dirty="0">
                <a:solidFill>
                  <a:srgbClr val="010B13"/>
                </a:solidFill>
              </a:rPr>
              <a:t>Initial equivalence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Were groups comparable before the independent variable differed? Check assignment and preexisting differences.</a:t>
            </a:r>
          </a:p>
        </p:txBody>
      </p:sp>
      <p:sp>
        <p:nvSpPr>
          <p:cNvPr id="1054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3963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55" name="card-steel" descr="card: Ongoing equivalence. Did conditions stay the same except for the independent variable? Check materials, timing, setting, and researcher behavior."/>
          <p:cNvSpPr/>
          <p:nvPr/>
        </p:nvSpPr>
        <p:spPr>
          <a:xfrm>
            <a:off x="6167628" y="2633472"/>
            <a:ext cx="4924044" cy="1647701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814" b="1" dirty="0">
                <a:solidFill>
                  <a:srgbClr val="010B13"/>
                </a:solidFill>
              </a:rPr>
              <a:t>Ongoing equivalence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Did conditions stay the same except for the independent variable? Check materials, timing, setting, and researcher behavior.</a:t>
            </a:r>
          </a:p>
        </p:txBody>
      </p:sp>
      <p:sp>
        <p:nvSpPr>
          <p:cNvPr id="1056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2633472"/>
            <a:ext cx="54864" cy="1647701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57" name="callout-note" descr="note callout: Note. A confound is a systematic difference that could explain the result instead of the intended independent variable"/>
          <p:cNvSpPr/>
          <p:nvPr/>
        </p:nvSpPr>
        <p:spPr>
          <a:xfrm>
            <a:off x="1097280" y="4427477"/>
            <a:ext cx="9994392" cy="1496884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66CC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58" name="callout-title" descr=""/>
          <p:cNvSpPr/>
          <p:nvPr/>
        </p:nvSpPr>
        <p:spPr>
          <a:xfrm>
            <a:off x="1097280" y="4427477"/>
            <a:ext cx="9994392" cy="351905"/>
          </a:xfrm>
          <a:prstGeom prst="roundRect">
            <a:avLst>
              <a:gd name="adj" fmla="val 6000"/>
            </a:avLst>
          </a:prstGeom>
          <a:solidFill>
            <a:srgbClr val="0066CC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1814" b="1" dirty="0">
                <a:solidFill>
                  <a:srgbClr val="FEFDFA"/>
                </a:solidFill>
              </a:rPr>
              <a:t>Note</a:t>
            </a:r>
          </a:p>
        </p:txBody>
      </p:sp>
      <p:sp>
        <p:nvSpPr>
          <p:cNvPr id="1059" name="callout-body" descr=""/>
          <p:cNvSpPr/>
          <p:nvPr/>
        </p:nvSpPr>
        <p:spPr>
          <a:xfrm>
            <a:off x="1097280" y="4779382"/>
            <a:ext cx="9994392" cy="1144979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649" b="0" dirty="0">
                <a:solidFill>
                  <a:srgbClr val="010B13"/>
                </a:solidFill>
              </a:rPr>
              <a:t>A confound is a systematic difference that could explain the result instead of the intended independent variable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18 Match labels to operations</a:t>
            </a:r>
          </a:p>
        </p:txBody>
      </p:sp>
      <p:sp>
        <p:nvSpPr>
          <p:cNvPr id="1060" name="card-steel" descr="card: Independent variable. What did the researchers call it? What exactly did they manipulate or measure?"/>
          <p:cNvSpPr/>
          <p:nvPr/>
        </p:nvSpPr>
        <p:spPr>
          <a:xfrm>
            <a:off x="1097280" y="2633472"/>
            <a:ext cx="4924044" cy="13963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814" b="1" dirty="0">
                <a:solidFill>
                  <a:srgbClr val="010B13"/>
                </a:solidFill>
              </a:rPr>
              <a:t>Independent variable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What did the researchers call it?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What exactly did they manipulate or measure?</a:t>
            </a:r>
          </a:p>
        </p:txBody>
      </p:sp>
      <p:sp>
        <p:nvSpPr>
          <p:cNvPr id="1061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3963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62" name="card-steel" descr="card: Dependent variable. What construct did they claim to assess? What exact response produced the score?"/>
          <p:cNvSpPr/>
          <p:nvPr/>
        </p:nvSpPr>
        <p:spPr>
          <a:xfrm>
            <a:off x="6167628" y="2633472"/>
            <a:ext cx="4924044" cy="1647701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814" b="1" dirty="0">
                <a:solidFill>
                  <a:srgbClr val="010B13"/>
                </a:solidFill>
              </a:rPr>
              <a:t>Dependent variable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What construct did they claim to assess?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What exact response produced the score?</a:t>
            </a:r>
          </a:p>
        </p:txBody>
      </p:sp>
      <p:sp>
        <p:nvSpPr>
          <p:cNvPr id="1063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2633472"/>
            <a:ext cx="54864" cy="1647701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64" name="callout-tip" descr="tip callout: Tip. Find how each variable was manipulated or measured in the Method. Does that operation capture the construct?"/>
          <p:cNvSpPr/>
          <p:nvPr/>
        </p:nvSpPr>
        <p:spPr>
          <a:xfrm>
            <a:off x="1097280" y="4427477"/>
            <a:ext cx="9994392" cy="1496884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854A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65" name="callout-title" descr=""/>
          <p:cNvSpPr/>
          <p:nvPr/>
        </p:nvSpPr>
        <p:spPr>
          <a:xfrm>
            <a:off x="1097280" y="4427477"/>
            <a:ext cx="9994392" cy="351905"/>
          </a:xfrm>
          <a:prstGeom prst="roundRect">
            <a:avLst>
              <a:gd name="adj" fmla="val 6000"/>
            </a:avLst>
          </a:prstGeom>
          <a:solidFill>
            <a:srgbClr val="00854A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1814" b="1" dirty="0">
                <a:solidFill>
                  <a:srgbClr val="FEFDFA"/>
                </a:solidFill>
              </a:rPr>
              <a:t>Tip</a:t>
            </a:r>
          </a:p>
        </p:txBody>
      </p:sp>
      <p:sp>
        <p:nvSpPr>
          <p:cNvPr id="1066" name="callout-body" descr=""/>
          <p:cNvSpPr/>
          <p:nvPr/>
        </p:nvSpPr>
        <p:spPr>
          <a:xfrm>
            <a:off x="1097280" y="4779382"/>
            <a:ext cx="9994392" cy="1144979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649" b="0" dirty="0">
                <a:solidFill>
                  <a:srgbClr val="010B13"/>
                </a:solidFill>
              </a:rPr>
              <a:t>Find how each variable was manipulated or measured in the Method. Does that operation capture the construct?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19 Trace every condition difference</a:t>
            </a:r>
          </a:p>
        </p:txBody>
      </p:sp>
      <p:sp>
        <p:nvSpPr>
          <p:cNvPr id="1067" name="card-steel" descr="card: The reported comparison. • Competitive Mortal Kombat 11 • Noncompetitive Helldivers 2 • Aggression measured with the Hot Sauce Paradigm"/>
          <p:cNvSpPr/>
          <p:nvPr/>
        </p:nvSpPr>
        <p:spPr>
          <a:xfrm>
            <a:off x="1097280" y="2633472"/>
            <a:ext cx="4924044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The reported comparison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Competitive Mortal Kombat 11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Noncompetitive Helldivers 2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Aggression measured with the Hot Sauce Paradigm</a:t>
            </a:r>
          </a:p>
        </p:txBody>
      </p:sp>
      <p:sp>
        <p:nvSpPr>
          <p:cNvPr id="1068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69" name="card-steel" descr="card: Questions to annotate. • What changed besides competition? • Were the groups equivalent before and during the session? • What population and settings can the sample represent? For each difference, explain how it could change the dependent variable"/>
          <p:cNvSpPr/>
          <p:nvPr/>
        </p:nvSpPr>
        <p:spPr>
          <a:xfrm>
            <a:off x="6167628" y="2633472"/>
            <a:ext cx="4924044" cy="3444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Questions to annotate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What changed besides competition?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Were the groups equivalent before and during the session?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What population and settings can the sample represent?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For each difference, explain how it could change the dependent variable</a:t>
            </a:r>
          </a:p>
        </p:txBody>
      </p:sp>
      <p:sp>
        <p:nvSpPr>
          <p:cNvPr id="1070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2633472"/>
            <a:ext cx="54864" cy="3444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20 Explain each problem and fix</a:t>
            </a:r>
          </a:p>
        </p:txBody>
      </p:sp>
      <p:sp>
        <p:nvSpPr>
          <p:cNvPr id="1071" name="prose" descr=""/>
          <p:cNvSpPr/>
          <p:nvPr/>
        </p:nvSpPr>
        <p:spPr>
          <a:xfrm>
            <a:off x="1097280" y="2633472"/>
            <a:ext cx="9994392" cy="6096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0" rIns="182880" bIns="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For Critique 1, address at least one internal-validity problem and one external-validity problem</a:t>
            </a:r>
          </a:p>
        </p:txBody>
      </p:sp>
      <p:sp>
        <p:nvSpPr>
          <p:cNvPr id="1072" name="card-steel" descr="card: 1 · Problem. Name one specific feature of the method or procedure"/>
          <p:cNvSpPr/>
          <p:nvPr/>
        </p:nvSpPr>
        <p:spPr>
          <a:xfrm>
            <a:off x="1097280" y="3389376"/>
            <a:ext cx="3233928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1 · Problem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Name one specific feature of the method or procedure</a:t>
            </a:r>
          </a:p>
        </p:txBody>
      </p:sp>
      <p:sp>
        <p:nvSpPr>
          <p:cNvPr id="1073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3389376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74" name="card-steel" descr="card: 2 · Consequence. Explain how it affects interpretation or generalization"/>
          <p:cNvSpPr/>
          <p:nvPr/>
        </p:nvSpPr>
        <p:spPr>
          <a:xfrm>
            <a:off x="4477512" y="3389376"/>
            <a:ext cx="3233928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2 · Consequence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Explain how it affects interpretation or generalization</a:t>
            </a:r>
          </a:p>
        </p:txBody>
      </p:sp>
      <p:sp>
        <p:nvSpPr>
          <p:cNvPr id="1075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77512" y="3389376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76" name="card-steel" descr="card: 3 · Fix. Propose a feasible change that preserves the study’s purpose and overall design"/>
          <p:cNvSpPr/>
          <p:nvPr/>
        </p:nvSpPr>
        <p:spPr>
          <a:xfrm>
            <a:off x="7857744" y="3389376"/>
            <a:ext cx="3233928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3 · Fix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Propose a feasible change that preserves the study’s purpose and overall design</a:t>
            </a:r>
          </a:p>
        </p:txBody>
      </p:sp>
      <p:sp>
        <p:nvSpPr>
          <p:cNvPr id="1077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57744" y="3389376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Research Critique 2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21 Part A: compare claim and design</a:t>
            </a:r>
          </a:p>
        </p:txBody>
      </p:sp>
      <p:sp>
        <p:nvSpPr>
          <p:cNvPr id="1078" name="card-steel" descr="card: The claim. The authors predict that longer karate training leads to faster visual-perceptual speed Which words show the relationship they intended to test?"/>
          <p:cNvSpPr/>
          <p:nvPr/>
        </p:nvSpPr>
        <p:spPr>
          <a:xfrm>
            <a:off x="1097280" y="2633472"/>
            <a:ext cx="4924044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The claim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authors predict that longer karate training leads to faster visual-perceptual speed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Which words show the relationship they intended to test?</a:t>
            </a:r>
          </a:p>
        </p:txBody>
      </p:sp>
      <p:sp>
        <p:nvSpPr>
          <p:cNvPr id="1079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80" name="card-steel" descr="card: Find the design evidence. • How were the belt groups formed? • Who taught each group? • When was visual-perceptual speed tested?"/>
          <p:cNvSpPr/>
          <p:nvPr/>
        </p:nvSpPr>
        <p:spPr>
          <a:xfrm>
            <a:off x="6167628" y="2633472"/>
            <a:ext cx="4924044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Find the design evidence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How were the belt groups formed?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Who taught each group?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When was visual-perceptual speed tested?</a:t>
            </a:r>
          </a:p>
        </p:txBody>
      </p:sp>
      <p:sp>
        <p:nvSpPr>
          <p:cNvPr id="1081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22 Apply four validity questions</a:t>
            </a:r>
          </a:p>
        </p:txBody>
      </p:sp>
      <p:sp>
        <p:nvSpPr>
          <p:cNvPr id="1082" name="card-steel" descr="card: Internal. How were participants assigned, and were conditions comparable?"/>
          <p:cNvSpPr/>
          <p:nvPr/>
        </p:nvSpPr>
        <p:spPr>
          <a:xfrm>
            <a:off x="1097280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Internal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How were participants assigned, and were conditions comparable?</a:t>
            </a:r>
          </a:p>
        </p:txBody>
      </p:sp>
      <p:sp>
        <p:nvSpPr>
          <p:cNvPr id="1083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84" name="card-steel" descr="card: Measurement. Do the IV and DV operations match the concepts in the hypothesis?"/>
          <p:cNvSpPr/>
          <p:nvPr/>
        </p:nvSpPr>
        <p:spPr>
          <a:xfrm>
            <a:off x="6167628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Measurement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Do the IV and DV operations match the concepts in the hypothesis?</a:t>
            </a:r>
          </a:p>
        </p:txBody>
      </p:sp>
      <p:sp>
        <p:nvSpPr>
          <p:cNvPr id="1085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86" name="card-steel" descr="card: External. How was the sample obtained? What settings and tasks are reported?"/>
          <p:cNvSpPr/>
          <p:nvPr/>
        </p:nvSpPr>
        <p:spPr>
          <a:xfrm>
            <a:off x="1097280" y="4395216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External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How was the sample obtained? What settings and tasks are reported?</a:t>
            </a:r>
          </a:p>
        </p:txBody>
      </p:sp>
      <p:sp>
        <p:nvSpPr>
          <p:cNvPr id="1087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4395216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88" name="card-steel" descr="card: Generalization. What do the authors claim beyond this sample? Are those extensions justified?"/>
          <p:cNvSpPr/>
          <p:nvPr/>
        </p:nvSpPr>
        <p:spPr>
          <a:xfrm>
            <a:off x="6167628" y="4395216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Generalization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What do the authors claim beyond this sample? Are those extensions justified?</a:t>
            </a:r>
          </a:p>
        </p:txBody>
      </p:sp>
      <p:sp>
        <p:nvSpPr>
          <p:cNvPr id="1089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4395216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23 Part B: follow the redesign prompts</a:t>
            </a:r>
          </a:p>
        </p:txBody>
      </p:sp>
      <p:sp>
        <p:nvSpPr>
          <p:cNvPr id="1090" name="card-steel" descr="card: RH1 · Questions 1a–e. Compare between-groups and within-groups designs. Follow the assignment and practical constraints specified in each question."/>
          <p:cNvSpPr/>
          <p:nvPr/>
        </p:nvSpPr>
        <p:spPr>
          <a:xfrm>
            <a:off x="1097280" y="2633472"/>
            <a:ext cx="4924044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RH1 · Questions 1a–e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Compare between-groups and within-groups designs. Follow the assignment and practical constraints specified in each question.</a:t>
            </a:r>
          </a:p>
        </p:txBody>
      </p:sp>
      <p:sp>
        <p:nvSpPr>
          <p:cNvPr id="1091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92" name="card-steel" descr="card: RH2 · Questions 2a–b. Evaluate whether a true experiment is possible. Then propose a nonexperimental design with sampling, data collection, IV, DV, and control variables."/>
          <p:cNvSpPr/>
          <p:nvPr/>
        </p:nvSpPr>
        <p:spPr>
          <a:xfrm>
            <a:off x="6167628" y="2633472"/>
            <a:ext cx="4924044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RH2 · Questions 2a–b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Evaluate whether a true experiment is possible. Then propose a nonexperimental design with sampling, data collection, IV, DV, and control variables.</a:t>
            </a:r>
          </a:p>
        </p:txBody>
      </p:sp>
      <p:sp>
        <p:nvSpPr>
          <p:cNvPr id="1093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94" name="prose" descr=""/>
          <p:cNvSpPr/>
          <p:nvPr/>
        </p:nvSpPr>
        <p:spPr>
          <a:xfrm>
            <a:off x="1097280" y="5004816"/>
            <a:ext cx="9994392" cy="6096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0" rIns="182880" bIns="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Include the two lecture-slide screenshots requested in Questions 1a and 1b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24 Work session</a:t>
            </a:r>
          </a:p>
        </p:txBody>
      </p:sp>
      <p:sp>
        <p:nvSpPr>
          <p:cNvPr id="1095" name="card-steel" descr="card: Complete. Finish Research Critique 1, including both validity problems and proposed fixes"/>
          <p:cNvSpPr/>
          <p:nvPr/>
        </p:nvSpPr>
        <p:spPr>
          <a:xfrm>
            <a:off x="1097280" y="2633472"/>
            <a:ext cx="3233928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Complete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Finish Research Critique 1, including both validity problems and proposed fixes</a:t>
            </a:r>
          </a:p>
        </p:txBody>
      </p:sp>
      <p:sp>
        <p:nvSpPr>
          <p:cNvPr id="1096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97" name="card-steel" descr="card: Check. Review whether each explanation connects evidence to a consequence"/>
          <p:cNvSpPr/>
          <p:nvPr/>
        </p:nvSpPr>
        <p:spPr>
          <a:xfrm>
            <a:off x="4477512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Check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Review whether each explanation connects evidence to a consequence</a:t>
            </a:r>
          </a:p>
        </p:txBody>
      </p:sp>
      <p:sp>
        <p:nvSpPr>
          <p:cNvPr id="1098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77512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99" name="card-steel" descr="card: Begin. Start Research Critique 2 and identify any questions to discuss before leaving"/>
          <p:cNvSpPr/>
          <p:nvPr/>
        </p:nvSpPr>
        <p:spPr>
          <a:xfrm>
            <a:off x="7857744" y="2633472"/>
            <a:ext cx="3233928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Begin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Start Research Critique 2 and identify any questions to discuss before leaving</a:t>
            </a:r>
          </a:p>
        </p:txBody>
      </p:sp>
      <p:sp>
        <p:nvSpPr>
          <p:cNvPr id="1100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57744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25 Check both critiques</a:t>
            </a:r>
          </a:p>
        </p:txBody>
      </p:sp>
      <p:sp>
        <p:nvSpPr>
          <p:cNvPr id="1101" name="card-steel" descr="card: Evidence. Each answer points to a specific feature of the article or method"/>
          <p:cNvSpPr/>
          <p:nvPr/>
        </p:nvSpPr>
        <p:spPr>
          <a:xfrm>
            <a:off x="1097280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Evidence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Each answer points to a specific feature of the article or method</a:t>
            </a:r>
          </a:p>
        </p:txBody>
      </p:sp>
      <p:sp>
        <p:nvSpPr>
          <p:cNvPr id="1102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103" name="card-steel" descr="card: Reasoning. Each critique explains why the feature matters"/>
          <p:cNvSpPr/>
          <p:nvPr/>
        </p:nvSpPr>
        <p:spPr>
          <a:xfrm>
            <a:off x="6167628" y="2633472"/>
            <a:ext cx="4924044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Reasoning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Each critique explains why the feature matters</a:t>
            </a:r>
          </a:p>
        </p:txBody>
      </p:sp>
      <p:sp>
        <p:nvSpPr>
          <p:cNvPr id="1104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2633472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105" name="card-steel" descr="card: Design language. Distinguish the authors’ intended hypothesis from what the design supports"/>
          <p:cNvSpPr/>
          <p:nvPr/>
        </p:nvSpPr>
        <p:spPr>
          <a:xfrm>
            <a:off x="1097280" y="4395216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Design language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Distinguish the authors’ intended hypothesis from what the design supports</a:t>
            </a:r>
          </a:p>
        </p:txBody>
      </p:sp>
      <p:sp>
        <p:nvSpPr>
          <p:cNvPr id="1106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4395216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107" name="card-steel" descr="card: Submission. Both critique worksheets are complete and ready before Week 4"/>
          <p:cNvSpPr/>
          <p:nvPr/>
        </p:nvSpPr>
        <p:spPr>
          <a:xfrm>
            <a:off x="6167628" y="4395216"/>
            <a:ext cx="4924044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Submission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Both critique worksheets are complete and ready before Week 4</a:t>
            </a:r>
          </a:p>
        </p:txBody>
      </p:sp>
      <p:sp>
        <p:nvSpPr>
          <p:cNvPr id="1108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4395216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B65B00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Reading &amp; Writing Research Reports</dc:title>
  <dc:creator>PSYC 350 Laboratory</dc:creator>
  <cp:keywords/>
  <dcterms:created xsi:type="dcterms:W3CDTF">2026-09-10T18:11:28Z</dcterms:created>
  <dcterms:modified xsi:type="dcterms:W3CDTF">2026-09-10T18:11:28Z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ffiliations">
    <vt:lpwstr/>
  </property>
  <property fmtid="{D5CDD505-2E9C-101B-9397-08002B2CF9AE}" pid="4" name="authors">
    <vt:lpwstr/>
  </property>
  <property fmtid="{D5CDD505-2E9C-101B-9397-08002B2CF9AE}" pid="5" name="back-to-top-navigation">
    <vt:lpwstr>True</vt:lpwstr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ack-link">
    <vt:lpwstr>False</vt:lpwstr>
  </property>
  <property fmtid="{D5CDD505-2E9C-101B-9397-08002B2CF9AE}" pid="13" name="include-before">
    <vt:lpwstr/>
  </property>
  <property fmtid="{D5CDD505-2E9C-101B-9397-08002B2CF9AE}" pid="14" name="institute">
    <vt:lpwstr>University of Nebraska–Lincoln</vt:lpwstr>
  </property>
  <property fmtid="{D5CDD505-2E9C-101B-9397-08002B2CF9AE}" pid="15" name="institutes">
    <vt:lpwstr/>
  </property>
  <property fmtid="{D5CDD505-2E9C-101B-9397-08002B2CF9AE}" pid="16" name="labels">
    <vt:lpwstr/>
  </property>
  <property fmtid="{D5CDD505-2E9C-101B-9397-08002B2CF9AE}" pid="17" name="nebraska-pptx">
    <vt:lpwstr/>
  </property>
  <property fmtid="{D5CDD505-2E9C-101B-9397-08002B2CF9AE}" pid="18" name="revealjs-plugins">
    <vt:lpwstr/>
  </property>
  <property fmtid="{D5CDD505-2E9C-101B-9397-08002B2CF9AE}" pid="19" name="subtitle">
    <vt:lpwstr>Lab 03</vt:lpwstr>
  </property>
  <property fmtid="{D5CDD505-2E9C-101B-9397-08002B2CF9AE}" pid="20" name="toc-title">
    <vt:lpwstr>Table of contents</vt:lpwstr>
  </property>
</Properties>
</file>