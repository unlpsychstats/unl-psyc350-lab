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xml" ContentType="application/vnd.openxmlformats-officedocument.presentationml.notesSlide+xml"/>
</Types>
</file>

<file path=ppt/presentation.xml><?xml version="1.0" encoding="utf-8"?>
<p:presentation xmlns:a="http://schemas.openxmlformats.org/drawingml/2006/main" xmlns:p="http://schemas.openxmlformats.org/presentationml/2006/main" xmlns:r="http://schemas.openxmlformats.org/officeDocument/2006/relationships" autoCompressPictures="0">
  <p:sldMasterIdLst>
    <p:sldMasterId id="2147483696"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17524"/>
    <p:restoredTop sz="94694"/>
  </p:normalViewPr>
  <p:slideViewPr>
    <p:cSldViewPr snapToGrid="0">
      <p:cViewPr varScale="1">
        <p:scale>
          <a:sx d="100" n="119"/>
          <a:sy d="100" n="119"/>
        </p:scale>
        <p:origin x="232" y="232"/>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notesMaster" Target="notesMasters/notesMaster1.xml" /><Relationship Id="rId1" Type="http://schemas.openxmlformats.org/officeDocument/2006/relationships/slideMaster" Target="slideMasters/slideMaster1.xml" /><Relationship Id="rId25" Type="http://schemas.openxmlformats.org/officeDocument/2006/relationships/presProps" Target="presProps.xml" /><Relationship Id="rId26" Type="http://schemas.openxmlformats.org/officeDocument/2006/relationships/viewProps" Target="viewProps.xml" /><Relationship Id="rId27" Type="http://schemas.openxmlformats.org/officeDocument/2006/relationships/theme" Target="theme/theme1.xml" /><Relationship Id="rId28"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Since there is a nearly universal set of 6 things used to describe one’s research and its outcomes, it makes sense to “standardize” those reports – making it easier to write them clearly and easier to read them.</a:t>
            </a:r>
          </a:p>
          <a:p>
            <a:pPr lvl="0" indent="0" marL="0">
              <a:buNone/>
            </a:pPr>
          </a:p>
          <a:p>
            <a:pPr lvl="0" indent="0" marL="0">
              <a:buNone/>
            </a:pPr>
            <a:r>
              <a:rPr/>
              <a:t>Such “standardization” was the intent of a group of editors and business managers of anthropological and psychological journals in 1928. They wrote 7-page set of guidelines for authors. The most recent version of these guidelines, the Publication Manual of the American Psychological Association, 4th Ed., is a bit larger (368 pages), but has the same basic intent.</a:t>
            </a:r>
          </a:p>
          <a:p>
            <a:pPr lvl="0" indent="0" marL="0">
              <a:buNone/>
            </a:pPr>
          </a:p>
          <a:p>
            <a:pPr lvl="0" indent="0" marL="0">
              <a:buNone/>
            </a:pPr>
            <a:r>
              <a:rPr/>
              <a:t>APA format, as we will apply it, has three components:</a:t>
            </a:r>
            <a:br/>
            <a:r>
              <a:rPr/>
              <a:t>1) the content of the report and how it is organized and labeled 2) the format of the report (e.g., margins, citations, tables, etc.) 3) the style of the report (e.g., non-sexist language)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097280" y="2386744"/>
            <a:ext cx="999744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1097280" y="4352544"/>
            <a:ext cx="9997440"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1097280" y="2638044"/>
            <a:ext cx="9997440" cy="3101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097280" y="2386744"/>
            <a:ext cx="999744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352465"/>
            <a:ext cx="9997440"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638044"/>
            <a:ext cx="4907280"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40" y="2638044"/>
            <a:ext cx="4907280"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1/22/26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1/22/26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1/22/26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1/22/26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1/22/26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 /><Relationship Id="rId2" Target="../slideLayouts/slideLayout2.xml" Type="http://schemas.openxmlformats.org/officeDocument/2006/relationships/slideLayout" /><Relationship Id="rId3" Target="../slideLayouts/slideLayout3.xml" Type="http://schemas.openxmlformats.org/officeDocument/2006/relationships/slideLayout" /><Relationship Id="rId4" Target="../slideLayouts/slideLayout4.xml" Type="http://schemas.openxmlformats.org/officeDocument/2006/relationships/slideLayout" /><Relationship Id="rId5" Target="../slideLayouts/slideLayout5.xml" Type="http://schemas.openxmlformats.org/officeDocument/2006/relationships/slideLayout" /><Relationship Id="rId6" Target="../slideLayouts/slideLayout6.xml" Type="http://schemas.openxmlformats.org/officeDocument/2006/relationships/slideLayout" /><Relationship Id="rId7" Target="../slideLayouts/slideLayout7.xml" Type="http://schemas.openxmlformats.org/officeDocument/2006/relationships/slideLayout" /><Relationship Id="rId8" Target="../slideLayouts/slideLayout8.xml" Type="http://schemas.openxmlformats.org/officeDocument/2006/relationships/slideLayout" /><Relationship Id="rId9" Target="../slideLayouts/slideLayout9.xml" Type="http://schemas.openxmlformats.org/officeDocument/2006/relationships/slideLayout" /><Relationship Id="rId10" Target="../slideLayouts/slideLayout10.xml" Type="http://schemas.openxmlformats.org/officeDocument/2006/relationships/slideLayout" /><Relationship Id="rId11" Target="../slideLayouts/slideLayout11.xml" Type="http://schemas.openxmlformats.org/officeDocument/2006/relationships/slideLayout" /><Relationship Id="rId12" Target="../theme/theme1.xml" Type="http://schemas.openxmlformats.org/officeDocument/2006/relationships/theme"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cap="sq" w="31750">
            <a:solidFill>
              <a:srgbClr val="404040"/>
            </a:solidFill>
            <a:miter lim="800000"/>
          </a:ln>
        </p:spPr>
        <p:txBody>
          <a:bodyPr anchor="ctr" bIns="182880" lIns="182880" rIns="182880" rtlCol="0" tIns="182880" vert="horz">
            <a:normAutofit/>
          </a:bodyPr>
          <a:lstStyle/>
          <a:p>
            <a:r>
              <a:rPr lang="en-US"/>
              <a:t>Click to edit Master title style</a:t>
            </a:r>
            <a:endParaRPr dirty="0" lang="en-US"/>
          </a:p>
        </p:txBody>
      </p:sp>
      <p:sp>
        <p:nvSpPr>
          <p:cNvPr id="3" name="Text Placeholder 2"/>
          <p:cNvSpPr>
            <a:spLocks noGrp="1"/>
          </p:cNvSpPr>
          <p:nvPr>
            <p:ph idx="1" type="body"/>
          </p:nvPr>
        </p:nvSpPr>
        <p:spPr>
          <a:xfrm>
            <a:off x="2231136" y="2638044"/>
            <a:ext cx="7729728" cy="3101983"/>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2" sz="half" type="dt"/>
          </p:nvPr>
        </p:nvSpPr>
        <p:spPr>
          <a:xfrm>
            <a:off x="7821429" y="6238816"/>
            <a:ext cx="2753746" cy="323968"/>
          </a:xfrm>
          <a:prstGeom prst="rect">
            <a:avLst/>
          </a:prstGeom>
        </p:spPr>
        <p:txBody>
          <a:bodyPr anchor="ctr" bIns="45720" lIns="91440" rIns="91440" rtlCol="0" tIns="45720" vert="horz"/>
          <a:lstStyle>
            <a:lvl1pPr algn="r">
              <a:defRPr sz="1050">
                <a:solidFill>
                  <a:schemeClr val="tx1">
                    <a:alpha val="70000"/>
                  </a:schemeClr>
                </a:solidFill>
              </a:defRPr>
            </a:lvl1pPr>
          </a:lstStyle>
          <a:p>
            <a:fld id="{1160EA64-D806-43AC-9DF2-F8C432F32B4C}" type="datetimeFigureOut">
              <a:rPr dirty="0" lang="en-US"/>
              <a:t>1/22/26</a:t>
            </a:fld>
            <a:endParaRPr dirty="0" lang="en-US"/>
          </a:p>
        </p:txBody>
      </p:sp>
      <p:sp>
        <p:nvSpPr>
          <p:cNvPr id="5" name="Footer Placeholder 4"/>
          <p:cNvSpPr>
            <a:spLocks noGrp="1"/>
          </p:cNvSpPr>
          <p:nvPr>
            <p:ph idx="3" sz="quarter" type="ftr"/>
          </p:nvPr>
        </p:nvSpPr>
        <p:spPr>
          <a:xfrm>
            <a:off x="1600200" y="6236208"/>
            <a:ext cx="5901189" cy="320040"/>
          </a:xfrm>
          <a:prstGeom prst="rect">
            <a:avLst/>
          </a:prstGeom>
        </p:spPr>
        <p:txBody>
          <a:bodyPr anchor="ctr" bIns="45720" lIns="91440" rIns="91440" rtlCol="0" tIns="45720" vert="horz"/>
          <a:lstStyle>
            <a:lvl1pPr algn="l">
              <a:defRPr sz="1050">
                <a:solidFill>
                  <a:schemeClr val="tx1">
                    <a:alpha val="70000"/>
                  </a:schemeClr>
                </a:solidFill>
              </a:defRPr>
            </a:lvl1pPr>
          </a:lstStyle>
          <a:p>
            <a:endParaRPr dirty="0" lang="en-US"/>
          </a:p>
        </p:txBody>
      </p:sp>
      <p:sp>
        <p:nvSpPr>
          <p:cNvPr id="6" name="Slide Number Placeholder 5"/>
          <p:cNvSpPr>
            <a:spLocks noGrp="1"/>
          </p:cNvSpPr>
          <p:nvPr>
            <p:ph idx="4" sz="quarter" type="sldNum"/>
          </p:nvPr>
        </p:nvSpPr>
        <p:spPr>
          <a:xfrm>
            <a:off x="10758922" y="6217920"/>
            <a:ext cx="365760" cy="365760"/>
          </a:xfrm>
          <a:prstGeom prst="ellipse">
            <a:avLst/>
          </a:prstGeom>
          <a:solidFill>
            <a:srgbClr val="1D1D1D">
              <a:alpha val="70000"/>
            </a:srgbClr>
          </a:solidFill>
        </p:spPr>
        <p:txBody>
          <a:bodyPr anchor="ctr" bIns="45720" lIns="18288" rIns="18288" rtlCol="0" tIns="45720" vert="horz">
            <a:noAutofit/>
          </a:bodyPr>
          <a:lstStyle>
            <a:lvl1pPr algn="ctr">
              <a:defRPr baseline="0" spc="0" sz="1100">
                <a:solidFill>
                  <a:srgbClr val="FFFFFF"/>
                </a:solidFill>
              </a:defRPr>
            </a:lvl1pPr>
          </a:lstStyle>
          <a:p>
            <a:fld id="{8A7A6979-0714-4377-B894-6BE4C2D6E202}" type="slidenum">
              <a:rPr dirty="0" lang="en-US"/>
              <a:pPr/>
              <a:t>‹#›</a:t>
            </a:fld>
            <a:endParaRPr dirty="0" lang="en-US"/>
          </a:p>
        </p:txBody>
      </p:sp>
    </p:spTree>
  </p:cSld>
  <p:clrMap accent1="accent1" accent2="accent2" accent3="accent3" accent4="accent4" accent5="accent5" accent6="accent6" bg1="lt1" bg2="lt2" folHlink="folHlink" hlink="hlink" tx1="dk1" tx2="dk2"/>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dt="0" ftr="0" hdr="0" sldNum="0"/>
  <p:txStyles>
    <p:titleStyle>
      <a:lvl1pPr algn="ctr" defTabSz="914400" eaLnBrk="1" hangingPunct="1" latinLnBrk="0" rtl="0">
        <a:lnSpc>
          <a:spcPct val="90000"/>
        </a:lnSpc>
        <a:spcBef>
          <a:spcPct val="0"/>
        </a:spcBef>
        <a:buNone/>
        <a:defRPr baseline="0" cap="all" kern="1200" spc="200" sz="2800">
          <a:solidFill>
            <a:srgbClr val="262626"/>
          </a:solidFill>
          <a:latin typeface="+mj-lt"/>
          <a:ea typeface="+mj-ea"/>
          <a:cs typeface="+mj-cs"/>
        </a:defRPr>
      </a:lvl1pPr>
    </p:titleStyle>
    <p:bodyStyle>
      <a:lvl1pPr algn="l" defTabSz="914400" eaLnBrk="1" hangingPunct="1" indent="-228600" latinLnBrk="0" marL="228600" rtl="0">
        <a:lnSpc>
          <a:spcPct val="100000"/>
        </a:lnSpc>
        <a:spcBef>
          <a:spcPts val="1000"/>
        </a:spcBef>
        <a:buClr>
          <a:schemeClr val="accent2"/>
        </a:buClr>
        <a:buFont charset="0" panose="020B0604020202020204" pitchFamily="34" typeface="Arial"/>
        <a:buChar char="•"/>
        <a:defRPr kern="1200" sz="1800">
          <a:solidFill>
            <a:schemeClr val="tx1">
              <a:lumMod val="85000"/>
              <a:lumOff val="15000"/>
            </a:schemeClr>
          </a:solidFill>
          <a:latin typeface="+mn-lt"/>
          <a:ea typeface="+mn-ea"/>
          <a:cs typeface="+mn-cs"/>
        </a:defRPr>
      </a:lvl1pPr>
      <a:lvl2pPr algn="l" defTabSz="914400" eaLnBrk="1" hangingPunct="1" indent="-228600" latinLnBrk="0" marL="4572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2pPr>
      <a:lvl3pPr algn="l" defTabSz="914400" eaLnBrk="1" hangingPunct="1" indent="-228600" latinLnBrk="0" marL="6858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3pPr>
      <a:lvl4pPr algn="l" defTabSz="914400" eaLnBrk="1" hangingPunct="1" indent="-228600" latinLnBrk="0" marL="9144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4pPr>
      <a:lvl5pPr algn="l" defTabSz="914400" eaLnBrk="1" hangingPunct="1" indent="-228600" latinLnBrk="0" marL="11430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5pPr>
      <a:lvl6pPr algn="l" defTabSz="914400" eaLnBrk="1" hangingPunct="1" indent="-228600" latinLnBrk="0" marL="1312863" rtl="0">
        <a:lnSpc>
          <a:spcPct val="100000"/>
        </a:lnSpc>
        <a:spcBef>
          <a:spcPts val="1000"/>
        </a:spcBef>
        <a:buClr>
          <a:schemeClr val="accent2"/>
        </a:buClr>
        <a:buFont charset="0" panose="020B0604020202020204" pitchFamily="34" typeface="Arial"/>
        <a:buChar char="•"/>
        <a:defRPr kern="1200" sz="1600">
          <a:solidFill>
            <a:schemeClr val="tx1"/>
          </a:solidFill>
          <a:latin typeface="+mn-lt"/>
          <a:ea typeface="+mn-ea"/>
          <a:cs typeface="+mn-cs"/>
        </a:defRPr>
      </a:lvl6pPr>
      <a:lvl7pPr algn="l" defTabSz="914400" eaLnBrk="1" hangingPunct="1" indent="-228600" latinLnBrk="0" marL="1484313" rtl="0">
        <a:lnSpc>
          <a:spcPct val="100000"/>
        </a:lnSpc>
        <a:spcBef>
          <a:spcPts val="1000"/>
        </a:spcBef>
        <a:buClr>
          <a:schemeClr val="accent2"/>
        </a:buClr>
        <a:buFont charset="0" panose="020B0604020202020204" pitchFamily="34" typeface="Arial"/>
        <a:buChar char="•"/>
        <a:defRPr kern="1200" sz="1600">
          <a:solidFill>
            <a:schemeClr val="tx1"/>
          </a:solidFill>
          <a:latin typeface="+mn-lt"/>
          <a:ea typeface="+mn-ea"/>
          <a:cs typeface="+mn-cs"/>
        </a:defRPr>
      </a:lvl7pPr>
      <a:lvl8pPr algn="l" defTabSz="914400" eaLnBrk="1" hangingPunct="1" indent="-228600" latinLnBrk="0" marL="1657350" rtl="0">
        <a:lnSpc>
          <a:spcPct val="100000"/>
        </a:lnSpc>
        <a:spcBef>
          <a:spcPts val="1000"/>
        </a:spcBef>
        <a:buClr>
          <a:schemeClr val="accent2"/>
        </a:buClr>
        <a:buFont charset="0" panose="020B0604020202020204" pitchFamily="34" typeface="Arial"/>
        <a:buChar char="•"/>
        <a:defRPr baseline="0" kern="1200" sz="1600">
          <a:solidFill>
            <a:schemeClr val="tx1"/>
          </a:solidFill>
          <a:latin typeface="+mn-lt"/>
          <a:ea typeface="+mn-ea"/>
          <a:cs typeface="+mn-cs"/>
        </a:defRPr>
      </a:lvl8pPr>
      <a:lvl9pPr algn="l" defTabSz="914400" eaLnBrk="1" hangingPunct="1" indent="-228600" latinLnBrk="0" marL="1882775" rtl="0">
        <a:lnSpc>
          <a:spcPct val="100000"/>
        </a:lnSpc>
        <a:spcBef>
          <a:spcPts val="1000"/>
        </a:spcBef>
        <a:buClr>
          <a:schemeClr val="accent2"/>
        </a:buClr>
        <a:buFont charset="0" panose="020B0604020202020204" pitchFamily="34" typeface="Arial"/>
        <a:buChar char="•"/>
        <a:defRPr baseline="0" kern="1200" sz="16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hyperlink" Target="https://apastyle.apa.org/" TargetMode="External" /><Relationship Id="rId2" Type="http://schemas.openxmlformats.org/officeDocument/2006/relationships/image" Target="../media/image1.jp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jpg"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jp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jp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097280" y="2386744"/>
            <a:ext cx="9997440" cy="1645920"/>
          </a:xfrm>
          <a:solidFill>
            <a:srgbClr val="FFFFFF"/>
          </a:solidFill>
          <a:ln w="38100">
            <a:solidFill>
              <a:srgbClr val="404040"/>
            </a:solidFill>
          </a:ln>
        </p:spPr>
        <p:txBody>
          <a:bodyPr/>
          <a:lstStyle/>
          <a:p>
            <a:pPr lvl="0" indent="0" marL="0">
              <a:buNone/>
            </a:pPr>
            <a:r>
              <a:rPr/>
              <a:t>Reading &amp; Writing Research Reports</a:t>
            </a:r>
          </a:p>
        </p:txBody>
      </p:sp>
      <p:sp>
        <p:nvSpPr>
          <p:cNvPr id="3" name="Subtitle 2"/>
          <p:cNvSpPr>
            <a:spLocks noGrp="1"/>
          </p:cNvSpPr>
          <p:nvPr>
            <p:ph idx="1" type="subTitle"/>
          </p:nvPr>
        </p:nvSpPr>
        <p:spPr>
          <a:xfrm>
            <a:off x="1097280" y="4352544"/>
            <a:ext cx="9997440" cy="1239894"/>
          </a:xfrm>
          <a:noFill/>
        </p:spPr>
        <p:txBody>
          <a:bodyPr/>
          <a:lstStyle/>
          <a:p>
            <a:pPr lvl="0" indent="0" marL="0">
              <a:buNone/>
            </a:pPr>
            <a:r>
              <a:rPr/>
              <a:t>Lab 3</a:t>
            </a:r>
            <a:br/>
            <a:br/>
            <a:r>
              <a:rPr/>
              <a:t>PSYCH 350-Lab</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Today’s Tasks</a:t>
            </a:r>
          </a:p>
        </p:txBody>
      </p:sp>
      <p:sp>
        <p:nvSpPr>
          <p:cNvPr id="1001" name="box-post-it" descr="box: . Today’s lab:Reading &amp; writing research reportsReview Lecture MaterialContents of a research report, Validity Net, All the words"/>
          <p:cNvSpPr/>
          <p:nvPr/>
        </p:nvSpPr>
        <p:spPr>
          <a:xfrm>
            <a:off x="1097280" y="2633472"/>
            <a:ext cx="9994392" cy="548640"/>
          </a:xfrm>
          <a:prstGeom prst="roundRect">
            <a:avLst>
              <a:gd name="adj" fmla="val 6000"/>
            </a:avLst>
          </a:prstGeom>
          <a:solidFill>
            <a:srgbClr val="FFF9C4"/>
          </a:solidFill>
          <a:ln w="19050">
            <a:solidFill>
              <a:srgbClr val="CCCCCC"/>
            </a:solidFill>
          </a:ln>
        </p:spPr>
        <p:txBody>
          <a:bodyPr lIns="91440" tIns="68580" rIns="91440" bIns="68580" anchor="t" wrap="square">
            <a:normAutofit/>
          </a:bodyPr>
          <a:lstStyle/>
          <a:p>
            <a:pPr algn="l"/>
            <a:r>
              <a:rPr lang="en-US" sz="1200" b="0" dirty="0">
                <a:solidFill>
                  <a:srgbClr val="010B13"/>
                </a:solidFill>
              </a:rPr>
              <a:t>Today’s lab:Reading &amp; writing research reportsReview Lecture MaterialContents of a research report, Validity Net, All the words</a:t>
            </a:r>
          </a:p>
        </p:txBody>
      </p:sp>
      <p:sp>
        <p:nvSpPr>
          <p:cNvPr id="1002" name="prose" descr=""/>
          <p:cNvSpPr/>
          <p:nvPr/>
        </p:nvSpPr>
        <p:spPr>
          <a:xfrm>
            <a:off x="1097280" y="3273552"/>
            <a:ext cx="9994392" cy="548640"/>
          </a:xfrm>
          <a:prstGeom prst="roundRect">
            <a:avLst>
              <a:gd name="adj" fmla="val 6000"/>
            </a:avLst>
          </a:prstGeom>
          <a:noFill/>
          <a:ln>
            <a:noFill/>
          </a:ln>
        </p:spPr>
        <p:txBody>
          <a:bodyPr lIns="91440" tIns="68580" rIns="91440" bIns="68580" anchor="t" wrap="square">
            <a:normAutofit/>
          </a:bodyPr>
          <a:lstStyle/>
          <a:p>
            <a:pPr algn="l"/>
            <a:r>
              <a:rPr lang="en-US" sz="1200" b="0" dirty="0">
                <a:solidFill>
                  <a:srgbClr val="010B13"/>
                </a:solidFill>
              </a:rPr>
              <a:t>Today is about learning to dig into a paper and read it critically. This means extracting information – especially extracting information that isn’t directly given to you in a paper and must be inferred. But, we will also learn when not to make assumptions that cover up potential flaws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What You Need Today</a:t>
            </a:r>
          </a:p>
        </p:txBody>
      </p:sp>
      <p:sp>
        <p:nvSpPr>
          <p:cNvPr id="3" name="Content Placeholder 2"/>
          <p:cNvSpPr>
            <a:spLocks noGrp="1"/>
          </p:cNvSpPr>
          <p:nvPr>
            <p:ph idx="1"/>
          </p:nvPr>
        </p:nvSpPr>
        <p:spPr/>
        <p:txBody>
          <a:bodyPr/>
          <a:lstStyle/>
          <a:p>
            <a:pPr lvl="0" indent="0" marL="0">
              <a:buNone/>
            </a:pPr>
            <a:r>
              <a:rPr/>
              <a:t>Everything for this week is linked on the next slides – and always on the lab page under </a:t>
            </a:r>
            <a:r>
              <a:rPr b="1"/>
              <a:t>Handouts &amp; References</a:t>
            </a:r>
            <a:r>
              <a:rPr/>
              <a:t>.</a:t>
            </a:r>
          </a:p>
          <a:p>
            <a:pPr lvl="0" indent="0" marL="0">
              <a:buNone/>
            </a:pPr>
            <a:r>
              <a:rPr/>
              <a:t>Open these </a:t>
            </a:r>
            <a:r>
              <a:rPr b="1"/>
              <a:t>before we start</a:t>
            </a:r>
            <a:r>
              <a:rPr/>
              <a:t> so you can follow along.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Critically Reading Research Reports</a:t>
            </a:r>
          </a:p>
        </p:txBody>
      </p:sp>
      <p:sp>
        <p:nvSpPr>
          <p:cNvPr id="1003" name="card-blue" descr="card: [arrow icon]. Reading and Writing Research Reports [Web page]"/>
          <p:cNvSpPr/>
          <p:nvPr/>
        </p:nvSpPr>
        <p:spPr>
          <a:xfrm>
            <a:off x="1097280" y="2633472"/>
            <a:ext cx="3270504" cy="944880"/>
          </a:xfrm>
          <a:prstGeom prst="roundRect">
            <a:avLst>
              <a:gd name="adj" fmla="val 6000"/>
            </a:avLst>
          </a:prstGeom>
          <a:solidFill>
            <a:srgbClr val="FEFDFA"/>
          </a:solidFill>
          <a:ln w="19050">
            <a:solidFill>
              <a:srgbClr val="CCCCCC"/>
            </a:solidFill>
          </a:ln>
        </p:spPr>
        <p:txBody>
          <a:bodyPr lIns="91440" tIns="68580" rIns="91440" bIns="68580" anchor="t" wrap="square">
            <a:normAutofit/>
          </a:bodyPr>
          <a:lstStyle/>
          <a:p>
            <a:pPr algn="l"/>
            <a:r>
              <a:rPr lang="en-US" sz="1400" b="1" dirty="0">
                <a:solidFill>
                  <a:srgbClr val="005D84"/>
                </a:solidFill>
              </a:rPr>
              <a:t>[arrow icon]</a:t>
            </a:r>
          </a:p>
          <a:p>
            <a:pPr algn="l"/>
            <a:r>
              <a:rPr lang="en-US" sz="1200" b="0" dirty="0">
                <a:solidFill>
                  <a:srgbClr val="010B13"/>
                </a:solidFill>
              </a:rPr>
              <a:t>Reading and Writing Research Reports</a:t>
            </a:r>
          </a:p>
          <a:p>
            <a:pPr algn="l"/>
            <a:r>
              <a:rPr lang="en-US" sz="1200" b="0" dirty="0">
                <a:solidFill>
                  <a:srgbClr val="010B13"/>
                </a:solidFill>
              </a:rPr>
              <a:t>[Web page]</a:t>
            </a:r>
          </a:p>
        </p:txBody>
      </p:sp>
      <p:sp>
        <p:nvSpPr>
          <p:cNvPr id="1004" name="card-rail" descr=""/>
          <p:cNvSpPr/>
          <p:nvPr/>
        </p:nvSpPr>
        <p:spPr>
          <a:xfrm>
            <a:off x="1097280" y="2633472"/>
            <a:ext cx="54864" cy="944880"/>
          </a:xfrm>
          <a:prstGeom prst="roundRect">
            <a:avLst>
              <a:gd name="adj" fmla="val 20000"/>
            </a:avLst>
          </a:prstGeom>
          <a:solidFill>
            <a:srgbClr val="005D84"/>
          </a:solidFill>
          <a:ln>
            <a:noFill/>
          </a:ln>
        </p:spPr>
        <p:txBody>
          <a:bodyPr lIns="91440" tIns="68580" rIns="91440" bIns="68580" anchor="t" wrap="square">
            <a:normAutofit/>
          </a:bodyPr>
          <a:lstStyle/>
          <a:p/>
        </p:txBody>
      </p:sp>
      <p:sp>
        <p:nvSpPr>
          <p:cNvPr id="1005" name="card-blue" descr="card: [book icon]. Reading and Writing Research Reports (pdf version) [PowerPoint]"/>
          <p:cNvSpPr/>
          <p:nvPr/>
        </p:nvSpPr>
        <p:spPr>
          <a:xfrm>
            <a:off x="4459224" y="2633472"/>
            <a:ext cx="3270504" cy="944880"/>
          </a:xfrm>
          <a:prstGeom prst="roundRect">
            <a:avLst>
              <a:gd name="adj" fmla="val 6000"/>
            </a:avLst>
          </a:prstGeom>
          <a:solidFill>
            <a:srgbClr val="FEFDFA"/>
          </a:solidFill>
          <a:ln w="19050">
            <a:solidFill>
              <a:srgbClr val="CCCCCC"/>
            </a:solidFill>
          </a:ln>
        </p:spPr>
        <p:txBody>
          <a:bodyPr lIns="91440" tIns="68580" rIns="91440" bIns="68580" anchor="t" wrap="square">
            <a:normAutofit/>
          </a:bodyPr>
          <a:lstStyle/>
          <a:p>
            <a:pPr algn="l"/>
            <a:r>
              <a:rPr lang="en-US" sz="1400" b="1" dirty="0">
                <a:solidFill>
                  <a:srgbClr val="005D84"/>
                </a:solidFill>
              </a:rPr>
              <a:t>[book icon]</a:t>
            </a:r>
          </a:p>
          <a:p>
            <a:pPr algn="l"/>
            <a:r>
              <a:rPr lang="en-US" sz="1200" b="0" dirty="0">
                <a:solidFill>
                  <a:srgbClr val="010B13"/>
                </a:solidFill>
              </a:rPr>
              <a:t>Reading and Writing Research Reports (pdf version)</a:t>
            </a:r>
          </a:p>
          <a:p>
            <a:pPr algn="l"/>
            <a:r>
              <a:rPr lang="en-US" sz="1200" b="0" dirty="0">
                <a:solidFill>
                  <a:srgbClr val="010B13"/>
                </a:solidFill>
              </a:rPr>
              <a:t>[PowerPoint]</a:t>
            </a:r>
          </a:p>
        </p:txBody>
      </p:sp>
      <p:sp>
        <p:nvSpPr>
          <p:cNvPr id="1006" name="card-rail" descr=""/>
          <p:cNvSpPr/>
          <p:nvPr/>
        </p:nvSpPr>
        <p:spPr>
          <a:xfrm>
            <a:off x="4459224" y="2633472"/>
            <a:ext cx="54864" cy="944880"/>
          </a:xfrm>
          <a:prstGeom prst="roundRect">
            <a:avLst>
              <a:gd name="adj" fmla="val 20000"/>
            </a:avLst>
          </a:prstGeom>
          <a:solidFill>
            <a:srgbClr val="005D84"/>
          </a:solidFill>
          <a:ln>
            <a:noFill/>
          </a:ln>
        </p:spPr>
        <p:txBody>
          <a:bodyPr lIns="91440" tIns="68580" rIns="91440" bIns="68580" anchor="t" wrap="square">
            <a:normAutofit/>
          </a:bodyPr>
          <a:lstStyle/>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Contents of an APA Report: What Info is Where?</a:t>
            </a:r>
          </a:p>
        </p:txBody>
      </p:sp>
      <p:sp>
        <p:nvSpPr>
          <p:cNvPr id="1007" name="card-blue" descr="card: [book icon]. Validity Net (copied from lecture unit 1) [PDF]"/>
          <p:cNvSpPr/>
          <p:nvPr/>
        </p:nvSpPr>
        <p:spPr>
          <a:xfrm>
            <a:off x="1097280" y="2633472"/>
            <a:ext cx="3270504" cy="944880"/>
          </a:xfrm>
          <a:prstGeom prst="roundRect">
            <a:avLst>
              <a:gd name="adj" fmla="val 6000"/>
            </a:avLst>
          </a:prstGeom>
          <a:solidFill>
            <a:srgbClr val="FEFDFA"/>
          </a:solidFill>
          <a:ln w="19050">
            <a:solidFill>
              <a:srgbClr val="CCCCCC"/>
            </a:solidFill>
          </a:ln>
        </p:spPr>
        <p:txBody>
          <a:bodyPr lIns="91440" tIns="68580" rIns="91440" bIns="68580" anchor="t" wrap="square">
            <a:normAutofit/>
          </a:bodyPr>
          <a:lstStyle/>
          <a:p>
            <a:pPr algn="l"/>
            <a:r>
              <a:rPr lang="en-US" sz="1400" b="1" dirty="0">
                <a:solidFill>
                  <a:srgbClr val="005D84"/>
                </a:solidFill>
              </a:rPr>
              <a:t>[book icon]</a:t>
            </a:r>
          </a:p>
          <a:p>
            <a:pPr algn="l"/>
            <a:r>
              <a:rPr lang="en-US" sz="1200" b="0" dirty="0">
                <a:solidFill>
                  <a:srgbClr val="010B13"/>
                </a:solidFill>
              </a:rPr>
              <a:t>Validity Net (copied from lecture unit 1)</a:t>
            </a:r>
          </a:p>
          <a:p>
            <a:pPr algn="l"/>
            <a:r>
              <a:rPr lang="en-US" sz="1200" b="0" dirty="0">
                <a:solidFill>
                  <a:srgbClr val="010B13"/>
                </a:solidFill>
              </a:rPr>
              <a:t>[PDF]</a:t>
            </a:r>
          </a:p>
        </p:txBody>
      </p:sp>
      <p:sp>
        <p:nvSpPr>
          <p:cNvPr id="1008" name="card-rail" descr=""/>
          <p:cNvSpPr/>
          <p:nvPr/>
        </p:nvSpPr>
        <p:spPr>
          <a:xfrm>
            <a:off x="1097280" y="2633472"/>
            <a:ext cx="54864" cy="944880"/>
          </a:xfrm>
          <a:prstGeom prst="roundRect">
            <a:avLst>
              <a:gd name="adj" fmla="val 20000"/>
            </a:avLst>
          </a:prstGeom>
          <a:solidFill>
            <a:srgbClr val="005D84"/>
          </a:solidFill>
          <a:ln>
            <a:noFill/>
          </a:ln>
        </p:spPr>
        <p:txBody>
          <a:bodyPr lIns="91440" tIns="68580" rIns="91440" bIns="68580" anchor="t" wrap="square">
            <a:normAutofit/>
          </a:bodyPr>
          <a:lstStyle/>
          <a:p/>
        </p:txBody>
      </p:sp>
      <p:sp>
        <p:nvSpPr>
          <p:cNvPr id="1009" name="card-blue" descr="card: [book icon]. All The Words (copied from lecture unit 1) [PDF]"/>
          <p:cNvSpPr/>
          <p:nvPr/>
        </p:nvSpPr>
        <p:spPr>
          <a:xfrm>
            <a:off x="4459224" y="2633472"/>
            <a:ext cx="3270504" cy="944880"/>
          </a:xfrm>
          <a:prstGeom prst="roundRect">
            <a:avLst>
              <a:gd name="adj" fmla="val 6000"/>
            </a:avLst>
          </a:prstGeom>
          <a:solidFill>
            <a:srgbClr val="FEFDFA"/>
          </a:solidFill>
          <a:ln w="19050">
            <a:solidFill>
              <a:srgbClr val="CCCCCC"/>
            </a:solidFill>
          </a:ln>
        </p:spPr>
        <p:txBody>
          <a:bodyPr lIns="91440" tIns="68580" rIns="91440" bIns="68580" anchor="t" wrap="square">
            <a:normAutofit/>
          </a:bodyPr>
          <a:lstStyle/>
          <a:p>
            <a:pPr algn="l"/>
            <a:r>
              <a:rPr lang="en-US" sz="1400" b="1" dirty="0">
                <a:solidFill>
                  <a:srgbClr val="005D84"/>
                </a:solidFill>
              </a:rPr>
              <a:t>[book icon]</a:t>
            </a:r>
          </a:p>
          <a:p>
            <a:pPr algn="l"/>
            <a:r>
              <a:rPr lang="en-US" sz="1200" b="0" dirty="0">
                <a:solidFill>
                  <a:srgbClr val="010B13"/>
                </a:solidFill>
              </a:rPr>
              <a:t>All The Words (copied from lecture unit 1)</a:t>
            </a:r>
          </a:p>
          <a:p>
            <a:pPr algn="l"/>
            <a:r>
              <a:rPr lang="en-US" sz="1200" b="0" dirty="0">
                <a:solidFill>
                  <a:srgbClr val="010B13"/>
                </a:solidFill>
              </a:rPr>
              <a:t>[PDF]</a:t>
            </a:r>
          </a:p>
        </p:txBody>
      </p:sp>
      <p:sp>
        <p:nvSpPr>
          <p:cNvPr id="1010" name="card-rail" descr=""/>
          <p:cNvSpPr/>
          <p:nvPr/>
        </p:nvSpPr>
        <p:spPr>
          <a:xfrm>
            <a:off x="4459224" y="2633472"/>
            <a:ext cx="54864" cy="944880"/>
          </a:xfrm>
          <a:prstGeom prst="roundRect">
            <a:avLst>
              <a:gd name="adj" fmla="val 20000"/>
            </a:avLst>
          </a:prstGeom>
          <a:solidFill>
            <a:srgbClr val="005D84"/>
          </a:solidFill>
          <a:ln>
            <a:noFill/>
          </a:ln>
        </p:spPr>
        <p:txBody>
          <a:bodyPr lIns="91440" tIns="68580" rIns="91440" bIns="68580" anchor="t" wrap="square">
            <a:normAutofit/>
          </a:bodyPr>
          <a:lstStyle/>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Weekly Lab Assignment</a:t>
            </a:r>
          </a:p>
        </p:txBody>
      </p:sp>
      <p:sp>
        <p:nvSpPr>
          <p:cNvPr id="1011" name="card-blue" descr="card: [book icon]. Research Critique #1 [Word document]"/>
          <p:cNvSpPr/>
          <p:nvPr/>
        </p:nvSpPr>
        <p:spPr>
          <a:xfrm>
            <a:off x="1097280" y="2633472"/>
            <a:ext cx="3270504" cy="762000"/>
          </a:xfrm>
          <a:prstGeom prst="roundRect">
            <a:avLst>
              <a:gd name="adj" fmla="val 6000"/>
            </a:avLst>
          </a:prstGeom>
          <a:solidFill>
            <a:srgbClr val="FEFDFA"/>
          </a:solidFill>
          <a:ln w="19050">
            <a:solidFill>
              <a:srgbClr val="CCCCCC"/>
            </a:solidFill>
          </a:ln>
        </p:spPr>
        <p:txBody>
          <a:bodyPr lIns="91440" tIns="68580" rIns="91440" bIns="68580" anchor="t" wrap="square">
            <a:normAutofit/>
          </a:bodyPr>
          <a:lstStyle/>
          <a:p>
            <a:pPr algn="l"/>
            <a:r>
              <a:rPr lang="en-US" sz="1400" b="1" dirty="0">
                <a:solidFill>
                  <a:srgbClr val="005D84"/>
                </a:solidFill>
              </a:rPr>
              <a:t>[book icon]</a:t>
            </a:r>
          </a:p>
          <a:p>
            <a:pPr algn="l"/>
            <a:r>
              <a:rPr lang="en-US" sz="1200" b="0" dirty="0">
                <a:solidFill>
                  <a:srgbClr val="010B13"/>
                </a:solidFill>
              </a:rPr>
              <a:t>Research Critique #1</a:t>
            </a:r>
          </a:p>
          <a:p>
            <a:pPr algn="l"/>
            <a:r>
              <a:rPr lang="en-US" sz="1200" b="0" dirty="0">
                <a:solidFill>
                  <a:srgbClr val="010B13"/>
                </a:solidFill>
              </a:rPr>
              <a:t>[Word document]</a:t>
            </a:r>
          </a:p>
        </p:txBody>
      </p:sp>
      <p:sp>
        <p:nvSpPr>
          <p:cNvPr id="1012" name="card-rail" descr=""/>
          <p:cNvSpPr/>
          <p:nvPr/>
        </p:nvSpPr>
        <p:spPr>
          <a:xfrm>
            <a:off x="1097280" y="2633472"/>
            <a:ext cx="54864" cy="762000"/>
          </a:xfrm>
          <a:prstGeom prst="roundRect">
            <a:avLst>
              <a:gd name="adj" fmla="val 20000"/>
            </a:avLst>
          </a:prstGeom>
          <a:solidFill>
            <a:srgbClr val="005D84"/>
          </a:solidFill>
          <a:ln>
            <a:noFill/>
          </a:ln>
        </p:spPr>
        <p:txBody>
          <a:bodyPr lIns="91440" tIns="68580" rIns="91440" bIns="68580" anchor="t" wrap="square">
            <a:normAutofit/>
          </a:bodyPr>
          <a:lstStyle/>
          <a:p/>
        </p:txBody>
      </p:sp>
      <p:sp>
        <p:nvSpPr>
          <p:cNvPr id="1013" name="card-blue" descr="card: [book icon]. Research Critique #2 [Word document]"/>
          <p:cNvSpPr/>
          <p:nvPr/>
        </p:nvSpPr>
        <p:spPr>
          <a:xfrm>
            <a:off x="4459224" y="2633472"/>
            <a:ext cx="3270504" cy="762000"/>
          </a:xfrm>
          <a:prstGeom prst="roundRect">
            <a:avLst>
              <a:gd name="adj" fmla="val 6000"/>
            </a:avLst>
          </a:prstGeom>
          <a:solidFill>
            <a:srgbClr val="FEFDFA"/>
          </a:solidFill>
          <a:ln w="19050">
            <a:solidFill>
              <a:srgbClr val="CCCCCC"/>
            </a:solidFill>
          </a:ln>
        </p:spPr>
        <p:txBody>
          <a:bodyPr lIns="91440" tIns="68580" rIns="91440" bIns="68580" anchor="t" wrap="square">
            <a:normAutofit/>
          </a:bodyPr>
          <a:lstStyle/>
          <a:p>
            <a:pPr algn="l"/>
            <a:r>
              <a:rPr lang="en-US" sz="1400" b="1" dirty="0">
                <a:solidFill>
                  <a:srgbClr val="005D84"/>
                </a:solidFill>
              </a:rPr>
              <a:t>[book icon]</a:t>
            </a:r>
          </a:p>
          <a:p>
            <a:pPr algn="l"/>
            <a:r>
              <a:rPr lang="en-US" sz="1200" b="0" dirty="0">
                <a:solidFill>
                  <a:srgbClr val="010B13"/>
                </a:solidFill>
              </a:rPr>
              <a:t>Research Critique #2</a:t>
            </a:r>
          </a:p>
          <a:p>
            <a:pPr algn="l"/>
            <a:r>
              <a:rPr lang="en-US" sz="1200" b="0" dirty="0">
                <a:solidFill>
                  <a:srgbClr val="010B13"/>
                </a:solidFill>
              </a:rPr>
              <a:t>[Word document]</a:t>
            </a:r>
          </a:p>
        </p:txBody>
      </p:sp>
      <p:sp>
        <p:nvSpPr>
          <p:cNvPr id="1014" name="card-rail" descr=""/>
          <p:cNvSpPr/>
          <p:nvPr/>
        </p:nvSpPr>
        <p:spPr>
          <a:xfrm>
            <a:off x="4459224" y="2633472"/>
            <a:ext cx="54864" cy="762000"/>
          </a:xfrm>
          <a:prstGeom prst="roundRect">
            <a:avLst>
              <a:gd name="adj" fmla="val 20000"/>
            </a:avLst>
          </a:prstGeom>
          <a:solidFill>
            <a:srgbClr val="005D84"/>
          </a:solidFill>
          <a:ln>
            <a:noFill/>
          </a:ln>
        </p:spPr>
        <p:txBody>
          <a:bodyPr lIns="91440" tIns="68580" rIns="91440" bIns="68580" anchor="t" wrap="square">
            <a:normAutofit/>
          </a:bodyPr>
          <a:lstStyle/>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Reading &amp; Writing: Research Reports</a:t>
            </a:r>
          </a:p>
        </p:txBody>
      </p:sp>
      <p:sp>
        <p:nvSpPr>
          <p:cNvPr id="3" name="Content Placeholder 2"/>
          <p:cNvSpPr>
            <a:spLocks noGrp="1"/>
          </p:cNvSpPr>
          <p:nvPr>
            <p:ph idx="1"/>
          </p:nvPr>
        </p:nvSpPr>
        <p:spPr/>
        <p:txBody>
          <a:bodyPr/>
          <a:lstStyle/>
          <a:p>
            <a:pPr lvl="0" indent="0" marL="0">
              <a:buNone/>
            </a:pPr>
            <a:r>
              <a:rPr/>
              <a:t>Everything we do revolves around these </a:t>
            </a:r>
            <a:r>
              <a:rPr b="1"/>
              <a:t>six</a:t>
            </a:r>
            <a:r>
              <a:rPr/>
              <a:t> basic things!!</a:t>
            </a:r>
          </a:p>
          <a:p>
            <a:pPr lvl="0" indent="-457200" marL="457200">
              <a:buAutoNum type="arabicPeriod"/>
            </a:pPr>
            <a:r>
              <a:rPr/>
              <a:t>What has the author(s) read that </a:t>
            </a:r>
            <a:r>
              <a:rPr b="1"/>
              <a:t>prompted</a:t>
            </a:r>
            <a:r>
              <a:rPr/>
              <a:t> the research?</a:t>
            </a:r>
          </a:p>
          <a:p>
            <a:pPr lvl="0" indent="-457200" marL="457200">
              <a:buAutoNum type="arabicPeriod"/>
            </a:pPr>
            <a:r>
              <a:rPr/>
              <a:t>What is the </a:t>
            </a:r>
            <a:r>
              <a:rPr b="1"/>
              <a:t>purpose</a:t>
            </a:r>
            <a:r>
              <a:rPr/>
              <a:t> of the research being reported ?</a:t>
            </a:r>
          </a:p>
          <a:p>
            <a:pPr lvl="0" indent="-457200" marL="457200">
              <a:buAutoNum type="arabicPeriod"/>
            </a:pPr>
            <a:r>
              <a:rPr/>
              <a:t>What is the specific </a:t>
            </a:r>
            <a:r>
              <a:rPr b="1"/>
              <a:t>research question</a:t>
            </a:r>
            <a:r>
              <a:rPr/>
              <a:t> or </a:t>
            </a:r>
            <a:r>
              <a:rPr b="1"/>
              <a:t>research hypothesis</a:t>
            </a:r>
            <a:r>
              <a:rPr/>
              <a:t>?</a:t>
            </a:r>
          </a:p>
          <a:p>
            <a:pPr lvl="0" indent="-457200" marL="457200">
              <a:buAutoNum type="arabicPeriod"/>
            </a:pPr>
            <a:r>
              <a:rPr/>
              <a:t>How was the research </a:t>
            </a:r>
            <a:r>
              <a:rPr b="1"/>
              <a:t>conducted</a:t>
            </a:r>
            <a:r>
              <a:rPr/>
              <a:t> ?</a:t>
            </a:r>
          </a:p>
          <a:p>
            <a:pPr lvl="0" indent="-457200" marL="457200">
              <a:buAutoNum type="arabicPeriod"/>
            </a:pPr>
            <a:r>
              <a:rPr/>
              <a:t>What are the </a:t>
            </a:r>
            <a:r>
              <a:rPr b="1"/>
              <a:t>results</a:t>
            </a:r>
            <a:r>
              <a:rPr/>
              <a:t> of the statistical analysis of the data as they relate to the research question or research hypothesis?</a:t>
            </a:r>
          </a:p>
          <a:p>
            <a:pPr lvl="0" indent="-457200" marL="457200">
              <a:buAutoNum type="arabicPeriod"/>
            </a:pPr>
            <a:r>
              <a:rPr/>
              <a:t>How do the current findings </a:t>
            </a:r>
            <a:r>
              <a:rPr b="1"/>
              <a:t>integrate</a:t>
            </a:r>
            <a:r>
              <a:rPr/>
              <a:t> with what the author(s) read that prompted the research?</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Standardizing Research with APA</a:t>
            </a:r>
          </a:p>
        </p:txBody>
      </p:sp>
      <p:pic>
        <p:nvPicPr>
          <p:cNvPr descr="Photo collage of APA Publication Manual books, including stacked copies and open tabbed pages" id="0" name="Picture 1"/>
          <p:cNvPicPr>
            <a:picLocks noGrp="1" noChangeAspect="1"/>
          </p:cNvPicPr>
          <p:nvPr/>
        </p:nvPicPr>
        <p:blipFill>
          <a:blip r:embed="rId2"/>
          <a:stretch>
            <a:fillRect/>
          </a:stretch>
        </p:blipFill>
        <p:spPr bwMode="auto">
          <a:xfrm>
            <a:off x="2032000" y="2628900"/>
            <a:ext cx="3022600" cy="3098800"/>
          </a:xfrm>
          <a:prstGeom prst="rect">
            <a:avLst/>
          </a:prstGeom>
          <a:noFill/>
          <a:ln w="9525">
            <a:noFill/>
            <a:headEnd/>
            <a:tailEnd/>
          </a:ln>
        </p:spPr>
      </p:pic>
      <p:sp>
        <p:nvSpPr>
          <p:cNvPr id="4" name="Content Placeholder 3"/>
          <p:cNvSpPr>
            <a:spLocks noGrp="1"/>
          </p:cNvSpPr>
          <p:nvPr>
            <p:ph idx="2" sz="half"/>
          </p:nvPr>
        </p:nvSpPr>
        <p:spPr/>
        <p:txBody>
          <a:bodyPr/>
          <a:lstStyle/>
          <a:p>
            <a:pPr lvl="0"/>
            <a:r>
              <a:rPr/>
              <a:t>APA standardized style &amp; formatting for journals (1928-present) — currently on </a:t>
            </a:r>
            <a:r>
              <a:rPr>
                <a:hlinkClick r:id="rId3"/>
              </a:rPr>
              <a:t>APA 7th Ed.</a:t>
            </a:r>
          </a:p>
          <a:p>
            <a:pPr lvl="0"/>
            <a:r>
              <a:rPr/>
              <a:t>Three main components to style-guide:</a:t>
            </a:r>
          </a:p>
          <a:p>
            <a:pPr lvl="1" indent="-457200" marL="914400">
              <a:buAutoNum type="arabicPeriod"/>
            </a:pPr>
            <a:r>
              <a:rPr b="1"/>
              <a:t>Content</a:t>
            </a:r>
            <a:r>
              <a:rPr/>
              <a:t> — order of concepts &amp; material; rules for sections &amp; labels</a:t>
            </a:r>
          </a:p>
          <a:p>
            <a:pPr lvl="1" indent="-457200" marL="914400">
              <a:buAutoNum type="arabicPeriod"/>
            </a:pPr>
            <a:r>
              <a:rPr b="1"/>
              <a:t>Format</a:t>
            </a:r>
            <a:r>
              <a:rPr/>
              <a:t> — margins, citations, tables, etc.</a:t>
            </a:r>
          </a:p>
          <a:p>
            <a:pPr lvl="1" indent="-457200" marL="914400">
              <a:buAutoNum type="arabicPeriod"/>
            </a:pPr>
            <a:r>
              <a:rPr b="1"/>
              <a:t>Style</a:t>
            </a:r>
            <a:r>
              <a:rPr/>
              <a:t> — language &amp; terminology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Standardizing Research with APA (continued)</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Elements of APA Style</a:t>
            </a:r>
          </a:p>
        </p:txBody>
      </p:sp>
      <p:sp>
        <p:nvSpPr>
          <p:cNvPr id="1015" name="callout-tip" descr="tip callout: Basic Rules:. Double-space everythingHave uniform margins of at least 1 in. at the top, bottom, right, and left of every pageWrite “formally” – without slang, contractions, etc.Use sentences and paragraphs (not “lists” unless hypotheses)Give credit to others for their ideas"/>
          <p:cNvSpPr/>
          <p:nvPr/>
        </p:nvSpPr>
        <p:spPr>
          <a:xfrm>
            <a:off x="1097280" y="2633472"/>
            <a:ext cx="9994392" cy="1264920"/>
          </a:xfrm>
          <a:prstGeom prst="roundRect">
            <a:avLst>
              <a:gd name="adj" fmla="val 6000"/>
            </a:avLst>
          </a:prstGeom>
          <a:solidFill>
            <a:srgbClr val="FEFDFA"/>
          </a:solidFill>
          <a:ln w="19050">
            <a:solidFill>
              <a:srgbClr val="009955"/>
            </a:solidFill>
          </a:ln>
        </p:spPr>
        <p:txBody>
          <a:bodyPr lIns="91440" tIns="68580" rIns="91440" bIns="68580" anchor="t" wrap="square">
            <a:normAutofit/>
          </a:bodyPr>
          <a:lstStyle/>
          <a:p/>
        </p:txBody>
      </p:sp>
      <p:sp>
        <p:nvSpPr>
          <p:cNvPr id="1016" name="callout-title" descr=""/>
          <p:cNvSpPr/>
          <p:nvPr/>
        </p:nvSpPr>
        <p:spPr>
          <a:xfrm>
            <a:off x="1097280" y="2633472"/>
            <a:ext cx="9994392" cy="320040"/>
          </a:xfrm>
          <a:prstGeom prst="roundRect">
            <a:avLst>
              <a:gd name="adj" fmla="val 6000"/>
            </a:avLst>
          </a:prstGeom>
          <a:solidFill>
            <a:srgbClr val="009955"/>
          </a:solidFill>
          <a:ln>
            <a:noFill/>
          </a:ln>
        </p:spPr>
        <p:txBody>
          <a:bodyPr lIns="91440" tIns="68580" rIns="91440" bIns="68580" anchor="t" wrap="square">
            <a:normAutofit/>
          </a:bodyPr>
          <a:lstStyle/>
          <a:p>
            <a:pPr algn="l"/>
            <a:r>
              <a:rPr lang="en-US" sz="1400" b="1" dirty="0">
                <a:solidFill>
                  <a:srgbClr val="FEFDFA"/>
                </a:solidFill>
              </a:rPr>
              <a:t>Basic Rules:</a:t>
            </a:r>
          </a:p>
        </p:txBody>
      </p:sp>
      <p:sp>
        <p:nvSpPr>
          <p:cNvPr id="1017" name="callout-body" descr=""/>
          <p:cNvSpPr/>
          <p:nvPr/>
        </p:nvSpPr>
        <p:spPr>
          <a:xfrm>
            <a:off x="1097280" y="2953512"/>
            <a:ext cx="9994392" cy="944880"/>
          </a:xfrm>
          <a:prstGeom prst="roundRect">
            <a:avLst>
              <a:gd name="adj" fmla="val 6000"/>
            </a:avLst>
          </a:prstGeom>
          <a:solidFill>
            <a:srgbClr val="FEFDFA"/>
          </a:solidFill>
          <a:ln>
            <a:noFill/>
          </a:ln>
        </p:spPr>
        <p:txBody>
          <a:bodyPr lIns="91440" tIns="68580" rIns="91440" bIns="68580" anchor="t" wrap="square">
            <a:normAutofit/>
          </a:bodyPr>
          <a:lstStyle/>
          <a:p>
            <a:pPr algn="l"/>
            <a:r>
              <a:rPr lang="en-US" sz="1200" b="0" dirty="0">
                <a:solidFill>
                  <a:srgbClr val="010B13"/>
                </a:solidFill>
              </a:rPr>
              <a:t>Double-space everythingHave uniform margins of at least 1 in. at the top, bottom, right, and left of every pageWrite “formally” – without slang, contractions, etc.Use sentences and paragraphs (not “lists” unless hypotheses)Give credit to others for their ideas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Structure of an APA-style paper</a:t>
            </a:r>
          </a:p>
        </p:txBody>
      </p:sp>
      <p:sp>
        <p:nvSpPr>
          <p:cNvPr id="3" name="Content Placeholder 2"/>
          <p:cNvSpPr>
            <a:spLocks noGrp="1"/>
          </p:cNvSpPr>
          <p:nvPr>
            <p:ph idx="1"/>
          </p:nvPr>
        </p:nvSpPr>
        <p:spPr/>
        <p:txBody>
          <a:bodyPr/>
          <a:lstStyle/>
          <a:p>
            <a:pPr lvl="0" indent="0" marL="0">
              <a:buNone/>
            </a:pPr>
            <a:r>
              <a:rPr/>
              <a:t>APA uses </a:t>
            </a:r>
            <a:r>
              <a:rPr b="1"/>
              <a:t>six</a:t>
            </a:r>
            <a:r>
              <a:rPr/>
              <a:t> main sections that correspond with </a:t>
            </a:r>
            <a:r>
              <a:rPr b="1"/>
              <a:t>six</a:t>
            </a:r>
            <a:r>
              <a:rPr/>
              <a:t> basic components of research reports</a:t>
            </a:r>
          </a:p>
          <a:p>
            <a:pPr lvl="0" indent="0" marL="0">
              <a:buNone/>
            </a:pPr>
          </a:p>
          <a:p>
            <a:pPr lvl="0" indent="0" marL="0">
              <a:buNone/>
            </a:pPr>
            <a:r>
              <a:rPr/>
              <a:t>Abstract</a:t>
            </a:r>
          </a:p>
          <a:p>
            <a:pPr lvl="0" indent="0" marL="0">
              <a:buNone/>
            </a:pPr>
            <a:r>
              <a:rPr/>
              <a:t>50-150 word summary of the key information of the study.</a:t>
            </a:r>
          </a:p>
          <a:p>
            <a:pPr lvl="0" indent="0" marL="0">
              <a:buNone/>
            </a:pPr>
            <a:r>
              <a:rPr/>
              <a:t>Introduction</a:t>
            </a:r>
          </a:p>
          <a:p>
            <a:pPr lvl="0" indent="0" marL="0">
              <a:buNone/>
            </a:pPr>
            <a:r>
              <a:rPr/>
              <a:t>Review of the literature that prompted the research.</a:t>
            </a:r>
          </a:p>
          <a:p>
            <a:pPr lvl="0" indent="0" marL="0">
              <a:buNone/>
            </a:pPr>
            <a:r>
              <a:rPr/>
              <a:t>Method</a:t>
            </a:r>
          </a:p>
          <a:p>
            <a:pPr lvl="0" indent="0" marL="0">
              <a:buNone/>
            </a:pPr>
            <a:r>
              <a:rPr i="1"/>
              <a:t>Participants:</a:t>
            </a:r>
            <a:r>
              <a:rPr/>
              <a:t> Who (what) and how they were selected</a:t>
            </a:r>
          </a:p>
          <a:p>
            <a:pPr lvl="0" indent="0" marL="0">
              <a:buNone/>
            </a:pPr>
            <a:r>
              <a:rPr i="1"/>
              <a:t>Materials:</a:t>
            </a:r>
            <a:r>
              <a:rPr/>
              <a:t> Equipment, measures, and materials used to collect data</a:t>
            </a:r>
          </a:p>
          <a:p>
            <a:pPr lvl="0" indent="0" marL="0">
              <a:buNone/>
            </a:pPr>
            <a:r>
              <a:rPr i="1"/>
              <a:t>Procedure:</a:t>
            </a:r>
            <a:r>
              <a:rPr/>
              <a:t> Treatment and data collection process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Structure of an APA-style paper (cont.)</a:t>
            </a:r>
          </a:p>
        </p:txBody>
      </p:sp>
      <p:sp>
        <p:nvSpPr>
          <p:cNvPr id="3" name="Content Placeholder 2"/>
          <p:cNvSpPr>
            <a:spLocks noGrp="1"/>
          </p:cNvSpPr>
          <p:nvPr>
            <p:ph idx="1"/>
          </p:nvPr>
        </p:nvSpPr>
        <p:spPr/>
        <p:txBody>
          <a:bodyPr/>
          <a:lstStyle/>
          <a:p>
            <a:pPr lvl="0" indent="0" marL="0">
              <a:buNone/>
            </a:pPr>
            <a:r>
              <a:rPr/>
              <a:t>Results</a:t>
            </a:r>
          </a:p>
          <a:p>
            <a:pPr lvl="0" indent="0" marL="0">
              <a:buNone/>
            </a:pPr>
            <a:r>
              <a:rPr/>
              <a:t>Description of the data analysis process and results.</a:t>
            </a:r>
          </a:p>
          <a:p>
            <a:pPr lvl="0" indent="0" marL="0">
              <a:buNone/>
            </a:pPr>
            <a:r>
              <a:rPr/>
              <a:t>Discussion</a:t>
            </a:r>
          </a:p>
          <a:p>
            <a:pPr lvl="0" indent="0" marL="0">
              <a:buNone/>
            </a:pPr>
            <a:r>
              <a:rPr/>
              <a:t>Relating the findings to the previous literature, limitations &amp; future directions.</a:t>
            </a:r>
          </a:p>
          <a:p>
            <a:pPr lvl="0" indent="0" marL="0">
              <a:buNone/>
            </a:pPr>
            <a:r>
              <a:rPr/>
              <a:t>References</a:t>
            </a:r>
          </a:p>
          <a:p>
            <a:pPr lvl="0" indent="0" marL="0">
              <a:buNone/>
            </a:pPr>
            <a:r>
              <a:rPr/>
              <a:t>Citations of previous literature used to inform the study.</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Introduction</a:t>
            </a:r>
          </a:p>
        </p:txBody>
      </p:sp>
      <p:pic>
        <p:nvPicPr>
          <p:cNvPr descr="Cartoon illustration of a funnel, representing how an introduction narrows from a broad topic to a specific research question" id="0" name="Picture 1"/>
          <p:cNvPicPr>
            <a:picLocks noGrp="1" noChangeAspect="1"/>
          </p:cNvPicPr>
          <p:nvPr/>
        </p:nvPicPr>
        <p:blipFill>
          <a:blip r:embed="rId2"/>
          <a:stretch>
            <a:fillRect/>
          </a:stretch>
        </p:blipFill>
        <p:spPr bwMode="auto">
          <a:xfrm>
            <a:off x="1993900" y="2628900"/>
            <a:ext cx="3098800" cy="3098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General ➭ Specifics</a:t>
            </a:r>
          </a:p>
          <a:p>
            <a:pPr lvl="0"/>
            <a:r>
              <a:rPr b="1"/>
              <a:t>Background:</a:t>
            </a:r>
            <a:r>
              <a:rPr/>
              <a:t> define the topic/context, what prior research says, and how it has been </a:t>
            </a:r>
            <a:r>
              <a:rPr b="1"/>
              <a:t>operationalized</a:t>
            </a:r>
          </a:p>
          <a:p>
            <a:pPr lvl="0"/>
            <a:r>
              <a:rPr b="1"/>
              <a:t>Gaps:</a:t>
            </a:r>
            <a:r>
              <a:rPr/>
              <a:t> what information is </a:t>
            </a:r>
            <a:r>
              <a:rPr b="1"/>
              <a:t>missing</a:t>
            </a:r>
            <a:r>
              <a:rPr/>
              <a:t>? what questions remain </a:t>
            </a:r>
            <a:r>
              <a:rPr b="1"/>
              <a:t>unanswered</a:t>
            </a:r>
            <a:r>
              <a:rPr/>
              <a:t>?</a:t>
            </a:r>
          </a:p>
          <a:p>
            <a:pPr lvl="0"/>
            <a:r>
              <a:rPr b="1"/>
              <a:t>The current study:</a:t>
            </a:r>
            <a:r>
              <a:rPr/>
              <a:t> the </a:t>
            </a:r>
            <a:r>
              <a:rPr b="1"/>
              <a:t>gap</a:t>
            </a:r>
            <a:r>
              <a:rPr/>
              <a:t> you plan to study and </a:t>
            </a:r>
            <a:r>
              <a:rPr b="1"/>
              <a:t>how</a:t>
            </a:r>
            <a:r>
              <a:rPr/>
              <a:t> you plan to study it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Method</a:t>
            </a:r>
          </a:p>
        </p:txBody>
      </p:sp>
      <p:pic>
        <p:nvPicPr>
          <p:cNvPr descr="Illustrated recipe diagram for Avgolemono Soup with a central bowl surrounded by labeled ingredients: lemons, eggs, chicken, salt, and rice" id="0" name="Picture 1"/>
          <p:cNvPicPr>
            <a:picLocks noGrp="1" noChangeAspect="1"/>
          </p:cNvPicPr>
          <p:nvPr/>
        </p:nvPicPr>
        <p:blipFill>
          <a:blip r:embed="rId2"/>
          <a:stretch>
            <a:fillRect/>
          </a:stretch>
        </p:blipFill>
        <p:spPr bwMode="auto">
          <a:xfrm>
            <a:off x="1993900" y="2628900"/>
            <a:ext cx="3098800" cy="3098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Research </a:t>
            </a:r>
            <a:r>
              <a:rPr b="1"/>
              <a:t>recipe</a:t>
            </a:r>
            <a:r>
              <a:rPr/>
              <a:t> ➭ Ingredients + Steps</a:t>
            </a:r>
          </a:p>
          <a:p>
            <a:pPr lvl="0"/>
            <a:r>
              <a:rPr b="1"/>
              <a:t>Participants:</a:t>
            </a:r>
            <a:r>
              <a:rPr/>
              <a:t> </a:t>
            </a:r>
            <a:r>
              <a:rPr b="1"/>
              <a:t>who</a:t>
            </a:r>
            <a:r>
              <a:rPr/>
              <a:t> is your sample, sample </a:t>
            </a:r>
            <a:r>
              <a:rPr b="1"/>
              <a:t>size</a:t>
            </a:r>
            <a:r>
              <a:rPr/>
              <a:t>, and demographics </a:t>
            </a:r>
            <a:r>
              <a:rPr b="1"/>
              <a:t>relevant</a:t>
            </a:r>
            <a:r>
              <a:rPr/>
              <a:t> to the population of interest</a:t>
            </a:r>
          </a:p>
          <a:p>
            <a:pPr lvl="0"/>
            <a:r>
              <a:rPr b="1"/>
              <a:t>Materials:</a:t>
            </a:r>
            <a:r>
              <a:rPr/>
              <a:t> how the </a:t>
            </a:r>
            <a:r>
              <a:rPr b="1"/>
              <a:t>variables</a:t>
            </a:r>
            <a:r>
              <a:rPr/>
              <a:t> were measured, how the IV was </a:t>
            </a:r>
            <a:r>
              <a:rPr b="1"/>
              <a:t>manipulated</a:t>
            </a:r>
            <a:r>
              <a:rPr/>
              <a:t> (if experiment), and the </a:t>
            </a:r>
            <a:r>
              <a:rPr b="1"/>
              <a:t>range of values</a:t>
            </a:r>
            <a:r>
              <a:rPr/>
              <a:t> for each variable</a:t>
            </a:r>
          </a:p>
          <a:p>
            <a:pPr lvl="0"/>
            <a:r>
              <a:rPr b="1"/>
              <a:t>Procedure:</a:t>
            </a:r>
            <a:r>
              <a:rPr/>
              <a:t> the </a:t>
            </a:r>
            <a:r>
              <a:rPr b="1"/>
              <a:t>design</a:t>
            </a:r>
            <a:r>
              <a:rPr/>
              <a:t>, and </a:t>
            </a:r>
            <a:r>
              <a:rPr b="1"/>
              <a:t>where</a:t>
            </a:r>
            <a:r>
              <a:rPr/>
              <a:t> &amp; </a:t>
            </a:r>
            <a:r>
              <a:rPr b="1"/>
              <a:t>how</a:t>
            </a:r>
            <a:r>
              <a:rPr/>
              <a:t> the experiment took place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Results</a:t>
            </a:r>
          </a:p>
        </p:txBody>
      </p:sp>
      <p:pic>
        <p:nvPicPr>
          <p:cNvPr descr="Spider-Man pointing meme contrasting let the data speak for themselves with let the data speak for my implicit assumptions" id="0" name="Picture 1"/>
          <p:cNvPicPr>
            <a:picLocks noGrp="1" noChangeAspect="1"/>
          </p:cNvPicPr>
          <p:nvPr/>
        </p:nvPicPr>
        <p:blipFill>
          <a:blip r:embed="rId2"/>
          <a:stretch>
            <a:fillRect/>
          </a:stretch>
        </p:blipFill>
        <p:spPr bwMode="auto">
          <a:xfrm>
            <a:off x="1409700" y="2628900"/>
            <a:ext cx="4267200" cy="3098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Record of all </a:t>
            </a:r>
            <a:r>
              <a:rPr b="1"/>
              <a:t>data analysis</a:t>
            </a:r>
          </a:p>
          <a:p>
            <a:pPr lvl="0"/>
            <a:r>
              <a:rPr b="1"/>
              <a:t>Univariate statistics:</a:t>
            </a:r>
            <a:r>
              <a:rPr/>
              <a:t> distribution &amp; central tendency of each </a:t>
            </a:r>
            <a:r>
              <a:rPr b="1"/>
              <a:t>variable</a:t>
            </a:r>
            <a:r>
              <a:rPr/>
              <a:t>, any </a:t>
            </a:r>
            <a:r>
              <a:rPr b="1"/>
              <a:t>outliers</a:t>
            </a:r>
            <a:r>
              <a:rPr/>
              <a:t> or </a:t>
            </a:r>
            <a:r>
              <a:rPr b="1"/>
              <a:t>transformations</a:t>
            </a:r>
            <a:r>
              <a:rPr/>
              <a:t>, and reliability of </a:t>
            </a:r>
            <a:r>
              <a:rPr b="1"/>
              <a:t>scales</a:t>
            </a:r>
          </a:p>
          <a:p>
            <a:pPr lvl="0"/>
            <a:r>
              <a:rPr b="1"/>
              <a:t>Bivariate or Multivariate analyses:</a:t>
            </a:r>
            <a:r>
              <a:rPr/>
              <a:t> what </a:t>
            </a:r>
            <a:r>
              <a:rPr b="1"/>
              <a:t>relationships</a:t>
            </a:r>
            <a:r>
              <a:rPr/>
              <a:t> exist between variables and how you </a:t>
            </a:r>
            <a:r>
              <a:rPr b="1"/>
              <a:t>tested</a:t>
            </a:r>
            <a:r>
              <a:rPr/>
              <a:t> them</a:t>
            </a:r>
          </a:p>
          <a:p>
            <a:pPr lvl="0"/>
            <a:r>
              <a:rPr/>
              <a:t>Include all components of APA formatting for </a:t>
            </a:r>
            <a:r>
              <a:rPr b="1"/>
              <a:t>each</a:t>
            </a:r>
            <a:r>
              <a:rPr/>
              <a:t> analysis!!!!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Discussion</a:t>
            </a:r>
          </a:p>
        </p:txBody>
      </p:sp>
      <p:pic>
        <p:nvPicPr>
          <p:cNvPr descr="Four-panel Great British Bake Off meme captioned Started making it, Had a breakdown, Bon Appétit" id="0" name="Picture 1"/>
          <p:cNvPicPr>
            <a:picLocks noGrp="1" noChangeAspect="1"/>
          </p:cNvPicPr>
          <p:nvPr/>
        </p:nvPicPr>
        <p:blipFill>
          <a:blip r:embed="rId2"/>
          <a:stretch>
            <a:fillRect/>
          </a:stretch>
        </p:blipFill>
        <p:spPr bwMode="auto">
          <a:xfrm>
            <a:off x="1968500" y="2628900"/>
            <a:ext cx="3136900" cy="3098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Summarize &amp; </a:t>
            </a:r>
            <a:r>
              <a:rPr b="1"/>
              <a:t>contextualize</a:t>
            </a:r>
            <a:r>
              <a:rPr/>
              <a:t> findings</a:t>
            </a:r>
          </a:p>
          <a:p>
            <a:pPr lvl="0"/>
            <a:r>
              <a:rPr b="1"/>
              <a:t>Results (summarized):</a:t>
            </a:r>
            <a:r>
              <a:rPr/>
              <a:t> Brief recap of main findings </a:t>
            </a:r>
            <a:r>
              <a:rPr b="1"/>
              <a:t>without</a:t>
            </a:r>
            <a:r>
              <a:rPr/>
              <a:t> numbers</a:t>
            </a:r>
          </a:p>
          <a:p>
            <a:pPr lvl="0"/>
            <a:r>
              <a:rPr b="1"/>
              <a:t>Interpretation and Implications:</a:t>
            </a:r>
          </a:p>
          <a:p>
            <a:pPr lvl="1"/>
            <a:r>
              <a:rPr/>
              <a:t>Were the main hypotheses </a:t>
            </a:r>
            <a:r>
              <a:rPr b="1"/>
              <a:t>supported</a:t>
            </a:r>
            <a:r>
              <a:rPr/>
              <a:t>?</a:t>
            </a:r>
          </a:p>
          <a:p>
            <a:pPr lvl="1"/>
            <a:r>
              <a:rPr/>
              <a:t>How do your findings </a:t>
            </a:r>
            <a:r>
              <a:rPr b="1"/>
              <a:t>fit</a:t>
            </a:r>
            <a:r>
              <a:rPr/>
              <a:t> within the </a:t>
            </a:r>
            <a:r>
              <a:rPr b="1"/>
              <a:t>existing</a:t>
            </a:r>
            <a:r>
              <a:rPr/>
              <a:t> literature?</a:t>
            </a:r>
          </a:p>
          <a:p>
            <a:pPr lvl="0"/>
            <a:r>
              <a:rPr b="1"/>
              <a:t>Limitations:</a:t>
            </a:r>
          </a:p>
          <a:p>
            <a:pPr lvl="1"/>
            <a:r>
              <a:rPr/>
              <a:t>Explain </a:t>
            </a:r>
            <a:r>
              <a:rPr b="1"/>
              <a:t>limits</a:t>
            </a:r>
            <a:r>
              <a:rPr/>
              <a:t> of interpretability/generalizability</a:t>
            </a:r>
          </a:p>
          <a:p>
            <a:pPr lvl="0"/>
            <a:r>
              <a:rPr b="1"/>
              <a:t>Future directions:</a:t>
            </a:r>
          </a:p>
          <a:p>
            <a:pPr lvl="1"/>
            <a:r>
              <a:rPr/>
              <a:t>What are the next steps?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Where to look for information</a:t>
            </a:r>
          </a:p>
        </p:txBody>
      </p:sp>
      <p:sp>
        <p:nvSpPr>
          <p:cNvPr id="1018" name="prose" descr=""/>
          <p:cNvSpPr/>
          <p:nvPr/>
        </p:nvSpPr>
        <p:spPr>
          <a:xfrm>
            <a:off x="1097280" y="2633472"/>
            <a:ext cx="9994392" cy="82296"/>
          </a:xfrm>
          <a:prstGeom prst="roundRect">
            <a:avLst>
              <a:gd name="adj" fmla="val 6000"/>
            </a:avLst>
          </a:prstGeom>
          <a:noFill/>
          <a:ln>
            <a:noFill/>
          </a:ln>
        </p:spPr>
        <p:txBody>
          <a:bodyPr lIns="91440" tIns="68580" rIns="91440" bIns="68580" anchor="t" wrap="square">
            <a:normAutofit/>
          </a:bodyPr>
          <a:lstStyle/>
          <a:p>
            <a:pPr algn="l"/>
            <a:r>
              <a:rPr lang="en-US" sz="900" b="0" dirty="0">
                <a:solidFill>
                  <a:srgbClr val="010B13"/>
                </a:solidFill>
              </a:rPr>
              <a:t>scroll down</a:t>
            </a:r>
          </a:p>
        </p:txBody>
      </p:sp>
      <p:sp>
        <p:nvSpPr>
          <p:cNvPr id="1019" name="callout-tip" descr="tip callout: What has the author(s) read that prompted the research ?. Introduction, Discussion, References"/>
          <p:cNvSpPr/>
          <p:nvPr/>
        </p:nvSpPr>
        <p:spPr>
          <a:xfrm>
            <a:off x="1097280" y="2807208"/>
            <a:ext cx="9994392" cy="505206"/>
          </a:xfrm>
          <a:prstGeom prst="roundRect">
            <a:avLst>
              <a:gd name="adj" fmla="val 6000"/>
            </a:avLst>
          </a:prstGeom>
          <a:solidFill>
            <a:srgbClr val="FEFDFA"/>
          </a:solidFill>
          <a:ln w="19050">
            <a:solidFill>
              <a:srgbClr val="009955"/>
            </a:solidFill>
          </a:ln>
        </p:spPr>
        <p:txBody>
          <a:bodyPr lIns="91440" tIns="68580" rIns="91440" bIns="68580" anchor="t" wrap="square">
            <a:normAutofit/>
          </a:bodyPr>
          <a:lstStyle/>
          <a:p/>
        </p:txBody>
      </p:sp>
      <p:sp>
        <p:nvSpPr>
          <p:cNvPr id="1020" name="callout-title" descr=""/>
          <p:cNvSpPr/>
          <p:nvPr/>
        </p:nvSpPr>
        <p:spPr>
          <a:xfrm>
            <a:off x="1097280" y="2807208"/>
            <a:ext cx="9994392" cy="144018"/>
          </a:xfrm>
          <a:prstGeom prst="roundRect">
            <a:avLst>
              <a:gd name="adj" fmla="val 6000"/>
            </a:avLst>
          </a:prstGeom>
          <a:solidFill>
            <a:srgbClr val="009955"/>
          </a:solidFill>
          <a:ln>
            <a:noFill/>
          </a:ln>
        </p:spPr>
        <p:txBody>
          <a:bodyPr lIns="91440" tIns="68580" rIns="91440" bIns="68580" anchor="t" wrap="square">
            <a:normAutofit/>
          </a:bodyPr>
          <a:lstStyle/>
          <a:p>
            <a:pPr algn="l"/>
            <a:r>
              <a:rPr lang="en-US" sz="900" b="1" dirty="0">
                <a:solidFill>
                  <a:srgbClr val="FEFDFA"/>
                </a:solidFill>
              </a:rPr>
              <a:t>What has the author(s) read that prompted the research ?</a:t>
            </a:r>
          </a:p>
        </p:txBody>
      </p:sp>
      <p:sp>
        <p:nvSpPr>
          <p:cNvPr id="1021" name="callout-body" descr=""/>
          <p:cNvSpPr/>
          <p:nvPr/>
        </p:nvSpPr>
        <p:spPr>
          <a:xfrm>
            <a:off x="1097280" y="2951226"/>
            <a:ext cx="9994392" cy="361188"/>
          </a:xfrm>
          <a:prstGeom prst="roundRect">
            <a:avLst>
              <a:gd name="adj" fmla="val 6000"/>
            </a:avLst>
          </a:prstGeom>
          <a:solidFill>
            <a:srgbClr val="FEFDFA"/>
          </a:solidFill>
          <a:ln>
            <a:noFill/>
          </a:ln>
        </p:spPr>
        <p:txBody>
          <a:bodyPr lIns="91440" tIns="68580" rIns="91440" bIns="68580" anchor="t" wrap="square">
            <a:normAutofit/>
          </a:bodyPr>
          <a:lstStyle/>
          <a:p>
            <a:pPr algn="l"/>
            <a:r>
              <a:rPr lang="en-US" sz="800" b="0" dirty="0">
                <a:solidFill>
                  <a:srgbClr val="010B13"/>
                </a:solidFill>
              </a:rPr>
              <a:t>Introduction, Discussion, References</a:t>
            </a:r>
          </a:p>
        </p:txBody>
      </p:sp>
      <p:sp>
        <p:nvSpPr>
          <p:cNvPr id="1022" name="callout-tip" descr="tip callout: What is the purpose of the research being reported ?. Abstract, Introduction, Discussion"/>
          <p:cNvSpPr/>
          <p:nvPr/>
        </p:nvSpPr>
        <p:spPr>
          <a:xfrm>
            <a:off x="1097280" y="3403854"/>
            <a:ext cx="9994392" cy="505206"/>
          </a:xfrm>
          <a:prstGeom prst="roundRect">
            <a:avLst>
              <a:gd name="adj" fmla="val 6000"/>
            </a:avLst>
          </a:prstGeom>
          <a:solidFill>
            <a:srgbClr val="FEFDFA"/>
          </a:solidFill>
          <a:ln w="19050">
            <a:solidFill>
              <a:srgbClr val="009955"/>
            </a:solidFill>
          </a:ln>
        </p:spPr>
        <p:txBody>
          <a:bodyPr lIns="91440" tIns="68580" rIns="91440" bIns="68580" anchor="t" wrap="square">
            <a:normAutofit/>
          </a:bodyPr>
          <a:lstStyle/>
          <a:p/>
        </p:txBody>
      </p:sp>
      <p:sp>
        <p:nvSpPr>
          <p:cNvPr id="1023" name="callout-title" descr=""/>
          <p:cNvSpPr/>
          <p:nvPr/>
        </p:nvSpPr>
        <p:spPr>
          <a:xfrm>
            <a:off x="1097280" y="3403854"/>
            <a:ext cx="9994392" cy="144018"/>
          </a:xfrm>
          <a:prstGeom prst="roundRect">
            <a:avLst>
              <a:gd name="adj" fmla="val 6000"/>
            </a:avLst>
          </a:prstGeom>
          <a:solidFill>
            <a:srgbClr val="009955"/>
          </a:solidFill>
          <a:ln>
            <a:noFill/>
          </a:ln>
        </p:spPr>
        <p:txBody>
          <a:bodyPr lIns="91440" tIns="68580" rIns="91440" bIns="68580" anchor="t" wrap="square">
            <a:normAutofit/>
          </a:bodyPr>
          <a:lstStyle/>
          <a:p>
            <a:pPr algn="l"/>
            <a:r>
              <a:rPr lang="en-US" sz="900" b="1" dirty="0">
                <a:solidFill>
                  <a:srgbClr val="FEFDFA"/>
                </a:solidFill>
              </a:rPr>
              <a:t>What is the purpose of the research being reported ?</a:t>
            </a:r>
          </a:p>
        </p:txBody>
      </p:sp>
      <p:sp>
        <p:nvSpPr>
          <p:cNvPr id="1024" name="callout-body" descr=""/>
          <p:cNvSpPr/>
          <p:nvPr/>
        </p:nvSpPr>
        <p:spPr>
          <a:xfrm>
            <a:off x="1097280" y="3547872"/>
            <a:ext cx="9994392" cy="361188"/>
          </a:xfrm>
          <a:prstGeom prst="roundRect">
            <a:avLst>
              <a:gd name="adj" fmla="val 6000"/>
            </a:avLst>
          </a:prstGeom>
          <a:solidFill>
            <a:srgbClr val="FEFDFA"/>
          </a:solidFill>
          <a:ln>
            <a:noFill/>
          </a:ln>
        </p:spPr>
        <p:txBody>
          <a:bodyPr lIns="91440" tIns="68580" rIns="91440" bIns="68580" anchor="t" wrap="square">
            <a:normAutofit/>
          </a:bodyPr>
          <a:lstStyle/>
          <a:p>
            <a:pPr algn="l"/>
            <a:r>
              <a:rPr lang="en-US" sz="800" b="0" dirty="0">
                <a:solidFill>
                  <a:srgbClr val="010B13"/>
                </a:solidFill>
              </a:rPr>
              <a:t>Abstract, Introduction, Discussion</a:t>
            </a:r>
          </a:p>
        </p:txBody>
      </p:sp>
      <p:sp>
        <p:nvSpPr>
          <p:cNvPr id="1025" name="callout-tip" descr="tip callout: What is the specific research question or research hypothesis ?. Abstract, Introduction, Results, Discussion"/>
          <p:cNvSpPr/>
          <p:nvPr/>
        </p:nvSpPr>
        <p:spPr>
          <a:xfrm>
            <a:off x="1097280" y="4000500"/>
            <a:ext cx="9994392" cy="505206"/>
          </a:xfrm>
          <a:prstGeom prst="roundRect">
            <a:avLst>
              <a:gd name="adj" fmla="val 6000"/>
            </a:avLst>
          </a:prstGeom>
          <a:solidFill>
            <a:srgbClr val="FEFDFA"/>
          </a:solidFill>
          <a:ln w="19050">
            <a:solidFill>
              <a:srgbClr val="009955"/>
            </a:solidFill>
          </a:ln>
        </p:spPr>
        <p:txBody>
          <a:bodyPr lIns="91440" tIns="68580" rIns="91440" bIns="68580" anchor="t" wrap="square">
            <a:normAutofit/>
          </a:bodyPr>
          <a:lstStyle/>
          <a:p/>
        </p:txBody>
      </p:sp>
      <p:sp>
        <p:nvSpPr>
          <p:cNvPr id="1026" name="callout-title" descr=""/>
          <p:cNvSpPr/>
          <p:nvPr/>
        </p:nvSpPr>
        <p:spPr>
          <a:xfrm>
            <a:off x="1097280" y="4000500"/>
            <a:ext cx="9994392" cy="144018"/>
          </a:xfrm>
          <a:prstGeom prst="roundRect">
            <a:avLst>
              <a:gd name="adj" fmla="val 6000"/>
            </a:avLst>
          </a:prstGeom>
          <a:solidFill>
            <a:srgbClr val="009955"/>
          </a:solidFill>
          <a:ln>
            <a:noFill/>
          </a:ln>
        </p:spPr>
        <p:txBody>
          <a:bodyPr lIns="91440" tIns="68580" rIns="91440" bIns="68580" anchor="t" wrap="square">
            <a:normAutofit/>
          </a:bodyPr>
          <a:lstStyle/>
          <a:p>
            <a:pPr algn="l"/>
            <a:r>
              <a:rPr lang="en-US" sz="900" b="1" dirty="0">
                <a:solidFill>
                  <a:srgbClr val="FEFDFA"/>
                </a:solidFill>
              </a:rPr>
              <a:t>What is the specific research question or research hypothesis ?</a:t>
            </a:r>
          </a:p>
        </p:txBody>
      </p:sp>
      <p:sp>
        <p:nvSpPr>
          <p:cNvPr id="1027" name="callout-body" descr=""/>
          <p:cNvSpPr/>
          <p:nvPr/>
        </p:nvSpPr>
        <p:spPr>
          <a:xfrm>
            <a:off x="1097280" y="4144518"/>
            <a:ext cx="9994392" cy="361188"/>
          </a:xfrm>
          <a:prstGeom prst="roundRect">
            <a:avLst>
              <a:gd name="adj" fmla="val 6000"/>
            </a:avLst>
          </a:prstGeom>
          <a:solidFill>
            <a:srgbClr val="FEFDFA"/>
          </a:solidFill>
          <a:ln>
            <a:noFill/>
          </a:ln>
        </p:spPr>
        <p:txBody>
          <a:bodyPr lIns="91440" tIns="68580" rIns="91440" bIns="68580" anchor="t" wrap="square">
            <a:normAutofit/>
          </a:bodyPr>
          <a:lstStyle/>
          <a:p>
            <a:pPr algn="l"/>
            <a:r>
              <a:rPr lang="en-US" sz="800" b="0" dirty="0">
                <a:solidFill>
                  <a:srgbClr val="010B13"/>
                </a:solidFill>
              </a:rPr>
              <a:t>Abstract, Introduction, Results, Discussion</a:t>
            </a:r>
          </a:p>
        </p:txBody>
      </p:sp>
      <p:sp>
        <p:nvSpPr>
          <p:cNvPr id="1028" name="callout-tip" descr="tip callout: Who were the participants ?. Abstract, Method - Participants"/>
          <p:cNvSpPr/>
          <p:nvPr/>
        </p:nvSpPr>
        <p:spPr>
          <a:xfrm>
            <a:off x="1097280" y="4597146"/>
            <a:ext cx="9994392" cy="505206"/>
          </a:xfrm>
          <a:prstGeom prst="roundRect">
            <a:avLst>
              <a:gd name="adj" fmla="val 6000"/>
            </a:avLst>
          </a:prstGeom>
          <a:solidFill>
            <a:srgbClr val="FEFDFA"/>
          </a:solidFill>
          <a:ln w="19050">
            <a:solidFill>
              <a:srgbClr val="009955"/>
            </a:solidFill>
          </a:ln>
        </p:spPr>
        <p:txBody>
          <a:bodyPr lIns="91440" tIns="68580" rIns="91440" bIns="68580" anchor="t" wrap="square">
            <a:normAutofit/>
          </a:bodyPr>
          <a:lstStyle/>
          <a:p/>
        </p:txBody>
      </p:sp>
      <p:sp>
        <p:nvSpPr>
          <p:cNvPr id="1029" name="callout-title" descr=""/>
          <p:cNvSpPr/>
          <p:nvPr/>
        </p:nvSpPr>
        <p:spPr>
          <a:xfrm>
            <a:off x="1097280" y="4597146"/>
            <a:ext cx="9994392" cy="144018"/>
          </a:xfrm>
          <a:prstGeom prst="roundRect">
            <a:avLst>
              <a:gd name="adj" fmla="val 6000"/>
            </a:avLst>
          </a:prstGeom>
          <a:solidFill>
            <a:srgbClr val="009955"/>
          </a:solidFill>
          <a:ln>
            <a:noFill/>
          </a:ln>
        </p:spPr>
        <p:txBody>
          <a:bodyPr lIns="91440" tIns="68580" rIns="91440" bIns="68580" anchor="t" wrap="square">
            <a:normAutofit/>
          </a:bodyPr>
          <a:lstStyle/>
          <a:p>
            <a:pPr algn="l"/>
            <a:r>
              <a:rPr lang="en-US" sz="900" b="1" dirty="0">
                <a:solidFill>
                  <a:srgbClr val="FEFDFA"/>
                </a:solidFill>
              </a:rPr>
              <a:t>Who were the participants ?</a:t>
            </a:r>
          </a:p>
        </p:txBody>
      </p:sp>
      <p:sp>
        <p:nvSpPr>
          <p:cNvPr id="1030" name="callout-body" descr=""/>
          <p:cNvSpPr/>
          <p:nvPr/>
        </p:nvSpPr>
        <p:spPr>
          <a:xfrm>
            <a:off x="1097280" y="4741164"/>
            <a:ext cx="9994392" cy="361188"/>
          </a:xfrm>
          <a:prstGeom prst="roundRect">
            <a:avLst>
              <a:gd name="adj" fmla="val 6000"/>
            </a:avLst>
          </a:prstGeom>
          <a:solidFill>
            <a:srgbClr val="FEFDFA"/>
          </a:solidFill>
          <a:ln>
            <a:noFill/>
          </a:ln>
        </p:spPr>
        <p:txBody>
          <a:bodyPr lIns="91440" tIns="68580" rIns="91440" bIns="68580" anchor="t" wrap="square">
            <a:normAutofit/>
          </a:bodyPr>
          <a:lstStyle/>
          <a:p>
            <a:pPr algn="l"/>
            <a:r>
              <a:rPr lang="en-US" sz="800" b="0" dirty="0">
                <a:solidFill>
                  <a:srgbClr val="010B13"/>
                </a:solidFill>
              </a:rPr>
              <a:t>Abstract, Method - Participants</a:t>
            </a:r>
          </a:p>
        </p:txBody>
      </p:sp>
      <p:sp>
        <p:nvSpPr>
          <p:cNvPr id="1031" name="callout-tip" descr="tip callout: What equipment and/or materials were used ?. Abstract, Method - Materials/Apparatus"/>
          <p:cNvSpPr/>
          <p:nvPr/>
        </p:nvSpPr>
        <p:spPr>
          <a:xfrm>
            <a:off x="1097280" y="5193792"/>
            <a:ext cx="9994392" cy="505206"/>
          </a:xfrm>
          <a:prstGeom prst="roundRect">
            <a:avLst>
              <a:gd name="adj" fmla="val 6000"/>
            </a:avLst>
          </a:prstGeom>
          <a:solidFill>
            <a:srgbClr val="FEFDFA"/>
          </a:solidFill>
          <a:ln w="19050">
            <a:solidFill>
              <a:srgbClr val="009955"/>
            </a:solidFill>
          </a:ln>
        </p:spPr>
        <p:txBody>
          <a:bodyPr lIns="91440" tIns="68580" rIns="91440" bIns="68580" anchor="t" wrap="square">
            <a:normAutofit/>
          </a:bodyPr>
          <a:lstStyle/>
          <a:p/>
        </p:txBody>
      </p:sp>
      <p:sp>
        <p:nvSpPr>
          <p:cNvPr id="1032" name="callout-title" descr=""/>
          <p:cNvSpPr/>
          <p:nvPr/>
        </p:nvSpPr>
        <p:spPr>
          <a:xfrm>
            <a:off x="1097280" y="5193792"/>
            <a:ext cx="9994392" cy="144018"/>
          </a:xfrm>
          <a:prstGeom prst="roundRect">
            <a:avLst>
              <a:gd name="adj" fmla="val 6000"/>
            </a:avLst>
          </a:prstGeom>
          <a:solidFill>
            <a:srgbClr val="009955"/>
          </a:solidFill>
          <a:ln>
            <a:noFill/>
          </a:ln>
        </p:spPr>
        <p:txBody>
          <a:bodyPr lIns="91440" tIns="68580" rIns="91440" bIns="68580" anchor="t" wrap="square">
            <a:normAutofit/>
          </a:bodyPr>
          <a:lstStyle/>
          <a:p>
            <a:pPr algn="l"/>
            <a:r>
              <a:rPr lang="en-US" sz="900" b="1" dirty="0">
                <a:solidFill>
                  <a:srgbClr val="FEFDFA"/>
                </a:solidFill>
              </a:rPr>
              <a:t>What equipment and/or materials were used ?</a:t>
            </a:r>
          </a:p>
        </p:txBody>
      </p:sp>
      <p:sp>
        <p:nvSpPr>
          <p:cNvPr id="1033" name="callout-body" descr=""/>
          <p:cNvSpPr/>
          <p:nvPr/>
        </p:nvSpPr>
        <p:spPr>
          <a:xfrm>
            <a:off x="1097280" y="5337810"/>
            <a:ext cx="9994392" cy="361188"/>
          </a:xfrm>
          <a:prstGeom prst="roundRect">
            <a:avLst>
              <a:gd name="adj" fmla="val 6000"/>
            </a:avLst>
          </a:prstGeom>
          <a:solidFill>
            <a:srgbClr val="FEFDFA"/>
          </a:solidFill>
          <a:ln>
            <a:noFill/>
          </a:ln>
        </p:spPr>
        <p:txBody>
          <a:bodyPr lIns="91440" tIns="68580" rIns="91440" bIns="68580" anchor="t" wrap="square">
            <a:normAutofit/>
          </a:bodyPr>
          <a:lstStyle/>
          <a:p>
            <a:pPr algn="l"/>
            <a:r>
              <a:rPr lang="en-US" sz="800" b="0" dirty="0">
                <a:solidFill>
                  <a:srgbClr val="010B13"/>
                </a:solidFill>
              </a:rPr>
              <a:t>Abstract, Method - Materials/Apparatus</a:t>
            </a:r>
          </a:p>
        </p:txBody>
      </p:sp>
      <p:sp>
        <p:nvSpPr>
          <p:cNvPr id="1034" name="callout-tip" descr="tip callout: What treatment &amp; data collection procedures were used ?. Abstract, Method - Procedures"/>
          <p:cNvSpPr/>
          <p:nvPr/>
        </p:nvSpPr>
        <p:spPr>
          <a:xfrm>
            <a:off x="1097280" y="5790438"/>
            <a:ext cx="9994392" cy="505206"/>
          </a:xfrm>
          <a:prstGeom prst="roundRect">
            <a:avLst>
              <a:gd name="adj" fmla="val 6000"/>
            </a:avLst>
          </a:prstGeom>
          <a:solidFill>
            <a:srgbClr val="FEFDFA"/>
          </a:solidFill>
          <a:ln w="19050">
            <a:solidFill>
              <a:srgbClr val="009955"/>
            </a:solidFill>
          </a:ln>
        </p:spPr>
        <p:txBody>
          <a:bodyPr lIns="91440" tIns="68580" rIns="91440" bIns="68580" anchor="t" wrap="square">
            <a:normAutofit/>
          </a:bodyPr>
          <a:lstStyle/>
          <a:p/>
        </p:txBody>
      </p:sp>
      <p:sp>
        <p:nvSpPr>
          <p:cNvPr id="1035" name="callout-title" descr=""/>
          <p:cNvSpPr/>
          <p:nvPr/>
        </p:nvSpPr>
        <p:spPr>
          <a:xfrm>
            <a:off x="1097280" y="5790438"/>
            <a:ext cx="9994392" cy="144018"/>
          </a:xfrm>
          <a:prstGeom prst="roundRect">
            <a:avLst>
              <a:gd name="adj" fmla="val 6000"/>
            </a:avLst>
          </a:prstGeom>
          <a:solidFill>
            <a:srgbClr val="009955"/>
          </a:solidFill>
          <a:ln>
            <a:noFill/>
          </a:ln>
        </p:spPr>
        <p:txBody>
          <a:bodyPr lIns="91440" tIns="68580" rIns="91440" bIns="68580" anchor="t" wrap="square">
            <a:normAutofit/>
          </a:bodyPr>
          <a:lstStyle/>
          <a:p>
            <a:pPr algn="l"/>
            <a:r>
              <a:rPr lang="en-US" sz="900" b="1" dirty="0">
                <a:solidFill>
                  <a:srgbClr val="FEFDFA"/>
                </a:solidFill>
              </a:rPr>
              <a:t>What treatment &amp; data collection procedures were used ?</a:t>
            </a:r>
          </a:p>
        </p:txBody>
      </p:sp>
      <p:sp>
        <p:nvSpPr>
          <p:cNvPr id="1036" name="callout-body" descr=""/>
          <p:cNvSpPr/>
          <p:nvPr/>
        </p:nvSpPr>
        <p:spPr>
          <a:xfrm>
            <a:off x="1097280" y="5934456"/>
            <a:ext cx="9994392" cy="361188"/>
          </a:xfrm>
          <a:prstGeom prst="roundRect">
            <a:avLst>
              <a:gd name="adj" fmla="val 6000"/>
            </a:avLst>
          </a:prstGeom>
          <a:solidFill>
            <a:srgbClr val="FEFDFA"/>
          </a:solidFill>
          <a:ln>
            <a:noFill/>
          </a:ln>
        </p:spPr>
        <p:txBody>
          <a:bodyPr lIns="91440" tIns="68580" rIns="91440" bIns="68580" anchor="t" wrap="square">
            <a:normAutofit/>
          </a:bodyPr>
          <a:lstStyle/>
          <a:p>
            <a:pPr algn="l"/>
            <a:r>
              <a:rPr lang="en-US" sz="800" b="0" dirty="0">
                <a:solidFill>
                  <a:srgbClr val="010B13"/>
                </a:solidFill>
              </a:rPr>
              <a:t>Abstract, Method - Procedures</a:t>
            </a:r>
          </a:p>
        </p:txBody>
      </p:sp>
      <p:sp>
        <p:nvSpPr>
          <p:cNvPr id="1037" name="callout-tip" descr="tip callout: What are the results of the statistical analysis of the data as they relate to the research question or research hypothesis?. Abstract, Results, Discussion, Tables/Figures"/>
          <p:cNvSpPr/>
          <p:nvPr/>
        </p:nvSpPr>
        <p:spPr>
          <a:xfrm>
            <a:off x="1097280" y="6387084"/>
            <a:ext cx="9994392" cy="505206"/>
          </a:xfrm>
          <a:prstGeom prst="roundRect">
            <a:avLst>
              <a:gd name="adj" fmla="val 6000"/>
            </a:avLst>
          </a:prstGeom>
          <a:solidFill>
            <a:srgbClr val="FEFDFA"/>
          </a:solidFill>
          <a:ln w="19050">
            <a:solidFill>
              <a:srgbClr val="009955"/>
            </a:solidFill>
          </a:ln>
        </p:spPr>
        <p:txBody>
          <a:bodyPr lIns="91440" tIns="68580" rIns="91440" bIns="68580" anchor="t" wrap="square">
            <a:normAutofit/>
          </a:bodyPr>
          <a:lstStyle/>
          <a:p/>
        </p:txBody>
      </p:sp>
      <p:sp>
        <p:nvSpPr>
          <p:cNvPr id="1038" name="callout-title" descr=""/>
          <p:cNvSpPr/>
          <p:nvPr/>
        </p:nvSpPr>
        <p:spPr>
          <a:xfrm>
            <a:off x="1097280" y="6387084"/>
            <a:ext cx="9994392" cy="144018"/>
          </a:xfrm>
          <a:prstGeom prst="roundRect">
            <a:avLst>
              <a:gd name="adj" fmla="val 6000"/>
            </a:avLst>
          </a:prstGeom>
          <a:solidFill>
            <a:srgbClr val="009955"/>
          </a:solidFill>
          <a:ln>
            <a:noFill/>
          </a:ln>
        </p:spPr>
        <p:txBody>
          <a:bodyPr lIns="91440" tIns="68580" rIns="91440" bIns="68580" anchor="t" wrap="square">
            <a:normAutofit/>
          </a:bodyPr>
          <a:lstStyle/>
          <a:p>
            <a:pPr algn="l"/>
            <a:r>
              <a:rPr lang="en-US" sz="900" b="1" dirty="0">
                <a:solidFill>
                  <a:srgbClr val="FEFDFA"/>
                </a:solidFill>
              </a:rPr>
              <a:t>What are the results of the statistical analysis of the data as they relate to the research question or research hypothesis?</a:t>
            </a:r>
          </a:p>
        </p:txBody>
      </p:sp>
      <p:sp>
        <p:nvSpPr>
          <p:cNvPr id="1039" name="callout-body" descr=""/>
          <p:cNvSpPr/>
          <p:nvPr/>
        </p:nvSpPr>
        <p:spPr>
          <a:xfrm>
            <a:off x="1097280" y="6531102"/>
            <a:ext cx="9994392" cy="361188"/>
          </a:xfrm>
          <a:prstGeom prst="roundRect">
            <a:avLst>
              <a:gd name="adj" fmla="val 6000"/>
            </a:avLst>
          </a:prstGeom>
          <a:solidFill>
            <a:srgbClr val="FEFDFA"/>
          </a:solidFill>
          <a:ln>
            <a:noFill/>
          </a:ln>
        </p:spPr>
        <p:txBody>
          <a:bodyPr lIns="91440" tIns="68580" rIns="91440" bIns="68580" anchor="t" wrap="square">
            <a:normAutofit/>
          </a:bodyPr>
          <a:lstStyle/>
          <a:p>
            <a:pPr algn="l"/>
            <a:r>
              <a:rPr lang="en-US" sz="800" b="0" dirty="0">
                <a:solidFill>
                  <a:srgbClr val="010B13"/>
                </a:solidFill>
              </a:rPr>
              <a:t>Abstract, Results, Discussion, Tables/Figures</a:t>
            </a:r>
          </a:p>
        </p:txBody>
      </p:sp>
      <p:sp>
        <p:nvSpPr>
          <p:cNvPr id="1040" name="callout-tip" descr="tip callout: How do the current findings integrate with what the author(s) read that prompted the research?. Abstract, Discussion"/>
          <p:cNvSpPr/>
          <p:nvPr/>
        </p:nvSpPr>
        <p:spPr>
          <a:xfrm>
            <a:off x="1097280" y="6983730"/>
            <a:ext cx="9994392" cy="505206"/>
          </a:xfrm>
          <a:prstGeom prst="roundRect">
            <a:avLst>
              <a:gd name="adj" fmla="val 6000"/>
            </a:avLst>
          </a:prstGeom>
          <a:solidFill>
            <a:srgbClr val="FEFDFA"/>
          </a:solidFill>
          <a:ln w="19050">
            <a:solidFill>
              <a:srgbClr val="009955"/>
            </a:solidFill>
          </a:ln>
        </p:spPr>
        <p:txBody>
          <a:bodyPr lIns="91440" tIns="68580" rIns="91440" bIns="68580" anchor="t" wrap="square">
            <a:normAutofit/>
          </a:bodyPr>
          <a:lstStyle/>
          <a:p/>
        </p:txBody>
      </p:sp>
      <p:sp>
        <p:nvSpPr>
          <p:cNvPr id="1041" name="callout-title" descr=""/>
          <p:cNvSpPr/>
          <p:nvPr/>
        </p:nvSpPr>
        <p:spPr>
          <a:xfrm>
            <a:off x="1097280" y="6983730"/>
            <a:ext cx="9994392" cy="144018"/>
          </a:xfrm>
          <a:prstGeom prst="roundRect">
            <a:avLst>
              <a:gd name="adj" fmla="val 6000"/>
            </a:avLst>
          </a:prstGeom>
          <a:solidFill>
            <a:srgbClr val="009955"/>
          </a:solidFill>
          <a:ln>
            <a:noFill/>
          </a:ln>
        </p:spPr>
        <p:txBody>
          <a:bodyPr lIns="91440" tIns="68580" rIns="91440" bIns="68580" anchor="t" wrap="square">
            <a:normAutofit/>
          </a:bodyPr>
          <a:lstStyle/>
          <a:p>
            <a:pPr algn="l"/>
            <a:r>
              <a:rPr lang="en-US" sz="900" b="1" dirty="0">
                <a:solidFill>
                  <a:srgbClr val="FEFDFA"/>
                </a:solidFill>
              </a:rPr>
              <a:t>How do the current findings integrate with what the author(s) read that prompted the research?</a:t>
            </a:r>
          </a:p>
        </p:txBody>
      </p:sp>
      <p:sp>
        <p:nvSpPr>
          <p:cNvPr id="1042" name="callout-body" descr=""/>
          <p:cNvSpPr/>
          <p:nvPr/>
        </p:nvSpPr>
        <p:spPr>
          <a:xfrm>
            <a:off x="1097280" y="7127748"/>
            <a:ext cx="9994392" cy="361188"/>
          </a:xfrm>
          <a:prstGeom prst="roundRect">
            <a:avLst>
              <a:gd name="adj" fmla="val 6000"/>
            </a:avLst>
          </a:prstGeom>
          <a:solidFill>
            <a:srgbClr val="FEFDFA"/>
          </a:solidFill>
          <a:ln>
            <a:noFill/>
          </a:ln>
        </p:spPr>
        <p:txBody>
          <a:bodyPr lIns="91440" tIns="68580" rIns="91440" bIns="68580" anchor="t" wrap="square">
            <a:normAutofit/>
          </a:bodyPr>
          <a:lstStyle/>
          <a:p>
            <a:pPr algn="l"/>
            <a:r>
              <a:rPr lang="en-US" sz="800" b="0" dirty="0">
                <a:solidFill>
                  <a:srgbClr val="010B13"/>
                </a:solidFill>
              </a:rPr>
              <a:t>Abstract, Discussion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Beware of Abstracts</a:t>
            </a:r>
          </a:p>
        </p:txBody>
      </p:sp>
      <p:sp>
        <p:nvSpPr>
          <p:cNvPr id="1043" name="callout-caution" descr="caution callout: Caution. "/>
          <p:cNvSpPr/>
          <p:nvPr/>
        </p:nvSpPr>
        <p:spPr>
          <a:xfrm>
            <a:off x="1097280" y="2633472"/>
            <a:ext cx="9994392" cy="716280"/>
          </a:xfrm>
          <a:prstGeom prst="roundRect">
            <a:avLst>
              <a:gd name="adj" fmla="val 6000"/>
            </a:avLst>
          </a:prstGeom>
          <a:solidFill>
            <a:srgbClr val="FEFDFA"/>
          </a:solidFill>
          <a:ln w="19050">
            <a:solidFill>
              <a:srgbClr val="B38F00"/>
            </a:solidFill>
          </a:ln>
        </p:spPr>
        <p:txBody>
          <a:bodyPr lIns="91440" tIns="68580" rIns="91440" bIns="68580" anchor="t" wrap="square">
            <a:normAutofit/>
          </a:bodyPr>
          <a:lstStyle/>
          <a:p/>
        </p:txBody>
      </p:sp>
      <p:sp>
        <p:nvSpPr>
          <p:cNvPr id="1044" name="callout-title" descr=""/>
          <p:cNvSpPr/>
          <p:nvPr/>
        </p:nvSpPr>
        <p:spPr>
          <a:xfrm>
            <a:off x="1097280" y="2633472"/>
            <a:ext cx="9994392" cy="320040"/>
          </a:xfrm>
          <a:prstGeom prst="roundRect">
            <a:avLst>
              <a:gd name="adj" fmla="val 6000"/>
            </a:avLst>
          </a:prstGeom>
          <a:solidFill>
            <a:srgbClr val="B38F00"/>
          </a:solidFill>
          <a:ln>
            <a:noFill/>
          </a:ln>
        </p:spPr>
        <p:txBody>
          <a:bodyPr lIns="91440" tIns="68580" rIns="91440" bIns="68580" anchor="t" wrap="square">
            <a:normAutofit/>
          </a:bodyPr>
          <a:lstStyle/>
          <a:p>
            <a:pPr algn="l"/>
            <a:r>
              <a:rPr lang="en-US" sz="1400" b="1" dirty="0">
                <a:solidFill>
                  <a:srgbClr val="FEFDFA"/>
                </a:solidFill>
              </a:rPr>
              <a:t>Caution</a:t>
            </a:r>
          </a:p>
        </p:txBody>
      </p:sp>
      <p:sp>
        <p:nvSpPr>
          <p:cNvPr id="1045" name="callout-body" descr=""/>
          <p:cNvSpPr/>
          <p:nvPr/>
        </p:nvSpPr>
        <p:spPr>
          <a:xfrm>
            <a:off x="1097280" y="2953512"/>
            <a:ext cx="9994392" cy="396240"/>
          </a:xfrm>
          <a:prstGeom prst="roundRect">
            <a:avLst>
              <a:gd name="adj" fmla="val 6000"/>
            </a:avLst>
          </a:prstGeom>
          <a:solidFill>
            <a:srgbClr val="FEFDFA"/>
          </a:solidFill>
          <a:ln>
            <a:noFill/>
          </a:ln>
        </p:spPr>
        <p:txBody>
          <a:bodyPr lIns="91440" tIns="68580" rIns="91440" bIns="68580" anchor="t" wrap="square">
            <a:normAutofit/>
          </a:bodyPr>
          <a:lstStyle/>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097280" y="2386744"/>
            <a:ext cx="9997440" cy="1645920"/>
          </a:xfrm>
          <a:solidFill>
            <a:srgbClr val="FFFFFF"/>
          </a:solidFill>
          <a:ln w="38100">
            <a:solidFill>
              <a:srgbClr val="404040"/>
            </a:solidFill>
          </a:ln>
        </p:spPr>
        <p:txBody>
          <a:bodyPr/>
          <a:lstStyle/>
          <a:p>
            <a:pPr lvl="0" indent="0" marL="0">
              <a:buNone/>
            </a:pPr>
            <a:r>
              <a:rPr/>
              <a:t>Questions?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How to </a:t>
            </a:r>
            <a:r>
              <a:rPr>
                <a:latin typeface="Courier"/>
              </a:rPr>
              <a:t>critique</a:t>
            </a:r>
            <a:r>
              <a:rPr/>
              <a:t> Research Articles</a:t>
            </a:r>
          </a:p>
        </p:txBody>
      </p:sp>
      <p:pic>
        <p:nvPicPr>
          <p:cNvPr descr="Tweet meme saying I am just gonna highlight the important parts, above a photo of a textbook page almost entirely covered in yellow highlighter" id="0" name="Picture 1"/>
          <p:cNvPicPr>
            <a:picLocks noGrp="1" noChangeAspect="1"/>
          </p:cNvPicPr>
          <p:nvPr/>
        </p:nvPicPr>
        <p:blipFill>
          <a:blip r:embed="rId2"/>
          <a:stretch>
            <a:fillRect/>
          </a:stretch>
        </p:blipFill>
        <p:spPr bwMode="auto">
          <a:xfrm>
            <a:off x="2413000" y="2628900"/>
            <a:ext cx="2260600" cy="3098800"/>
          </a:xfrm>
          <a:prstGeom prst="rect">
            <a:avLst/>
          </a:prstGeom>
          <a:noFill/>
          <a:ln w="9525">
            <a:noFill/>
            <a:headEnd/>
            <a:tailEnd/>
          </a:ln>
        </p:spPr>
      </p:pic>
      <p:sp>
        <p:nvSpPr>
          <p:cNvPr id="4" name="Content Placeholder 3"/>
          <p:cNvSpPr>
            <a:spLocks noGrp="1"/>
          </p:cNvSpPr>
          <p:nvPr>
            <p:ph idx="2" sz="half"/>
          </p:nvPr>
        </p:nvSpPr>
        <p:spPr/>
        <p:txBody>
          <a:bodyPr/>
          <a:lstStyle/>
          <a:p>
            <a:pPr lvl="0"/>
            <a:r>
              <a:rPr b="1" i="1"/>
              <a:t>Step 1:</a:t>
            </a:r>
            <a:r>
              <a:rPr/>
              <a:t> Read (quickly-ish) the article</a:t>
            </a:r>
          </a:p>
          <a:p>
            <a:pPr lvl="0"/>
            <a:r>
              <a:rPr b="1" i="1"/>
              <a:t>Step 2:</a:t>
            </a:r>
            <a:r>
              <a:rPr/>
              <a:t> Identify basics and big take-aways (main purpose, key design, etc.)</a:t>
            </a:r>
          </a:p>
          <a:p>
            <a:pPr lvl="0"/>
            <a:r>
              <a:rPr b="1" i="1"/>
              <a:t>Step 3:</a:t>
            </a:r>
            <a:r>
              <a:rPr/>
              <a:t> Read (CAREFULLY) and take notes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Research Critiques: What to look for</a:t>
            </a:r>
          </a:p>
        </p:txBody>
      </p:sp>
      <p:sp>
        <p:nvSpPr>
          <p:cNvPr id="3" name="Content Placeholder 2"/>
          <p:cNvSpPr>
            <a:spLocks noGrp="1"/>
          </p:cNvSpPr>
          <p:nvPr>
            <p:ph idx="1"/>
          </p:nvPr>
        </p:nvSpPr>
        <p:spPr/>
        <p:txBody>
          <a:bodyPr/>
          <a:lstStyle/>
          <a:p>
            <a:pPr lvl="0" indent="0" marL="0">
              <a:buNone/>
            </a:pPr>
            <a:r>
              <a:rPr/>
              <a:t>1Hypotheses?</a:t>
            </a:r>
          </a:p>
          <a:p>
            <a:pPr lvl="0"/>
            <a:r>
              <a:rPr/>
              <a:t>Look for </a:t>
            </a:r>
            <a:r>
              <a:rPr b="1" i="1"/>
              <a:t>all</a:t>
            </a:r>
            <a:r>
              <a:rPr/>
              <a:t> statements about the research hypothesis</a:t>
            </a:r>
          </a:p>
          <a:p>
            <a:pPr lvl="1"/>
            <a:r>
              <a:rPr/>
              <a:t>Remember can be </a:t>
            </a:r>
            <a:r>
              <a:rPr b="1"/>
              <a:t>explicit</a:t>
            </a:r>
            <a:r>
              <a:rPr/>
              <a:t> or </a:t>
            </a:r>
            <a:r>
              <a:rPr b="1"/>
              <a:t>implied</a:t>
            </a:r>
          </a:p>
          <a:p>
            <a:pPr lvl="0" indent="0" marL="0">
              <a:buNone/>
            </a:pPr>
            <a:r>
              <a:rPr/>
              <a:t>2External validity components</a:t>
            </a:r>
          </a:p>
          <a:p>
            <a:pPr lvl="0"/>
            <a:r>
              <a:rPr/>
              <a:t>What looks </a:t>
            </a:r>
            <a:r>
              <a:rPr b="1"/>
              <a:t>good</a:t>
            </a:r>
            <a:r>
              <a:rPr/>
              <a:t>? What raises </a:t>
            </a:r>
            <a:r>
              <a:rPr b="1"/>
              <a:t>red flags</a:t>
            </a:r>
            <a:r>
              <a:rPr/>
              <a:t>? What is </a:t>
            </a:r>
            <a:r>
              <a:rPr b="1"/>
              <a:t>unclear</a:t>
            </a:r>
            <a:r>
              <a:rPr/>
              <a:t>?</a:t>
            </a:r>
          </a:p>
          <a:p>
            <a:pPr lvl="1"/>
            <a:r>
              <a:rPr/>
              <a:t>Relate </a:t>
            </a:r>
            <a:r>
              <a:rPr b="1"/>
              <a:t>generalizability</a:t>
            </a:r>
            <a:r>
              <a:rPr/>
              <a:t> back to stated </a:t>
            </a:r>
            <a:r>
              <a:rPr b="1"/>
              <a:t>goals</a:t>
            </a:r>
            <a:r>
              <a:rPr/>
              <a:t> of study (</a:t>
            </a:r>
            <a:r>
              <a:rPr b="1"/>
              <a:t>pop of interest</a:t>
            </a:r>
            <a:r>
              <a:rPr/>
              <a:t>)</a:t>
            </a:r>
          </a:p>
          <a:p>
            <a:pPr lvl="0" indent="0" marL="0">
              <a:buNone/>
            </a:pPr>
            <a:r>
              <a:rPr/>
              <a:t>3Internal validity components</a:t>
            </a:r>
          </a:p>
          <a:p>
            <a:pPr lvl="0"/>
            <a:r>
              <a:rPr/>
              <a:t>What looks </a:t>
            </a:r>
            <a:r>
              <a:rPr b="1"/>
              <a:t>good</a:t>
            </a:r>
            <a:r>
              <a:rPr/>
              <a:t>? What raises </a:t>
            </a:r>
            <a:r>
              <a:rPr b="1"/>
              <a:t>red flags</a:t>
            </a:r>
            <a:r>
              <a:rPr/>
              <a:t>? What is </a:t>
            </a:r>
            <a:r>
              <a:rPr b="1"/>
              <a:t>unclear</a:t>
            </a:r>
            <a:r>
              <a:rPr/>
              <a:t>?</a:t>
            </a:r>
          </a:p>
          <a:p>
            <a:pPr lvl="1"/>
            <a:r>
              <a:rPr/>
              <a:t>Relate </a:t>
            </a:r>
            <a:r>
              <a:rPr b="1"/>
              <a:t>confounds</a:t>
            </a:r>
            <a:r>
              <a:rPr/>
              <a:t> or </a:t>
            </a:r>
            <a:r>
              <a:rPr b="1"/>
              <a:t>causal</a:t>
            </a:r>
            <a:r>
              <a:rPr/>
              <a:t> interpretation back to stated goals of study (</a:t>
            </a:r>
            <a:r>
              <a:rPr b="1"/>
              <a:t>design/hypotheses</a:t>
            </a:r>
            <a:r>
              <a:rPr/>
              <a:t>).</a:t>
            </a:r>
          </a:p>
          <a:p>
            <a:pPr lvl="0" indent="0" marL="0">
              <a:buNone/>
            </a:pPr>
            <a:r>
              <a:rPr/>
              <a:t>4</a:t>
            </a:r>
            <a:r>
              <a:rPr b="1" i="1"/>
              <a:t>Anything else</a:t>
            </a:r>
            <a:r>
              <a:rPr/>
              <a:t> of interest you find!</a:t>
            </a:r>
          </a:p>
          <a:p>
            <a:pPr lvl="0" indent="0" marL="0">
              <a:buNone/>
            </a:pPr>
            <a:r>
              <a:rPr/>
              <a:t>5</a:t>
            </a:r>
            <a:r>
              <a:rPr b="1" i="1"/>
              <a:t>Review</a:t>
            </a:r>
            <a:r>
              <a:rPr/>
              <a:t> your annotations and </a:t>
            </a:r>
            <a:r>
              <a:rPr b="1" i="1"/>
              <a:t>brainstorm</a:t>
            </a:r>
            <a:r>
              <a:rPr/>
              <a:t> alternatives</a:t>
            </a:r>
          </a:p>
          <a:p>
            <a:pPr lvl="0" indent="0" marL="0">
              <a:buNone/>
            </a:pPr>
            <a:r>
              <a:rPr/>
              <a:t>6Make suggestions or identify gaps in knowledge</a:t>
            </a:r>
          </a:p>
          <a:p>
            <a:pPr lvl="0"/>
            <a:r>
              <a:rPr/>
              <a:t>But </a:t>
            </a:r>
            <a:r>
              <a:rPr b="1"/>
              <a:t>do not</a:t>
            </a:r>
            <a:r>
              <a:rPr/>
              <a:t> change the purpose, hypothesis, or overall design! Critique what they </a:t>
            </a:r>
            <a:r>
              <a:rPr b="1" i="1"/>
              <a:t>actually</a:t>
            </a:r>
            <a:r>
              <a:rPr/>
              <a:t> did, not the </a:t>
            </a:r>
            <a:r>
              <a:rPr b="1" i="1"/>
              <a:t>ideal</a:t>
            </a:r>
            <a:r>
              <a:rPr/>
              <a:t> study in your head!</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Assignments &amp; Reminders</a:t>
            </a:r>
          </a:p>
        </p:txBody>
      </p:sp>
      <p:sp>
        <p:nvSpPr>
          <p:cNvPr id="3" name="Content Placeholder 2"/>
          <p:cNvSpPr>
            <a:spLocks noGrp="1"/>
          </p:cNvSpPr>
          <p:nvPr>
            <p:ph idx="1"/>
          </p:nvPr>
        </p:nvSpPr>
        <p:spPr/>
        <p:txBody>
          <a:bodyPr/>
          <a:lstStyle/>
          <a:p>
            <a:pPr lvl="0" indent="0" marL="0">
              <a:buNone/>
            </a:pPr>
            <a:r>
              <a:rPr b="1"/>
              <a:t>Given this week:</a:t>
            </a:r>
          </a:p>
          <a:p>
            <a:pPr lvl="0"/>
            <a:r>
              <a:rPr/>
              <a:t>Submit to your lab section before week 4: Research Critique #1 and Research Critique #2</a:t>
            </a:r>
          </a:p>
          <a:p>
            <a:pPr lvl="0" indent="0" marL="0">
              <a:buNone/>
            </a:pPr>
            <a:r>
              <a:rPr b="1"/>
              <a:t>Due this week:</a:t>
            </a:r>
          </a:p>
          <a:p>
            <a:pPr lvl="0"/>
            <a:r>
              <a:rPr/>
              <a:t>Lab 02: Operationalization &amp; Measurement Worksheet</a:t>
            </a:r>
          </a:p>
          <a:p>
            <a:pPr lvl="0" indent="0" marL="0">
              <a:buNone/>
            </a:pPr>
            <a:r>
              <a:rPr/>
              <a:t>Submit to your lab section in Canvas by 11:59pm the day before your lab meets.</a:t>
            </a:r>
          </a:p>
        </p:txBody>
      </p:sp>
    </p:spTree>
  </p:cSld>
</p:sld>
</file>

<file path=ppt/theme/theme1.xml><?xml version="1.0" encoding="utf-8"?>
<a:theme xmlns:a="http://schemas.openxmlformats.org/drawingml/2006/main" name="Parcel">
  <a:themeElements>
    <a:clrScheme name="Custom 3">
      <a:dk1>
        <a:srgbClr val="000000"/>
      </a:dk1>
      <a:lt1>
        <a:srgbClr val="FFFFFF"/>
      </a:lt1>
      <a:dk2>
        <a:srgbClr val="4A5356"/>
      </a:dk2>
      <a:lt2>
        <a:srgbClr val="E8E3CE"/>
      </a:lt2>
      <a:accent1>
        <a:srgbClr val="F6A21D"/>
      </a:accent1>
      <a:accent2>
        <a:srgbClr val="5E5E5E"/>
      </a:accent2>
      <a:accent3>
        <a:srgbClr val="005392"/>
      </a:accent3>
      <a:accent4>
        <a:srgbClr val="FEFB00"/>
      </a:accent4>
      <a:accent5>
        <a:srgbClr val="87795D"/>
      </a:accent5>
      <a:accent6>
        <a:srgbClr val="A0988C"/>
      </a:accent6>
      <a:hlink>
        <a:srgbClr val="005392"/>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4</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Gill Sans MT</vt:lpstr>
      <vt:lpstr>Parcel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&amp; Writing Research Reports</dc:title>
  <dc:creator>PSYCH 350-Lab</dc:creator>
  <cp:keywords/>
  <dcterms:created xsi:type="dcterms:W3CDTF">2026-08-13T23:50:16Z</dcterms:created>
  <dcterms:modified xsi:type="dcterms:W3CDTF">2026-08-13T23:50:16Z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quarto-vars">
    <vt:lpwstr/>
  </property>
  <property fmtid="{D5CDD505-2E9C-101B-9397-08002B2CF9AE}" pid="3" name="authors">
    <vt:lpwstr/>
  </property>
  <property fmtid="{D5CDD505-2E9C-101B-9397-08002B2CF9AE}" pid="4" name="back-to-top-navigation">
    <vt:lpwstr>True</vt:lpwstr>
  </property>
  <property fmtid="{D5CDD505-2E9C-101B-9397-08002B2CF9AE}" pid="5" name="biblio-config">
    <vt:lpwstr>True</vt:lpwstr>
  </property>
  <property fmtid="{D5CDD505-2E9C-101B-9397-08002B2CF9AE}" pid="6" name="by-author">
    <vt:lpwstr/>
  </property>
  <property fmtid="{D5CDD505-2E9C-101B-9397-08002B2CF9AE}" pid="7" name="engines">
    <vt:lpwstr/>
  </property>
  <property fmtid="{D5CDD505-2E9C-101B-9397-08002B2CF9AE}" pid="8" name="execute">
    <vt:lpwstr/>
  </property>
  <property fmtid="{D5CDD505-2E9C-101B-9397-08002B2CF9AE}" pid="9" name="header-includes">
    <vt:lpwstr/>
  </property>
  <property fmtid="{D5CDD505-2E9C-101B-9397-08002B2CF9AE}" pid="10" name="include-after">
    <vt:lpwstr/>
  </property>
  <property fmtid="{D5CDD505-2E9C-101B-9397-08002B2CF9AE}" pid="11" name="include-back-link">
    <vt:lpwstr>False</vt:lpwstr>
  </property>
  <property fmtid="{D5CDD505-2E9C-101B-9397-08002B2CF9AE}" pid="12" name="include-before">
    <vt:lpwstr/>
  </property>
  <property fmtid="{D5CDD505-2E9C-101B-9397-08002B2CF9AE}" pid="13" name="labels">
    <vt:lpwstr/>
  </property>
  <property fmtid="{D5CDD505-2E9C-101B-9397-08002B2CF9AE}" pid="14" name="nebraska-pptx">
    <vt:lpwstr/>
  </property>
  <property fmtid="{D5CDD505-2E9C-101B-9397-08002B2CF9AE}" pid="15" name="revealjs-plugins">
    <vt:lpwstr/>
  </property>
  <property fmtid="{D5CDD505-2E9C-101B-9397-08002B2CF9AE}" pid="16" name="subtitle">
    <vt:lpwstr>Lab 3</vt:lpwstr>
  </property>
  <property fmtid="{D5CDD505-2E9C-101B-9397-08002B2CF9AE}" pid="17" name="toc-title">
    <vt:lpwstr>Table of contents</vt:lpwstr>
  </property>
</Properties>
</file>