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6" Type="http://schemas.openxmlformats.org/officeDocument/2006/relationships/viewProps" Target="viewProps.xml" /><Relationship Id="rId37" Type="http://schemas.openxmlformats.org/officeDocument/2006/relationships/theme" Target="theme/theme1.xml" /><Relationship Id="rId38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laboratory sequence: read by section, locate evidence, evaluate validity, and propose improvements without changing the study’s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that both critique worksheets and both reference guides are open. Students should use the guides while reading rather than relying on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these six questions as a navigation checklist. Each answer should be supported by a specific report section rather than guessed from the abstract.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content, format, and style. APA conventions help readers find expected information, verify sources, and understand claims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that organization, documentation, and direct language reduce the reader’s uncertainty. These conventions support trust; they do not replace strong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abstract for orientation, the introduction for the rationale, and the method for the design facts. Ask students which section answers each reading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provide the statistical evidence; Discussion interprets and limits it; References connect the report to prior work. Check claims across sections for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Trace the funnel from broad background through the unresolved gap to the current hypothesis. Each paragraph should make the final prediction more necessary and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Method as a reproducible recipe. Identify the participants, operational definitions, condition sequence, and design decisions needed to repeat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descriptive evidence from the hypothesis test. Results should state what was analyzed and found without importing explanations that belong in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Discussion reconstructs the study’s meaning. Check whether the interpretation matches the results, whether limitations match the design, and whether the next study follows logically.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that answers may appear in several sections. Use the Introduction first for the hypothesis, then verify the same question and rationale in Results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Locate participants and operations in Method, statistical findings in Results, and integration or limits in Discussion. Cross-check rather than reading any section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abstract to orient the first pass, then verify the details in the full report. Abstracts often compress design limits and omit important qualifications.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Pause for navigation questions before beginning the critique. Resolve confusion about report sections now so critique time can focus on evidence and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 two-pass reading strategy. The first pass establishes purpose, design, and conclusion; the second locates evidence and evaluates how strongly it supports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critique anchored to the reported study. Name the evidence, explain its consequence, and propose a feasible improvement without inventing a different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first article and worksheet. Students will mark hypothesis, external-validity evidence, and internal-validity evidence before writing their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 both a color and a written label so annotations remain meaningful. Students should be able to explain why each highlighted passage belongs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circle causal or associative verbs and compare them with the actual assignment and manipulation. The wording must not exceed what the design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validity depends on initial and ongoing equivalence. Ask what else differed systematically and how that difference could change the dependent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External validity has several boundaries: people, setting, task or stimulus, and time. A conclusion should stay within the dimensions the sample and procedure represent.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construct labels to exact operations. The Method defines what was manipulated or measured; the critique evaluates how well that operation represents the broader construct.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two video-game conditions to practice confound detection. For every difference, require a plausible path showing how it could affect the aggression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each response as problem, consequence, and fix. A strong critique connects a specific method feature to an inference problem and a realistic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second article only after Critique 1 is complete. The central issue is whether preexisting belt groups can support a causal training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the article’s causal wording from the design facts. Because belt rank was not assigned, group differences may reflect training, selection, or other preexisting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four questions in order: internal validity, measurement, external validity, and the boundary of the conclusion. Support every answer with an article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redesigned method and the rewritten hypothesis must match. Random assignment supports a causal question; baseline measures support a stronger nonexperimental comparison; prediction requires temporal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students uninterrupted work time, but circulate for evidence-to-consequence reasoning. Ask them to finish Critique 1 before dividing attention across both worksheets.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final checklist before submission. Every critique should cite evidence, explain why it matters, use design-appropriate language, and be complete before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5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26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0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Reading &amp; Writing Research Reports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03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Today’s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Read a research report by section and purpose.</a:t>
            </a:r>
          </a:p>
          <a:p>
            <a:pPr lvl="0"/>
            <a:r>
              <a:rPr/>
              <a:t>Locate the evidence for a study’s hypothesis, design, and conclusions.</a:t>
            </a:r>
          </a:p>
          <a:p>
            <a:pPr lvl="0"/>
            <a:r>
              <a:rPr/>
              <a:t>Apply the validity framework while completing Research Critique 1.</a:t>
            </a:r>
          </a:p>
          <a:p>
            <a:pPr lvl="0"/>
            <a:r>
              <a:rPr/>
              <a:t>Begin Research Critique 2 and plan an improved study.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Have these files ready</a:t>
            </a:r>
          </a:p>
        </p:txBody>
      </p:sp>
      <p:sp>
        <p:nvSpPr>
          <p:cNvPr id="1001" name="card-steel" descr="card: Research Critique 1. Complete this critique during lab."/>
          <p:cNvSpPr/>
          <p:nvPr/>
        </p:nvSpPr>
        <p:spPr>
          <a:xfrm>
            <a:off x="1097280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Research Critique 1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Complete this critique during lab.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Research Critique 2. Begin this critique after Critique 1.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Research Critique 2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Begin this critique after Critique 1.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APA report-parts guide. Use it to find where authors report each kind of information."/>
          <p:cNvSpPr/>
          <p:nvPr/>
        </p:nvSpPr>
        <p:spPr>
          <a:xfrm>
            <a:off x="1097280" y="40904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APA report-parts guide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Use it to find where authors report each kind of information.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1097280" y="40904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7" name="card-steel" descr="card: Research-design guide. Use the validity net and design terms as you evaluate each study."/>
          <p:cNvSpPr/>
          <p:nvPr/>
        </p:nvSpPr>
        <p:spPr>
          <a:xfrm>
            <a:off x="6167628" y="40904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Research-design guide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Use the validity net and design terms as you evaluate each study.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6167628" y="40904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Six questions guide report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What prior research prompted the study?</a:t>
            </a:r>
          </a:p>
          <a:p>
            <a:pPr lvl="0" indent="-457200" marL="457200">
              <a:buAutoNum type="arabicPeriod"/>
            </a:pPr>
            <a:r>
              <a:rPr/>
              <a:t>What is the study’s purpose?</a:t>
            </a:r>
          </a:p>
          <a:p>
            <a:pPr lvl="0" indent="-457200" marL="457200">
              <a:buAutoNum type="arabicPeriod"/>
            </a:pPr>
            <a:r>
              <a:rPr/>
              <a:t>What is the research question or hypothesis?</a:t>
            </a:r>
          </a:p>
          <a:p>
            <a:pPr lvl="0" indent="-457200" marL="457200">
              <a:buAutoNum type="arabicPeriod"/>
            </a:pPr>
            <a:r>
              <a:rPr/>
              <a:t>How was the research conducted?</a:t>
            </a:r>
          </a:p>
          <a:p>
            <a:pPr lvl="0" indent="-457200" marL="457200">
              <a:buAutoNum type="arabicPeriod"/>
            </a:pPr>
            <a:r>
              <a:rPr/>
              <a:t>What were the relevant results?</a:t>
            </a:r>
          </a:p>
          <a:p>
            <a:pPr lvl="0" indent="-457200" marL="457200">
              <a:buAutoNum type="arabicPeriod"/>
            </a:pPr>
            <a:r>
              <a:rPr/>
              <a:t>How do the findings connect to prior research?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APA style guides the reader</a:t>
            </a:r>
          </a:p>
        </p:txBody>
      </p:sp>
      <p:pic>
        <p:nvPicPr>
          <p:cNvPr descr="Collage of APA Publication Manual books, including stacked copies and open pages with tab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2628900"/>
            <a:ext cx="3022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Content:</a:t>
            </a:r>
            <a:r>
              <a:rPr/>
              <a:t> expected information for each section.</a:t>
            </a:r>
          </a:p>
          <a:p>
            <a:pPr lvl="0" indent="0" marL="0">
              <a:buNone/>
            </a:pPr>
            <a:r>
              <a:rPr b="1"/>
              <a:t>Format:</a:t>
            </a:r>
            <a:r>
              <a:rPr/>
              <a:t> citations, references, tables, and page layout.</a:t>
            </a:r>
          </a:p>
          <a:p>
            <a:pPr lvl="0" indent="0" marL="0">
              <a:buNone/>
            </a:pPr>
            <a:r>
              <a:rPr b="1"/>
              <a:t>Style:</a:t>
            </a:r>
            <a:r>
              <a:rPr/>
              <a:t> precise, clear, and respectful language.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APA style builds reader trust</a:t>
            </a:r>
          </a:p>
        </p:txBody>
      </p:sp>
      <p:sp>
        <p:nvSpPr>
          <p:cNvPr id="1009" name="card-steel" descr="card: Organize. Use conventional section labels and place information where readers expect it."/>
          <p:cNvSpPr/>
          <p:nvPr/>
        </p:nvSpPr>
        <p:spPr>
          <a:xfrm>
            <a:off x="1097280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Organize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Use conventional section labels and place information where readers expect it.</a:t>
            </a:r>
          </a:p>
        </p:txBody>
      </p:sp>
      <p:sp>
        <p:nvSpPr>
          <p:cNvPr id="1010" name="card-rail" descr=""/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1" name="card-steel" descr="card: Document. Give credit for ideas and provide enough detail for readers to check the evidence."/>
          <p:cNvSpPr/>
          <p:nvPr/>
        </p:nvSpPr>
        <p:spPr>
          <a:xfrm>
            <a:off x="4477512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Document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Give credit for ideas and provide enough detail for readers to check the evidence.</a:t>
            </a:r>
          </a:p>
        </p:txBody>
      </p:sp>
      <p:sp>
        <p:nvSpPr>
          <p:cNvPr id="1012" name="card-rail" descr=""/>
          <p:cNvSpPr/>
          <p:nvPr/>
        </p:nvSpPr>
        <p:spPr>
          <a:xfrm>
            <a:off x="4477512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rd-steel" descr="card: Communicate. Write complete, direct sentences and define technical terms when needed.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Communicate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Write complete, direct sentences and define technical terms when needed.</a:t>
            </a:r>
          </a:p>
        </p:txBody>
      </p:sp>
      <p:sp>
        <p:nvSpPr>
          <p:cNvPr id="1014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Find the question and design</a:t>
            </a:r>
          </a:p>
        </p:txBody>
      </p:sp>
      <p:sp>
        <p:nvSpPr>
          <p:cNvPr id="1015" name="card-steel" descr="card: Abstract. A short overview of the study’s purpose, method, results, and conclusion."/>
          <p:cNvSpPr/>
          <p:nvPr/>
        </p:nvSpPr>
        <p:spPr>
          <a:xfrm>
            <a:off x="1097280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Abstract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 short overview of the study’s purpose, method, results, and conclusion.</a:t>
            </a:r>
          </a:p>
        </p:txBody>
      </p:sp>
      <p:sp>
        <p:nvSpPr>
          <p:cNvPr id="1016" name="card-rail" descr=""/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7" name="card-steel" descr="card: Introduction. The prior research, gap, and hypothesis that motivate the study.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Introduction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prior research, gap, and hypothesis that motivate the study.</a:t>
            </a:r>
          </a:p>
        </p:txBody>
      </p:sp>
      <p:sp>
        <p:nvSpPr>
          <p:cNvPr id="1018" name="card-rail" descr=""/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9" name="card-steel" descr="card: Method. The participants, measures or materials, design, and procedure.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Method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participants, measures or materials, design, and procedure.</a:t>
            </a:r>
          </a:p>
        </p:txBody>
      </p:sp>
      <p:sp>
        <p:nvSpPr>
          <p:cNvPr id="1020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Find evidence and interpretation</a:t>
            </a:r>
          </a:p>
        </p:txBody>
      </p:sp>
      <p:sp>
        <p:nvSpPr>
          <p:cNvPr id="1021" name="card-steel" descr="card: Results. The analyses and findings used to evaluate the hypothesis."/>
          <p:cNvSpPr/>
          <p:nvPr/>
        </p:nvSpPr>
        <p:spPr>
          <a:xfrm>
            <a:off x="1097280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Results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analyses and findings used to evaluate the hypothesis.</a:t>
            </a:r>
          </a:p>
        </p:txBody>
      </p:sp>
      <p:sp>
        <p:nvSpPr>
          <p:cNvPr id="1022" name="card-rail" descr=""/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3" name="card-steel" descr="card: Discussion. The interpretation, limits, implications, and next steps."/>
          <p:cNvSpPr/>
          <p:nvPr/>
        </p:nvSpPr>
        <p:spPr>
          <a:xfrm>
            <a:off x="4477512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Discussion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interpretation, limits, implications, and next steps.</a:t>
            </a:r>
          </a:p>
        </p:txBody>
      </p:sp>
      <p:sp>
        <p:nvSpPr>
          <p:cNvPr id="1024" name="card-rail" descr=""/>
          <p:cNvSpPr/>
          <p:nvPr/>
        </p:nvSpPr>
        <p:spPr>
          <a:xfrm>
            <a:off x="4477512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5" name="card-steel" descr="card: References. The sources that informed the report and connect it to earlier research.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References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sources that informed the report and connect it to earlier research.</a:t>
            </a:r>
          </a:p>
        </p:txBody>
      </p:sp>
      <p:sp>
        <p:nvSpPr>
          <p:cNvPr id="1026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Introductions lead to the hypothesis</a:t>
            </a:r>
          </a:p>
        </p:txBody>
      </p:sp>
      <p:pic>
        <p:nvPicPr>
          <p:cNvPr descr="Illustrated funnel representing an introduction narrowing from a broad topic to a specific research ques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Background:</a:t>
            </a:r>
            <a:r>
              <a:rPr/>
              <a:t> What is known, and how were the key concepts studied?</a:t>
            </a:r>
          </a:p>
          <a:p>
            <a:pPr lvl="0" indent="0" marL="0">
              <a:buNone/>
            </a:pPr>
            <a:r>
              <a:rPr b="1"/>
              <a:t>Gap:</a:t>
            </a:r>
            <a:r>
              <a:rPr/>
              <a:t> What remains uncertain?</a:t>
            </a:r>
          </a:p>
          <a:p>
            <a:pPr lvl="0" indent="0" marL="0">
              <a:buNone/>
            </a:pPr>
            <a:r>
              <a:rPr b="1"/>
              <a:t>Current study:</a:t>
            </a:r>
            <a:r>
              <a:rPr/>
              <a:t> What will the authors test and predict?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Method is the study’s recipe</a:t>
            </a:r>
          </a:p>
        </p:txBody>
      </p:sp>
      <p:pic>
        <p:nvPicPr>
          <p:cNvPr descr="Illustrated soup recipe with a central bowl surrounded by labeled ingredients, used as an analogy for the components of a research metho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Participants:</a:t>
            </a:r>
            <a:r>
              <a:rPr/>
              <a:t> Who took part, how many people participated, and how were they selected?</a:t>
            </a:r>
          </a:p>
          <a:p>
            <a:pPr lvl="0" indent="0" marL="0">
              <a:buNone/>
            </a:pPr>
            <a:r>
              <a:rPr b="1"/>
              <a:t>Materials and measures:</a:t>
            </a:r>
            <a:r>
              <a:rPr/>
              <a:t> How were the variables manipulated or measured?</a:t>
            </a:r>
          </a:p>
          <a:p>
            <a:pPr lvl="0" indent="0" marL="0">
              <a:buNone/>
            </a:pPr>
            <a:r>
              <a:rPr b="1"/>
              <a:t>Procedure and design:</a:t>
            </a:r>
            <a:r>
              <a:rPr/>
              <a:t> What happened, in what order, and under which conditions?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Results report analyses</a:t>
            </a:r>
          </a:p>
        </p:txBody>
      </p:sp>
      <p:pic>
        <p:nvPicPr>
          <p:cNvPr descr="Spider-Man pointing meme contrasting the claim that data speak for themselves with the risk that data reflect a researcher's assumption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09700" y="2628900"/>
            <a:ext cx="4267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Descriptive evidence</a:t>
            </a:r>
          </a:p>
          <a:p>
            <a:pPr lvl="0" indent="0" marL="0">
              <a:buNone/>
            </a:pPr>
            <a:r>
              <a:rPr/>
              <a:t>How were the variables distributed? Were there unusual values or data problems?</a:t>
            </a:r>
          </a:p>
          <a:p>
            <a:pPr lvl="0" indent="0" marL="0">
              <a:buNone/>
            </a:pPr>
            <a:r>
              <a:rPr b="1"/>
              <a:t>Hypothesis test</a:t>
            </a:r>
          </a:p>
          <a:p>
            <a:pPr lvl="0" indent="0" marL="0">
              <a:buNone/>
            </a:pPr>
            <a:r>
              <a:rPr/>
              <a:t>What relationship or difference was tested? What did the analysis show?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Discussion interprets the findings</a:t>
            </a:r>
          </a:p>
        </p:txBody>
      </p:sp>
      <p:pic>
        <p:nvPicPr>
          <p:cNvPr descr="Four-panel baking-show meme moving from starting a recipe through a breakdown to a finished dish, used to represent how a discussion reconstructs a study's meani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68500" y="2628900"/>
            <a:ext cx="3136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</a:t>
            </a:r>
          </a:p>
          <a:p>
            <a:pPr lvl="0" indent="0" marL="0">
              <a:buNone/>
            </a:pPr>
            <a:r>
              <a:rPr/>
              <a:t>Summarize the main finding, then ask whether it supports the hypothesis and fits prior research.</a:t>
            </a:r>
          </a:p>
          <a:p>
            <a:pPr lvl="0" indent="0" marL="0">
              <a:buNone/>
            </a:pPr>
            <a:r>
              <a:rPr b="1"/>
              <a:t>Qualify</a:t>
            </a:r>
          </a:p>
          <a:p>
            <a:pPr lvl="0" indent="0" marL="0">
              <a:buNone/>
            </a:pPr>
            <a:r>
              <a:rPr/>
              <a:t>Name limits, appropriate generalizations, and next steps.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Trace why the study was done</a:t>
            </a:r>
          </a:p>
        </p:txBody>
      </p:sp>
      <p:sp>
        <p:nvSpPr>
          <p:cNvPr id="1027" name="card-steel" descr="card: Prior research. Introduction · Discussion · References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Prior research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Introduction · Discussion · References</a:t>
            </a:r>
          </a:p>
        </p:txBody>
      </p:sp>
      <p:sp>
        <p:nvSpPr>
          <p:cNvPr id="1028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9" name="card-steel" descr="card: Purpose. Abstract · Introduction · Discussion"/>
          <p:cNvSpPr/>
          <p:nvPr/>
        </p:nvSpPr>
        <p:spPr>
          <a:xfrm>
            <a:off x="4477512" y="2633472"/>
            <a:ext cx="3233928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Purpose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Abstract · Introduction · Discussion</a:t>
            </a:r>
          </a:p>
        </p:txBody>
      </p:sp>
      <p:sp>
        <p:nvSpPr>
          <p:cNvPr id="1030" name="card-rail" descr=""/>
          <p:cNvSpPr/>
          <p:nvPr/>
        </p:nvSpPr>
        <p:spPr>
          <a:xfrm>
            <a:off x="4477512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1" name="card-steel" descr="card: Question or hypothesis. Introduction first; confirm it in Results and Discussion."/>
          <p:cNvSpPr/>
          <p:nvPr/>
        </p:nvSpPr>
        <p:spPr>
          <a:xfrm>
            <a:off x="7857744" y="2633472"/>
            <a:ext cx="3233928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Question or hypothesis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Introduction first; confirm it in Results and Discussion.</a:t>
            </a:r>
          </a:p>
        </p:txBody>
      </p:sp>
      <p:sp>
        <p:nvSpPr>
          <p:cNvPr id="1032" name="card-rail" descr=""/>
          <p:cNvSpPr/>
          <p:nvPr/>
        </p:nvSpPr>
        <p:spPr>
          <a:xfrm>
            <a:off x="7857744" y="2633472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Trace what the study found</a:t>
            </a:r>
          </a:p>
        </p:txBody>
      </p:sp>
      <p:sp>
        <p:nvSpPr>
          <p:cNvPr id="1033" name="card-steel" descr="card: Participants. Method: Participants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Participants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Method: Participants</a:t>
            </a:r>
          </a:p>
        </p:txBody>
      </p:sp>
      <p:sp>
        <p:nvSpPr>
          <p:cNvPr id="1034" name="card-rail" descr=""/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5" name="card-steel" descr="card: Measures and procedure. Method: Materials, Measures, Procedure, or Design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Measures and procedure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Method: Materials, Measures, Procedure, or Design</a:t>
            </a:r>
          </a:p>
        </p:txBody>
      </p:sp>
      <p:sp>
        <p:nvSpPr>
          <p:cNvPr id="1036" name="card-rail" descr=""/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7" name="card-steel" descr="card: Statistical findings. Results · Tables and figures · Discussion"/>
          <p:cNvSpPr/>
          <p:nvPr/>
        </p:nvSpPr>
        <p:spPr>
          <a:xfrm>
            <a:off x="1097280" y="40904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Statistical findings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Results · Tables and figures · Discussion</a:t>
            </a:r>
          </a:p>
        </p:txBody>
      </p:sp>
      <p:sp>
        <p:nvSpPr>
          <p:cNvPr id="1038" name="card-rail" descr=""/>
          <p:cNvSpPr/>
          <p:nvPr/>
        </p:nvSpPr>
        <p:spPr>
          <a:xfrm>
            <a:off x="1097280" y="40904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9" name="card-steel" descr="card: Integration and limits. Discussion, checked against the Method and Results"/>
          <p:cNvSpPr/>
          <p:nvPr/>
        </p:nvSpPr>
        <p:spPr>
          <a:xfrm>
            <a:off x="6167628" y="40904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Integration and limits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Discussion, checked against the Method and Results</a:t>
            </a:r>
          </a:p>
        </p:txBody>
      </p:sp>
      <p:sp>
        <p:nvSpPr>
          <p:cNvPr id="1040" name="card-rail" descr=""/>
          <p:cNvSpPr/>
          <p:nvPr/>
        </p:nvSpPr>
        <p:spPr>
          <a:xfrm>
            <a:off x="6167628" y="40904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Abstracts are maps, not terrain</a:t>
            </a:r>
          </a:p>
        </p:txBody>
      </p:sp>
      <p:pic>
        <p:nvPicPr>
          <p:cNvPr descr="Two-panel meme contrasting confidence after reading an abstract with concern after reading the full publica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44600" y="2628900"/>
            <a:ext cx="4597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Caution</a:t>
            </a:r>
          </a:p>
          <a:p>
            <a:pPr lvl="0" indent="0" marL="0">
              <a:buNone/>
            </a:pPr>
            <a:r>
              <a:rPr/>
              <a:t>Use the abstract to orient yourself. Verify the design, measures, and generalizability in the full report.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 before we critique?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Critique in two passes</a:t>
            </a:r>
          </a:p>
        </p:txBody>
      </p:sp>
      <p:pic>
        <p:nvPicPr>
          <p:cNvPr descr="Social-media post about highlighting important text above a page that is almost entirely highlighted, illustrating why selective annotation matte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2628900"/>
            <a:ext cx="2260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Skim for the big picture.</a:t>
            </a:r>
            <a:r>
              <a:rPr/>
              <a:t> Purpose, design, and conclusion.</a:t>
            </a:r>
          </a:p>
          <a:p>
            <a:pPr lvl="0" indent="-457200" marL="457200">
              <a:buAutoNum type="arabicPeriod"/>
            </a:pPr>
            <a:r>
              <a:rPr b="1"/>
              <a:t>Read for evidence.</a:t>
            </a:r>
            <a:r>
              <a:rPr/>
              <a:t> Mark support for each claim.</a:t>
            </a:r>
          </a:p>
          <a:p>
            <a:pPr lvl="0" indent="-457200" marL="457200">
              <a:buAutoNum type="arabicPeriod"/>
            </a:pPr>
            <a:r>
              <a:rPr b="1"/>
              <a:t>Evaluate deliberately.</a:t>
            </a:r>
            <a:r>
              <a:rPr/>
              <a:t> Record strengths, problems, uncertainty, and fixes.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16 Critique the actual study</a:t>
            </a:r>
          </a:p>
        </p:txBody>
      </p:sp>
      <p:sp>
        <p:nvSpPr>
          <p:cNvPr id="1041" name="card-steel" descr="card: Identify. Find the hypothesis and the evidence about sampling, assignment, measures, and procedures."/>
          <p:cNvSpPr/>
          <p:nvPr/>
        </p:nvSpPr>
        <p:spPr>
          <a:xfrm>
            <a:off x="1097280" y="2633472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Identify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Find the hypothesis and the evidence about sampling, assignment, measures, and procedures.</a:t>
            </a:r>
          </a:p>
        </p:txBody>
      </p:sp>
      <p:sp>
        <p:nvSpPr>
          <p:cNvPr id="1042" name="card-rail" descr=""/>
          <p:cNvSpPr/>
          <p:nvPr/>
        </p:nvSpPr>
        <p:spPr>
          <a:xfrm>
            <a:off x="1097280" y="2633472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3" name="card-steel" descr="card: Evaluate. Ask what is strong, weak, or unclear and why it matters for the stated claim."/>
          <p:cNvSpPr/>
          <p:nvPr/>
        </p:nvSpPr>
        <p:spPr>
          <a:xfrm>
            <a:off x="6167628" y="2633472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Evaluate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Ask what is strong, weak, or unclear and why it matters for the stated claim.</a:t>
            </a:r>
          </a:p>
        </p:txBody>
      </p:sp>
      <p:sp>
        <p:nvSpPr>
          <p:cNvPr id="1044" name="card-rail" descr=""/>
          <p:cNvSpPr/>
          <p:nvPr/>
        </p:nvSpPr>
        <p:spPr>
          <a:xfrm>
            <a:off x="6167628" y="2633472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5" name="card-steel" descr="card: Explain. Connect each concern to interpretation, causal inference, or generalization."/>
          <p:cNvSpPr/>
          <p:nvPr/>
        </p:nvSpPr>
        <p:spPr>
          <a:xfrm>
            <a:off x="1097280" y="4251191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Explain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Connect each concern to interpretation, causal inference, or generalization.</a:t>
            </a:r>
          </a:p>
        </p:txBody>
      </p:sp>
      <p:sp>
        <p:nvSpPr>
          <p:cNvPr id="1046" name="card-rail" descr=""/>
          <p:cNvSpPr/>
          <p:nvPr/>
        </p:nvSpPr>
        <p:spPr>
          <a:xfrm>
            <a:off x="1097280" y="4251191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7" name="card-steel" descr="card: Improve. Suggest a realistic methods change without replacing the purpose, hypothesis, or overall design."/>
          <p:cNvSpPr/>
          <p:nvPr/>
        </p:nvSpPr>
        <p:spPr>
          <a:xfrm>
            <a:off x="6167628" y="4251191"/>
            <a:ext cx="4924044" cy="147141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946" b="1" dirty="0">
                <a:solidFill>
                  <a:srgbClr val="010B13"/>
                </a:solidFill>
              </a:rPr>
              <a:t>Improve</a:t>
            </a:r>
          </a:p>
          <a:p>
            <a:pPr algn="l"/>
            <a:r>
              <a:rPr lang="en-US" sz="1769" b="0" dirty="0">
                <a:solidFill>
                  <a:srgbClr val="010B13"/>
                </a:solidFill>
              </a:rPr>
              <a:t>Suggest a realistic methods change without replacing the purpose, hypothesis, or overall design.</a:t>
            </a:r>
          </a:p>
        </p:txBody>
      </p:sp>
      <p:sp>
        <p:nvSpPr>
          <p:cNvPr id="1048" name="card-rail" descr=""/>
          <p:cNvSpPr/>
          <p:nvPr/>
        </p:nvSpPr>
        <p:spPr>
          <a:xfrm>
            <a:off x="6167628" y="4251191"/>
            <a:ext cx="54864" cy="147141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Research Critique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17 Use three labels in Critique 1</a:t>
            </a:r>
          </a:p>
        </p:txBody>
      </p:sp>
      <p:sp>
        <p:nvSpPr>
          <p:cNvPr id="1049" name="card-steel" descr="card: [YELLOW · hypothesis]. Mark every explicit or implied statement about the research hypothesis."/>
          <p:cNvSpPr/>
          <p:nvPr/>
        </p:nvSpPr>
        <p:spPr>
          <a:xfrm>
            <a:off x="1097280" y="2633472"/>
            <a:ext cx="3233928" cy="131571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72" b="1" dirty="0">
                <a:solidFill>
                  <a:srgbClr val="010B13"/>
                </a:solidFill>
              </a:rPr>
              <a:t>[YELLOW · hypothesis]</a:t>
            </a:r>
          </a:p>
          <a:p>
            <a:pPr algn="l"/>
            <a:r>
              <a:rPr lang="en-US" sz="1520" b="0" dirty="0">
                <a:solidFill>
                  <a:srgbClr val="010B13"/>
                </a:solidFill>
              </a:rPr>
              <a:t>Mark every explicit or implied statement about the research hypothesis.</a:t>
            </a:r>
          </a:p>
        </p:txBody>
      </p:sp>
      <p:sp>
        <p:nvSpPr>
          <p:cNvPr id="1050" name="card-rail" descr=""/>
          <p:cNvSpPr/>
          <p:nvPr/>
        </p:nvSpPr>
        <p:spPr>
          <a:xfrm>
            <a:off x="1097280" y="2633472"/>
            <a:ext cx="54864" cy="131571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1" name="card-steel" descr="card: [GREEN · external validity]. Mark evidence about the population, setting, task, and time."/>
          <p:cNvSpPr/>
          <p:nvPr/>
        </p:nvSpPr>
        <p:spPr>
          <a:xfrm>
            <a:off x="4477512" y="2633472"/>
            <a:ext cx="3233928" cy="1570575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72" b="1" dirty="0">
                <a:solidFill>
                  <a:srgbClr val="010B13"/>
                </a:solidFill>
              </a:rPr>
              <a:t>[GREEN · external validity]</a:t>
            </a:r>
          </a:p>
          <a:p>
            <a:pPr algn="l"/>
            <a:r>
              <a:rPr lang="en-US" sz="1520" b="0" dirty="0">
                <a:solidFill>
                  <a:srgbClr val="010B13"/>
                </a:solidFill>
              </a:rPr>
              <a:t>Mark evidence about the population, setting, task, and time.</a:t>
            </a:r>
          </a:p>
        </p:txBody>
      </p:sp>
      <p:sp>
        <p:nvSpPr>
          <p:cNvPr id="1052" name="card-rail" descr=""/>
          <p:cNvSpPr/>
          <p:nvPr/>
        </p:nvSpPr>
        <p:spPr>
          <a:xfrm>
            <a:off x="4477512" y="2633472"/>
            <a:ext cx="54864" cy="1570575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3" name="card-steel" descr="card: [BLUE · internal validity]. Mark evidence about assignment, equivalence, procedures, and possible confounds."/>
          <p:cNvSpPr/>
          <p:nvPr/>
        </p:nvSpPr>
        <p:spPr>
          <a:xfrm>
            <a:off x="7857744" y="2633472"/>
            <a:ext cx="3233928" cy="180227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72" b="1" dirty="0">
                <a:solidFill>
                  <a:srgbClr val="010B13"/>
                </a:solidFill>
              </a:rPr>
              <a:t>[BLUE · internal validity]</a:t>
            </a:r>
          </a:p>
          <a:p>
            <a:pPr algn="l"/>
            <a:r>
              <a:rPr lang="en-US" sz="1520" b="0" dirty="0">
                <a:solidFill>
                  <a:srgbClr val="010B13"/>
                </a:solidFill>
              </a:rPr>
              <a:t>Mark evidence about assignment, equivalence, procedures, and possible confounds.</a:t>
            </a:r>
          </a:p>
        </p:txBody>
      </p:sp>
      <p:sp>
        <p:nvSpPr>
          <p:cNvPr id="1054" name="card-rail" descr=""/>
          <p:cNvSpPr/>
          <p:nvPr/>
        </p:nvSpPr>
        <p:spPr>
          <a:xfrm>
            <a:off x="7857744" y="2633472"/>
            <a:ext cx="54864" cy="180227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5" name="callout-note" descr="note callout: Note. Each color is paired with a written label."/>
          <p:cNvSpPr/>
          <p:nvPr/>
        </p:nvSpPr>
        <p:spPr>
          <a:xfrm>
            <a:off x="1097280" y="4582046"/>
            <a:ext cx="9994392" cy="117669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6" name="callout-title" descr=""/>
          <p:cNvSpPr/>
          <p:nvPr/>
        </p:nvSpPr>
        <p:spPr>
          <a:xfrm>
            <a:off x="1097280" y="4582046"/>
            <a:ext cx="9994392" cy="324373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672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57" name="callout-body" descr=""/>
          <p:cNvSpPr/>
          <p:nvPr/>
        </p:nvSpPr>
        <p:spPr>
          <a:xfrm>
            <a:off x="1097280" y="4906419"/>
            <a:ext cx="9994392" cy="8523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520" b="0" dirty="0">
                <a:solidFill>
                  <a:srgbClr val="010B13"/>
                </a:solidFill>
              </a:rPr>
              <a:t>Each color is paired with a written label.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18 Identify the intended claim</a:t>
            </a:r>
          </a:p>
        </p:txBody>
      </p:sp>
      <p:sp>
        <p:nvSpPr>
          <p:cNvPr id="1058" name="card-steel" descr="card: Associative language. • relates to • predicts • is linked with • differs across existing groups"/>
          <p:cNvSpPr/>
          <p:nvPr/>
        </p:nvSpPr>
        <p:spPr>
          <a:xfrm>
            <a:off x="1097280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Associative language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relates to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predicts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is linked with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differs across existing groups</a:t>
            </a:r>
          </a:p>
        </p:txBody>
      </p:sp>
      <p:sp>
        <p:nvSpPr>
          <p:cNvPr id="1059" name="card-rail" descr=""/>
          <p:cNvSpPr/>
          <p:nvPr/>
        </p:nvSpPr>
        <p:spPr>
          <a:xfrm>
            <a:off x="1097280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0" name="card-steel" descr="card: Causal language. • causes • affects • leads to • changes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Causal language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causes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affects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leads to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• changes</a:t>
            </a:r>
          </a:p>
        </p:txBody>
      </p:sp>
      <p:sp>
        <p:nvSpPr>
          <p:cNvPr id="1061" name="card-rail" descr=""/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2" name="callout-important" descr="important callout: Important. Compare the intended claim with the design."/>
          <p:cNvSpPr/>
          <p:nvPr/>
        </p:nvSpPr>
        <p:spPr>
          <a:xfrm>
            <a:off x="1097280" y="4427477"/>
            <a:ext cx="9994392" cy="1245523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3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64" name="callout-body" descr=""/>
          <p:cNvSpPr/>
          <p:nvPr/>
        </p:nvSpPr>
        <p:spPr>
          <a:xfrm>
            <a:off x="1097280" y="4779382"/>
            <a:ext cx="9994392" cy="893618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Compare the intended claim with the design.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19 Rule out alternative explanations</a:t>
            </a:r>
          </a:p>
        </p:txBody>
      </p:sp>
      <p:sp>
        <p:nvSpPr>
          <p:cNvPr id="1065" name="card-steel" descr="card: Initial equivalence. Were groups comparable before the independent variable differed? Check assignment and preexisting differences."/>
          <p:cNvSpPr/>
          <p:nvPr/>
        </p:nvSpPr>
        <p:spPr>
          <a:xfrm>
            <a:off x="1097280" y="2633472"/>
            <a:ext cx="4924044" cy="13963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Initial equivalence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Were groups comparable before the independent variable differed? Check assignment and preexisting differences.</a:t>
            </a:r>
          </a:p>
        </p:txBody>
      </p:sp>
      <p:sp>
        <p:nvSpPr>
          <p:cNvPr id="1066" name="card-rail" descr=""/>
          <p:cNvSpPr/>
          <p:nvPr/>
        </p:nvSpPr>
        <p:spPr>
          <a:xfrm>
            <a:off x="1097280" y="2633472"/>
            <a:ext cx="54864" cy="13963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7" name="card-steel" descr="card: Ongoing equivalence. Did conditions stay the same except for the independent variable? Check materials, timing, setting, and researcher behavior.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Ongoing equivalence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Did conditions stay the same except for the independent variable? Check materials, timing, setting, and researcher behavior.</a:t>
            </a:r>
          </a:p>
        </p:txBody>
      </p:sp>
      <p:sp>
        <p:nvSpPr>
          <p:cNvPr id="1068" name="card-rail" descr=""/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9" name="callout-note" descr="note callout: Note. A confound is a systematic difference that supplies a plausible alternative explanation for the result."/>
          <p:cNvSpPr/>
          <p:nvPr/>
        </p:nvSpPr>
        <p:spPr>
          <a:xfrm>
            <a:off x="1097280" y="4427477"/>
            <a:ext cx="9994392" cy="1496884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0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71" name="callout-body" descr=""/>
          <p:cNvSpPr/>
          <p:nvPr/>
        </p:nvSpPr>
        <p:spPr>
          <a:xfrm>
            <a:off x="1097280" y="4779382"/>
            <a:ext cx="9994392" cy="114497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A confound is a systematic difference that supplies a plausible alternative explanation for the result.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 Define where findings generalize</a:t>
            </a:r>
          </a:p>
        </p:txBody>
      </p:sp>
      <p:sp>
        <p:nvSpPr>
          <p:cNvPr id="1072" name="card-steel" descr="card: Population. Who was the target population, and how did the sample enter the study?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Population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Who was the target population, and how did the sample enter the study?</a:t>
            </a:r>
          </a:p>
        </p:txBody>
      </p:sp>
      <p:sp>
        <p:nvSpPr>
          <p:cNvPr id="1073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4" name="card-steel" descr="card: Setting. Does the research setting resemble the settings named in the conclusion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Setting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the research setting resemble the settings named in the conclusion?</a:t>
            </a:r>
          </a:p>
        </p:txBody>
      </p:sp>
      <p:sp>
        <p:nvSpPr>
          <p:cNvPr id="1075" name="card-rail" descr=""/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6" name="card-steel" descr="card: Task or stimulus. Does the specific activity represent the broader behavior the authors discuss?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Task or stimulus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the specific activity represent the broader behavior the authors discuss?</a:t>
            </a:r>
          </a:p>
        </p:txBody>
      </p:sp>
      <p:sp>
        <p:nvSpPr>
          <p:cNvPr id="1077" name="card-rail" descr=""/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8" name="card-steel" descr="card: Time and context. Could the relationship depend on a particular social or historical moment?"/>
          <p:cNvSpPr/>
          <p:nvPr/>
        </p:nvSpPr>
        <p:spPr>
          <a:xfrm>
            <a:off x="6167628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Time and context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Could the relationship depend on a particular social or historical moment?</a:t>
            </a:r>
          </a:p>
        </p:txBody>
      </p:sp>
      <p:sp>
        <p:nvSpPr>
          <p:cNvPr id="1079" name="card-rail" descr=""/>
          <p:cNvSpPr/>
          <p:nvPr/>
        </p:nvSpPr>
        <p:spPr>
          <a:xfrm>
            <a:off x="6167628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21 Match labels to operations</a:t>
            </a:r>
          </a:p>
        </p:txBody>
      </p:sp>
      <p:sp>
        <p:nvSpPr>
          <p:cNvPr id="1080" name="card-steel" descr="card: Independent variable. What did the researchers call it? What exactly did they manipulate or measure?"/>
          <p:cNvSpPr/>
          <p:nvPr/>
        </p:nvSpPr>
        <p:spPr>
          <a:xfrm>
            <a:off x="1097280" y="2633472"/>
            <a:ext cx="4924044" cy="13963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Independent variable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did the researchers call it?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exactly did they manipulate or measure?</a:t>
            </a:r>
          </a:p>
        </p:txBody>
      </p:sp>
      <p:sp>
        <p:nvSpPr>
          <p:cNvPr id="1081" name="card-rail" descr=""/>
          <p:cNvSpPr/>
          <p:nvPr/>
        </p:nvSpPr>
        <p:spPr>
          <a:xfrm>
            <a:off x="1097280" y="2633472"/>
            <a:ext cx="54864" cy="13963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2" name="card-steel" descr="card: Dependent variable. What construct did they claim to assess? What exact response produced the score?"/>
          <p:cNvSpPr/>
          <p:nvPr/>
        </p:nvSpPr>
        <p:spPr>
          <a:xfrm>
            <a:off x="6167628" y="2633472"/>
            <a:ext cx="4924044" cy="1647701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010B13"/>
                </a:solidFill>
              </a:rPr>
              <a:t>Dependent variable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construct did they claim to assess?</a:t>
            </a:r>
          </a:p>
          <a:p>
            <a:pPr algn="l"/>
            <a:r>
              <a:rPr lang="en-US" sz="1649" b="0" dirty="0">
                <a:solidFill>
                  <a:srgbClr val="010B13"/>
                </a:solidFill>
              </a:rPr>
              <a:t>What exact response produced the score?</a:t>
            </a:r>
          </a:p>
        </p:txBody>
      </p:sp>
      <p:sp>
        <p:nvSpPr>
          <p:cNvPr id="1083" name="card-rail" descr=""/>
          <p:cNvSpPr/>
          <p:nvPr/>
        </p:nvSpPr>
        <p:spPr>
          <a:xfrm>
            <a:off x="6167628" y="2633472"/>
            <a:ext cx="54864" cy="1647701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4" name="callout-tip" descr="tip callout: Tip. Use the Method to define each operation. Then decide how much of the broader construct it represents."/>
          <p:cNvSpPr/>
          <p:nvPr/>
        </p:nvSpPr>
        <p:spPr>
          <a:xfrm>
            <a:off x="1097280" y="4427477"/>
            <a:ext cx="9994392" cy="1496884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854A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5" name="callout-title" descr=""/>
          <p:cNvSpPr/>
          <p:nvPr/>
        </p:nvSpPr>
        <p:spPr>
          <a:xfrm>
            <a:off x="1097280" y="4427477"/>
            <a:ext cx="9994392" cy="351905"/>
          </a:xfrm>
          <a:prstGeom prst="roundRect">
            <a:avLst>
              <a:gd name="adj" fmla="val 6000"/>
            </a:avLst>
          </a:prstGeom>
          <a:solidFill>
            <a:srgbClr val="00854A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1814" b="1" dirty="0">
                <a:solidFill>
                  <a:srgbClr val="FEFDFA"/>
                </a:solidFill>
              </a:rPr>
              <a:t>Tip</a:t>
            </a:r>
          </a:p>
        </p:txBody>
      </p:sp>
      <p:sp>
        <p:nvSpPr>
          <p:cNvPr id="1086" name="callout-body" descr=""/>
          <p:cNvSpPr/>
          <p:nvPr/>
        </p:nvSpPr>
        <p:spPr>
          <a:xfrm>
            <a:off x="1097280" y="4779382"/>
            <a:ext cx="9994392" cy="1144979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1649" b="0" dirty="0">
                <a:solidFill>
                  <a:srgbClr val="010B13"/>
                </a:solidFill>
              </a:rPr>
              <a:t>Use the Method to define each operation. Then decide how much of the broader construct it represents.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22 Trace every condition difference</a:t>
            </a:r>
          </a:p>
        </p:txBody>
      </p:sp>
      <p:sp>
        <p:nvSpPr>
          <p:cNvPr id="1087" name="card-steel" descr="card: The reported comparison. • Competitive Mortal Kombat 11 • Noncompetitive Helldivers 2 • Aggression measured with the Hot Sauce Paradigm"/>
          <p:cNvSpPr/>
          <p:nvPr/>
        </p:nvSpPr>
        <p:spPr>
          <a:xfrm>
            <a:off x="1097280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 reported comparison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Competitive Mortal Kombat 11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Noncompetitive Helldivers 2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Aggression measured with the Hot Sauce Paradigm</a:t>
            </a:r>
          </a:p>
        </p:txBody>
      </p:sp>
      <p:sp>
        <p:nvSpPr>
          <p:cNvPr id="1088" name="card-rail" descr=""/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89" name="card-steel" descr="card: Questions to annotate. • What changed besides competition? • Were the groups equivalent before and during the session? • What population and settings can the sample represent? For each difference, explain how it could change the dependent variable."/>
          <p:cNvSpPr/>
          <p:nvPr/>
        </p:nvSpPr>
        <p:spPr>
          <a:xfrm>
            <a:off x="6167628" y="2633472"/>
            <a:ext cx="4924044" cy="3444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Questions to annotate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What changed besides competition?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Were the groups equivalent before and during the session?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What population and settings can the sample represent?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For each difference, explain how it could change the dependent variable.</a:t>
            </a:r>
          </a:p>
        </p:txBody>
      </p:sp>
      <p:sp>
        <p:nvSpPr>
          <p:cNvPr id="1090" name="card-rail" descr=""/>
          <p:cNvSpPr/>
          <p:nvPr/>
        </p:nvSpPr>
        <p:spPr>
          <a:xfrm>
            <a:off x="6167628" y="2633472"/>
            <a:ext cx="54864" cy="3444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23 Complete one critique at a time</a:t>
            </a:r>
          </a:p>
        </p:txBody>
      </p:sp>
      <p:sp>
        <p:nvSpPr>
          <p:cNvPr id="1091" name="card-steel" descr="card: 1 · Problem. Name one specific feature of the method or procedure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1 · Problem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Name one specific feature of the method or procedure.</a:t>
            </a:r>
          </a:p>
        </p:txBody>
      </p:sp>
      <p:sp>
        <p:nvSpPr>
          <p:cNvPr id="109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3" name="card-steel" descr="card: 2 · Consequence. Explain how it affects interpretation or generalization."/>
          <p:cNvSpPr/>
          <p:nvPr/>
        </p:nvSpPr>
        <p:spPr>
          <a:xfrm>
            <a:off x="4477512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2 · Consequence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Explain how it affects interpretation or generalization.</a:t>
            </a:r>
          </a:p>
        </p:txBody>
      </p:sp>
      <p:sp>
        <p:nvSpPr>
          <p:cNvPr id="1094" name="card-rail" descr=""/>
          <p:cNvSpPr/>
          <p:nvPr/>
        </p:nvSpPr>
        <p:spPr>
          <a:xfrm>
            <a:off x="4477512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5" name="card-steel" descr="card: 3 · Fix. Propose a feasible change that preserves the study’s purpose and overall design."/>
          <p:cNvSpPr/>
          <p:nvPr/>
        </p:nvSpPr>
        <p:spPr>
          <a:xfrm>
            <a:off x="7857744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3 · Fix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Propose a feasible change that preserves the study’s purpose and overall design.</a:t>
            </a:r>
          </a:p>
        </p:txBody>
      </p:sp>
      <p:sp>
        <p:nvSpPr>
          <p:cNvPr id="1096" name="card-rail" descr=""/>
          <p:cNvSpPr/>
          <p:nvPr/>
        </p:nvSpPr>
        <p:spPr>
          <a:xfrm>
            <a:off x="7857744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Research Critique 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24 Separate claims from design</a:t>
            </a:r>
          </a:p>
        </p:txBody>
      </p:sp>
      <p:sp>
        <p:nvSpPr>
          <p:cNvPr id="1097" name="card-steel" descr="card: The claim. More karate training improves visual-perceptual speed. The article sometimes describes belt attainment as producing the difference. Does the assignment and manipulation support that causal wording?"/>
          <p:cNvSpPr/>
          <p:nvPr/>
        </p:nvSpPr>
        <p:spPr>
          <a:xfrm>
            <a:off x="1097280" y="2633472"/>
            <a:ext cx="4924044" cy="3139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 claim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More karate training improves visual-perceptual speed.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article sometimes describes belt attainment as producing the difference.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the assignment and manipulation support that causal wording?</a:t>
            </a:r>
          </a:p>
        </p:txBody>
      </p:sp>
      <p:sp>
        <p:nvSpPr>
          <p:cNvPr id="1098" name="card-rail" descr=""/>
          <p:cNvSpPr/>
          <p:nvPr/>
        </p:nvSpPr>
        <p:spPr>
          <a:xfrm>
            <a:off x="1097280" y="2633472"/>
            <a:ext cx="54864" cy="3139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99" name="card-steel" descr="card: The design facts. • Participants already belonged to white-, blue-, or black-belt groups. • Training was not randomly assigned. • Visual-perceptual speed was measured once."/>
          <p:cNvSpPr/>
          <p:nvPr/>
        </p:nvSpPr>
        <p:spPr>
          <a:xfrm>
            <a:off x="6167628" y="2633472"/>
            <a:ext cx="4924044" cy="2834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 design facts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Participants already belonged to white-, blue-, or black-belt groups.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Training was not randomly assigned.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Visual-perceptual speed was measured once.</a:t>
            </a:r>
          </a:p>
        </p:txBody>
      </p:sp>
      <p:sp>
        <p:nvSpPr>
          <p:cNvPr id="1100" name="card-rail" descr=""/>
          <p:cNvSpPr/>
          <p:nvPr/>
        </p:nvSpPr>
        <p:spPr>
          <a:xfrm>
            <a:off x="6167628" y="2633472"/>
            <a:ext cx="54864" cy="2834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25 Apply four validity questions</a:t>
            </a:r>
          </a:p>
        </p:txBody>
      </p:sp>
      <p:sp>
        <p:nvSpPr>
          <p:cNvPr id="1101" name="card-steel" descr="card: Internal. Could preexisting group differences explain the result?"/>
          <p:cNvSpPr/>
          <p:nvPr/>
        </p:nvSpPr>
        <p:spPr>
          <a:xfrm>
            <a:off x="1097280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Internal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Could preexisting group differences explain the result?</a:t>
            </a:r>
          </a:p>
        </p:txBody>
      </p:sp>
      <p:sp>
        <p:nvSpPr>
          <p:cNvPr id="1102" name="card-rail" descr=""/>
          <p:cNvSpPr/>
          <p:nvPr/>
        </p:nvSpPr>
        <p:spPr>
          <a:xfrm>
            <a:off x="1097280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3" name="card-steel" descr="card: Measurement. Does belt rank capture training, expertise, or both? Does the test capture the claimed skill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Measurement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Does belt rank capture training, expertise, or both? Does the test capture the claimed skill?</a:t>
            </a:r>
          </a:p>
        </p:txBody>
      </p:sp>
      <p:sp>
        <p:nvSpPr>
          <p:cNvPr id="1104" name="card-rail" descr=""/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5" name="card-steel" descr="card: External. Which people, martial-arts settings, and perceptual tasks does the sample represent?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External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Which people, martial-arts settings, and perceptual tasks does the sample represent?</a:t>
            </a:r>
          </a:p>
        </p:txBody>
      </p:sp>
      <p:sp>
        <p:nvSpPr>
          <p:cNvPr id="1106" name="card-rail" descr=""/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07" name="card-steel" descr="card: Generalization. Do the article’s claims stay within those boundaries?"/>
          <p:cNvSpPr/>
          <p:nvPr/>
        </p:nvSpPr>
        <p:spPr>
          <a:xfrm>
            <a:off x="6167628" y="43952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Generalization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Do the article’s claims stay within those boundaries?</a:t>
            </a:r>
          </a:p>
        </p:txBody>
      </p:sp>
      <p:sp>
        <p:nvSpPr>
          <p:cNvPr id="1108" name="card-rail" descr=""/>
          <p:cNvSpPr/>
          <p:nvPr/>
        </p:nvSpPr>
        <p:spPr>
          <a:xfrm>
            <a:off x="6167628" y="43952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26 Align redesign and hypothesis</a:t>
            </a:r>
          </a:p>
        </p:txBody>
      </p:sp>
      <p:sp>
        <p:nvSpPr>
          <p:cNvPr id="1109" name="card-steel" descr="card: Causal RH1. What would manipulation and random assignment require?"/>
          <p:cNvSpPr/>
          <p:nvPr/>
        </p:nvSpPr>
        <p:spPr>
          <a:xfrm>
            <a:off x="1097280" y="2633472"/>
            <a:ext cx="3233928" cy="1537367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62" b="1" dirty="0">
                <a:solidFill>
                  <a:srgbClr val="010B13"/>
                </a:solidFill>
              </a:rPr>
              <a:t>Causal RH1</a:t>
            </a:r>
          </a:p>
          <a:p>
            <a:pPr algn="l"/>
            <a:r>
              <a:rPr lang="en-US" sz="1875" b="0" dirty="0">
                <a:solidFill>
                  <a:srgbClr val="010B13"/>
                </a:solidFill>
              </a:rPr>
              <a:t>What would manipulation and random assignment require?</a:t>
            </a:r>
          </a:p>
        </p:txBody>
      </p:sp>
      <p:sp>
        <p:nvSpPr>
          <p:cNvPr id="1110" name="card-rail" descr=""/>
          <p:cNvSpPr/>
          <p:nvPr/>
        </p:nvSpPr>
        <p:spPr>
          <a:xfrm>
            <a:off x="1097280" y="2633472"/>
            <a:ext cx="54864" cy="1537367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11" name="card-steel" descr="card: Nonexperimental RH1. How could baseline measures and comparable groups reduce alternatives? A pretest and posttest alone do not create a true experiment."/>
          <p:cNvSpPr/>
          <p:nvPr/>
        </p:nvSpPr>
        <p:spPr>
          <a:xfrm>
            <a:off x="4477512" y="2633472"/>
            <a:ext cx="3233928" cy="2994732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62" b="1" dirty="0">
                <a:solidFill>
                  <a:srgbClr val="010B13"/>
                </a:solidFill>
              </a:rPr>
              <a:t>Nonexperimental RH1</a:t>
            </a:r>
          </a:p>
          <a:p>
            <a:pPr algn="l"/>
            <a:r>
              <a:rPr lang="en-US" sz="1875" b="0" dirty="0">
                <a:solidFill>
                  <a:srgbClr val="010B13"/>
                </a:solidFill>
              </a:rPr>
              <a:t>How could baseline measures and comparable groups reduce alternatives?</a:t>
            </a:r>
          </a:p>
          <a:p>
            <a:pPr algn="l"/>
            <a:r>
              <a:rPr lang="en-US" sz="1875" b="0" dirty="0">
                <a:solidFill>
                  <a:srgbClr val="010B13"/>
                </a:solidFill>
              </a:rPr>
              <a:t>A pretest and posttest alone do not create a true experiment.</a:t>
            </a:r>
          </a:p>
        </p:txBody>
      </p:sp>
      <p:sp>
        <p:nvSpPr>
          <p:cNvPr id="1112" name="card-rail" descr=""/>
          <p:cNvSpPr/>
          <p:nvPr/>
        </p:nvSpPr>
        <p:spPr>
          <a:xfrm>
            <a:off x="4477512" y="2633472"/>
            <a:ext cx="54864" cy="2994732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13" name="card-steel" descr="card: Predictive RH2. What must be measured before later belt attainment is known?"/>
          <p:cNvSpPr/>
          <p:nvPr/>
        </p:nvSpPr>
        <p:spPr>
          <a:xfrm>
            <a:off x="7857744" y="2633472"/>
            <a:ext cx="3233928" cy="1537367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62" b="1" dirty="0">
                <a:solidFill>
                  <a:srgbClr val="010B13"/>
                </a:solidFill>
              </a:rPr>
              <a:t>Predictive RH2</a:t>
            </a:r>
          </a:p>
          <a:p>
            <a:pPr algn="l"/>
            <a:r>
              <a:rPr lang="en-US" sz="1875" b="0" dirty="0">
                <a:solidFill>
                  <a:srgbClr val="010B13"/>
                </a:solidFill>
              </a:rPr>
              <a:t>What must be measured before later belt attainment is known?</a:t>
            </a:r>
          </a:p>
        </p:txBody>
      </p:sp>
      <p:sp>
        <p:nvSpPr>
          <p:cNvPr id="1114" name="card-rail" descr=""/>
          <p:cNvSpPr/>
          <p:nvPr/>
        </p:nvSpPr>
        <p:spPr>
          <a:xfrm>
            <a:off x="7857744" y="2633472"/>
            <a:ext cx="54864" cy="1537367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27 Work session</a:t>
            </a:r>
          </a:p>
        </p:txBody>
      </p:sp>
      <p:sp>
        <p:nvSpPr>
          <p:cNvPr id="1115" name="card-steel" descr="card: Complete. Finish Research Critique 1, including both validity problems and proposed fixes."/>
          <p:cNvSpPr/>
          <p:nvPr/>
        </p:nvSpPr>
        <p:spPr>
          <a:xfrm>
            <a:off x="1097280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Complete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Finish Research Critique 1, including both validity problems and proposed fixes.</a:t>
            </a:r>
          </a:p>
        </p:txBody>
      </p:sp>
      <p:sp>
        <p:nvSpPr>
          <p:cNvPr id="1116" name="card-rail" descr=""/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17" name="card-steel" descr="card: Check. Review whether each explanation connects evidence to a consequence.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Check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Review whether each explanation connects evidence to a consequence.</a:t>
            </a:r>
          </a:p>
        </p:txBody>
      </p:sp>
      <p:sp>
        <p:nvSpPr>
          <p:cNvPr id="1118" name="card-rail" descr=""/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19" name="card-steel" descr="card: Begin. Start Research Critique 2 and mark any questions to discuss before leaving.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Begin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Start Research Critique 2 and mark any questions to discuss before leaving.</a:t>
            </a:r>
          </a:p>
        </p:txBody>
      </p:sp>
      <p:sp>
        <p:nvSpPr>
          <p:cNvPr id="1120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28 Check both critiques</a:t>
            </a:r>
          </a:p>
        </p:txBody>
      </p:sp>
      <p:sp>
        <p:nvSpPr>
          <p:cNvPr id="1121" name="card-steel" descr="card: Evidence. Each answer points to a specific feature of the article or method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Evidence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Each answer points to a specific feature of the article or method.</a:t>
            </a:r>
          </a:p>
        </p:txBody>
      </p:sp>
      <p:sp>
        <p:nvSpPr>
          <p:cNvPr id="112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23" name="card-steel" descr="card: Reasoning. Each critique explains why the feature matters.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Reasoning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Each critique explains why the feature matters.</a:t>
            </a:r>
          </a:p>
        </p:txBody>
      </p:sp>
      <p:sp>
        <p:nvSpPr>
          <p:cNvPr id="1124" name="card-rail" descr=""/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25" name="card-steel" descr="card: Design language. Causal or associative wording matches what the design can support."/>
          <p:cNvSpPr/>
          <p:nvPr/>
        </p:nvSpPr>
        <p:spPr>
          <a:xfrm>
            <a:off x="1097280" y="43952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Design language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Causal or associative wording matches what the design can support.</a:t>
            </a:r>
          </a:p>
        </p:txBody>
      </p:sp>
      <p:sp>
        <p:nvSpPr>
          <p:cNvPr id="1126" name="card-rail" descr=""/>
          <p:cNvSpPr/>
          <p:nvPr/>
        </p:nvSpPr>
        <p:spPr>
          <a:xfrm>
            <a:off x="1097280" y="43952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127" name="card-steel" descr="card: Submission. Both critique worksheets are complete and ready before Week 4."/>
          <p:cNvSpPr/>
          <p:nvPr/>
        </p:nvSpPr>
        <p:spPr>
          <a:xfrm>
            <a:off x="6167628" y="43952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Submission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Both critique worksheets are complete and ready before Week 4.</a:t>
            </a:r>
          </a:p>
        </p:txBody>
      </p:sp>
      <p:sp>
        <p:nvSpPr>
          <p:cNvPr id="1128" name="card-rail" descr=""/>
          <p:cNvSpPr/>
          <p:nvPr/>
        </p:nvSpPr>
        <p:spPr>
          <a:xfrm>
            <a:off x="6167628" y="43952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&amp; Writing Research Reports</dc:title>
  <dc:creator>PSYC 350 Laboratory</dc:creator>
  <cp:keywords/>
  <dcterms:created xsi:type="dcterms:W3CDTF">2026-09-02T01:11:07Z</dcterms:created>
  <dcterms:modified xsi:type="dcterms:W3CDTF">2026-09-02T01:11:07Z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03</vt:lpwstr>
  </property>
  <property fmtid="{D5CDD505-2E9C-101B-9397-08002B2CF9AE}" pid="20" name="toc-title">
    <vt:lpwstr>Table of contents</vt:lpwstr>
  </property>
</Properties>
</file>