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</Type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7524"/>
    <p:restoredTop sz="94694"/>
  </p:normalViewPr>
  <p:slideViewPr>
    <p:cSldViewPr snapToGrid="0">
      <p:cViewPr varScale="1">
        <p:scale>
          <a:sx d="100" n="119"/>
          <a:sy d="100" n="119"/>
        </p:scale>
        <p:origin x="232" y="232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1" Type="http://schemas.openxmlformats.org/officeDocument/2006/relationships/slideMaster" Target="slideMasters/slideMaster1.xml" /><Relationship Id="rId42" Type="http://schemas.openxmlformats.org/officeDocument/2006/relationships/presProps" Target="presProps.xml" /><Relationship Id="rId43" Type="http://schemas.openxmlformats.org/officeDocument/2006/relationships/viewProps" Target="viewProps.xml" /><Relationship Id="rId44" Type="http://schemas.openxmlformats.org/officeDocument/2006/relationships/theme" Target="theme/theme1.xml" /><Relationship Id="rId45" Type="http://schemas.openxmlformats.org/officeDocument/2006/relationships/tableStyles" Target="tableStyles.xml" 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097280" y="2386744"/>
            <a:ext cx="999744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7280" y="4352544"/>
            <a:ext cx="9997440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638044"/>
            <a:ext cx="9997440" cy="3101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097280" y="2386744"/>
            <a:ext cx="999744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352465"/>
            <a:ext cx="9997440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638044"/>
            <a:ext cx="4907280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40" y="2638044"/>
            <a:ext cx="4907280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arget="../slideLayouts/slideLayout1.xml" Type="http://schemas.openxmlformats.org/officeDocument/2006/relationships/slideLayout" /><Relationship Id="rId2" Target="../slideLayouts/slideLayout2.xml" Type="http://schemas.openxmlformats.org/officeDocument/2006/relationships/slideLayout" /><Relationship Id="rId3" Target="../slideLayouts/slideLayout3.xml" Type="http://schemas.openxmlformats.org/officeDocument/2006/relationships/slideLayout" /><Relationship Id="rId4" Target="../slideLayouts/slideLayout4.xml" Type="http://schemas.openxmlformats.org/officeDocument/2006/relationships/slideLayout" /><Relationship Id="rId5" Target="../slideLayouts/slideLayout5.xml" Type="http://schemas.openxmlformats.org/officeDocument/2006/relationships/slideLayout" /><Relationship Id="rId6" Target="../slideLayouts/slideLayout6.xml" Type="http://schemas.openxmlformats.org/officeDocument/2006/relationships/slideLayout" /><Relationship Id="rId7" Target="../slideLayouts/slideLayout7.xml" Type="http://schemas.openxmlformats.org/officeDocument/2006/relationships/slideLayout" /><Relationship Id="rId8" Target="../slideLayouts/slideLayout8.xml" Type="http://schemas.openxmlformats.org/officeDocument/2006/relationships/slideLayout" /><Relationship Id="rId9" Target="../slideLayouts/slideLayout9.xml" Type="http://schemas.openxmlformats.org/officeDocument/2006/relationships/slideLayout" /><Relationship Id="rId10" Target="../slideLayouts/slideLayout10.xml" Type="http://schemas.openxmlformats.org/officeDocument/2006/relationships/slideLayout" /><Relationship Id="rId11" Target="../slideLayouts/slideLayout11.xml" Type="http://schemas.openxmlformats.org/officeDocument/2006/relationships/slideLayout" /><Relationship Id="rId12" Target="../theme/theme1.xml" Type="http://schemas.openxmlformats.org/officeDocument/2006/relationships/them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w="31750">
            <a:solidFill>
              <a:srgbClr val="404040"/>
            </a:solidFill>
            <a:miter lim="800000"/>
          </a:ln>
        </p:spPr>
        <p:txBody>
          <a:bodyPr anchor="ctr" bIns="182880" lIns="182880" rIns="182880" rtlCol="0" tIns="182880" vert="horz">
            <a:normAutofit/>
          </a:bodyPr>
          <a:lstStyle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dirty="0" lang="en-US"/>
              <a:t>1/22/26</a:t>
            </a:fld>
            <a:endParaRPr dirty="0"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dirty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anchor="ctr" bIns="45720" lIns="18288" rIns="18288" rtlCol="0" tIns="45720" vert="horz">
            <a:noAutofit/>
          </a:bodyPr>
          <a:lstStyle>
            <a:lvl1pPr algn="ctr">
              <a:defRPr baseline="0" spc="0" sz="110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dirty="0" lang="en-US"/>
              <a:pPr/>
              <a:t>‹#›</a:t>
            </a:fld>
            <a:endParaRPr dirty="0"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dt="0" ftr="0" hdr="0" sldNum="0"/>
  <p:txStyles>
    <p:titleStyle>
      <a:lvl1pPr algn="ctr" defTabSz="914400" eaLnBrk="1" hangingPunct="1" latinLnBrk="0" rtl="0">
        <a:lnSpc>
          <a:spcPct val="90000"/>
        </a:lnSpc>
        <a:spcBef>
          <a:spcPct val="0"/>
        </a:spcBef>
        <a:buNone/>
        <a:defRPr baseline="0" cap="all" kern="1200" spc="200" sz="280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18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45720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16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68580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16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91440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16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114300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16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1312863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1484313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165735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baseline="0" kern="1200" sz="16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1882775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baseline="0" kern="1200" sz="16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sv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5" Type="http://schemas.openxmlformats.org/officeDocument/2006/relationships/image" Target="../media/image7.png" /><Relationship Id="rId4" Type="http://schemas.openxmlformats.org/officeDocument/2006/relationships/image" Target="../media/image6.png" /><Relationship Id="rId3" Type="http://schemas.openxmlformats.org/officeDocument/2006/relationships/image" Target="../media/image5.png" /><Relationship Id="rId2" Type="http://schemas.openxmlformats.org/officeDocument/2006/relationships/image" Target="../media/image4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sv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5" Type="http://schemas.openxmlformats.org/officeDocument/2006/relationships/image" Target="../media/image11.png" /><Relationship Id="rId4" Type="http://schemas.openxmlformats.org/officeDocument/2006/relationships/image" Target="../media/image10.png" /><Relationship Id="rId3" Type="http://schemas.openxmlformats.org/officeDocument/2006/relationships/image" Target="../media/image9.png" /><Relationship Id="rId2" Type="http://schemas.openxmlformats.org/officeDocument/2006/relationships/image" Target="../media/image8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altaf.shinyapps.io/linear-regression/" TargetMode="Externa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7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8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statskingdom.com/180Anova1way.html" TargetMode="Externa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9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0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statskingdom.com/two-way-anova-calculator.html" TargetMode="Externa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1.png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2.png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3.png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4.png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5.png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6.png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7.png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097280" y="2386744"/>
            <a:ext cx="999744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/>
          <a:lstStyle/>
          <a:p>
            <a:pPr lvl="0" indent="0" marL="0">
              <a:buNone/>
            </a:pPr>
            <a:r>
              <a:rPr/>
              <a:t>Bivariate Analyses: Pearson’s Correlation &amp; Chi-Square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097280" y="4352544"/>
            <a:ext cx="9997440" cy="1239894"/>
          </a:xfrm>
          <a:noFill/>
        </p:spPr>
        <p:txBody>
          <a:bodyPr/>
          <a:lstStyle/>
          <a:p>
            <a:pPr lvl="0" indent="0" marL="0">
              <a:buNone/>
            </a:pPr>
            <a:r>
              <a:rPr/>
              <a:t>Lab 07</a:t>
            </a:r>
            <a:br/>
            <a:br/>
            <a:r>
              <a:rPr/>
              <a:t>PSYCH 350-Lab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Today’s Tasks</a:t>
            </a:r>
          </a:p>
        </p:txBody>
      </p:sp>
      <p:sp>
        <p:nvSpPr>
          <p:cNvPr id="1001" name="box-post-it" descr="box: . Intro to SPSSBasicsHandoutsLab 06: Data Entry, Data Transformations &amp; Univariate StatsEntering DataRecoding &amp; Transforming into New VariablesUnivariate Statistics Review"/>
          <p:cNvSpPr/>
          <p:nvPr/>
        </p:nvSpPr>
        <p:spPr>
          <a:xfrm>
            <a:off x="1097280" y="2633472"/>
            <a:ext cx="9994392" cy="548640"/>
          </a:xfrm>
          <a:prstGeom prst="roundRect">
            <a:avLst>
              <a:gd name="adj" fmla="val 6000"/>
            </a:avLst>
          </a:prstGeom>
          <a:solidFill>
            <a:srgbClr val="FFF9C4"/>
          </a:solidFill>
          <a:ln w="19050">
            <a:solidFill>
              <a:srgbClr val="CCCCCC"/>
            </a:solidFill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Intro to SPSSBasicsHandoutsLab 06: Data Entry, Data Transformations &amp; Univariate StatsEntering DataRecoding &amp; Transforming into New VariablesUnivariate Statistics Review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You Need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Everything for this week is linked on the next slides – and always on the lab page under </a:t>
            </a:r>
            <a:r>
              <a:rPr b="1"/>
              <a:t>Handouts &amp; References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Open these </a:t>
            </a:r>
            <a:r>
              <a:rPr b="1"/>
              <a:t>before we start</a:t>
            </a:r>
            <a:r>
              <a:rPr/>
              <a:t> so you can follow along.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Bivariate Data Analysis</a:t>
            </a:r>
          </a:p>
        </p:txBody>
      </p:sp>
      <p:sp>
        <p:nvSpPr>
          <p:cNvPr id="1002" name="card-blue" descr="card: [book icon]. SPSS Handouts"/>
          <p:cNvSpPr/>
          <p:nvPr/>
        </p:nvSpPr>
        <p:spPr>
          <a:xfrm>
            <a:off x="1097280" y="2633472"/>
            <a:ext cx="3270504" cy="57912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CCCC"/>
            </a:solidFill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005D84"/>
                </a:solidFill>
              </a:rPr>
              <a:t>[book icon]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SPSS Handouts</a:t>
            </a:r>
          </a:p>
        </p:txBody>
      </p:sp>
      <p:sp>
        <p:nvSpPr>
          <p:cNvPr id="1003" name="card-rail" descr=""/>
          <p:cNvSpPr/>
          <p:nvPr/>
        </p:nvSpPr>
        <p:spPr>
          <a:xfrm>
            <a:off x="1097280" y="2633472"/>
            <a:ext cx="54864" cy="579120"/>
          </a:xfrm>
          <a:prstGeom prst="roundRect">
            <a:avLst>
              <a:gd name="adj" fmla="val 20000"/>
            </a:avLst>
          </a:prstGeom>
          <a:solidFill>
            <a:srgbClr val="005D84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04" name="card-red" descr="card: [note icon]. Pearson’s Correlation [PDF]"/>
          <p:cNvSpPr/>
          <p:nvPr/>
        </p:nvSpPr>
        <p:spPr>
          <a:xfrm>
            <a:off x="4459224" y="2633472"/>
            <a:ext cx="3270504" cy="76200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CCCC"/>
            </a:solidFill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D00000"/>
                </a:solidFill>
              </a:rPr>
              <a:t>[note icon]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Pearson’s Correlation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[PDF]</a:t>
            </a:r>
          </a:p>
        </p:txBody>
      </p:sp>
      <p:sp>
        <p:nvSpPr>
          <p:cNvPr id="1005" name="card-rail" descr=""/>
          <p:cNvSpPr/>
          <p:nvPr/>
        </p:nvSpPr>
        <p:spPr>
          <a:xfrm>
            <a:off x="4459224" y="2633472"/>
            <a:ext cx="54864" cy="762000"/>
          </a:xfrm>
          <a:prstGeom prst="roundRect">
            <a:avLst>
              <a:gd name="adj" fmla="val 20000"/>
            </a:avLst>
          </a:prstGeom>
          <a:solidFill>
            <a:srgbClr val="D00000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06" name="card-red" descr="card: [note icon]. Scatterplots [PDF]"/>
          <p:cNvSpPr/>
          <p:nvPr/>
        </p:nvSpPr>
        <p:spPr>
          <a:xfrm>
            <a:off x="7821168" y="2633472"/>
            <a:ext cx="3270504" cy="76200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CCCC"/>
            </a:solidFill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D00000"/>
                </a:solidFill>
              </a:rPr>
              <a:t>[note icon]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Scatterplots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[PDF]</a:t>
            </a:r>
          </a:p>
        </p:txBody>
      </p:sp>
      <p:sp>
        <p:nvSpPr>
          <p:cNvPr id="1007" name="card-rail" descr=""/>
          <p:cNvSpPr/>
          <p:nvPr/>
        </p:nvSpPr>
        <p:spPr>
          <a:xfrm>
            <a:off x="7821168" y="2633472"/>
            <a:ext cx="54864" cy="762000"/>
          </a:xfrm>
          <a:prstGeom prst="roundRect">
            <a:avLst>
              <a:gd name="adj" fmla="val 20000"/>
            </a:avLst>
          </a:prstGeom>
          <a:solidFill>
            <a:srgbClr val="D00000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08" name="card-red" descr="card: [note icon]. 2x2 Pearson’s Chi-square [PDF]"/>
          <p:cNvSpPr/>
          <p:nvPr/>
        </p:nvSpPr>
        <p:spPr>
          <a:xfrm>
            <a:off x="1097280" y="3486912"/>
            <a:ext cx="3270504" cy="76200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CCCC"/>
            </a:solidFill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D00000"/>
                </a:solidFill>
              </a:rPr>
              <a:t>[note icon]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2x2 Pearson’s Chi-square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[PDF]</a:t>
            </a:r>
          </a:p>
        </p:txBody>
      </p:sp>
      <p:sp>
        <p:nvSpPr>
          <p:cNvPr id="1009" name="card-rail" descr=""/>
          <p:cNvSpPr/>
          <p:nvPr/>
        </p:nvSpPr>
        <p:spPr>
          <a:xfrm>
            <a:off x="1097280" y="3486912"/>
            <a:ext cx="54864" cy="762000"/>
          </a:xfrm>
          <a:prstGeom prst="roundRect">
            <a:avLst>
              <a:gd name="adj" fmla="val 20000"/>
            </a:avLst>
          </a:prstGeom>
          <a:solidFill>
            <a:srgbClr val="D00000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Weekly Lab Assignment</a:t>
            </a:r>
          </a:p>
        </p:txBody>
      </p:sp>
      <p:sp>
        <p:nvSpPr>
          <p:cNvPr id="1010" name="card-steel" descr="card: [chart icon]. superman_data.sav [SPSS data file]"/>
          <p:cNvSpPr/>
          <p:nvPr/>
        </p:nvSpPr>
        <p:spPr>
          <a:xfrm>
            <a:off x="1097280" y="2633472"/>
            <a:ext cx="3270504" cy="76200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CCCC"/>
            </a:solidFill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010B13"/>
                </a:solidFill>
              </a:rPr>
              <a:t>[chart icon]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superman_data.sav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[SPSS data file]</a:t>
            </a:r>
          </a:p>
        </p:txBody>
      </p:sp>
      <p:sp>
        <p:nvSpPr>
          <p:cNvPr id="1011" name="card-rail" descr=""/>
          <p:cNvSpPr/>
          <p:nvPr/>
        </p:nvSpPr>
        <p:spPr>
          <a:xfrm>
            <a:off x="1097280" y="2633472"/>
            <a:ext cx="54864" cy="762000"/>
          </a:xfrm>
          <a:prstGeom prst="roundRect">
            <a:avLst>
              <a:gd name="adj" fmla="val 20000"/>
            </a:avLst>
          </a:prstGeom>
          <a:solidFill>
            <a:srgbClr val="010B13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12" name="card-steel" descr="card: [chart icon]. hotones_data.sav [SPSS data file]"/>
          <p:cNvSpPr/>
          <p:nvPr/>
        </p:nvSpPr>
        <p:spPr>
          <a:xfrm>
            <a:off x="4459224" y="2633472"/>
            <a:ext cx="3270504" cy="76200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CCCC"/>
            </a:solidFill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010B13"/>
                </a:solidFill>
              </a:rPr>
              <a:t>[chart icon]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hotones_data.sav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[SPSS data file]</a:t>
            </a:r>
          </a:p>
        </p:txBody>
      </p:sp>
      <p:sp>
        <p:nvSpPr>
          <p:cNvPr id="1013" name="card-rail" descr=""/>
          <p:cNvSpPr/>
          <p:nvPr/>
        </p:nvSpPr>
        <p:spPr>
          <a:xfrm>
            <a:off x="4459224" y="2633472"/>
            <a:ext cx="54864" cy="762000"/>
          </a:xfrm>
          <a:prstGeom prst="roundRect">
            <a:avLst>
              <a:gd name="adj" fmla="val 20000"/>
            </a:avLst>
          </a:prstGeom>
          <a:solidFill>
            <a:srgbClr val="010B13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Additional Materials</a:t>
            </a:r>
          </a:p>
        </p:txBody>
      </p:sp>
      <p:sp>
        <p:nvSpPr>
          <p:cNvPr id="1014" name="card-blue" descr="card: [book icon]. Correlations &amp; Chi-square worksheet [Word document]"/>
          <p:cNvSpPr/>
          <p:nvPr/>
        </p:nvSpPr>
        <p:spPr>
          <a:xfrm>
            <a:off x="1097280" y="2633472"/>
            <a:ext cx="3270504" cy="76200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CCCC"/>
            </a:solidFill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005D84"/>
                </a:solidFill>
              </a:rPr>
              <a:t>[book icon]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Correlations &amp; Chi-square worksheet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[Word document]</a:t>
            </a:r>
          </a:p>
        </p:txBody>
      </p:sp>
      <p:sp>
        <p:nvSpPr>
          <p:cNvPr id="1015" name="card-rail" descr=""/>
          <p:cNvSpPr/>
          <p:nvPr/>
        </p:nvSpPr>
        <p:spPr>
          <a:xfrm>
            <a:off x="1097280" y="2633472"/>
            <a:ext cx="54864" cy="762000"/>
          </a:xfrm>
          <a:prstGeom prst="roundRect">
            <a:avLst>
              <a:gd name="adj" fmla="val 20000"/>
            </a:avLst>
          </a:prstGeom>
          <a:solidFill>
            <a:srgbClr val="005D84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16" name="card-blue" descr="card: [arrow icon]. Correlations &amp; Chi-square hw checker [Web page]"/>
          <p:cNvSpPr/>
          <p:nvPr/>
        </p:nvSpPr>
        <p:spPr>
          <a:xfrm>
            <a:off x="4459224" y="2633472"/>
            <a:ext cx="3270504" cy="94488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CCCC"/>
            </a:solidFill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005D84"/>
                </a:solidFill>
              </a:rPr>
              <a:t>[arrow icon]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Correlations &amp; Chi-square hw checker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[Web page]</a:t>
            </a:r>
          </a:p>
        </p:txBody>
      </p:sp>
      <p:sp>
        <p:nvSpPr>
          <p:cNvPr id="1017" name="card-rail" descr=""/>
          <p:cNvSpPr/>
          <p:nvPr/>
        </p:nvSpPr>
        <p:spPr>
          <a:xfrm>
            <a:off x="4459224" y="2633472"/>
            <a:ext cx="54864" cy="944880"/>
          </a:xfrm>
          <a:prstGeom prst="roundRect">
            <a:avLst>
              <a:gd name="adj" fmla="val 20000"/>
            </a:avLst>
          </a:prstGeom>
          <a:solidFill>
            <a:srgbClr val="005D84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SPSS Frequencies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styles.scss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Univariate Analysis: The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general, an </a:t>
            </a:r>
            <a:r>
              <a:rPr b="1"/>
              <a:t>experiment</a:t>
            </a:r>
            <a:r>
              <a:rPr/>
              <a:t> is a procedure that researchers use to assess the effect of one variable (IV) on another variable (DV).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Independent variable (IV):</a:t>
            </a:r>
            <a:r>
              <a:rPr/>
              <a:t> In experiments, this is the variable that the researchers manipulate (e.g., randomly assigning participants to 2 different groups).</a:t>
            </a:r>
          </a:p>
          <a:p>
            <a:pPr lvl="0" indent="0" marL="0">
              <a:buNone/>
            </a:pPr>
            <a:r>
              <a:rPr i="1"/>
              <a:t>synonyms</a:t>
            </a:r>
            <a:r>
              <a:rPr/>
              <a:t>:</a:t>
            </a:r>
          </a:p>
          <a:p>
            <a:pPr lvl="0" indent="0" marL="0">
              <a:buNone/>
            </a:pPr>
            <a:r>
              <a:rPr/>
              <a:t>Predictor variable Explanatory variable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Dependent variable (DV):</a:t>
            </a:r>
            <a:r>
              <a:rPr/>
              <a:t> In experiments, this is the variable of interest. This variable is expected to change according to the IV.</a:t>
            </a:r>
          </a:p>
          <a:p>
            <a:pPr lvl="0" indent="0" marL="0">
              <a:buNone/>
            </a:pPr>
            <a:r>
              <a:rPr i="1"/>
              <a:t>synonyms</a:t>
            </a:r>
            <a:r>
              <a:rPr/>
              <a:t>:</a:t>
            </a:r>
          </a:p>
          <a:p>
            <a:pPr lvl="0" indent="0" marL="0">
              <a:buNone/>
            </a:pPr>
            <a:r>
              <a:rPr/>
              <a:t>Outcome variable Response variable</a:t>
            </a:r>
          </a:p>
          <a:p>
            <a:pPr lvl="0" indent="0" marL="0">
              <a:buNone/>
            </a:pPr>
            <a:r>
              <a:rPr/>
              <a:t> Things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Measuring Variables</a:t>
            </a:r>
          </a:p>
        </p:txBody>
      </p:sp>
      <p:pic>
        <p:nvPicPr>
          <p:cNvPr descr="Bar chart of the height data used throughout the lab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87800" y="2628900"/>
            <a:ext cx="41910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092200" y="5219700"/>
            <a:ext cx="9994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Bar chart of the height data used throughout the lab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Measuring Variables (continued)</a:t>
            </a:r>
          </a:p>
        </p:txBody>
      </p:sp>
      <p:pic>
        <p:nvPicPr>
          <p:cNvPr descr="Chart showing how the same height measurements can be treated as different variable types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87800" y="2628900"/>
            <a:ext cx="41910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092200" y="5219700"/>
            <a:ext cx="9994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Chart showing how the same height measurements can be treated as different variable types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Univariate Statistics</a:t>
            </a:r>
          </a:p>
        </p:txBody>
      </p:sp>
      <p:pic>
        <p:nvPicPr>
          <p:cNvPr descr="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00600" y="2628900"/>
            <a:ext cx="25908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092200" y="5219700"/>
            <a:ext cx="9994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/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Univariate Statistics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CONTINUOUS VARIABLES:</a:t>
            </a:r>
            <a:r>
              <a:rPr/>
              <a:t> Describe and understand our sample data with the Mean </a:t>
            </a:r>
            <a:r>
              <a:rPr i="1"/>
              <a:t>(M)</a:t>
            </a:r>
            <a:r>
              <a:rPr/>
              <a:t> and Standard Deviation </a:t>
            </a:r>
            <a:r>
              <a:rPr i="1"/>
              <a:t>(SD)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Univariate Statistics (continued)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idx="1" type="body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1 </a:t>
                </a:r>
                <a14:m>
                  <m:oMath xmlns:m="http://schemas.openxmlformats.org/officeDocument/2006/math">
                    <m:r>
                      <m:t>M</m:t>
                    </m:r>
                    <m:r>
                      <m:t>e</m:t>
                    </m:r>
                    <m:r>
                      <m:t>a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H</m:t>
                        </m:r>
                        <m:r>
                          <m:t>e</m:t>
                        </m:r>
                        <m:r>
                          <m:t>i</m:t>
                        </m:r>
                        <m:r>
                          <m:t>g</m:t>
                        </m:r>
                        <m:r>
                          <m:t>h</m:t>
                        </m:r>
                        <m: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m:t>∑</m:t>
                        </m:r>
                        <m:r>
                          <m:t>H</m:t>
                        </m:r>
                        <m:r>
                          <m:t>e</m:t>
                        </m:r>
                        <m:r>
                          <m:t>i</m:t>
                        </m:r>
                        <m:r>
                          <m:t>g</m:t>
                        </m:r>
                        <m:r>
                          <m:t>h</m:t>
                        </m:r>
                        <m:sSub>
                          <m:e>
                            <m:r>
                              <m:t>t</m:t>
                            </m:r>
                          </m:e>
                          <m:sub>
                            <m:r>
                              <m:t>i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m:t>N</m:t>
                            </m:r>
                          </m:e>
                          <m:sub>
                            <m:r>
                              <m:t>H</m:t>
                            </m:r>
                            <m:r>
                              <m:t>e</m:t>
                            </m:r>
                            <m:r>
                              <m:t>i</m:t>
                            </m:r>
                            <m:r>
                              <m:t>g</m:t>
                            </m:r>
                            <m:r>
                              <m:t>h</m:t>
                            </m:r>
                            <m:r>
                              <m:t>t</m:t>
                            </m:r>
                          </m:sub>
                        </m:sSub>
                      </m:den>
                    </m:f>
                  </m:oMath>
                </a14:m>
              </a:p>
              <a:p>
                <a:pPr lvl="0" indent="0" marL="0">
                  <a:buNone/>
                </a:pPr>
                <a:r>
                  <a:rPr/>
                  <a:t>2 </a:t>
                </a:r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D</m:t>
                        </m:r>
                      </m:e>
                      <m:sub>
                        <m:r>
                          <m:t>H</m:t>
                        </m:r>
                        <m:r>
                          <m:t>e</m:t>
                        </m:r>
                        <m:r>
                          <m:t>i</m:t>
                        </m:r>
                        <m:r>
                          <m:t>g</m:t>
                        </m:r>
                        <m:r>
                          <m:t>h</m:t>
                        </m:r>
                        <m: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m:t>∑</m:t>
                            </m:r>
                            <m:r>
                              <m:rPr>
                                <m:sty m:val="p"/>
                              </m:rPr>
                              <m:t>(</m:t>
                            </m:r>
                            <m:r>
                              <m:t>M</m:t>
                            </m:r>
                            <m:r>
                              <m:t>e</m:t>
                            </m:r>
                            <m:r>
                              <m:t>a</m:t>
                            </m:r>
                            <m:sSub>
                              <m:e>
                                <m:r>
                                  <m:t>n</m:t>
                                </m:r>
                              </m:e>
                              <m:sub>
                                <m:r>
                                  <m:t>H</m:t>
                                </m:r>
                                <m:r>
                                  <m:t>e</m:t>
                                </m:r>
                                <m:r>
                                  <m:t>i</m:t>
                                </m:r>
                                <m:r>
                                  <m:t>g</m:t>
                                </m:r>
                                <m:r>
                                  <m:t>h</m:t>
                                </m:r>
                                <m:r>
                                  <m:t>t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H</m:t>
                            </m:r>
                            <m:r>
                              <m:t>e</m:t>
                            </m:r>
                            <m:r>
                              <m:t>i</m:t>
                            </m:r>
                            <m:r>
                              <m:t>g</m:t>
                            </m:r>
                            <m:r>
                              <m:t>h</m:t>
                            </m:r>
                            <m:sSub>
                              <m:e>
                                <m:r>
                                  <m:t>t</m:t>
                                </m:r>
                              </m:e>
                              <m:sub>
                                <m:r>
                                  <m:t>i</m:t>
                                </m:r>
                              </m:sub>
                            </m:sSub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m:t>)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sSub>
                          <m:e>
                            <m:r>
                              <m:t>N</m:t>
                            </m:r>
                          </m:e>
                          <m:sub>
                            <m:r>
                              <m:t>H</m:t>
                            </m:r>
                            <m:r>
                              <m:t>e</m:t>
                            </m:r>
                            <m:r>
                              <m:t>i</m:t>
                            </m:r>
                            <m:r>
                              <m:t>g</m:t>
                            </m:r>
                            <m:r>
                              <m:t>h</m:t>
                            </m:r>
                            <m:r>
                              <m:t>t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den>
                    </m:f>
                  </m:oMath>
                </a14:m>
              </a:p>
              <a:p>
                <a:pPr lvl="0" indent="0" marL="0">
                  <a:buNone/>
                </a:pPr>
                <a:r>
                  <a:rPr/>
                  <a:t>3 </a:t>
                </a:r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E</m:t>
                        </m:r>
                      </m:e>
                      <m:sub>
                        <m:r>
                          <m:t>H</m:t>
                        </m:r>
                        <m:r>
                          <m:t>e</m:t>
                        </m:r>
                        <m:r>
                          <m:t>i</m:t>
                        </m:r>
                        <m:r>
                          <m:t>g</m:t>
                        </m:r>
                        <m:r>
                          <m:t>h</m:t>
                        </m:r>
                        <m: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S</m:t>
                        </m:r>
                        <m:sSub>
                          <m:e>
                            <m:r>
                              <m:t>D</m:t>
                            </m:r>
                          </m:e>
                          <m:sub>
                            <m:r>
                              <m:t>H</m:t>
                            </m:r>
                            <m:r>
                              <m:t>e</m:t>
                            </m:r>
                            <m:r>
                              <m:t>i</m:t>
                            </m:r>
                            <m:r>
                              <m:t>g</m:t>
                            </m:r>
                            <m:r>
                              <m:t>h</m:t>
                            </m:r>
                            <m:r>
                              <m:t>t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b>
                              <m:e>
                                <m:r>
                                  <m:t>N</m:t>
                                </m:r>
                              </m:e>
                              <m:sub>
                                <m:r>
                                  <m:t>H</m:t>
                                </m:r>
                                <m:r>
                                  <m:t>e</m:t>
                                </m:r>
                                <m:r>
                                  <m:t>i</m:t>
                                </m:r>
                                <m:r>
                                  <m:t>g</m:t>
                                </m:r>
                                <m:r>
                                  <m:t>h</m:t>
                                </m:r>
                                <m:r>
                                  <m:t>t</m:t>
                                </m:r>
                              </m:sub>
                            </m:sSub>
                          </m:e>
                        </m:rad>
                      </m:den>
                    </m:f>
                  </m:oMath>
                </a14:m>
              </a:p>
              <a:p>
                <a:pPr lvl="0" indent="0" marL="0">
                  <a:buNone/>
                </a:pPr>
                <a:r>
                  <a:rPr/>
                  <a:t>The </a:t>
                </a:r>
                <a:r>
                  <a:rPr b="1"/>
                  <a:t>mean</a:t>
                </a:r>
                <a:r>
                  <a:rPr/>
                  <a:t> is a measure of central tendency</a:t>
                </a:r>
              </a:p>
              <a:p>
                <a:pPr lvl="0" indent="0" marL="0">
                  <a:buNone/>
                </a:pPr>
                <a:r>
                  <a:rPr/>
                  <a:t>The </a:t>
                </a:r>
                <a:r>
                  <a:rPr b="1"/>
                  <a:t>standard deviation (SD)</a:t>
                </a:r>
                <a:r>
                  <a:rPr/>
                  <a:t> measures how spread out the data is.</a:t>
                </a:r>
              </a:p>
              <a:p>
                <a:pPr lvl="0" indent="0" marL="0">
                  <a:buNone/>
                </a:pPr>
                <a:r>
                  <a:rPr/>
                  <a:t>The </a:t>
                </a:r>
                <a:r>
                  <a:rPr b="1"/>
                  <a:t>standard error (SE)</a:t>
                </a:r>
                <a:r>
                  <a:rPr/>
                  <a:t> can be interpreted as the degree of confidence one can have that the </a:t>
                </a:r>
                <a:r>
                  <a:rPr i="1"/>
                  <a:t>sample mean</a:t>
                </a:r>
                <a:r>
                  <a:rPr/>
                  <a:t> is close to the </a:t>
                </a:r>
                <a:r>
                  <a:rPr i="1"/>
                  <a:t>true population mean</a:t>
                </a:r>
                <a:r>
                  <a:rPr/>
                  <a:t> (lower SE implies higher confidence).</a:t>
                </a:r>
              </a:p>
            </p:txBody>
          </p:sp>
        </mc:Choice>
      </mc:AlternateContent>
      <p:sp>
        <p:nvSpPr>
          <p:cNvPr id="11" name="Text Placeholder 4"/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Height</a:t>
            </a:r>
            <a:r>
              <a:rPr/>
              <a:t> (meters)</a:t>
            </a:r>
          </a:p>
          <a:p>
            <a:pPr lvl="0" indent="0" marL="0">
              <a:buNone/>
            </a:pPr>
            <a:r>
              <a:rPr/>
              <a:t>1.93, 1.93, 1.90, 1.89, 1.86, 1.85, 1.85, 1.82, 1.81</a:t>
            </a:r>
          </a:p>
        </p:txBody>
      </p:sp>
      <p:pic>
        <p:nvPicPr>
          <p:cNvPr descr="Empty dot plot of the height data, before summary statistics are added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438900" y="3136900"/>
            <a:ext cx="40259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Dot plot of the height data with the sample mean marked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438900" y="3136900"/>
            <a:ext cx="40259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Dot plot of the height data illustrating the standard deviation around the mean" id="0" name="Picture 1"/>
          <p:cNvPicPr>
            <a:picLocks noGrp="1"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6438900" y="3136900"/>
            <a:ext cx="40259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Dot plot of the height data illustrating the standard error of the mean" id="0" name="Picture 1"/>
          <p:cNvPicPr>
            <a:picLocks noGrp="1"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6438900" y="3136900"/>
            <a:ext cx="40259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Univariate Statistics</a:t>
            </a:r>
          </a:p>
        </p:txBody>
      </p:sp>
      <p:pic>
        <p:nvPicPr>
          <p:cNvPr descr="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00600" y="2628900"/>
            <a:ext cx="25908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092200" y="5219700"/>
            <a:ext cx="9994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/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Univariate Statistics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CATEGORICAL VARIABLES:</a:t>
            </a:r>
            <a:r>
              <a:rPr/>
              <a:t> Describe and understand our sample data with </a:t>
            </a:r>
            <a:r>
              <a:rPr b="1"/>
              <a:t>Frequencies</a:t>
            </a:r>
            <a:r>
              <a:rPr/>
              <a:t> </a:t>
            </a:r>
            <a:r>
              <a:rPr i="1"/>
              <a:t>(N or %)</a:t>
            </a:r>
            <a:r>
              <a:rPr/>
              <a:t> and </a:t>
            </a:r>
            <a:r>
              <a:rPr b="1"/>
              <a:t>Categories</a:t>
            </a:r>
            <a:r>
              <a:rPr/>
              <a:t> </a:t>
            </a:r>
            <a:r>
              <a:rPr i="1"/>
              <a:t>(#)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Univariate Statistics (continued)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idx="1" type="body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1 </a:t>
                </a:r>
                <a14:m>
                  <m:oMath xmlns:m="http://schemas.openxmlformats.org/officeDocument/2006/math">
                    <m:r>
                      <m:t>M</m:t>
                    </m:r>
                    <m:r>
                      <m:t>e</m:t>
                    </m:r>
                    <m:r>
                      <m:t>a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H</m:t>
                        </m:r>
                        <m:r>
                          <m:t>e</m:t>
                        </m:r>
                        <m:r>
                          <m:t>i</m:t>
                        </m:r>
                        <m:r>
                          <m:t>g</m:t>
                        </m:r>
                        <m:r>
                          <m:t>h</m:t>
                        </m:r>
                        <m: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m:t>∑</m:t>
                        </m:r>
                        <m:r>
                          <m:t>H</m:t>
                        </m:r>
                        <m:r>
                          <m:t>e</m:t>
                        </m:r>
                        <m:r>
                          <m:t>i</m:t>
                        </m:r>
                        <m:r>
                          <m:t>g</m:t>
                        </m:r>
                        <m:r>
                          <m:t>h</m:t>
                        </m:r>
                        <m:sSub>
                          <m:e>
                            <m:r>
                              <m:t>t</m:t>
                            </m:r>
                          </m:e>
                          <m:sub>
                            <m:r>
                              <m:t>i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m:t>N</m:t>
                            </m:r>
                          </m:e>
                          <m:sub>
                            <m:r>
                              <m:t>H</m:t>
                            </m:r>
                            <m:r>
                              <m:t>e</m:t>
                            </m:r>
                            <m:r>
                              <m:t>i</m:t>
                            </m:r>
                            <m:r>
                              <m:t>g</m:t>
                            </m:r>
                            <m:r>
                              <m:t>h</m:t>
                            </m:r>
                            <m:r>
                              <m:t>t</m:t>
                            </m:r>
                          </m:sub>
                        </m:sSub>
                      </m:den>
                    </m:f>
                  </m:oMath>
                </a14:m>
              </a:p>
              <a:p>
                <a:pPr lvl="0" indent="0" marL="0">
                  <a:buNone/>
                </a:pPr>
                <a:r>
                  <a:rPr/>
                  <a:t>2 </a:t>
                </a:r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D</m:t>
                        </m:r>
                      </m:e>
                      <m:sub>
                        <m:r>
                          <m:t>H</m:t>
                        </m:r>
                        <m:r>
                          <m:t>e</m:t>
                        </m:r>
                        <m:r>
                          <m:t>i</m:t>
                        </m:r>
                        <m:r>
                          <m:t>g</m:t>
                        </m:r>
                        <m:r>
                          <m:t>h</m:t>
                        </m:r>
                        <m: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m:t>∑</m:t>
                            </m:r>
                            <m:r>
                              <m:rPr>
                                <m:sty m:val="p"/>
                              </m:rPr>
                              <m:t>(</m:t>
                            </m:r>
                            <m:r>
                              <m:t>M</m:t>
                            </m:r>
                            <m:r>
                              <m:t>e</m:t>
                            </m:r>
                            <m:r>
                              <m:t>a</m:t>
                            </m:r>
                            <m:sSub>
                              <m:e>
                                <m:r>
                                  <m:t>n</m:t>
                                </m:r>
                              </m:e>
                              <m:sub>
                                <m:r>
                                  <m:t>H</m:t>
                                </m:r>
                                <m:r>
                                  <m:t>e</m:t>
                                </m:r>
                                <m:r>
                                  <m:t>i</m:t>
                                </m:r>
                                <m:r>
                                  <m:t>g</m:t>
                                </m:r>
                                <m:r>
                                  <m:t>h</m:t>
                                </m:r>
                                <m:r>
                                  <m:t>t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H</m:t>
                            </m:r>
                            <m:r>
                              <m:t>e</m:t>
                            </m:r>
                            <m:r>
                              <m:t>i</m:t>
                            </m:r>
                            <m:r>
                              <m:t>g</m:t>
                            </m:r>
                            <m:r>
                              <m:t>h</m:t>
                            </m:r>
                            <m:sSub>
                              <m:e>
                                <m:r>
                                  <m:t>t</m:t>
                                </m:r>
                              </m:e>
                              <m:sub>
                                <m:r>
                                  <m:t>i</m:t>
                                </m:r>
                              </m:sub>
                            </m:sSub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m:t>)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sSub>
                          <m:e>
                            <m:r>
                              <m:t>N</m:t>
                            </m:r>
                          </m:e>
                          <m:sub>
                            <m:r>
                              <m:t>H</m:t>
                            </m:r>
                            <m:r>
                              <m:t>e</m:t>
                            </m:r>
                            <m:r>
                              <m:t>i</m:t>
                            </m:r>
                            <m:r>
                              <m:t>g</m:t>
                            </m:r>
                            <m:r>
                              <m:t>h</m:t>
                            </m:r>
                            <m:r>
                              <m:t>t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den>
                    </m:f>
                  </m:oMath>
                </a14:m>
              </a:p>
              <a:p>
                <a:pPr lvl="0" indent="0" marL="0">
                  <a:buNone/>
                </a:pPr>
                <a:r>
                  <a:rPr/>
                  <a:t>3 </a:t>
                </a:r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E</m:t>
                        </m:r>
                      </m:e>
                      <m:sub>
                        <m:r>
                          <m:t>H</m:t>
                        </m:r>
                        <m:r>
                          <m:t>e</m:t>
                        </m:r>
                        <m:r>
                          <m:t>i</m:t>
                        </m:r>
                        <m:r>
                          <m:t>g</m:t>
                        </m:r>
                        <m:r>
                          <m:t>h</m:t>
                        </m:r>
                        <m: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S</m:t>
                        </m:r>
                        <m:sSub>
                          <m:e>
                            <m:r>
                              <m:t>D</m:t>
                            </m:r>
                          </m:e>
                          <m:sub>
                            <m:r>
                              <m:t>H</m:t>
                            </m:r>
                            <m:r>
                              <m:t>e</m:t>
                            </m:r>
                            <m:r>
                              <m:t>i</m:t>
                            </m:r>
                            <m:r>
                              <m:t>g</m:t>
                            </m:r>
                            <m:r>
                              <m:t>h</m:t>
                            </m:r>
                            <m:r>
                              <m:t>t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b>
                              <m:e>
                                <m:r>
                                  <m:t>N</m:t>
                                </m:r>
                              </m:e>
                              <m:sub>
                                <m:r>
                                  <m:t>H</m:t>
                                </m:r>
                                <m:r>
                                  <m:t>e</m:t>
                                </m:r>
                                <m:r>
                                  <m:t>i</m:t>
                                </m:r>
                                <m:r>
                                  <m:t>g</m:t>
                                </m:r>
                                <m:r>
                                  <m:t>h</m:t>
                                </m:r>
                                <m:r>
                                  <m:t>t</m:t>
                                </m:r>
                              </m:sub>
                            </m:sSub>
                          </m:e>
                        </m:rad>
                      </m:den>
                    </m:f>
                  </m:oMath>
                </a14:m>
              </a:p>
              <a:p>
                <a:pPr lvl="0" indent="0" marL="0">
                  <a:buNone/>
                </a:pPr>
                <a:r>
                  <a:rPr/>
                  <a:t>The </a:t>
                </a:r>
                <a:r>
                  <a:rPr b="1"/>
                  <a:t>mean</a:t>
                </a:r>
                <a:r>
                  <a:rPr/>
                  <a:t> is a measure of central tendency</a:t>
                </a:r>
              </a:p>
              <a:p>
                <a:pPr lvl="0" indent="0" marL="0">
                  <a:buNone/>
                </a:pPr>
                <a:r>
                  <a:rPr/>
                  <a:t>The </a:t>
                </a:r>
                <a:r>
                  <a:rPr b="1"/>
                  <a:t>standard deviation (SD)</a:t>
                </a:r>
                <a:r>
                  <a:rPr/>
                  <a:t> measures how spread out the data is.</a:t>
                </a:r>
              </a:p>
              <a:p>
                <a:pPr lvl="0" indent="0" marL="0">
                  <a:buNone/>
                </a:pPr>
                <a:r>
                  <a:rPr/>
                  <a:t>The </a:t>
                </a:r>
                <a:r>
                  <a:rPr b="1"/>
                  <a:t>standard error (SE)</a:t>
                </a:r>
                <a:r>
                  <a:rPr/>
                  <a:t> can be interpreted as the degree of confidence one can have that the </a:t>
                </a:r>
                <a:r>
                  <a:rPr i="1"/>
                  <a:t>sample mean</a:t>
                </a:r>
                <a:r>
                  <a:rPr/>
                  <a:t> is close to the </a:t>
                </a:r>
                <a:r>
                  <a:rPr i="1"/>
                  <a:t>true population mean</a:t>
                </a:r>
                <a:r>
                  <a:rPr/>
                  <a:t> (lower SE implies higher confidence).</a:t>
                </a:r>
              </a:p>
            </p:txBody>
          </p:sp>
        </mc:Choice>
      </mc:AlternateContent>
      <p:sp>
        <p:nvSpPr>
          <p:cNvPr id="11" name="Text Placeholder 4"/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Size</a:t>
            </a:r>
            <a:r>
              <a:rPr/>
              <a:t> (3-levels)</a:t>
            </a:r>
          </a:p>
          <a:p>
            <a:pPr lvl="0" indent="0" marL="0">
              <a:buNone/>
            </a:pPr>
            <a:r>
              <a:rPr/>
              <a:t>1.93, 1.93, 1.90, 1.89, 1.86, 1.85, 1.85, 1.82, 1.81</a:t>
            </a:r>
          </a:p>
        </p:txBody>
      </p:sp>
      <p:pic>
        <p:nvPicPr>
          <p:cNvPr descr="Empty dot plot of the height data, before summary statistics are added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438900" y="3136900"/>
            <a:ext cx="40259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Dot plot of the height data with the sample mean marked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438900" y="3136900"/>
            <a:ext cx="40259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Dot plot of the height data illustrating the standard deviation around the mean" id="0" name="Picture 1"/>
          <p:cNvPicPr>
            <a:picLocks noGrp="1"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6438900" y="3136900"/>
            <a:ext cx="40259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Dot plot of the height data illustrating the standard error of the mean" id="0" name="Picture 1"/>
          <p:cNvPicPr>
            <a:picLocks noGrp="1"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6438900" y="3136900"/>
            <a:ext cx="40259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Bivariate Analysis</a:t>
            </a:r>
          </a:p>
        </p:txBody>
      </p:sp>
      <p:pic>
        <p:nvPicPr>
          <p:cNvPr descr="Scatterplot of age versus height for the sample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140200" y="2628900"/>
            <a:ext cx="38862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092200" y="5219700"/>
            <a:ext cx="9994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Scatterplot of age versus height for the sample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Correlation and 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It turns out that one cannot calculate many statistics with just one variable 🤷 Let’s also assume that, aside from people’s age, we also measured their </a:t>
                </a:r>
                <a:r>
                  <a:rPr i="1"/>
                  <a:t>height</a:t>
                </a:r>
                <a:r>
                  <a:rPr/>
                  <a:t>:</a:t>
                </a:r>
              </a:p>
              <a:p>
                <a:pPr lvl="0" indent="0" marL="0">
                  <a:buNone/>
                </a:pPr>
                <a:r>
                  <a:rPr b="1"/>
                  <a:t>Height:</a:t>
                </a:r>
                <a:r>
                  <a:rPr/>
                  <a:t> 1.93, 1.93, 1.90, 1.89, 1.86, 1.85, 1.85, 1.82 1.81</a:t>
                </a:r>
              </a:p>
              <a:p>
                <a:pPr lvl="0" indent="0" marL="0">
                  <a:buNone/>
                </a:pPr>
                <a:r>
                  <a:rPr b="1"/>
                  <a:t>Age:</a:t>
                </a:r>
                <a:r>
                  <a:rPr/>
                  <a:t> age = c(37, 38, 32, 26, 24, 27, 30, 29, 27</a:t>
                </a:r>
              </a:p>
              <a:p>
                <a:pPr lvl="0" indent="0" marL="0">
                  <a:buNone/>
                </a:pPr>
                <a:r>
                  <a:rPr/>
                  <a:t>Astute observers 🧐 will probably notice a “tiny” upward trend. The Age and Height variables are indeed highly </a:t>
                </a:r>
                <a:r>
                  <a:rPr i="1"/>
                  <a:t>positively correlated</a:t>
                </a:r>
                <a:r>
                  <a:rPr/>
                  <a:t>, meaning that as age increases, so does height.</a:t>
                </a:r>
              </a:p>
              <a:p>
                <a:pPr lvl="0" indent="0" marL="0">
                  <a:buNone/>
                </a:pPr>
                <a:r>
                  <a:rPr i="1">
                    <a:hlinkClick r:id="rId2"/>
                  </a:rPr>
                  <a:t>Regression</a:t>
                </a:r>
                <a:r>
                  <a:rPr/>
                  <a:t> simply plots the line that is closest to all the points. In our case, the line can be defined as </a:t>
                </a:r>
                <a14:m>
                  <m:oMath xmlns:m="http://schemas.openxmlformats.org/officeDocument/2006/math">
                    <m:r>
                      <m:t>H</m:t>
                    </m:r>
                    <m:r>
                      <m:t>e</m:t>
                    </m:r>
                    <m:r>
                      <m:t>i</m:t>
                    </m:r>
                    <m:r>
                      <m:t>g</m:t>
                    </m:r>
                    <m:r>
                      <m:t>h</m:t>
                    </m:r>
                    <m:sSub>
                      <m:e>
                        <m:r>
                          <m:t>t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a</m:t>
                    </m:r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  <m:r>
                      <m:rPr>
                        <m:sty m:val="p"/>
                      </m:rPr>
                      <m:t>×</m:t>
                    </m:r>
                    <m:r>
                      <m:t>A</m:t>
                    </m:r>
                    <m:r>
                      <m:t>g</m:t>
                    </m:r>
                    <m:sSub>
                      <m:e>
                        <m:r>
                          <m:t>e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, were </a:t>
                </a:r>
                <a14:m>
                  <m:oMath xmlns:m="http://schemas.openxmlformats.org/officeDocument/2006/math">
                    <m:r>
                      <m:t>a</m:t>
                    </m:r>
                  </m:oMath>
                </a14:m>
                <a:r>
                  <a:rPr/>
                  <a:t> represents where the line hits the Y-axis (y intercept) and </a:t>
                </a:r>
                <a14:m>
                  <m:oMath xmlns:m="http://schemas.openxmlformats.org/officeDocument/2006/math">
                    <m:r>
                      <m:t>b</m:t>
                    </m:r>
                  </m:oMath>
                </a14:m>
                <a:r>
                  <a:rPr/>
                  <a:t> is the line slope.</a:t>
                </a:r>
              </a:p>
            </p:txBody>
          </p:sp>
        </mc:Choice>
      </mc:AlternateContent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Correlation and Regression (continued)</a:t>
            </a:r>
          </a:p>
        </p:txBody>
      </p:sp>
      <p:pic>
        <p:nvPicPr>
          <p:cNvPr descr="Empty scatterplot template with axes for the two variables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076700" y="2628900"/>
            <a:ext cx="40259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092200" y="5219700"/>
            <a:ext cx="9994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Empty scatterplot template with axes for the two variables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Correlation and Regression (continued)</a:t>
            </a:r>
          </a:p>
        </p:txBody>
      </p:sp>
      <p:pic>
        <p:nvPicPr>
          <p:cNvPr descr="Scatterplot showing the relationship between two quantitative variables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076700" y="2628900"/>
            <a:ext cx="40259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092200" y="5219700"/>
            <a:ext cx="9994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Scatterplot showing the relationship between two quantitative variables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Correlation and Regression (continued)</a:t>
            </a:r>
          </a:p>
        </p:txBody>
      </p:sp>
      <p:pic>
        <p:nvPicPr>
          <p:cNvPr descr="Scatterplot showing the relationship between two quantitative variables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076700" y="2628900"/>
            <a:ext cx="40259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092200" y="5219700"/>
            <a:ext cx="9994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Scatterplot showing the relationship between two quantitative variables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Correlation and Regression (continued)</a:t>
            </a:r>
          </a:p>
        </p:txBody>
      </p:sp>
      <p:pic>
        <p:nvPicPr>
          <p:cNvPr descr="Scatterplot illustrating a correlation between two quantitative variables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076700" y="2628900"/>
            <a:ext cx="40259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092200" y="5219700"/>
            <a:ext cx="9994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Scatterplot illustrating a correlation between two quantitative variables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Correlation and Regression (continued)</a:t>
            </a:r>
          </a:p>
        </p:txBody>
      </p:sp>
      <p:pic>
        <p:nvPicPr>
          <p:cNvPr descr="Scatterplot illustrating a correlation between two quantitative variables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076700" y="2628900"/>
            <a:ext cx="40259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092200" y="5219700"/>
            <a:ext cx="9994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Scatterplot illustrating a correlation between two quantitative variables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Correlation and Regression (continued)</a:t>
            </a:r>
          </a:p>
        </p:txBody>
      </p:sp>
      <p:pic>
        <p:nvPicPr>
          <p:cNvPr descr="Scatterplot with a fitted regression line predicting the outcome from the predictor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076700" y="2628900"/>
            <a:ext cx="40259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092200" y="5219700"/>
            <a:ext cx="9994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Scatterplot with a fitted regression line predicting the outcome from the predictor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Correlation and Regression (continued)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NOTE</a:t>
                </a:r>
                <a:r>
                  <a:rPr/>
                  <a:t>: Correlation and regression carry very similar information. For instance, the correlation coefficient and the line slope are equivalent, </a:t>
                </a:r>
                <a14:m>
                  <m:oMath xmlns:m="http://schemas.openxmlformats.org/officeDocument/2006/math">
                    <m:r>
                      <m:t>R</m:t>
                    </m:r>
                    <m:r>
                      <m:rPr>
                        <m:sty m:val="p"/>
                      </m:rPr>
                      <m:t>=</m:t>
                    </m:r>
                    <m:r>
                      <m:t>b</m:t>
                    </m:r>
                    <m:r>
                      <m:rPr>
                        <m:sty m:val="p"/>
                      </m:rPr>
                      <m:t>×</m:t>
                    </m:r>
                    <m:f>
                      <m:fPr>
                        <m:type m:val="bar"/>
                      </m:fPr>
                      <m:num>
                        <m:r>
                          <m:t>S</m:t>
                        </m:r>
                        <m:sSub>
                          <m:e>
                            <m:r>
                              <m:t>D</m:t>
                            </m:r>
                          </m:e>
                          <m:sub>
                            <m:r>
                              <m:t>A</m:t>
                            </m:r>
                            <m:r>
                              <m:t>g</m:t>
                            </m:r>
                            <m:r>
                              <m:t>e</m:t>
                            </m:r>
                          </m:sub>
                        </m:sSub>
                      </m:num>
                      <m:den>
                        <m:r>
                          <m:t>S</m:t>
                        </m:r>
                        <m:sSub>
                          <m:e>
                            <m:r>
                              <m:t>D</m:t>
                            </m:r>
                          </m:e>
                          <m:sub>
                            <m:r>
                              <m:t>H</m:t>
                            </m:r>
                            <m:r>
                              <m:t>e</m:t>
                            </m:r>
                            <m:r>
                              <m:t>i</m:t>
                            </m:r>
                            <m:r>
                              <m:t>g</m:t>
                            </m:r>
                            <m:r>
                              <m:t>h</m:t>
                            </m:r>
                            <m:r>
                              <m:t>t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m:t>=</m:t>
                    </m:r>
                    <m:r>
                      <m:t>0.8</m:t>
                    </m:r>
                    <m:r>
                      <m:rPr>
                        <m:sty m:val="p"/>
                      </m:rPr>
                      <m:t>×</m:t>
                    </m:r>
                    <m:f>
                      <m:fPr>
                        <m:type m:val="bar"/>
                      </m:fPr>
                      <m:num>
                        <m:r>
                          <m:t>1.4</m:t>
                        </m:r>
                      </m:num>
                      <m:den>
                        <m:r>
                          <m:t>1.17</m:t>
                        </m:r>
                      </m:den>
                    </m:f>
                    <m:r>
                      <m:rPr>
                        <m:sty m:val="p"/>
                      </m:rPr>
                      <m:t>≈</m:t>
                    </m:r>
                    <m:r>
                      <m:t>.97</m:t>
                    </m:r>
                  </m:oMath>
                </a14:m>
              </a:p>
            </p:txBody>
          </p:sp>
        </mc:Choice>
      </mc:AlternateContent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One-Way ANOVAs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Although scary sounding, a </a:t>
            </a:r>
            <a:r>
              <a:rPr b="1"/>
              <a:t>one-way ANOVA</a:t>
            </a:r>
            <a:r>
              <a:rPr/>
              <a:t> is simply a direct extension of t-test! The only difference is that it deals with the case in which there are </a:t>
            </a:r>
            <a:r>
              <a:rPr i="1"/>
              <a:t>more than 2 groups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b="1"/>
              <a:t>AGE</a:t>
            </a:r>
          </a:p>
          <a:p>
            <a:pPr lvl="0" indent="0" marL="0">
              <a:buNone/>
            </a:pPr>
            <a:r>
              <a:rPr/>
              <a:t>14, 15, 15, 16, 30, 31, 31, 32, 32, 33, 33, 34</a:t>
            </a:r>
          </a:p>
          <a:p>
            <a:pPr lvl="0" indent="0" marL="0">
              <a:buNone/>
            </a:pPr>
            <a:r>
              <a:rPr/>
              <a:t>Once again, one-way ANOVA is also a glorified regression, and the visualization is very similar to that of a t-test. The equivalence to regression takes a bit longer to show, so I will omit it for the sake of time.</a:t>
            </a:r>
          </a:p>
          <a:p>
            <a:pPr lvl="0" indent="0" marL="0">
              <a:buNone/>
            </a:pPr>
            <a:r>
              <a:rPr/>
              <a:t>The main difference with t-tests is that one-way ANOVAs produces an </a:t>
            </a:r>
            <a:r>
              <a:rPr i="1"/>
              <a:t>F</a:t>
            </a:r>
            <a:r>
              <a:rPr/>
              <a:t> statistics instead of a </a:t>
            </a:r>
            <a:r>
              <a:rPr i="1"/>
              <a:t>t</a:t>
            </a:r>
            <a:r>
              <a:rPr/>
              <a:t> statistic. If we input the data in a </a:t>
            </a:r>
            <a:r>
              <a:rPr>
                <a:hlinkClick r:id="rId2"/>
              </a:rPr>
              <a:t>one-way ANOVA calculator</a:t>
            </a:r>
            <a:r>
              <a:rPr/>
              <a:t>, the result is </a:t>
            </a:r>
            <a:r>
              <a:rPr i="1"/>
              <a:t>F</a:t>
            </a:r>
            <a:r>
              <a:rPr/>
              <a:t>(2,9) = 583.99, </a:t>
            </a:r>
            <a:r>
              <a:rPr i="1"/>
              <a:t>p</a:t>
            </a:r>
            <a:r>
              <a:rPr/>
              <a:t> &lt;.001.</a:t>
            </a:r>
          </a:p>
          <a:p>
            <a:pPr lvl="0" indent="0" marL="0">
              <a:buNone/>
            </a:pPr>
            <a:r>
              <a:rPr/>
              <a:t>The interpretation of a </a:t>
            </a:r>
            <a:r>
              <a:rPr i="1"/>
              <a:t>significant</a:t>
            </a:r>
            <a:r>
              <a:rPr/>
              <a:t> one-way ANOVA is that we are confident that the mean of the DV (</a:t>
            </a:r>
            <a:r>
              <a:rPr b="1"/>
              <a:t>Age</a:t>
            </a:r>
            <a:r>
              <a:rPr/>
              <a:t> here) changes depending on the IV (</a:t>
            </a:r>
            <a:r>
              <a:rPr b="1"/>
              <a:t>Group</a:t>
            </a:r>
            <a:r>
              <a:rPr/>
              <a:t> here). If one so wishes, it is also possible to run multiple t-tests to see which two group means are significantly different from each other (known as </a:t>
            </a:r>
            <a:r>
              <a:rPr i="1"/>
              <a:t>post hoc</a:t>
            </a:r>
            <a:r>
              <a:rPr/>
              <a:t>, or </a:t>
            </a:r>
            <a:r>
              <a:rPr i="1"/>
              <a:t>pairwise comparison</a:t>
            </a:r>
            <a:r>
              <a:rPr/>
              <a:t>).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One-Way ANOVAs (continued)</a:t>
            </a:r>
          </a:p>
        </p:txBody>
      </p:sp>
      <p:pic>
        <p:nvPicPr>
          <p:cNvPr descr="Scatterplot illustrating a one-way ANOVA comparing several group means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076700" y="2628900"/>
            <a:ext cx="40259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092200" y="5219700"/>
            <a:ext cx="9994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Scatterplot illustrating a one-way ANOVA comparing several group means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One-Way ANOVAs (continued)</a:t>
            </a:r>
          </a:p>
        </p:txBody>
      </p:sp>
      <p:pic>
        <p:nvPicPr>
          <p:cNvPr descr="Scatterplot showing how a one-way ANOVA maps onto a regression with group indicators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076700" y="2628900"/>
            <a:ext cx="40259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092200" y="5219700"/>
            <a:ext cx="9994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Scatterplot showing how a one-way ANOVA maps onto a regression with group indicators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Two-Way ANOVAs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Finally, a </a:t>
            </a:r>
            <a:r>
              <a:rPr b="1"/>
              <a:t>two-way ANOVA</a:t>
            </a:r>
            <a:r>
              <a:rPr/>
              <a:t> (yes, also a regression) is generally used when there are 2 categorical IVs (usually two grouping variables).</a:t>
            </a:r>
          </a:p>
          <a:p>
            <a:pPr lvl="0" indent="0" marL="0">
              <a:buNone/>
            </a:pPr>
            <a:r>
              <a:rPr/>
              <a:t>Let’s say that we randomly sample 4 males and 4 females all weighting 80 kilos. Further, we assign diet A to 2 random male/females and diet B to the remaining people. After 3 months we measure the weight of all the participants: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Two-Way ANOVAs (continued)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092200" y="2628900"/>
          <a:ext cx="9994900" cy="309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7400"/>
                <a:gridCol w="3327400"/>
                <a:gridCol w="33274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Diet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Diet B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**Female**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60, 62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75, 76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**Male**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74, 75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74, 77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Two-Way ANOVAs (continued)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</a:t>
                </a:r>
                <a:r>
                  <a:rPr>
                    <a:hlinkClick r:id="rId2"/>
                  </a:rPr>
                  <a:t>two-way ANOVA calculator</a:t>
                </a:r>
                <a:r>
                  <a:rPr/>
                  <a:t> gives the 3 following results:</a:t>
                </a:r>
              </a:p>
              <a:p>
                <a:pPr lvl="0" indent="0" marL="0">
                  <a:buNone/>
                </a:pPr>
                <a:r>
                  <a:rPr b="1"/>
                  <a:t>Main effect of Diet:</a:t>
                </a:r>
                <a:r>
                  <a:rPr/>
                  <a:t> Weight after 3 months changes significantly depending on the </a:t>
                </a:r>
                <a:r>
                  <a:rPr i="1"/>
                  <a:t>type of diet</a:t>
                </a:r>
                <a:r>
                  <a:rPr/>
                  <a:t> that participants are assigned to, </a:t>
                </a:r>
                <a:r>
                  <a:rPr i="1"/>
                  <a:t>F</a:t>
                </a:r>
                <a:r>
                  <a:rPr/>
                  <a:t>(1, 4) = 64.07, </a:t>
                </a:r>
                <a:r>
                  <a:rPr i="1"/>
                  <a:t>p</a:t>
                </a:r>
                <a:r>
                  <a:rPr/>
                  <a:t>=.001.</a:t>
                </a:r>
              </a:p>
              <a:p>
                <a:pPr lvl="0" indent="0" marL="0">
                  <a:buNone/>
                </a:pPr>
                <a:r>
                  <a:rPr b="1"/>
                  <a:t>Main effect of Gender:</a:t>
                </a:r>
                <a:r>
                  <a:rPr/>
                  <a:t> Weight after 3 months changes significantly depending on </a:t>
                </a:r>
                <a:r>
                  <a:rPr i="1"/>
                  <a:t>gender</a:t>
                </a:r>
                <a:r>
                  <a:rPr/>
                  <a:t>, </a:t>
                </a:r>
                <a:r>
                  <a:rPr i="1"/>
                  <a:t>F</a:t>
                </a:r>
                <a:r>
                  <a:rPr/>
                  <a:t>(1, 4) = 48.6, </a:t>
                </a:r>
                <a:r>
                  <a:rPr i="1"/>
                  <a:t>p</a:t>
                </a:r>
                <a:r>
                  <a:rPr/>
                  <a:t> = .002.</a:t>
                </a:r>
              </a:p>
              <a:p>
                <a:pPr lvl="0" indent="0" marL="0">
                  <a:buNone/>
                </a:pPr>
                <a:r>
                  <a:rPr b="1"/>
                  <a:t>Interaction effect of Gender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×</m:t>
                    </m:r>
                  </m:oMath>
                </a14:m>
                <a:r>
                  <a:rPr b="1"/>
                  <a:t>Diet:</a:t>
                </a:r>
                <a:r>
                  <a:rPr/>
                  <a:t> The effect of the </a:t>
                </a:r>
                <a:r>
                  <a:rPr i="1"/>
                  <a:t>type of diet</a:t>
                </a:r>
                <a:r>
                  <a:rPr/>
                  <a:t> on weight after 3 months, </a:t>
                </a:r>
                <a:r>
                  <a:rPr b="1"/>
                  <a:t>changes significantly</a:t>
                </a:r>
                <a:r>
                  <a:rPr/>
                  <a:t> depending on what gender participants are, </a:t>
                </a:r>
                <a:r>
                  <a:rPr i="1"/>
                  <a:t>F</a:t>
                </a:r>
                <a:r>
                  <a:rPr/>
                  <a:t>(1, 4) = 48.6, </a:t>
                </a:r>
                <a:r>
                  <a:rPr i="1"/>
                  <a:t>p</a:t>
                </a:r>
                <a:r>
                  <a:rPr/>
                  <a:t> = .002.</a:t>
                </a:r>
              </a:p>
              <a:p>
                <a:pPr lvl="0" indent="0" marL="0">
                  <a:buNone/>
                </a:pPr>
                <a:r>
                  <a:rPr/>
                  <a:t>The results that Two-way ANOVA provides are the </a:t>
                </a:r>
                <a:r>
                  <a:rPr b="1"/>
                  <a:t>two main effects of the IVs</a:t>
                </a:r>
                <a:r>
                  <a:rPr/>
                  <a:t>, which are the same as running two separate one-way ANOVAs, and an </a:t>
                </a:r>
                <a:r>
                  <a:rPr b="1"/>
                  <a:t>interaction effect</a:t>
                </a:r>
                <a:r>
                  <a:rPr/>
                  <a:t>.</a:t>
                </a:r>
              </a:p>
            </p:txBody>
          </p:sp>
        </mc:Choice>
      </mc:AlternateContent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Two-Way ANOVAs (continued)</a:t>
            </a:r>
          </a:p>
        </p:txBody>
      </p:sp>
      <p:pic>
        <p:nvPicPr>
          <p:cNvPr descr="First scatterplot in a sequence building up a two-way ANOVA design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076700" y="2628900"/>
            <a:ext cx="40259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092200" y="5219700"/>
            <a:ext cx="9994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First scatterplot in a sequence building up a two-way ANOVA design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Two-Way ANOVAs (continued)</a:t>
            </a:r>
          </a:p>
        </p:txBody>
      </p:sp>
      <p:pic>
        <p:nvPicPr>
          <p:cNvPr descr="Second scatterplot in a sequence building up a two-way ANOVA design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076700" y="2628900"/>
            <a:ext cx="40259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092200" y="5219700"/>
            <a:ext cx="9994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Second scatterplot in a sequence building up a two-way ANOVA design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Two-Way ANOVAs (continued)</a:t>
            </a:r>
          </a:p>
        </p:txBody>
      </p:sp>
      <p:pic>
        <p:nvPicPr>
          <p:cNvPr descr="Third scatterplot completing the two-way ANOVA design sequence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076700" y="2628900"/>
            <a:ext cx="40259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092200" y="5219700"/>
            <a:ext cx="9994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Third scatterplot completing the two-way ANOVA design sequence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p-values? 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P</a:t>
            </a:r>
            <a:r>
              <a:rPr/>
              <a:t>-values are another often misunderstood, and frankly overemphasized, concept. We are taught that a </a:t>
            </a:r>
            <a:r>
              <a:rPr i="1"/>
              <a:t>p-value</a:t>
            </a:r>
            <a:r>
              <a:rPr/>
              <a:t> smaller than .05 (5% probability) is </a:t>
            </a:r>
            <a:r>
              <a:rPr i="1"/>
              <a:t>significant</a:t>
            </a:r>
            <a:r>
              <a:rPr/>
              <a:t>. The </a:t>
            </a:r>
            <a:r>
              <a:rPr b="1"/>
              <a:t>appropriate interpretation of p-values</a:t>
            </a:r>
            <a:r>
              <a:rPr/>
              <a:t> is as follows:</a:t>
            </a:r>
          </a:p>
          <a:p>
            <a:pPr lvl="0" indent="0" marL="0">
              <a:buNone/>
            </a:pPr>
            <a:r>
              <a:rPr/>
              <a:t>Assuming that my hypothesis is wrong (Null hypothesis), if I were to </a:t>
            </a:r>
            <a:r>
              <a:rPr i="1"/>
              <a:t>sample</a:t>
            </a:r>
            <a:r>
              <a:rPr/>
              <a:t> the same number of observations from the population an  </a:t>
            </a:r>
            <a:r>
              <a:rPr i="1"/>
              <a:t>infinite</a:t>
            </a:r>
            <a:r>
              <a:rPr/>
              <a:t> number of times , what is the probability that I will observe the same results. (note that you </a:t>
            </a:r>
            <a:r>
              <a:rPr i="1"/>
              <a:t>can</a:t>
            </a:r>
            <a:r>
              <a:rPr/>
              <a:t> calculate a </a:t>
            </a:r>
            <a:r>
              <a:rPr i="1"/>
              <a:t>p</a:t>
            </a:r>
            <a:r>
              <a:rPr/>
              <a:t>-value for just about every statistic)</a:t>
            </a:r>
          </a:p>
          <a:p>
            <a:pPr lvl="0" indent="0" marL="0">
              <a:buNone/>
            </a:pPr>
            <a:r>
              <a:rPr/>
              <a:t>The main problem of </a:t>
            </a:r>
            <a:r>
              <a:rPr i="1"/>
              <a:t>p-values</a:t>
            </a:r>
            <a:r>
              <a:rPr/>
              <a:t> by themselves is that they carry no information about how different or how big the effect of the IV on the DV is. They main thing that influences </a:t>
            </a:r>
            <a:r>
              <a:rPr i="1"/>
              <a:t>p</a:t>
            </a:r>
            <a:r>
              <a:rPr/>
              <a:t>-values is </a:t>
            </a:r>
            <a:r>
              <a:rPr b="1"/>
              <a:t>sample size</a:t>
            </a:r>
            <a:r>
              <a:rPr/>
              <a:t>!</a:t>
            </a:r>
          </a:p>
          <a:p>
            <a:pPr lvl="0" indent="0" marL="0">
              <a:buNone/>
            </a:pPr>
            <a:r>
              <a:rPr/>
              <a:t>Let’s assume that we know that the average depression score in the population is </a:t>
            </a:r>
            <a:r>
              <a:rPr b="1"/>
              <a:t>5</a:t>
            </a:r>
            <a:r>
              <a:rPr/>
              <a:t> (</a:t>
            </a:r>
            <a:r>
              <a:rPr b="1" i="1"/>
              <a:t>SD</a:t>
            </a:r>
            <a:r>
              <a:rPr/>
              <a:t> </a:t>
            </a:r>
            <a:r>
              <a:rPr b="1"/>
              <a:t>= 3</a:t>
            </a:r>
            <a:r>
              <a:rPr/>
              <a:t>). Now, let’s say that we tried 3 different depression treatments for 3 different groups and found that, after treatment, these groups scores in depression respectively were: 4.9, 4.8, 4.7.</a:t>
            </a:r>
          </a:p>
          <a:p>
            <a:pPr lvl="0" indent="0" marL="0">
              <a:buNone/>
            </a:pPr>
            <a:r>
              <a:rPr/>
              <a:t>In this case, even with a difference as small as .3, the </a:t>
            </a:r>
            <a:r>
              <a:rPr i="1"/>
              <a:t>p</a:t>
            </a:r>
            <a:r>
              <a:rPr/>
              <a:t>-value will turn out significant with a sample size of around 270 people. Given the standard deviation of 3, a mean difference of .3 is laughable in practice!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p-values? 😕 (continued)</a:t>
            </a:r>
          </a:p>
        </p:txBody>
      </p:sp>
      <p:pic>
        <p:nvPicPr>
          <p:cNvPr descr="Empty sampling distribution curve, before the p-value region is shown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076700" y="2628900"/>
            <a:ext cx="40259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092200" y="5219700"/>
            <a:ext cx="9994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Empty sampling distribution curve, before the p-value region is shown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p-values? 😕 (continued)</a:t>
            </a:r>
          </a:p>
        </p:txBody>
      </p:sp>
      <p:pic>
        <p:nvPicPr>
          <p:cNvPr descr="Sampling distribution curve showing a one-tailed p-value region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076700" y="2628900"/>
            <a:ext cx="40259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092200" y="5219700"/>
            <a:ext cx="9994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Sampling distribution curve showing a one-tailed p-value region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p-values? 😕 (continued)</a:t>
            </a:r>
          </a:p>
        </p:txBody>
      </p:sp>
      <p:pic>
        <p:nvPicPr>
          <p:cNvPr descr="Sampling distribution curve showing the two-tailed p-value regions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076700" y="2628900"/>
            <a:ext cx="40259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092200" y="5219700"/>
            <a:ext cx="9994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Sampling distribution curve showing the two-tailed p-value regions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p-values? 😕 (continued)</a:t>
            </a:r>
          </a:p>
        </p:txBody>
      </p:sp>
      <p:pic>
        <p:nvPicPr>
          <p:cNvPr descr="Sampling distribution curve with the p-value region shaded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076700" y="2628900"/>
            <a:ext cx="40259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092200" y="5219700"/>
            <a:ext cx="9994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Sampling distribution curve with the p-value region shaded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Assignments &amp; Reminders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Given this week:</a:t>
            </a:r>
          </a:p>
          <a:p>
            <a:pPr lvl="0"/>
            <a:r>
              <a:rPr/>
              <a:t>Submit to your lab section before week 7: Correlations &amp; Chi-square Worksheet</a:t>
            </a:r>
          </a:p>
          <a:p>
            <a:pPr lvl="0" indent="0" marL="0">
              <a:buNone/>
            </a:pPr>
            <a:r>
              <a:rPr b="1"/>
              <a:t>Due this week:</a:t>
            </a:r>
          </a:p>
          <a:p>
            <a:pPr lvl="0"/>
            <a:r>
              <a:rPr/>
              <a:t>Lab 06: Data entry &amp; Univariate Stats worksheet</a:t>
            </a:r>
          </a:p>
          <a:p>
            <a:pPr lvl="0" indent="0" marL="0">
              <a:buNone/>
            </a:pPr>
            <a:r>
              <a:rPr/>
              <a:t>Submit to your lab section in Canvas by 11:59pm the day before your lab meets.</a:t>
            </a:r>
          </a:p>
        </p:txBody>
      </p:sp>
    </p:spTree>
  </p:cSld>
</p:sld>
</file>

<file path=ppt/theme/theme1.xml><?xml version="1.0" encoding="utf-8"?>
<a:theme xmlns:a="http://schemas.openxmlformats.org/drawingml/2006/main" name="Parcel">
  <a:themeElements>
    <a:clrScheme name="Custom 3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5E5E5E"/>
      </a:accent2>
      <a:accent3>
        <a:srgbClr val="005392"/>
      </a:accent3>
      <a:accent4>
        <a:srgbClr val="FEFB00"/>
      </a:accent4>
      <a:accent5>
        <a:srgbClr val="87795D"/>
      </a:accent5>
      <a:accent6>
        <a:srgbClr val="A0988C"/>
      </a:accent6>
      <a:hlink>
        <a:srgbClr val="005392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4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Gill Sans MT</vt:lpstr>
      <vt:lpstr>Parcel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Bivariate Analyses: Pearson’s Correlation &amp; Chi-Square</dc:title>
  <dc:creator>PSYCH 350-Lab</dc:creator>
  <cp:keywords/>
  <dcterms:created xsi:type="dcterms:W3CDTF">2026-08-13T23:50:45Z</dcterms:created>
  <dcterms:modified xsi:type="dcterms:W3CDTF">2026-08-13T23:50:45Z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quarto-vars">
    <vt:lpwstr/>
  </property>
  <property fmtid="{D5CDD505-2E9C-101B-9397-08002B2CF9AE}" pid="3" name="authors">
    <vt:lpwstr/>
  </property>
  <property fmtid="{D5CDD505-2E9C-101B-9397-08002B2CF9AE}" pid="4" name="back-to-top-navigation">
    <vt:lpwstr>True</vt:lpwstr>
  </property>
  <property fmtid="{D5CDD505-2E9C-101B-9397-08002B2CF9AE}" pid="5" name="biblio-config">
    <vt:lpwstr>True</vt:lpwstr>
  </property>
  <property fmtid="{D5CDD505-2E9C-101B-9397-08002B2CF9AE}" pid="6" name="by-author">
    <vt:lpwstr/>
  </property>
  <property fmtid="{D5CDD505-2E9C-101B-9397-08002B2CF9AE}" pid="7" name="engines">
    <vt:lpwstr/>
  </property>
  <property fmtid="{D5CDD505-2E9C-101B-9397-08002B2CF9AE}" pid="8" name="execute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ack-link">
    <vt:lpwstr>False</vt:lpwstr>
  </property>
  <property fmtid="{D5CDD505-2E9C-101B-9397-08002B2CF9AE}" pid="12" name="include-before">
    <vt:lpwstr/>
  </property>
  <property fmtid="{D5CDD505-2E9C-101B-9397-08002B2CF9AE}" pid="13" name="knitr">
    <vt:lpwstr>True</vt:lpwstr>
  </property>
  <property fmtid="{D5CDD505-2E9C-101B-9397-08002B2CF9AE}" pid="14" name="labels">
    <vt:lpwstr/>
  </property>
  <property fmtid="{D5CDD505-2E9C-101B-9397-08002B2CF9AE}" pid="15" name="nebraska-pptx">
    <vt:lpwstr/>
  </property>
  <property fmtid="{D5CDD505-2E9C-101B-9397-08002B2CF9AE}" pid="16" name="revealjs-plugins">
    <vt:lpwstr/>
  </property>
  <property fmtid="{D5CDD505-2E9C-101B-9397-08002B2CF9AE}" pid="17" name="subtitle">
    <vt:lpwstr>Lab 07</vt:lpwstr>
  </property>
  <property fmtid="{D5CDD505-2E9C-101B-9397-08002B2CF9AE}" pid="18" name="toc-title">
    <vt:lpwstr>Table of contents</vt:lpwstr>
  </property>
</Properties>
</file>