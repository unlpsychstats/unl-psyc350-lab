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>
  <p:sldMasterIdLst>
    <p:sldMasterId id="2147483696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7524"/>
    <p:restoredTop sz="94694"/>
  </p:normalViewPr>
  <p:slideViewPr>
    <p:cSldViewPr snapToGrid="0">
      <p:cViewPr varScale="1">
        <p:scale>
          <a:sx d="100" n="119"/>
          <a:sy d="100" n="119"/>
        </p:scale>
        <p:origin x="232" y="23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notesMaster" Target="notesMasters/notesMaster1.xml" /><Relationship Id="rId1" Type="http://schemas.openxmlformats.org/officeDocument/2006/relationships/slideMaster" Target="slideMasters/slideMaster1.xml" /><Relationship Id="rId19" Type="http://schemas.openxmlformats.org/officeDocument/2006/relationships/presProps" Target="presProps.xml" /><Relationship Id="rId20" Type="http://schemas.openxmlformats.org/officeDocument/2006/relationships/viewProps" Target="viewProps.xml" /><Relationship Id="rId21" Type="http://schemas.openxmlformats.org/officeDocument/2006/relationships/theme" Target="theme/theme1.xml" /><Relationship Id="rId22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Begin with the Superman file for RH1 and RH2. The Hot Ones file is used only after both walkthroughs are complete.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the dataset and saved syntax open together. Inspect variables and cases in the Data Editor; reproduce every command in the Syntax Editor.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Output Viewer accumulates tables, charts, warnings, and processing notes. Keep it open beside the data and syntax windows, and export only the results needed for the worksheet or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Identify variable type and the predicted pattern before opening an analysis dialog. Numeric codes can still represent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statistical test cannot rescue a badly chosen summary. For correlation, first check approximate linearity. For chi-square, first describe the cell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worksheet specifies no subset for RH1. Compute likes in thousands, then place height_diff on the Y axis and inspect the plot before testing the correlation.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correlation from saved syntax after inspecting the scatterplot and active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r, p, and N from the output, then compute df as N minus 2. Use association language rather than causal language.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crosstab from saved syntax and request observed counts, expected counts, and percentages.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Compare observed and expected counts before reading chi-square, df, and p. The result describes association, not causation.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RH3 and RH4 are correlations. RH5 and RH6 are chi-square tests. Each research hypothesis has its own transformation and selection instructions.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RH3 computes total_SHU_mil. RH4 computes engagement. RH5 recodes occupation and likes. RH6 creates age_grp. All four use completed episodes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output is generated with create_apa_corr_table(), following the SPSS handout. Use the same layout for walkthrough Table 1 and combine RH3 and RH4 in the worksheet’s Table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output is generated with create_apa_chi_crosstabs_table(), following the chi-square handout. The written result should refer directly to the numbered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slides focus only on reporting. Students should not write “significant correlation” or “significant chi-square” without explaining the direction or pattern in plain language.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97280" y="4352544"/>
            <a:ext cx="9997440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rgbClr val="FFFFFF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2638044"/>
            <a:ext cx="9997440" cy="31019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352465"/>
            <a:ext cx="9997440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2638044"/>
            <a:ext cx="4907280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40" y="2638044"/>
            <a:ext cx="4907280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42B0DB6-F5C7-45FB-8CF3-31B45F9C2DAC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Relationship Id="rId9" Target="../slideLayouts/slideLayout9.xml" Type="http://schemas.openxmlformats.org/officeDocument/2006/relationships/slideLayout" /><Relationship Id="rId10" Target="../slideLayouts/slideLayout10.xml" Type="http://schemas.openxmlformats.org/officeDocument/2006/relationships/slideLayout" /><Relationship Id="rId11" Target="../slideLayouts/slideLayout11.xml" Type="http://schemas.openxmlformats.org/officeDocument/2006/relationships/slideLayout" /><Relationship Id="rId12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cap="sq" w="31750">
            <a:solidFill>
              <a:srgbClr val="404040"/>
            </a:solidFill>
            <a:miter lim="800000"/>
          </a:ln>
        </p:spPr>
        <p:txBody>
          <a:bodyPr anchor="ctr" bIns="182880" lIns="182880" rIns="182880" rtlCol="0" tIns="18288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1160EA64-D806-43AC-9DF2-F8C432F32B4C}" type="datetimeFigureOut">
              <a:rPr dirty="0" lang="en-US"/>
              <a:t>1/22/26</a:t>
            </a:fld>
            <a:endParaRPr dirty="0"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dirty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anchor="ctr" bIns="45720" lIns="18288" rIns="18288" rtlCol="0" tIns="45720" vert="horz">
            <a:noAutofit/>
          </a:bodyPr>
          <a:lstStyle>
            <a:lvl1pPr algn="ctr">
              <a:defRPr baseline="0" spc="0" sz="110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dirty="0" lang="en-US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dt="0" ftr="0" hdr="0" sldNum="0"/>
  <p:txStyles>
    <p:titleStyle>
      <a:lvl1pPr algn="ctr" defTabSz="914400" eaLnBrk="1" hangingPunct="1" latinLnBrk="0" rtl="0">
        <a:lnSpc>
          <a:spcPct val="90000"/>
        </a:lnSpc>
        <a:spcBef>
          <a:spcPct val="0"/>
        </a:spcBef>
        <a:buNone/>
        <a:defRPr baseline="0" cap="all" kern="1200" spc="200" sz="280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4572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6858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9144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11430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1312863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1484313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165735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baseline="0"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1882775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baseline="0"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hyperlink" Target="https://unlpsychstats.github.io/PSYC350-spss-handouts/A1.pearsons_correlation_spss_handout_simple.pdf" TargetMode="External"/>
</Relationships>

</file>

<file path=ppt/slides/_rels/slide2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notesSlide" Target="../notesSlides/notesSlide1.xml"/>
  <Relationship Id="rId3" Type="http://schemas.openxmlformats.org/officeDocument/2006/relationships/hyperlink" Target="https://unlpsychstats.github.io/UNL-PSYC350-LAB/labs/lab07/slides/downloads/lab07_corr_chi.docx" TargetMode="External"/>
  <Relationship Id="rId4" Type="http://schemas.openxmlformats.org/officeDocument/2006/relationships/hyperlink" Target="https://unlpsychstats.github.io/UNL-PSYC350-LAB/labs/lab07/slides/downloads/superman_data.sav" TargetMode="External"/>
  <Relationship Id="rId5" Type="http://schemas.openxmlformats.org/officeDocument/2006/relationships/hyperlink" Target="https://unlpsychstats.github.io/UNL-PSYC350-LAB/labs/lab07/slides/downloads/hotones_data.sav" TargetMode="External"/>
  <Relationship Id="rId6" Type="http://schemas.openxmlformats.org/officeDocument/2006/relationships/hyperlink" Target="https://unlpsychstats.github.io/PSYC350-spss-handouts/A2.scatterplot_spss_handout_simple.pdf" TargetMode="External"/>
  <Relationship Id="rId7" Type="http://schemas.openxmlformats.org/officeDocument/2006/relationships/hyperlink" Target="https://unlpsychstats.github.io/PSYC350-spss-handouts/A3.2x2_chisquare_spss_handout_simple.pdf" TargetMode="External"/>
</Relationships>
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notesSlide" Target="../notesSlides/notesSlide2.xml" /><Relationship Id="rId4" Type="http://schemas.openxmlformats.org/officeDocument/2006/relationships/image" Target="../media/image2.png" /><Relationship Id="rId3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Relationship Id="rId3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6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Relationship Id="rId3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Correlation and Chi-Square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097280" y="4352544"/>
            <a:ext cx="9997440" cy="1239894"/>
          </a:xfrm>
          <a:noFill/>
        </p:spPr>
        <p:txBody>
          <a:bodyPr/>
          <a:lstStyle/>
          <a:p>
            <a:pPr lvl="0" indent="0" marL="0">
              <a:buNone/>
            </a:pPr>
            <a:r>
              <a:rPr/>
              <a:t>Lab 07 · Two-Variable Analyses</a:t>
            </a:r>
            <a:br/>
            <a:br/>
            <a:r>
              <a:rPr/>
              <a:t>PSYC 350 Laboratory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 Download the Lab 7 files</a:t>
            </a:r>
          </a:p>
        </p:txBody>
      </p:sp>
      <p:sp>
        <p:nvSpPr>
          <p:cNvPr id="1001" name="card-steel" descr="card: Worksheet. Download worksheet"/>
          <p:cNvSpPr/>
          <p:nvPr/>
        </p:nvSpPr>
        <p:spPr>
          <a:xfrm>
            <a:off x="1097280" y="2633472"/>
            <a:ext cx="4924044" cy="10058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Worksheet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  <a:hlinkClick r:id="rId3"/>
              </a:rPr>
              <a:t>Download worksheet</a:t>
            </a:r>
          </a:p>
        </p:txBody>
      </p:sp>
      <p:sp>
        <p:nvSpPr>
          <p:cNvPr id="1002" name="card-rail" descr=""/>
          <p:cNvSpPr/>
          <p:nvPr/>
        </p:nvSpPr>
        <p:spPr>
          <a:xfrm>
            <a:off x="1097280" y="2633472"/>
            <a:ext cx="54864" cy="10058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03" name="card-steel" descr="card: Walkthrough data. Download Superman data"/>
          <p:cNvSpPr/>
          <p:nvPr/>
        </p:nvSpPr>
        <p:spPr>
          <a:xfrm>
            <a:off x="6167628" y="2633472"/>
            <a:ext cx="4924044" cy="10058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Walkthrough data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  <a:hlinkClick r:id="rId4"/>
              </a:rPr>
              <a:t>Download Superman data</a:t>
            </a:r>
          </a:p>
        </p:txBody>
      </p:sp>
      <p:sp>
        <p:nvSpPr>
          <p:cNvPr id="1004" name="card-rail" descr=""/>
          <p:cNvSpPr/>
          <p:nvPr/>
        </p:nvSpPr>
        <p:spPr>
          <a:xfrm>
            <a:off x="6167628" y="2633472"/>
            <a:ext cx="54864" cy="10058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05" name="card-steel" descr="card: Your-turn data. Download Hot Ones data"/>
          <p:cNvSpPr/>
          <p:nvPr/>
        </p:nvSpPr>
        <p:spPr>
          <a:xfrm>
            <a:off x="1097280" y="3785616"/>
            <a:ext cx="4924044" cy="10058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Your-turn data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  <a:hlinkClick r:id="rId5"/>
              </a:rPr>
              <a:t>Download Hot Ones data</a:t>
            </a:r>
          </a:p>
        </p:txBody>
      </p:sp>
      <p:sp>
        <p:nvSpPr>
          <p:cNvPr id="1006" name="card-rail" descr=""/>
          <p:cNvSpPr/>
          <p:nvPr/>
        </p:nvSpPr>
        <p:spPr>
          <a:xfrm>
            <a:off x="1097280" y="3785616"/>
            <a:ext cx="54864" cy="10058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07" name="card-steel" descr="card: SPSS guides. Correlation Scatterplot Chi-square"/>
          <p:cNvSpPr/>
          <p:nvPr/>
        </p:nvSpPr>
        <p:spPr>
          <a:xfrm>
            <a:off x="6167628" y="3785616"/>
            <a:ext cx="4924044" cy="16154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SPSS guides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Correlation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  <a:hlinkClick r:id="rId6"/>
              </a:rPr>
              <a:t>Scatterplot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  <a:hlinkClick r:id="rId7"/>
              </a:rPr>
              <a:t>Chi-square</a:t>
            </a:r>
          </a:p>
        </p:txBody>
      </p:sp>
      <p:sp>
        <p:nvSpPr>
          <p:cNvPr id="1008" name="card-rail" descr=""/>
          <p:cNvSpPr/>
          <p:nvPr/>
        </p:nvSpPr>
        <p:spPr>
          <a:xfrm>
            <a:off x="6167628" y="3785616"/>
            <a:ext cx="54864" cy="16154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 Keep Data and Syntax Editors open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Editor</a:t>
            </a:r>
          </a:p>
        </p:txBody>
      </p:sp>
      <p:pic>
        <p:nvPicPr>
          <p:cNvPr descr="Focused SPSS Data Editor image showing spreadsheet columns and the Data View and Variable View tabs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574800" y="3416300"/>
            <a:ext cx="4267200" cy="203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Inspect variables and cases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idx="1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Syntax Editor</a:t>
            </a:r>
          </a:p>
        </p:txBody>
      </p:sp>
      <p:pic>
        <p:nvPicPr>
          <p:cNvPr descr="Focused SPSS Syntax Editor image showing the command area and an annotation pointing to the green Run button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6337300" y="3429000"/>
            <a:ext cx="42418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Save and rerun commands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3 Read results in Output Viewer</a:t>
            </a:r>
          </a:p>
        </p:txBody>
      </p:sp>
      <p:pic>
        <p:nvPicPr>
          <p:cNvPr descr="SPSS-style correlation output for height difference and Letterboxd likes in thousands, showing r equals .935, p equals .020, and 5 complete pairs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048000" y="2628900"/>
            <a:ext cx="60833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4 Variable types choose the test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092200" y="2628900"/>
          <a:ext cx="9994900" cy="309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91100"/>
                <a:gridCol w="4991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Variables in the hypothesis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 quantitative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Pearson correlation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 categorical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Chi-square association test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5 Read the pattern before significance</a:t>
            </a:r>
          </a:p>
        </p:txBody>
      </p:sp>
      <p:pic>
        <p:nvPicPr>
          <p:cNvPr descr="Portrait cutouts of nine actors who played Clark Kent positioned by age at first appearance and height, with a fitted line showing a weak negative relationship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092200" y="2806700"/>
            <a:ext cx="49022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Correlation:</a:t>
            </a:r>
            <a:r>
              <a:rPr/>
              <a:t> direction, form, outliers</a:t>
            </a:r>
          </a:p>
          <a:p>
            <a:pPr lvl="0" indent="0" marL="0">
              <a:buNone/>
            </a:pPr>
            <a:r>
              <a:rPr b="1"/>
              <a:t>Chi-square:</a:t>
            </a:r>
            <a:r>
              <a:rPr/>
              <a:t> observed counts, expected counts, percentages</a:t>
            </a:r>
          </a:p>
          <a:p>
            <a:pPr lvl="0" indent="0" marL="0">
              <a:buNone/>
            </a:pPr>
            <a:r>
              <a:rPr/>
              <a:t>Then read </a:t>
            </a:r>
            <a:r>
              <a:rPr i="1"/>
              <a:t>p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6 Prepare RH1 in syntax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USE ALL.
FILTER OFF.
COMPUTE ldb_likes_thou = ldb_likes / 1000.
EXECUTE.
GRAPH
  /SCATTERPLOT(BIVAR)=ldb_likes_thou
    WITH height_diff.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7 Run the RH1 correlation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CORRELATIONS
  /VARIABLES=
    height_diff
    ldb_likes_thou
  /PRINT=TWOTAIL
  /STATISTICS DESCRIPTIVES
  /MISSING=LISTWISE.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8 Locate the RH1 evidence</a:t>
            </a:r>
          </a:p>
        </p:txBody>
      </p:sp>
      <p:pic>
        <p:nvPicPr>
          <p:cNvPr descr="SPSS-style correlation output for height difference and Letterboxd likes in thousands, showing r equals .935, p equals .020, and 5 complete pairs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048000" y="2628900"/>
            <a:ext cx="60833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9 Run the RH2 chi-square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CROSSTABS
  /TABLES=
    clark_grp BY tomatometer
  /STATISTICS=CHISQ
  /CELLS=COUNT EXPECTED
    ROW COLUMN.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 Describe the RH2 counts first</a:t>
            </a:r>
          </a:p>
        </p:txBody>
      </p:sp>
      <p:pic>
        <p:nvPicPr>
          <p:cNvPr descr="SPSS-style crosstabulation of Clark actor height group by Rotten versus Fresh rating, showing counts and expected counts for 8 complete cases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933700" y="2628900"/>
            <a:ext cx="63246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11 Repeat the workflow with Hot 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Compute the worksheet transformation.</a:t>
            </a:r>
          </a:p>
          <a:p>
            <a:pPr lvl="0" indent="-457200" marL="457200">
              <a:buAutoNum type="arabicPeriod"/>
            </a:pPr>
            <a:r>
              <a:rPr/>
              <a:t>Select completed challenges: </a:t>
            </a:r>
            <a:r>
              <a:rPr b="1"/>
              <a:t>result = 1</a:t>
            </a:r>
            <a:r>
              <a:rPr/>
              <a:t>.</a:t>
            </a:r>
          </a:p>
          <a:p>
            <a:pPr lvl="0" indent="-457200" marL="457200">
              <a:buAutoNum type="arabicPeriod"/>
            </a:pPr>
            <a:r>
              <a:rPr/>
              <a:t>Inspect the plot or contingency table.</a:t>
            </a:r>
          </a:p>
          <a:p>
            <a:pPr lvl="0" indent="-457200" marL="457200">
              <a:buAutoNum type="arabicPeriod"/>
            </a:pPr>
            <a:r>
              <a:rPr/>
              <a:t>Run the matching analysis.</a:t>
            </a:r>
          </a:p>
          <a:p>
            <a:pPr lvl="0" indent="-457200" marL="457200">
              <a:buAutoNum type="arabicPeriod"/>
            </a:pPr>
            <a:r>
              <a:rPr/>
              <a:t>Reset the filter before the next RH.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12 Complete RH3 through RH6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RH3:</a:t>
            </a:r>
            <a:r>
              <a:rPr/>
              <a:t> total heat in millions × views</a:t>
            </a:r>
          </a:p>
          <a:p>
            <a:pPr lvl="0"/>
            <a:r>
              <a:rPr b="1"/>
              <a:t>RH4:</a:t>
            </a:r>
            <a:r>
              <a:rPr/>
              <a:t> total heat in millions × engagement</a:t>
            </a:r>
          </a:p>
          <a:p>
            <a:pPr lvl="0"/>
            <a:r>
              <a:rPr b="1"/>
              <a:t>RH5:</a:t>
            </a:r>
            <a:r>
              <a:rPr/>
              <a:t> actor status × popularity</a:t>
            </a:r>
          </a:p>
          <a:p>
            <a:pPr lvl="0"/>
            <a:r>
              <a:rPr b="1"/>
              <a:t>RH6:</a:t>
            </a:r>
            <a:r>
              <a:rPr/>
              <a:t> age group × popularity</a:t>
            </a:r>
          </a:p>
          <a:p>
            <a:pPr lvl="0" indent="0" marL="0">
              <a:buNone/>
            </a:pPr>
            <a:r>
              <a:rPr/>
              <a:t>Save syntax for every transformation and filter.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13 Build the correlation table</a:t>
            </a:r>
          </a:p>
        </p:txBody>
      </p:sp>
      <p:pic>
        <p:nvPicPr>
          <p:cNvPr descr="APA-style table with means, standard deviations, and the correlation between height difference and Letterboxd likes in thousands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092200" y="3060700"/>
            <a:ext cx="99949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14 Build the contingency table</a:t>
            </a:r>
          </a:p>
        </p:txBody>
      </p:sp>
      <p:pic>
        <p:nvPicPr>
          <p:cNvPr descr="APA-style contingency table showing Clark height group by Rotten versus Fresh rating with counts, percentages, and chi-square results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318000" y="2628900"/>
            <a:ext cx="35433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15 Write in evidence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State the predicted relationship or cell pattern.</a:t>
            </a:r>
          </a:p>
          <a:p>
            <a:pPr lvl="0" indent="-457200" marL="457200">
              <a:buAutoNum type="arabicPeriod"/>
            </a:pPr>
            <a:r>
              <a:rPr/>
              <a:t>Describe the table or plot.</a:t>
            </a:r>
          </a:p>
          <a:p>
            <a:pPr lvl="0" indent="-457200" marL="457200">
              <a:buAutoNum type="arabicPeriod"/>
            </a:pPr>
            <a:r>
              <a:rPr/>
              <a:t>Report </a:t>
            </a:r>
            <a:r>
              <a:rPr i="1"/>
              <a:t>r</a:t>
            </a:r>
            <a:r>
              <a:rPr/>
              <a:t> or χ² with </a:t>
            </a:r>
            <a:r>
              <a:rPr i="1"/>
              <a:t>df</a:t>
            </a:r>
            <a:r>
              <a:rPr/>
              <a:t> and </a:t>
            </a:r>
            <a:r>
              <a:rPr i="1"/>
              <a:t>p</a:t>
            </a:r>
            <a:r>
              <a:rPr/>
              <a:t>.</a:t>
            </a:r>
          </a:p>
          <a:p>
            <a:pPr lvl="0" indent="-457200" marL="457200">
              <a:buAutoNum type="arabicPeriod"/>
            </a:pPr>
            <a:r>
              <a:rPr/>
              <a:t>State whether the RH is supported.</a:t>
            </a:r>
          </a:p>
          <a:p>
            <a:pPr lvl="0" indent="-457200" marL="457200">
              <a:buAutoNum type="arabicPeriod"/>
            </a:pPr>
            <a:r>
              <a:rPr/>
              <a:t>Add the all-green checker screenshot.</a:t>
            </a:r>
          </a:p>
        </p:txBody>
      </p:sp>
    </p:spTree>
  </p:cSld>
</p:sld>
</file>

<file path=ppt/theme/theme1.xml><?xml version="1.0" encoding="utf-8"?>
<a:theme xmlns:a="http://schemas.openxmlformats.org/drawingml/2006/main" name="Parcel">
  <a:themeElements>
    <a:clrScheme name="Custom 3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B65B00"/>
      </a:accent1>
      <a:accent2>
        <a:srgbClr val="5E5E5E"/>
      </a:accent2>
      <a:accent3>
        <a:srgbClr val="005392"/>
      </a:accent3>
      <a:accent4>
        <a:srgbClr val="FEFB00"/>
      </a:accent4>
      <a:accent5>
        <a:srgbClr val="87795D"/>
      </a:accent5>
      <a:accent6>
        <a:srgbClr val="A0988C"/>
      </a:accent6>
      <a:hlink>
        <a:srgbClr val="005392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4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Gill Sans MT</vt:lpstr>
      <vt:lpstr>Parcel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Correlation and Chi-Square</dc:title>
  <dc:creator>PSYC 350 Laboratory</dc:creator>
  <cp:keywords/>
  <dcterms:created xsi:type="dcterms:W3CDTF">2026-09-02T01:11:36Z</dcterms:created>
  <dcterms:modified xsi:type="dcterms:W3CDTF">2026-09-02T01:11:36Z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ffiliations">
    <vt:lpwstr/>
  </property>
  <property fmtid="{D5CDD505-2E9C-101B-9397-08002B2CF9AE}" pid="4" name="authors">
    <vt:lpwstr/>
  </property>
  <property fmtid="{D5CDD505-2E9C-101B-9397-08002B2CF9AE}" pid="5" name="back-to-top-navigation">
    <vt:lpwstr>True</vt:lpwstr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execute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ack-link">
    <vt:lpwstr>False</vt:lpwstr>
  </property>
  <property fmtid="{D5CDD505-2E9C-101B-9397-08002B2CF9AE}" pid="13" name="include-before">
    <vt:lpwstr/>
  </property>
  <property fmtid="{D5CDD505-2E9C-101B-9397-08002B2CF9AE}" pid="14" name="institute">
    <vt:lpwstr>University of Nebraska–Lincoln</vt:lpwstr>
  </property>
  <property fmtid="{D5CDD505-2E9C-101B-9397-08002B2CF9AE}" pid="15" name="institutes">
    <vt:lpwstr/>
  </property>
  <property fmtid="{D5CDD505-2E9C-101B-9397-08002B2CF9AE}" pid="16" name="labels">
    <vt:lpwstr/>
  </property>
  <property fmtid="{D5CDD505-2E9C-101B-9397-08002B2CF9AE}" pid="17" name="nebraska-pptx">
    <vt:lpwstr/>
  </property>
  <property fmtid="{D5CDD505-2E9C-101B-9397-08002B2CF9AE}" pid="18" name="revealjs-plugins">
    <vt:lpwstr/>
  </property>
  <property fmtid="{D5CDD505-2E9C-101B-9397-08002B2CF9AE}" pid="19" name="subtitle">
    <vt:lpwstr>Lab 07 · Two-Variable Analyses</vt:lpwstr>
  </property>
  <property fmtid="{D5CDD505-2E9C-101B-9397-08002B2CF9AE}" pid="20" name="toc-title">
    <vt:lpwstr>Table of contents</vt:lpwstr>
  </property>
</Properties>
</file>