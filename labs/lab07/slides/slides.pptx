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p:sldMasterIdLst>
    <p:sldMasterId id="2147483696"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92000" cy="6858000"/>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sz="17524"/>
    <p:restoredTop sz="94694"/>
  </p:normalViewPr>
  <p:slideViewPr>
    <p:cSldViewPr snapToGrid="0">
      <p:cViewPr varScale="1">
        <p:scale>
          <a:sx d="100" n="119"/>
          <a:sy d="100" n="119"/>
        </p:scale>
        <p:origin x="232" y="232"/>
      </p:cViewPr>
      <p:guideLst/>
    </p:cSldViewPr>
  </p:slideViewPr>
  <p:notesTextViewPr>
    <p:cViewPr>
      <p:scale>
        <a:sx d="1" n="1"/>
        <a:sy d="1" n="1"/>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notesMaster" Target="notesMasters/notesMaster1.xml" /><Relationship Id="rId1" Type="http://schemas.openxmlformats.org/officeDocument/2006/relationships/slideMaster" Target="slideMasters/slideMaster1.xml" /><Relationship Id="rId17" Type="http://schemas.openxmlformats.org/officeDocument/2006/relationships/presProps" Target="presProps.xml" /><Relationship Id="rId18" Type="http://schemas.openxmlformats.org/officeDocument/2006/relationships/viewProps" Target="viewProps.xml" /><Relationship Id="rId19" Type="http://schemas.openxmlformats.org/officeDocument/2006/relationships/theme" Target="theme/theme1.xml" /><Relationship Id="rId20" Type="http://schemas.openxmlformats.org/officeDocument/2006/relationships/tableStyles" Target="tableStyle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
  <Relationship Id="rId2" Type="http://schemas.openxmlformats.org/officeDocument/2006/relationships/slide" Target="../slides/slide2.xml"/>
  <Relationship Id="rId1" Type="http://schemas.openxmlformats.org/officeDocument/2006/relationships/notesMaster" Target="../notesMasters/notesMaster1.xml"/>
  <Relationship Id="rId3" Type="http://schemas.openxmlformats.org/officeDocument/2006/relationships/hyperlink" Target="https://unlpsychstats.github.io/UNL-PSYC350-LAB/labs/lab07/slides/downloads/superman_data.sav" TargetMode="Externa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hlinkClick r:id="rId3"/>
              </a:rPr>
              <a:t>Use the Superman dataset for both walkthroughs. Keep the simple SPSS guides available for the analysis and reporting steps.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a brief reminder from Lab 06. Have students inspect Variable View before computing new variables. A missing-value code must not enter a calculation as an observed value.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 students to identify each variable’s type and describe the predicted relationship. The numbers used to code a category do not make it quantitative.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Have students state the prediction before looking at their results. The plot must use height_diff and ldb_likes_thou, the variables named in RH1. Check for outliers as well as form and direction.</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RH1 uses no subset. Compute likes in thousands and put height_diff on the Y axis, as the worksheet directs. The plot includes cases with values for both variables. Students answer the scatterplot questions before running the correlation.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Use the worksheet’s pairwise setting. Each variable’s descriptive statistics can use a different number of cases; the correlation uses cases with both values. Check those sample sizes separately.</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Have students identify the relevant row and column in their own output. Calculate the correlation’s degrees of freedom as the number of complete pairs minus two. Describe the association without making a causal claim.</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Use the worksheet’s blank table and the correlation guide for formatting. Ask whether the result supports the predicted direction. Students should finish the RH1 reporting steps before starting RH2.</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Students should compare the two rating categories within each height group. Have them explain their operators in words before they inspect observed counts. Use the category labels in the supplied data and worksheet grid.</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Keep the Superman dataset open. Find the cross-tabulation first, then the Pearson Chi-Square row in the test output. Students need the observed pattern as well as the test statistic, degrees of freedom, and p value.</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Separate the predicted comparisons from the observed counts. Review any expected-count warning in SPSS before interpreting p. This worksheet practices the Pearson chi-square analysis; the small counts limit how confidently this example can be interpreted.</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Check the row and column labels before transferring counts. The written result should explain how the observed pattern relates to both parts of RH2. A p value alone does not answer that question.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chemeClr val="accent2"/>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bwMode="blackWhite">
          <a:xfrm>
            <a:off x="1097280" y="2386744"/>
            <a:ext cx="9997440" cy="1645920"/>
          </a:xfrm>
          <a:solidFill>
            <a:srgbClr val="FFFFFF"/>
          </a:solidFill>
          <a:ln w="38100">
            <a:solidFill>
              <a:srgbClr val="404040"/>
            </a:solidFill>
          </a:ln>
        </p:spPr>
        <p:txBody>
          <a:bodyPr lIns="274320" rIns="274320" anchor="ctr" anchorCtr="1">
            <a:normAutofit/>
          </a:bodyPr>
          <a:lstStyle>
            <a:lvl1pPr algn="ctr">
              <a:defRPr sz="3800">
                <a:solidFill>
                  <a:srgbClr val="262626"/>
                </a:solidFill>
              </a:defRPr>
            </a:lvl1pPr>
          </a:lstStyle>
          <a:p>
            <a:r>
              <a:rPr lang="en-US"/>
              <a:t>Click to edit Master title style</a:t>
            </a:r>
            <a:endParaRPr lang="en-US" dirty="0"/>
          </a:p>
        </p:txBody>
      </p:sp>
      <p:sp>
        <p:nvSpPr>
          <p:cNvPr id="3" name="Subtitle 2"/>
          <p:cNvSpPr>
            <a:spLocks noGrp="1"/>
          </p:cNvSpPr>
          <p:nvPr>
            <p:ph type="subTitle" idx="1"/>
          </p:nvPr>
        </p:nvSpPr>
        <p:spPr>
          <a:xfrm>
            <a:off x="1097280" y="4352544"/>
            <a:ext cx="9997440" cy="1239894"/>
          </a:xfrm>
          <a:noFill/>
        </p:spPr>
        <p:txBody>
          <a:bodyPr>
            <a:normAutofit/>
          </a:bodyPr>
          <a:lstStyle>
            <a:lvl1pPr marL="0" indent="0" algn="ctr">
              <a:buNone/>
              <a:defRPr sz="2000">
                <a:solidFill>
                  <a:srgbClr val="FFFFFF"/>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7" name="Date Placeholder 6"/>
          <p:cNvSpPr>
            <a:spLocks noGrp="1"/>
          </p:cNvSpPr>
          <p:nvPr>
            <p:ph type="dt" sz="half" idx="10"/>
          </p:nvPr>
        </p:nvSpPr>
        <p:spPr/>
        <p:txBody>
          <a:bodyPr/>
          <a:lstStyle/>
          <a:p>
            <a:fld id="{1160EA64-D806-43AC-9DF2-F8C432F32B4C}" type="datetimeFigureOut">
              <a:rPr lang="en-US" dirty="0"/>
              <a:t>1/22/26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dirty="0"/>
              <a:pPr/>
              <a:t>‹#›</a:t>
            </a:fld>
            <a:endParaRPr lang="en-US" dirty="0"/>
          </a:p>
        </p:txBody>
      </p:sp>
    </p:spTree>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r>
              <a:rPr lang="en-US"/>
              <a:t>Click to edit Master title style</a:t>
            </a:r>
            <a:endParaRPr lang="en-US" dirty="0"/>
          </a:p>
        </p:txBody>
      </p:sp>
      <p:sp>
        <p:nvSpPr>
          <p:cNvPr id="3" name="Content Placeholder 2"/>
          <p:cNvSpPr>
            <a:spLocks noGrp="1"/>
          </p:cNvSpPr>
          <p:nvPr>
            <p:ph idx="1"/>
          </p:nvPr>
        </p:nvSpPr>
        <p:spPr>
          <a:xfrm>
            <a:off x="1097280" y="2638044"/>
            <a:ext cx="9997440" cy="310198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F070A7B3-6521-4DCA-87E5-044747A908C1}" type="datetimeFigureOut">
              <a:rPr lang="en-US" dirty="0"/>
              <a:t>1/22/26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dirty="0"/>
              <a:pPr/>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bwMode="blackWhite">
          <a:xfrm>
            <a:off x="1097280" y="2386744"/>
            <a:ext cx="9997440" cy="1645920"/>
          </a:xfrm>
          <a:solidFill>
            <a:srgbClr val="FFFFFF"/>
          </a:solidFill>
          <a:ln w="38100">
            <a:solidFill>
              <a:srgbClr val="404040"/>
            </a:solidFill>
          </a:ln>
        </p:spPr>
        <p:txBody>
          <a:bodyPr lIns="274320" rIns="274320" anchor="ctr" anchorCtr="1">
            <a:normAutofit/>
          </a:bodyPr>
          <a:lstStyle>
            <a:lvl1pPr>
              <a:defRPr sz="3800">
                <a:solidFill>
                  <a:srgbClr val="262626"/>
                </a:solidFill>
              </a:defRPr>
            </a:lvl1pPr>
          </a:lstStyle>
          <a:p>
            <a:r>
              <a:rPr lang="en-US"/>
              <a:t>Click to edit Master title style</a:t>
            </a:r>
            <a:endParaRPr lang="en-US" dirty="0"/>
          </a:p>
        </p:txBody>
      </p:sp>
      <p:sp>
        <p:nvSpPr>
          <p:cNvPr id="3" name="Text Placeholder 2"/>
          <p:cNvSpPr>
            <a:spLocks noGrp="1"/>
          </p:cNvSpPr>
          <p:nvPr>
            <p:ph type="body" idx="1"/>
          </p:nvPr>
        </p:nvSpPr>
        <p:spPr>
          <a:xfrm>
            <a:off x="1097280" y="4352465"/>
            <a:ext cx="9997440" cy="1265082"/>
          </a:xfrm>
        </p:spPr>
        <p:txBody>
          <a:bodyPr anchor="t" anchorCtr="1">
            <a:normAutofit/>
          </a:bodyPr>
          <a:lstStyle>
            <a:lvl1pPr marL="0" indent="0">
              <a:buNone/>
              <a:defRPr sz="20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7" name="Date Placeholder 6"/>
          <p:cNvSpPr>
            <a:spLocks noGrp="1"/>
          </p:cNvSpPr>
          <p:nvPr>
            <p:ph type="dt" sz="half" idx="10"/>
          </p:nvPr>
        </p:nvSpPr>
        <p:spPr/>
        <p:txBody>
          <a:bodyPr/>
          <a:lstStyle/>
          <a:p>
            <a:fld id="{1160EA64-D806-43AC-9DF2-F8C432F32B4C}" type="datetimeFigureOut">
              <a:rPr lang="en-US" dirty="0"/>
              <a:t>1/22/26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dirty="0"/>
              <a:pPr/>
              <a:t>‹#›</a:t>
            </a:fld>
            <a:endParaRPr lang="en-US" dirty="0"/>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97280" y="2638044"/>
            <a:ext cx="4907280" cy="31019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87440" y="2638044"/>
            <a:ext cx="4907280" cy="31019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Date Placeholder 7"/>
          <p:cNvSpPr>
            <a:spLocks noGrp="1"/>
          </p:cNvSpPr>
          <p:nvPr>
            <p:ph type="dt" sz="half" idx="10"/>
          </p:nvPr>
        </p:nvSpPr>
        <p:spPr/>
        <p:txBody>
          <a:bodyPr/>
          <a:lstStyle/>
          <a:p>
            <a:fld id="{AB134690-1557-4C89-A502-4959FE7FAD70}" type="datetimeFigureOut">
              <a:rPr lang="en-US" dirty="0"/>
              <a:t>1/22/26</a:t>
            </a:fld>
            <a:endParaRPr lang="en-US" dirty="0"/>
          </a:p>
        </p:txBody>
      </p:sp>
      <p:sp>
        <p:nvSpPr>
          <p:cNvPr id="9" name="Footer Placeholder 8"/>
          <p:cNvSpPr>
            <a:spLocks noGrp="1"/>
          </p:cNvSpPr>
          <p:nvPr>
            <p:ph type="ftr" sz="quarter" idx="11"/>
          </p:nvPr>
        </p:nvSpPr>
        <p:spPr/>
        <p:txBody>
          <a:bodyPr/>
          <a:lstStyle/>
          <a:p>
            <a:endParaRPr lang="en-US" dirty="0"/>
          </a:p>
        </p:txBody>
      </p:sp>
      <p:sp>
        <p:nvSpPr>
          <p:cNvPr id="10" name="Slide Number Placeholder 9"/>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097280" y="2313433"/>
            <a:ext cx="4907280" cy="548640"/>
          </a:xfrm>
        </p:spPr>
        <p:txBody>
          <a:bodyPr anchor="b" anchorCtr="1">
            <a:normAutofit/>
          </a:bodyPr>
          <a:lstStyle>
            <a:lvl1pPr marL="0" indent="0" algn="ctr">
              <a:buNone/>
              <a:defRPr sz="1900" b="0" cap="all" spc="100" baseline="0">
                <a:solidFill>
                  <a:schemeClr val="accent2">
                    <a:lumMod val="75000"/>
                  </a:schemeClr>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97280" y="2926080"/>
            <a:ext cx="4907280" cy="317754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Content Placeholder 5"/>
          <p:cNvSpPr>
            <a:spLocks noGrp="1"/>
          </p:cNvSpPr>
          <p:nvPr>
            <p:ph sz="quarter" idx="4"/>
          </p:nvPr>
        </p:nvSpPr>
        <p:spPr>
          <a:xfrm>
            <a:off x="6187440" y="2926080"/>
            <a:ext cx="4907280" cy="3177540"/>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4"/>
          <p:cNvSpPr>
            <a:spLocks noGrp="1"/>
          </p:cNvSpPr>
          <p:nvPr>
            <p:ph type="body" sz="quarter" idx="13"/>
          </p:nvPr>
        </p:nvSpPr>
        <p:spPr>
          <a:xfrm>
            <a:off x="6187440" y="2313433"/>
            <a:ext cx="4907280" cy="548640"/>
          </a:xfrm>
        </p:spPr>
        <p:txBody>
          <a:bodyPr anchor="b" anchorCtr="1">
            <a:normAutofit/>
          </a:bodyPr>
          <a:lstStyle>
            <a:lvl1pPr marL="0" indent="0" algn="ctr">
              <a:buNone/>
              <a:defRPr sz="1900" b="0" cap="all" spc="100" baseline="0">
                <a:solidFill>
                  <a:schemeClr val="accent2">
                    <a:lumMod val="75000"/>
                  </a:schemeClr>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7" name="Date Placeholder 6"/>
          <p:cNvSpPr>
            <a:spLocks noGrp="1"/>
          </p:cNvSpPr>
          <p:nvPr>
            <p:ph type="dt" sz="half" idx="10"/>
          </p:nvPr>
        </p:nvSpPr>
        <p:spPr/>
        <p:txBody>
          <a:bodyPr/>
          <a:lstStyle/>
          <a:p>
            <a:fld id="{4F7D4976-E339-4826-83B7-FBD03F55ECF8}" type="datetimeFigureOut">
              <a:rPr lang="en-US" dirty="0"/>
              <a:t>1/22/26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dirty="0"/>
              <a:t>‹#›</a:t>
            </a:fld>
            <a:endParaRPr lang="en-US" dirty="0"/>
          </a:p>
        </p:txBody>
      </p:sp>
      <p:sp>
        <p:nvSpPr>
          <p:cNvPr id="10" name="Title 9"/>
          <p:cNvSpPr>
            <a:spLocks noGrp="1"/>
          </p:cNvSpPr>
          <p:nvPr>
            <p:ph type="title"/>
          </p:nvPr>
        </p:nvSpPr>
        <p:spPr>
          <a:xfrm>
            <a:off x="1097280" y="964692"/>
            <a:ext cx="9997440" cy="1188720"/>
          </a:xfrm>
        </p:spPr>
        <p:txBody>
          <a:bodyPr/>
          <a:lstStyle/>
          <a:p>
            <a:r>
              <a:rPr lang="en-US"/>
              <a:t>Click to edit Master title style</a:t>
            </a:r>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E1037C31-9E7A-4F99-8774-A0E530DE1A42}" type="datetimeFigureOut">
              <a:rPr lang="en-US" dirty="0"/>
              <a:t>1/22/26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278504F-A551-4DE0-9316-4DCD1D8CC752}" type="datetimeFigureOut">
              <a:rPr lang="en-US" dirty="0"/>
              <a:t>1/22/26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6" name="Rectangle 25"/>
          <p:cNvSpPr/>
          <p:nvPr/>
        </p:nvSpPr>
        <p:spPr>
          <a:xfrm>
            <a:off x="0" y="0"/>
            <a:ext cx="6096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bwMode="blackWhite">
          <a:xfrm>
            <a:off x="804672" y="2243828"/>
            <a:ext cx="4486656" cy="1141497"/>
          </a:xfrm>
          <a:solidFill>
            <a:srgbClr val="FFFFFF"/>
          </a:solidFill>
          <a:ln>
            <a:solidFill>
              <a:srgbClr val="404040"/>
            </a:solidFill>
          </a:ln>
        </p:spPr>
        <p:txBody>
          <a:bodyPr anchor="ctr" anchorCtr="1">
            <a:normAutofit/>
          </a:bodyPr>
          <a:lstStyle>
            <a:lvl1pPr>
              <a:defRPr sz="2200">
                <a:solidFill>
                  <a:srgbClr val="262626"/>
                </a:solidFill>
              </a:defRPr>
            </a:lvl1pPr>
          </a:lstStyle>
          <a:p>
            <a:r>
              <a:rPr lang="en-US"/>
              <a:t>Click to edit Master title style</a:t>
            </a:r>
            <a:endParaRPr lang="en-US" dirty="0"/>
          </a:p>
        </p:txBody>
      </p:sp>
      <p:sp>
        <p:nvSpPr>
          <p:cNvPr id="3" name="Content Placeholder 2"/>
          <p:cNvSpPr>
            <a:spLocks noGrp="1"/>
          </p:cNvSpPr>
          <p:nvPr>
            <p:ph idx="1"/>
          </p:nvPr>
        </p:nvSpPr>
        <p:spPr>
          <a:xfrm>
            <a:off x="6736080" y="804672"/>
            <a:ext cx="4815840" cy="5248656"/>
          </a:xfrm>
        </p:spPr>
        <p:txBody>
          <a:bodyPr>
            <a:normAutofit/>
          </a:bodyPr>
          <a:lstStyle>
            <a:lvl1pPr>
              <a:defRPr sz="1900">
                <a:solidFill>
                  <a:schemeClr val="tx1"/>
                </a:solidFill>
              </a:defRPr>
            </a:lvl1pPr>
            <a:lvl2pPr>
              <a:defRPr sz="1600">
                <a:solidFill>
                  <a:schemeClr val="tx1"/>
                </a:solidFill>
              </a:defRPr>
            </a:lvl2pPr>
            <a:lvl3pPr>
              <a:defRPr sz="1600">
                <a:solidFill>
                  <a:schemeClr val="tx1"/>
                </a:solidFill>
              </a:defRPr>
            </a:lvl3pPr>
            <a:lvl4pPr>
              <a:defRPr sz="1600">
                <a:solidFill>
                  <a:schemeClr val="tx1"/>
                </a:solidFill>
              </a:defRPr>
            </a:lvl4pPr>
            <a:lvl5pPr>
              <a:defRPr sz="1600">
                <a:solidFill>
                  <a:schemeClr val="tx1"/>
                </a:solidFill>
              </a:defRPr>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15568" y="3549918"/>
            <a:ext cx="3794760" cy="2194036"/>
          </a:xfrm>
        </p:spPr>
        <p:txBody>
          <a:bodyPr anchor="t" anchorCtr="1">
            <a:normAutofit/>
          </a:bodyPr>
          <a:lstStyle>
            <a:lvl1pPr marL="0" indent="0" algn="ctr">
              <a:buNone/>
              <a:defRPr sz="1500">
                <a:solidFill>
                  <a:srgbClr val="FFFFFF"/>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Date Placeholder 8"/>
          <p:cNvSpPr>
            <a:spLocks noGrp="1"/>
          </p:cNvSpPr>
          <p:nvPr>
            <p:ph type="dt" sz="half" idx="10"/>
          </p:nvPr>
        </p:nvSpPr>
        <p:spPr/>
        <p:txBody>
          <a:bodyPr/>
          <a:lstStyle/>
          <a:p>
            <a:fld id="{D1BE4249-C0D0-4B06-8692-E8BB871AF643}" type="datetimeFigureOut">
              <a:rPr lang="en-US" dirty="0"/>
              <a:t>1/22/26</a:t>
            </a:fld>
            <a:endParaRPr lang="en-US" dirty="0"/>
          </a:p>
        </p:txBody>
      </p:sp>
      <p:sp>
        <p:nvSpPr>
          <p:cNvPr id="10" name="Footer Placeholder 9"/>
          <p:cNvSpPr>
            <a:spLocks noGrp="1"/>
          </p:cNvSpPr>
          <p:nvPr>
            <p:ph type="ftr" sz="quarter" idx="11"/>
          </p:nvPr>
        </p:nvSpPr>
        <p:spPr>
          <a:xfrm>
            <a:off x="804672" y="6236208"/>
            <a:ext cx="5124797" cy="320040"/>
          </a:xfrm>
        </p:spPr>
        <p:txBody>
          <a:bodyPr/>
          <a:lstStyle>
            <a:lvl1pPr>
              <a:defRPr>
                <a:solidFill>
                  <a:srgbClr val="FFFFFF">
                    <a:alpha val="70000"/>
                  </a:srgbClr>
                </a:solidFill>
              </a:defRPr>
            </a:lvl1pPr>
          </a:lstStyle>
          <a:p>
            <a:endParaRPr lang="en-US" dirty="0"/>
          </a:p>
        </p:txBody>
      </p:sp>
      <p:sp>
        <p:nvSpPr>
          <p:cNvPr id="11" name="Slide Number Placeholder 10"/>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8" name="Rectangle 17"/>
          <p:cNvSpPr/>
          <p:nvPr/>
        </p:nvSpPr>
        <p:spPr>
          <a:xfrm>
            <a:off x="0" y="0"/>
            <a:ext cx="6095999"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bwMode="blackWhite">
          <a:xfrm>
            <a:off x="808523" y="2243828"/>
            <a:ext cx="4494998" cy="1134640"/>
          </a:xfrm>
          <a:solidFill>
            <a:srgbClr val="FFFFFF"/>
          </a:solidFill>
          <a:ln>
            <a:solidFill>
              <a:srgbClr val="404040"/>
            </a:solidFill>
          </a:ln>
        </p:spPr>
        <p:txBody>
          <a:bodyPr anchor="ctr" anchorCtr="1">
            <a:noAutofit/>
          </a:bodyPr>
          <a:lstStyle>
            <a:lvl1pPr>
              <a:defRPr sz="2200">
                <a:solidFill>
                  <a:srgbClr val="262626"/>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6095999" y="0"/>
            <a:ext cx="6102097" cy="6858000"/>
          </a:xfrm>
          <a:solidFill>
            <a:schemeClr val="bg1">
              <a:lumMod val="75000"/>
            </a:schemeClr>
          </a:solidFill>
        </p:spPr>
        <p:txBody>
          <a:bodyPr anchor="t"/>
          <a:lstStyle>
            <a:lvl1pPr marL="0" indent="0">
              <a:buNone/>
              <a:defRPr sz="3200">
                <a:solidFill>
                  <a:schemeClr val="bg1">
                    <a:lumMod val="85000"/>
                    <a:lumOff val="15000"/>
                  </a:schemeClr>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15568" y="3549918"/>
            <a:ext cx="3794760" cy="2194037"/>
          </a:xfrm>
        </p:spPr>
        <p:txBody>
          <a:bodyPr anchor="t" anchorCtr="1">
            <a:normAutofit/>
          </a:bodyPr>
          <a:lstStyle>
            <a:lvl1pPr marL="0" indent="0" algn="ctr">
              <a:buNone/>
              <a:defRPr sz="1500">
                <a:solidFill>
                  <a:srgbClr val="FFFFFF"/>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8" name="Date Placeholder 7"/>
          <p:cNvSpPr>
            <a:spLocks noGrp="1"/>
          </p:cNvSpPr>
          <p:nvPr>
            <p:ph type="dt" sz="half" idx="10"/>
          </p:nvPr>
        </p:nvSpPr>
        <p:spPr/>
        <p:txBody>
          <a:bodyPr/>
          <a:lstStyle>
            <a:lvl1pPr>
              <a:defRPr>
                <a:solidFill>
                  <a:srgbClr val="FFFFFF"/>
                </a:solidFill>
                <a:effectLst>
                  <a:outerShdw blurRad="50800" dist="38100" dir="2700000" algn="tl" rotWithShape="0">
                    <a:prstClr val="black">
                      <a:alpha val="43000"/>
                    </a:prstClr>
                  </a:outerShdw>
                </a:effectLst>
              </a:defRPr>
            </a:lvl1pPr>
          </a:lstStyle>
          <a:p>
            <a:fld id="{042B0DB6-F5C7-45FB-8CF3-31B45F9C2DAC}" type="datetimeFigureOut">
              <a:rPr lang="en-US" dirty="0"/>
              <a:t>1/22/26</a:t>
            </a:fld>
            <a:endParaRPr lang="en-US" dirty="0"/>
          </a:p>
        </p:txBody>
      </p:sp>
      <p:sp>
        <p:nvSpPr>
          <p:cNvPr id="9" name="Footer Placeholder 8"/>
          <p:cNvSpPr>
            <a:spLocks noGrp="1"/>
          </p:cNvSpPr>
          <p:nvPr>
            <p:ph type="ftr" sz="quarter" idx="11"/>
          </p:nvPr>
        </p:nvSpPr>
        <p:spPr>
          <a:xfrm>
            <a:off x="804672" y="6236208"/>
            <a:ext cx="5124797" cy="320040"/>
          </a:xfrm>
        </p:spPr>
        <p:txBody>
          <a:bodyPr/>
          <a:lstStyle>
            <a:lvl1pPr>
              <a:defRPr>
                <a:solidFill>
                  <a:srgbClr val="FFFFFF">
                    <a:alpha val="70000"/>
                  </a:srgbClr>
                </a:solidFill>
              </a:defRPr>
            </a:lvl1pPr>
          </a:lstStyle>
          <a:p>
            <a:endParaRPr lang="en-US" dirty="0"/>
          </a:p>
        </p:txBody>
      </p:sp>
      <p:sp>
        <p:nvSpPr>
          <p:cNvPr id="10" name="Slide Number Placeholder 9"/>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9F9C37B-1D36-470B-8223-D6C91242EC14}" type="datetimeFigureOut">
              <a:rPr lang="en-US" dirty="0"/>
              <a:t>1/22/26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53112" y="937260"/>
            <a:ext cx="1298608" cy="498348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2231136" y="937260"/>
            <a:ext cx="6198489" cy="498348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7C6F52A-A82B-47A2-A83A-8C4C91F2D59F}" type="datetimeFigureOut">
              <a:rPr lang="en-US" dirty="0"/>
              <a:t>1/22/26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Masters/_rels/slideMaster1.xml.rels><?xml version="1.0" encoding="UTF-8"?><Relationships xmlns="http://schemas.openxmlformats.org/package/2006/relationships"><Relationship Id="rId1" Target="../slideLayouts/slideLayout1.xml" Type="http://schemas.openxmlformats.org/officeDocument/2006/relationships/slideLayout" /><Relationship Id="rId2" Target="../slideLayouts/slideLayout2.xml" Type="http://schemas.openxmlformats.org/officeDocument/2006/relationships/slideLayout" /><Relationship Id="rId3" Target="../slideLayouts/slideLayout3.xml" Type="http://schemas.openxmlformats.org/officeDocument/2006/relationships/slideLayout" /><Relationship Id="rId4" Target="../slideLayouts/slideLayout4.xml" Type="http://schemas.openxmlformats.org/officeDocument/2006/relationships/slideLayout" /><Relationship Id="rId5" Target="../slideLayouts/slideLayout5.xml" Type="http://schemas.openxmlformats.org/officeDocument/2006/relationships/slideLayout" /><Relationship Id="rId6" Target="../slideLayouts/slideLayout6.xml" Type="http://schemas.openxmlformats.org/officeDocument/2006/relationships/slideLayout" /><Relationship Id="rId7" Target="../slideLayouts/slideLayout7.xml" Type="http://schemas.openxmlformats.org/officeDocument/2006/relationships/slideLayout" /><Relationship Id="rId8" Target="../slideLayouts/slideLayout8.xml" Type="http://schemas.openxmlformats.org/officeDocument/2006/relationships/slideLayout" /><Relationship Id="rId9" Target="../slideLayouts/slideLayout9.xml" Type="http://schemas.openxmlformats.org/officeDocument/2006/relationships/slideLayout" /><Relationship Id="rId10" Target="../slideLayouts/slideLayout10.xml" Type="http://schemas.openxmlformats.org/officeDocument/2006/relationships/slideLayout" /><Relationship Id="rId11" Target="../slideLayouts/slideLayout11.xml" Type="http://schemas.openxmlformats.org/officeDocument/2006/relationships/slideLayout" /><Relationship Id="rId12" Target="../theme/theme1.xml" Type="http://schemas.openxmlformats.org/officeDocument/2006/relationships/theme"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2231136" y="964692"/>
            <a:ext cx="7729728" cy="1188720"/>
          </a:xfrm>
          <a:prstGeom prst="rect">
            <a:avLst/>
          </a:prstGeom>
          <a:solidFill>
            <a:srgbClr val="FFFFFF"/>
          </a:solidFill>
          <a:ln cap="sq" w="31750">
            <a:solidFill>
              <a:srgbClr val="404040"/>
            </a:solidFill>
            <a:miter lim="800000"/>
          </a:ln>
        </p:spPr>
        <p:txBody>
          <a:bodyPr anchor="ctr" bIns="182880" lIns="182880" rIns="182880" rtlCol="0" tIns="182880" vert="horz">
            <a:normAutofit/>
          </a:bodyPr>
          <a:lstStyle/>
          <a:p>
            <a:r>
              <a:rPr lang="en-US"/>
              <a:t>Click to edit Master title style</a:t>
            </a:r>
            <a:endParaRPr dirty="0" lang="en-US"/>
          </a:p>
        </p:txBody>
      </p:sp>
      <p:sp>
        <p:nvSpPr>
          <p:cNvPr id="3" name="Text Placeholder 2"/>
          <p:cNvSpPr>
            <a:spLocks noGrp="1"/>
          </p:cNvSpPr>
          <p:nvPr>
            <p:ph idx="1" type="body"/>
          </p:nvPr>
        </p:nvSpPr>
        <p:spPr>
          <a:xfrm>
            <a:off x="2231136" y="2638044"/>
            <a:ext cx="7729728" cy="3101983"/>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dirty="0" lang="en-US"/>
          </a:p>
        </p:txBody>
      </p:sp>
      <p:sp>
        <p:nvSpPr>
          <p:cNvPr id="4" name="Date Placeholder 3"/>
          <p:cNvSpPr>
            <a:spLocks noGrp="1"/>
          </p:cNvSpPr>
          <p:nvPr>
            <p:ph idx="2" sz="half" type="dt"/>
          </p:nvPr>
        </p:nvSpPr>
        <p:spPr>
          <a:xfrm>
            <a:off x="7821429" y="6238816"/>
            <a:ext cx="2753746" cy="323968"/>
          </a:xfrm>
          <a:prstGeom prst="rect">
            <a:avLst/>
          </a:prstGeom>
        </p:spPr>
        <p:txBody>
          <a:bodyPr anchor="ctr" bIns="45720" lIns="91440" rIns="91440" rtlCol="0" tIns="45720" vert="horz"/>
          <a:lstStyle>
            <a:lvl1pPr algn="r">
              <a:defRPr sz="1050">
                <a:solidFill>
                  <a:schemeClr val="tx1">
                    <a:alpha val="70000"/>
                  </a:schemeClr>
                </a:solidFill>
              </a:defRPr>
            </a:lvl1pPr>
          </a:lstStyle>
          <a:p>
            <a:fld id="{1160EA64-D806-43AC-9DF2-F8C432F32B4C}" type="datetimeFigureOut">
              <a:rPr dirty="0" lang="en-US"/>
              <a:t>1/22/26</a:t>
            </a:fld>
            <a:endParaRPr dirty="0" lang="en-US"/>
          </a:p>
        </p:txBody>
      </p:sp>
      <p:sp>
        <p:nvSpPr>
          <p:cNvPr id="5" name="Footer Placeholder 4"/>
          <p:cNvSpPr>
            <a:spLocks noGrp="1"/>
          </p:cNvSpPr>
          <p:nvPr>
            <p:ph idx="3" sz="quarter" type="ftr"/>
          </p:nvPr>
        </p:nvSpPr>
        <p:spPr>
          <a:xfrm>
            <a:off x="1600200" y="6236208"/>
            <a:ext cx="5901189" cy="320040"/>
          </a:xfrm>
          <a:prstGeom prst="rect">
            <a:avLst/>
          </a:prstGeom>
        </p:spPr>
        <p:txBody>
          <a:bodyPr anchor="ctr" bIns="45720" lIns="91440" rIns="91440" rtlCol="0" tIns="45720" vert="horz"/>
          <a:lstStyle>
            <a:lvl1pPr algn="l">
              <a:defRPr sz="1050">
                <a:solidFill>
                  <a:schemeClr val="tx1">
                    <a:alpha val="70000"/>
                  </a:schemeClr>
                </a:solidFill>
              </a:defRPr>
            </a:lvl1pPr>
          </a:lstStyle>
          <a:p>
            <a:endParaRPr dirty="0" lang="en-US"/>
          </a:p>
        </p:txBody>
      </p:sp>
      <p:sp>
        <p:nvSpPr>
          <p:cNvPr id="6" name="Slide Number Placeholder 5"/>
          <p:cNvSpPr>
            <a:spLocks noGrp="1"/>
          </p:cNvSpPr>
          <p:nvPr>
            <p:ph idx="4" sz="quarter" type="sldNum"/>
          </p:nvPr>
        </p:nvSpPr>
        <p:spPr>
          <a:xfrm>
            <a:off x="10758922" y="6217920"/>
            <a:ext cx="365760" cy="365760"/>
          </a:xfrm>
          <a:prstGeom prst="ellipse">
            <a:avLst/>
          </a:prstGeom>
          <a:solidFill>
            <a:srgbClr val="1D1D1D">
              <a:alpha val="70000"/>
            </a:srgbClr>
          </a:solidFill>
        </p:spPr>
        <p:txBody>
          <a:bodyPr anchor="ctr" bIns="45720" lIns="18288" rIns="18288" rtlCol="0" tIns="45720" vert="horz">
            <a:noAutofit/>
          </a:bodyPr>
          <a:lstStyle>
            <a:lvl1pPr algn="ctr">
              <a:defRPr baseline="0" spc="0" sz="1100">
                <a:solidFill>
                  <a:srgbClr val="FFFFFF"/>
                </a:solidFill>
              </a:defRPr>
            </a:lvl1pPr>
          </a:lstStyle>
          <a:p>
            <a:fld id="{8A7A6979-0714-4377-B894-6BE4C2D6E202}" type="slidenum">
              <a:rPr dirty="0" lang="en-US"/>
              <a:pPr/>
              <a:t>‹#›</a:t>
            </a:fld>
            <a:endParaRPr dirty="0" lang="en-US"/>
          </a:p>
        </p:txBody>
      </p:sp>
    </p:spTree>
  </p:cSld>
  <p:clrMap accent1="accent1" accent2="accent2" accent3="accent3" accent4="accent4" accent5="accent5" accent6="accent6" bg1="lt1" bg2="lt2" folHlink="folHlink" hlink="hlink" tx1="dk1" tx2="dk2"/>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hf dt="0" ftr="0" hdr="0" sldNum="0"/>
  <p:txStyles>
    <p:titleStyle>
      <a:lvl1pPr algn="ctr" defTabSz="914400" eaLnBrk="1" hangingPunct="1" latinLnBrk="0" rtl="0">
        <a:lnSpc>
          <a:spcPct val="90000"/>
        </a:lnSpc>
        <a:spcBef>
          <a:spcPct val="0"/>
        </a:spcBef>
        <a:buNone/>
        <a:defRPr baseline="0" cap="all" kern="1200" spc="200" sz="2800">
          <a:solidFill>
            <a:srgbClr val="262626"/>
          </a:solidFill>
          <a:latin typeface="+mj-lt"/>
          <a:ea typeface="+mj-ea"/>
          <a:cs typeface="+mj-cs"/>
        </a:defRPr>
      </a:lvl1pPr>
    </p:titleStyle>
    <p:bodyStyle>
      <a:lvl1pPr algn="l" defTabSz="914400" eaLnBrk="1" hangingPunct="1" indent="-228600" latinLnBrk="0" marL="228600" rtl="0">
        <a:lnSpc>
          <a:spcPct val="100000"/>
        </a:lnSpc>
        <a:spcBef>
          <a:spcPts val="1000"/>
        </a:spcBef>
        <a:buClr>
          <a:schemeClr val="accent2"/>
        </a:buClr>
        <a:buFont charset="0" panose="020B0604020202020204" pitchFamily="34" typeface="Arial"/>
        <a:buChar char="•"/>
        <a:defRPr kern="1200" sz="2000">
          <a:solidFill>
            <a:schemeClr val="tx1">
              <a:lumMod val="85000"/>
              <a:lumOff val="15000"/>
            </a:schemeClr>
          </a:solidFill>
          <a:latin typeface="+mn-lt"/>
          <a:ea typeface="+mn-ea"/>
          <a:cs typeface="+mn-cs"/>
        </a:defRPr>
      </a:lvl1pPr>
      <a:lvl2pPr algn="l" defTabSz="914400" eaLnBrk="1" hangingPunct="1" indent="-228600" latinLnBrk="0" marL="457200" rtl="0">
        <a:lnSpc>
          <a:spcPct val="100000"/>
        </a:lnSpc>
        <a:spcBef>
          <a:spcPts val="1000"/>
        </a:spcBef>
        <a:buClr>
          <a:schemeClr val="accent2"/>
        </a:buClr>
        <a:buFont charset="0" panose="020B0604020202020204" pitchFamily="34" typeface="Arial"/>
        <a:buChar char="•"/>
        <a:defRPr kern="1200" sz="2000">
          <a:solidFill>
            <a:schemeClr val="tx1">
              <a:lumMod val="85000"/>
              <a:lumOff val="15000"/>
            </a:schemeClr>
          </a:solidFill>
          <a:latin typeface="+mn-lt"/>
          <a:ea typeface="+mn-ea"/>
          <a:cs typeface="+mn-cs"/>
        </a:defRPr>
      </a:lvl2pPr>
      <a:lvl3pPr algn="l" defTabSz="914400" eaLnBrk="1" hangingPunct="1" indent="-228600" latinLnBrk="0" marL="685800" rtl="0">
        <a:lnSpc>
          <a:spcPct val="100000"/>
        </a:lnSpc>
        <a:spcBef>
          <a:spcPts val="1000"/>
        </a:spcBef>
        <a:buClr>
          <a:schemeClr val="accent2"/>
        </a:buClr>
        <a:buFont charset="0" panose="020B0604020202020204" pitchFamily="34" typeface="Arial"/>
        <a:buChar char="•"/>
        <a:defRPr kern="1200" sz="2000">
          <a:solidFill>
            <a:schemeClr val="tx1">
              <a:lumMod val="85000"/>
              <a:lumOff val="15000"/>
            </a:schemeClr>
          </a:solidFill>
          <a:latin typeface="+mn-lt"/>
          <a:ea typeface="+mn-ea"/>
          <a:cs typeface="+mn-cs"/>
        </a:defRPr>
      </a:lvl3pPr>
      <a:lvl4pPr algn="l" defTabSz="914400" eaLnBrk="1" hangingPunct="1" indent="-228600" latinLnBrk="0" marL="914400" rtl="0">
        <a:lnSpc>
          <a:spcPct val="100000"/>
        </a:lnSpc>
        <a:spcBef>
          <a:spcPts val="1000"/>
        </a:spcBef>
        <a:buClr>
          <a:schemeClr val="accent2"/>
        </a:buClr>
        <a:buFont charset="0" panose="020B0604020202020204" pitchFamily="34" typeface="Arial"/>
        <a:buChar char="•"/>
        <a:defRPr kern="1200" sz="2000">
          <a:solidFill>
            <a:schemeClr val="tx1">
              <a:lumMod val="85000"/>
              <a:lumOff val="15000"/>
            </a:schemeClr>
          </a:solidFill>
          <a:latin typeface="+mn-lt"/>
          <a:ea typeface="+mn-ea"/>
          <a:cs typeface="+mn-cs"/>
        </a:defRPr>
      </a:lvl4pPr>
      <a:lvl5pPr algn="l" defTabSz="914400" eaLnBrk="1" hangingPunct="1" indent="-228600" latinLnBrk="0" marL="1143000" rtl="0">
        <a:lnSpc>
          <a:spcPct val="100000"/>
        </a:lnSpc>
        <a:spcBef>
          <a:spcPts val="1000"/>
        </a:spcBef>
        <a:buClr>
          <a:schemeClr val="accent2"/>
        </a:buClr>
        <a:buFont charset="0" panose="020B0604020202020204" pitchFamily="34" typeface="Arial"/>
        <a:buChar char="•"/>
        <a:defRPr kern="1200" sz="2000">
          <a:solidFill>
            <a:schemeClr val="tx1">
              <a:lumMod val="85000"/>
              <a:lumOff val="15000"/>
            </a:schemeClr>
          </a:solidFill>
          <a:latin typeface="+mn-lt"/>
          <a:ea typeface="+mn-ea"/>
          <a:cs typeface="+mn-cs"/>
        </a:defRPr>
      </a:lvl5pPr>
      <a:lvl6pPr algn="l" defTabSz="914400" eaLnBrk="1" hangingPunct="1" indent="-228600" latinLnBrk="0" marL="1312863" rtl="0">
        <a:lnSpc>
          <a:spcPct val="100000"/>
        </a:lnSpc>
        <a:spcBef>
          <a:spcPts val="1000"/>
        </a:spcBef>
        <a:buClr>
          <a:schemeClr val="accent2"/>
        </a:buClr>
        <a:buFont charset="0" panose="020B0604020202020204" pitchFamily="34" typeface="Arial"/>
        <a:buChar char="•"/>
        <a:defRPr kern="1200" sz="2000">
          <a:solidFill>
            <a:schemeClr val="tx1"/>
          </a:solidFill>
          <a:latin typeface="+mn-lt"/>
          <a:ea typeface="+mn-ea"/>
          <a:cs typeface="+mn-cs"/>
        </a:defRPr>
      </a:lvl6pPr>
      <a:lvl7pPr algn="l" defTabSz="914400" eaLnBrk="1" hangingPunct="1" indent="-228600" latinLnBrk="0" marL="1484313" rtl="0">
        <a:lnSpc>
          <a:spcPct val="100000"/>
        </a:lnSpc>
        <a:spcBef>
          <a:spcPts val="1000"/>
        </a:spcBef>
        <a:buClr>
          <a:schemeClr val="accent2"/>
        </a:buClr>
        <a:buFont charset="0" panose="020B0604020202020204" pitchFamily="34" typeface="Arial"/>
        <a:buChar char="•"/>
        <a:defRPr kern="1200" sz="2000">
          <a:solidFill>
            <a:schemeClr val="tx1"/>
          </a:solidFill>
          <a:latin typeface="+mn-lt"/>
          <a:ea typeface="+mn-ea"/>
          <a:cs typeface="+mn-cs"/>
        </a:defRPr>
      </a:lvl7pPr>
      <a:lvl8pPr algn="l" defTabSz="914400" eaLnBrk="1" hangingPunct="1" indent="-228600" latinLnBrk="0" marL="1657350" rtl="0">
        <a:lnSpc>
          <a:spcPct val="100000"/>
        </a:lnSpc>
        <a:spcBef>
          <a:spcPts val="1000"/>
        </a:spcBef>
        <a:buClr>
          <a:schemeClr val="accent2"/>
        </a:buClr>
        <a:buFont charset="0" panose="020B0604020202020204" pitchFamily="34" typeface="Arial"/>
        <a:buChar char="•"/>
        <a:defRPr baseline="0" kern="1200" sz="2000">
          <a:solidFill>
            <a:schemeClr val="tx1"/>
          </a:solidFill>
          <a:latin typeface="+mn-lt"/>
          <a:ea typeface="+mn-ea"/>
          <a:cs typeface="+mn-cs"/>
        </a:defRPr>
      </a:lvl8pPr>
      <a:lvl9pPr algn="l" defTabSz="914400" eaLnBrk="1" hangingPunct="1" indent="-228600" latinLnBrk="0" marL="1882775" rtl="0">
        <a:lnSpc>
          <a:spcPct val="100000"/>
        </a:lnSpc>
        <a:spcBef>
          <a:spcPts val="1000"/>
        </a:spcBef>
        <a:buClr>
          <a:schemeClr val="accent2"/>
        </a:buClr>
        <a:buFont charset="0" panose="020B0604020202020204" pitchFamily="34" typeface="Arial"/>
        <a:buChar char="•"/>
        <a:defRPr baseline="0" kern="1200" sz="2000">
          <a:solidFill>
            <a:schemeClr val="tx1"/>
          </a:solidFill>
          <a:latin typeface="+mn-lt"/>
          <a:ea typeface="+mn-ea"/>
          <a:cs typeface="+mn-cs"/>
        </a:defRPr>
      </a:lvl9pPr>
    </p:bodyStyle>
    <p:otherStyle>
      <a:defPPr>
        <a:defRPr lang="en-US"/>
      </a:defPPr>
      <a:lvl1pPr algn="l" defTabSz="914400" eaLnBrk="1" hangingPunct="1" latinLnBrk="0" marL="0" rtl="0">
        <a:defRPr kern="1200" sz="2000">
          <a:solidFill>
            <a:schemeClr val="tx1"/>
          </a:solidFill>
          <a:latin typeface="+mn-lt"/>
          <a:ea typeface="+mn-ea"/>
          <a:cs typeface="+mn-cs"/>
        </a:defRPr>
      </a:lvl1pPr>
      <a:lvl2pPr algn="l" defTabSz="914400" eaLnBrk="1" hangingPunct="1" latinLnBrk="0" marL="457200" rtl="0">
        <a:defRPr kern="1200" sz="2000">
          <a:solidFill>
            <a:schemeClr val="tx1"/>
          </a:solidFill>
          <a:latin typeface="+mn-lt"/>
          <a:ea typeface="+mn-ea"/>
          <a:cs typeface="+mn-cs"/>
        </a:defRPr>
      </a:lvl2pPr>
      <a:lvl3pPr algn="l" defTabSz="914400" eaLnBrk="1" hangingPunct="1" latinLnBrk="0" marL="914400" rtl="0">
        <a:defRPr kern="1200" sz="2000">
          <a:solidFill>
            <a:schemeClr val="tx1"/>
          </a:solidFill>
          <a:latin typeface="+mn-lt"/>
          <a:ea typeface="+mn-ea"/>
          <a:cs typeface="+mn-cs"/>
        </a:defRPr>
      </a:lvl3pPr>
      <a:lvl4pPr algn="l" defTabSz="914400" eaLnBrk="1" hangingPunct="1" latinLnBrk="0" marL="1371600" rtl="0">
        <a:defRPr kern="1200" sz="2000">
          <a:solidFill>
            <a:schemeClr val="tx1"/>
          </a:solidFill>
          <a:latin typeface="+mn-lt"/>
          <a:ea typeface="+mn-ea"/>
          <a:cs typeface="+mn-cs"/>
        </a:defRPr>
      </a:lvl4pPr>
      <a:lvl5pPr algn="l" defTabSz="914400" eaLnBrk="1" hangingPunct="1" latinLnBrk="0" marL="1828800" rtl="0">
        <a:defRPr kern="1200" sz="2000">
          <a:solidFill>
            <a:schemeClr val="tx1"/>
          </a:solidFill>
          <a:latin typeface="+mn-lt"/>
          <a:ea typeface="+mn-ea"/>
          <a:cs typeface="+mn-cs"/>
        </a:defRPr>
      </a:lvl5pPr>
      <a:lvl6pPr algn="l" defTabSz="914400" eaLnBrk="1" hangingPunct="1" latinLnBrk="0" marL="2286000" rtl="0">
        <a:defRPr kern="1200" sz="2000">
          <a:solidFill>
            <a:schemeClr val="tx1"/>
          </a:solidFill>
          <a:latin typeface="+mn-lt"/>
          <a:ea typeface="+mn-ea"/>
          <a:cs typeface="+mn-cs"/>
        </a:defRPr>
      </a:lvl6pPr>
      <a:lvl7pPr algn="l" defTabSz="914400" eaLnBrk="1" hangingPunct="1" latinLnBrk="0" marL="2743200" rtl="0">
        <a:defRPr kern="1200" sz="2000">
          <a:solidFill>
            <a:schemeClr val="tx1"/>
          </a:solidFill>
          <a:latin typeface="+mn-lt"/>
          <a:ea typeface="+mn-ea"/>
          <a:cs typeface="+mn-cs"/>
        </a:defRPr>
      </a:lvl7pPr>
      <a:lvl8pPr algn="l" defTabSz="914400" eaLnBrk="1" hangingPunct="1" latinLnBrk="0" marL="3200400" rtl="0">
        <a:defRPr kern="1200" sz="2000">
          <a:solidFill>
            <a:schemeClr val="tx1"/>
          </a:solidFill>
          <a:latin typeface="+mn-lt"/>
          <a:ea typeface="+mn-ea"/>
          <a:cs typeface="+mn-cs"/>
        </a:defRPr>
      </a:lvl8pPr>
      <a:lvl9pPr algn="l" defTabSz="914400" eaLnBrk="1" hangingPunct="1" latinLnBrk="0" marL="3657600" rtl="0">
        <a:defRPr kern="1200" sz="20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
<Relationships xmlns="http://schemas.openxmlformats.org/package/2006/relationships">
  <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unlpsychstats.github.io/PSYC350-spss-handouts/A1.pearsons_correlation_spss_handout_simple.pdf" TargetMode="External"/>
  <Relationship Id="rId4" Type="http://schemas.openxmlformats.org/officeDocument/2006/relationships/hyperlink" Target="https://unlpsychstats.github.io/PSYC350-spss-handouts/A2.scatterplot_spss_handout_simple.pdf" TargetMode="External"/>
  <Relationship Id="rId5" Type="http://schemas.openxmlformats.org/officeDocument/2006/relationships/hyperlink" Target="https://unlpsychstats.github.io/PSYC350-spss-handouts/A3.2x2_chisquare_spss_handout_simple.pdf"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image" Target="../media/image1.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bwMode="blackWhite">
          <a:xfrm>
            <a:off x="1097280" y="2386744"/>
            <a:ext cx="9997440" cy="1645920"/>
          </a:xfrm>
          <a:solidFill>
            <a:srgbClr val="FFFFFF"/>
          </a:solidFill>
          <a:ln w="38100">
            <a:solidFill>
              <a:srgbClr val="404040"/>
            </a:solidFill>
          </a:ln>
        </p:spPr>
        <p:txBody>
          <a:bodyPr/>
          <a:lstStyle/>
          <a:p>
            <a:pPr lvl="0" indent="0" marL="0">
              <a:buNone/>
            </a:pPr>
            <a:r>
              <a:rPr/>
              <a:t>Correlation and Chi-Square</a:t>
            </a:r>
          </a:p>
        </p:txBody>
      </p:sp>
      <p:sp>
        <p:nvSpPr>
          <p:cNvPr id="3" name="Subtitle 2"/>
          <p:cNvSpPr>
            <a:spLocks noGrp="1"/>
          </p:cNvSpPr>
          <p:nvPr>
            <p:ph idx="1" type="subTitle"/>
          </p:nvPr>
        </p:nvSpPr>
        <p:spPr>
          <a:xfrm>
            <a:off x="1097280" y="4352544"/>
            <a:ext cx="9997440" cy="1239894"/>
          </a:xfrm>
          <a:noFill/>
        </p:spPr>
        <p:txBody>
          <a:bodyPr/>
          <a:lstStyle/>
          <a:p>
            <a:pPr lvl="0" indent="0" marL="0">
              <a:buNone/>
            </a:pPr>
            <a:r>
              <a:rPr/>
              <a:t>Lab 07 · Two-Variable Analyses</a:t>
            </a:r>
            <a:br/>
            <a:br/>
            <a:r>
              <a:rPr/>
              <a:t>PSYC 350 Laboratory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1 Open the Lab 07 files</a:t>
            </a:r>
          </a:p>
        </p:txBody>
      </p:sp>
      <p:sp>
        <p:nvSpPr>
          <p:cNvPr id="1001" name="card-steel" descr="card: Walkthrough data. Superman data"/>
          <p:cNvSpPr/>
          <p:nvPr/>
        </p:nvSpPr>
        <p:spPr>
          <a:xfrm>
            <a:off x="1097280" y="2633472"/>
            <a:ext cx="4924044" cy="1005840"/>
          </a:xfrm>
          <a:prstGeom prst="roundRect">
            <a:avLst>
              <a:gd name="adj" fmla="val 6000"/>
            </a:avLst>
          </a:prstGeom>
          <a:solidFill>
            <a:srgbClr val="FEFDFA"/>
          </a:solidFill>
          <a:ln w="19050">
            <a:solidFill>
              <a:srgbClr val="CCCCCC"/>
            </a:solidFill>
          </a:ln>
        </p:spPr>
        <p:txBody>
          <a:bodyPr lIns="182880" tIns="182880" rIns="182880" bIns="182880" anchor="t" wrap="square">
            <a:normAutofit/>
          </a:bodyPr>
          <a:lstStyle/>
          <a:p>
            <a:pPr algn="l"/>
            <a:r>
              <a:rPr lang="en-US" sz="2200" b="1" dirty="0">
                <a:solidFill>
                  <a:srgbClr val="010B13"/>
                </a:solidFill>
              </a:rPr>
              <a:t>Walkthrough data</a:t>
            </a:r>
          </a:p>
          <a:p>
            <a:pPr algn="l"/>
            <a:r>
              <a:rPr lang="en-US" sz="2000" b="0" dirty="0">
                <a:solidFill>
                  <a:srgbClr val="010B13"/>
                </a:solidFill>
              </a:rPr>
              <a:t>Superman data</a:t>
            </a:r>
          </a:p>
        </p:txBody>
      </p:sp>
      <p:sp>
        <p:nvSpPr>
          <p:cNvPr id="1002" name="card-rail" descr="">
            <a:extLst>
              <a:ext uri="{C183D7F6-B498-43B3-948B-1728B52AA6E4}">
                <adec:decorative xmlns:adec="http://schemas.microsoft.com/office/drawing/2017/decorative" val="1"/>
              </a:ext>
            </a:extLst>
          </p:cNvPr>
          <p:cNvSpPr/>
          <p:nvPr/>
        </p:nvSpPr>
        <p:spPr>
          <a:xfrm>
            <a:off x="1097280" y="2633472"/>
            <a:ext cx="54864" cy="1005840"/>
          </a:xfrm>
          <a:prstGeom prst="roundRect">
            <a:avLst>
              <a:gd name="adj" fmla="val 20000"/>
            </a:avLst>
          </a:prstGeom>
          <a:solidFill>
            <a:srgbClr val="010B13"/>
          </a:solidFill>
          <a:ln>
            <a:noFill/>
          </a:ln>
        </p:spPr>
        <p:txBody>
          <a:bodyPr lIns="182880" tIns="182880" rIns="182880" bIns="182880" anchor="t" wrap="square">
            <a:normAutofit/>
          </a:bodyPr>
          <a:lstStyle/>
          <a:p/>
        </p:txBody>
      </p:sp>
      <p:sp>
        <p:nvSpPr>
          <p:cNvPr id="1003" name="card-steel" descr="card: Simple SPSS guides. Correlation PDF Scatterplot PDF Chi-square PDF"/>
          <p:cNvSpPr/>
          <p:nvPr/>
        </p:nvSpPr>
        <p:spPr>
          <a:xfrm>
            <a:off x="6167628" y="2633472"/>
            <a:ext cx="4924044" cy="1615440"/>
          </a:xfrm>
          <a:prstGeom prst="roundRect">
            <a:avLst>
              <a:gd name="adj" fmla="val 6000"/>
            </a:avLst>
          </a:prstGeom>
          <a:solidFill>
            <a:srgbClr val="FEFDFA"/>
          </a:solidFill>
          <a:ln w="19050">
            <a:solidFill>
              <a:srgbClr val="CCCCCC"/>
            </a:solidFill>
          </a:ln>
        </p:spPr>
        <p:txBody>
          <a:bodyPr lIns="182880" tIns="182880" rIns="182880" bIns="182880" anchor="t" wrap="square">
            <a:normAutofit/>
          </a:bodyPr>
          <a:lstStyle/>
          <a:p>
            <a:pPr algn="l"/>
            <a:r>
              <a:rPr lang="en-US" sz="2200" b="1" dirty="0">
                <a:solidFill>
                  <a:srgbClr val="010B13"/>
                </a:solidFill>
              </a:rPr>
              <a:t>Simple SPSS guides</a:t>
            </a:r>
          </a:p>
          <a:p>
            <a:pPr algn="l"/>
            <a:r>
              <a:rPr lang="en-US" sz="2000" b="0" dirty="0">
                <a:solidFill>
                  <a:srgbClr val="010B13"/>
                </a:solidFill>
                <a:hlinkClick r:id="rId3"/>
              </a:rPr>
              <a:t>Correlation PDF</a:t>
            </a:r>
          </a:p>
          <a:p>
            <a:pPr algn="l"/>
            <a:r>
              <a:rPr lang="en-US" sz="2000" b="0" dirty="0">
                <a:solidFill>
                  <a:srgbClr val="010B13"/>
                </a:solidFill>
                <a:hlinkClick r:id="rId4"/>
              </a:rPr>
              <a:t>Scatterplot PDF</a:t>
            </a:r>
          </a:p>
          <a:p>
            <a:pPr algn="l"/>
            <a:r>
              <a:rPr lang="en-US" sz="2000" b="0" dirty="0">
                <a:solidFill>
                  <a:srgbClr val="010B13"/>
                </a:solidFill>
                <a:hlinkClick r:id="rId5"/>
              </a:rPr>
              <a:t>Chi-square PDF</a:t>
            </a:r>
          </a:p>
        </p:txBody>
      </p:sp>
      <p:sp>
        <p:nvSpPr>
          <p:cNvPr id="1004" name="card-rail" descr="">
            <a:extLst>
              <a:ext uri="{C183D7F6-B498-43B3-948B-1728B52AA6E4}">
                <adec:decorative xmlns:adec="http://schemas.microsoft.com/office/drawing/2017/decorative" val="1"/>
              </a:ext>
            </a:extLst>
          </p:cNvPr>
          <p:cNvSpPr/>
          <p:nvPr/>
        </p:nvSpPr>
        <p:spPr>
          <a:xfrm>
            <a:off x="6167628" y="2633472"/>
            <a:ext cx="54864" cy="1615440"/>
          </a:xfrm>
          <a:prstGeom prst="roundRect">
            <a:avLst>
              <a:gd name="adj" fmla="val 20000"/>
            </a:avLst>
          </a:prstGeom>
          <a:solidFill>
            <a:srgbClr val="010B13"/>
          </a:solidFill>
          <a:ln>
            <a:noFill/>
          </a:ln>
        </p:spPr>
        <p:txBody>
          <a:bodyPr lIns="182880" tIns="182880" rIns="182880" bIns="182880" anchor="t" wrap="square">
            <a:normAutofit/>
          </a:bodyPr>
          <a:lstStyle/>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2 Check the dataset before analysis</a:t>
            </a:r>
          </a:p>
        </p:txBody>
      </p:sp>
      <p:sp>
        <p:nvSpPr>
          <p:cNvPr id="3" name="Content Placeholder 2"/>
          <p:cNvSpPr>
            <a:spLocks noGrp="1"/>
          </p:cNvSpPr>
          <p:nvPr>
            <p:ph idx="1"/>
          </p:nvPr>
        </p:nvSpPr>
        <p:spPr/>
        <p:txBody>
          <a:bodyPr/>
          <a:lstStyle/>
          <a:p>
            <a:pPr lvl="0" indent="0" marL="0">
              <a:buNone/>
            </a:pPr>
            <a:r>
              <a:rPr/>
              <a:t>[Worksheet setup]</a:t>
            </a:r>
          </a:p>
          <a:p>
            <a:pPr lvl="0"/>
            <a:r>
              <a:rPr/>
              <a:t>Check variable labels and category value labels</a:t>
            </a:r>
          </a:p>
          <a:p>
            <a:pPr lvl="0"/>
            <a:r>
              <a:rPr/>
              <a:t>Confirm that </a:t>
            </a:r>
            <a:r>
              <a:rPr b="1"/>
              <a:t>−99</a:t>
            </a:r>
            <a:r>
              <a:rPr/>
              <a:t> is declared missing</a:t>
            </a:r>
          </a:p>
          <a:p>
            <a:pPr lvl="0"/>
            <a:r>
              <a:rPr/>
              <a:t>Keep the Data Editor, saved syntax, and Output Viewer open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3 Choose the test for the variables</a:t>
            </a:r>
          </a:p>
        </p:txBody>
      </p:sp>
      <p:graphicFrame>
        <p:nvGraphicFramePr>
          <p:cNvPr id="6" name="Content Placeholder 5"/>
          <p:cNvGraphicFramePr>
            <a:graphicFrameLocks noGrp="1"/>
          </p:cNvGraphicFramePr>
          <p:nvPr>
            <p:ph idx="1"/>
          </p:nvPr>
        </p:nvGraphicFramePr>
        <p:xfrm>
          <a:off x="1092200" y="2628900"/>
          <a:ext cx="9994900" cy="3098800"/>
        </p:xfrm>
        <a:graphic>
          <a:graphicData uri="http://schemas.openxmlformats.org/drawingml/2006/table">
            <a:tbl>
              <a:tblPr firstRow="1" bandRow="1">
                <a:tableStyleId>{5C22544A-7EE6-4342-B048-85BDC9FD1C3A}</a:tableStyleId>
              </a:tblPr>
              <a:tblGrid>
                <a:gridCol w="5003800"/>
                <a:gridCol w="5003800"/>
              </a:tblGrid>
              <a:tr h="0">
                <a:tc>
                  <a:txBody>
                    <a:bodyPr/>
                    <a:lstStyle/>
                    <a:p>
                      <a:pPr lvl="0" indent="0" marL="0">
                        <a:buNone/>
                      </a:pPr>
                      <a:r>
                        <a:rPr/>
                        <a:t>Variables in the RH</a:t>
                      </a:r>
                    </a:p>
                  </a:txBody>
                  <a:tcPr/>
                </a:tc>
                <a:tc>
                  <a:txBody>
                    <a:bodyPr/>
                    <a:lstStyle/>
                    <a:p>
                      <a:pPr lvl="0" indent="0" marL="0">
                        <a:buNone/>
                      </a:pPr>
                      <a:r>
                        <a:rPr/>
                        <a:t>Analysis</a:t>
                      </a:r>
                    </a:p>
                  </a:txBody>
                  <a:tcPr/>
                </a:tc>
              </a:tr>
              <a:tr h="0">
                <a:tc>
                  <a:txBody>
                    <a:bodyPr/>
                    <a:lstStyle/>
                    <a:p>
                      <a:pPr lvl="0" indent="0" marL="0">
                        <a:buNone/>
                      </a:pPr>
                      <a:r>
                        <a:rPr/>
                        <a:t>Two quantitative variables</a:t>
                      </a:r>
                    </a:p>
                  </a:txBody>
                </a:tc>
                <a:tc>
                  <a:txBody>
                    <a:bodyPr/>
                    <a:lstStyle/>
                    <a:p>
                      <a:pPr lvl="0" indent="0" marL="0">
                        <a:buNone/>
                      </a:pPr>
                      <a:r>
                        <a:rPr/>
                        <a:t>Pearson correlation for a linear relationship</a:t>
                      </a:r>
                    </a:p>
                  </a:txBody>
                </a:tc>
              </a:tr>
              <a:tr h="0">
                <a:tc>
                  <a:txBody>
                    <a:bodyPr/>
                    <a:lstStyle/>
                    <a:p>
                      <a:pPr lvl="0" indent="0" marL="0">
                        <a:buNone/>
                      </a:pPr>
                      <a:r>
                        <a:rPr/>
                        <a:t>Two categorical variables</a:t>
                      </a:r>
                    </a:p>
                  </a:txBody>
                </a:tc>
                <a:tc>
                  <a:txBody>
                    <a:bodyPr/>
                    <a:lstStyle/>
                    <a:p>
                      <a:pPr lvl="0" indent="0" marL="0">
                        <a:buNone/>
                      </a:pPr>
                      <a:r>
                        <a:rPr/>
                        <a:t>Chi-square test of association</a:t>
                      </a:r>
                    </a:p>
                  </a:txBody>
                </a:tc>
              </a:tr>
            </a:tbl>
          </a:graphicData>
        </a:graphic>
      </p:graphicFrame>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3 Choose the test for the variables (continued)</a:t>
            </a:r>
          </a:p>
        </p:txBody>
      </p:sp>
      <p:sp>
        <p:nvSpPr>
          <p:cNvPr id="3" name="Content Placeholder 2"/>
          <p:cNvSpPr>
            <a:spLocks noGrp="1"/>
          </p:cNvSpPr>
          <p:nvPr>
            <p:ph idx="1"/>
          </p:nvPr>
        </p:nvSpPr>
        <p:spPr/>
        <p:txBody>
          <a:bodyPr/>
          <a:lstStyle/>
          <a:p>
            <a:pPr lvl="0" indent="0" marL="0">
              <a:buNone/>
            </a:pPr>
            <a:r>
              <a:rPr b="1"/>
              <a:t>Numeric codes can represent categories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4 Predict the RH1 relationship</a:t>
            </a:r>
          </a:p>
        </p:txBody>
      </p:sp>
      <p:sp>
        <p:nvSpPr>
          <p:cNvPr id="3" name="Content Placeholder 2"/>
          <p:cNvSpPr>
            <a:spLocks noGrp="1"/>
          </p:cNvSpPr>
          <p:nvPr>
            <p:ph idx="1"/>
          </p:nvPr>
        </p:nvSpPr>
        <p:spPr/>
        <p:txBody>
          <a:bodyPr/>
          <a:lstStyle/>
          <a:p>
            <a:pPr lvl="0" indent="0" marL="0">
              <a:buNone/>
            </a:pPr>
            <a:r>
              <a:rPr/>
              <a:t>[RH1 · Before the analysis]</a:t>
            </a:r>
          </a:p>
          <a:p>
            <a:pPr lvl="0" indent="0" marL="0">
              <a:buNone/>
            </a:pPr>
            <a:r>
              <a:rPr b="1"/>
              <a:t>Height difference</a:t>
            </a:r>
            <a:r>
              <a:rPr/>
              <a:t> and </a:t>
            </a:r>
            <a:r>
              <a:rPr b="1"/>
              <a:t>Letterboxd likes in thousands</a:t>
            </a:r>
          </a:p>
          <a:p>
            <a:pPr lvl="0"/>
            <a:r>
              <a:rPr/>
              <a:t>What direction does the worksheet predict?</a:t>
            </a:r>
          </a:p>
          <a:p>
            <a:pPr lvl="0"/>
            <a:r>
              <a:rPr/>
              <a:t>Does your scatterplot show that direction?</a:t>
            </a:r>
          </a:p>
          <a:p>
            <a:pPr lvl="0"/>
            <a:r>
              <a:rPr/>
              <a:t>Is the pattern roughly linear?</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5 Prepare RH1 in syntax</a:t>
            </a:r>
          </a:p>
        </p:txBody>
      </p:sp>
      <p:sp>
        <p:nvSpPr>
          <p:cNvPr id="3" name="Content Placeholder 2"/>
          <p:cNvSpPr>
            <a:spLocks noGrp="1"/>
          </p:cNvSpPr>
          <p:nvPr>
            <p:ph idx="1"/>
          </p:nvPr>
        </p:nvSpPr>
        <p:spPr/>
        <p:txBody>
          <a:bodyPr/>
          <a:lstStyle/>
          <a:p>
            <a:pPr lvl="0" indent="0">
              <a:buNone/>
            </a:pPr>
            <a:r>
              <a:rPr>
                <a:latin typeface="Courier"/>
              </a:rPr>
              <a:t>USE ALL.
FILTER OFF.
COMPUTE ldb_likes_thou = ldb_likes / 1000.
EXECUTE.
GRAPH
  /SCATTERPLOT(BIVAR)=ldb_likes_thou
    WITH height_diff
  /MISSING=LISTWISE.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6 Run the RH1 correlation</a:t>
            </a:r>
          </a:p>
        </p:txBody>
      </p:sp>
      <p:sp>
        <p:nvSpPr>
          <p:cNvPr id="3" name="Content Placeholder 2"/>
          <p:cNvSpPr>
            <a:spLocks noGrp="1"/>
          </p:cNvSpPr>
          <p:nvPr>
            <p:ph idx="1"/>
          </p:nvPr>
        </p:nvSpPr>
        <p:spPr/>
        <p:txBody>
          <a:bodyPr/>
          <a:lstStyle/>
          <a:p>
            <a:pPr lvl="0" indent="0">
              <a:buNone/>
            </a:pPr>
            <a:r>
              <a:rPr>
                <a:latin typeface="Courier"/>
              </a:rPr>
              <a:t>CORRELATIONS
  /VARIABLES=
    height_diff
    ldb_likes_thou
  /PRINT=TWOTAIL
  /STATISTICS DESCRIPTIVES
  /MISSING=PAIRWISE.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7 Read the RH1 output</a:t>
            </a:r>
          </a:p>
        </p:txBody>
      </p:sp>
      <p:graphicFrame>
        <p:nvGraphicFramePr>
          <p:cNvPr id="6" name="Content Placeholder 5"/>
          <p:cNvGraphicFramePr>
            <a:graphicFrameLocks noGrp="1"/>
          </p:cNvGraphicFramePr>
          <p:nvPr>
            <p:ph idx="1"/>
          </p:nvPr>
        </p:nvGraphicFramePr>
        <p:xfrm>
          <a:off x="1092200" y="2628900"/>
          <a:ext cx="9994900" cy="3098800"/>
        </p:xfrm>
        <a:graphic>
          <a:graphicData uri="http://schemas.openxmlformats.org/drawingml/2006/table">
            <a:tbl>
              <a:tblPr firstRow="1" bandRow="1">
                <a:tableStyleId>{5C22544A-7EE6-4342-B048-85BDC9FD1C3A}</a:tableStyleId>
              </a:tblPr>
              <a:tblGrid>
                <a:gridCol w="4991100"/>
                <a:gridCol w="4991100"/>
              </a:tblGrid>
              <a:tr h="0">
                <a:tc>
                  <a:txBody>
                    <a:bodyPr/>
                    <a:lstStyle/>
                    <a:p>
                      <a:pPr lvl="0" indent="0" marL="0">
                        <a:buNone/>
                      </a:pPr>
                      <a:r>
                        <a:rPr/>
                        <a:t>Find in SPSS</a:t>
                      </a:r>
                    </a:p>
                  </a:txBody>
                  <a:tcPr/>
                </a:tc>
                <a:tc>
                  <a:txBody>
                    <a:bodyPr/>
                    <a:lstStyle/>
                    <a:p>
                      <a:pPr lvl="0" indent="0" marL="0">
                        <a:buNone/>
                      </a:pPr>
                      <a:r>
                        <a:rPr/>
                        <a:t>Record in the worksheet</a:t>
                      </a:r>
                    </a:p>
                  </a:txBody>
                  <a:tcPr/>
                </a:tc>
              </a:tr>
              <a:tr h="0">
                <a:tc>
                  <a:txBody>
                    <a:bodyPr/>
                    <a:lstStyle/>
                    <a:p>
                      <a:pPr lvl="0" indent="0" marL="0">
                        <a:buNone/>
                      </a:pPr>
                      <a:r>
                        <a:rPr/>
                        <a:t>Descriptive Statistics</a:t>
                      </a:r>
                    </a:p>
                  </a:txBody>
                </a:tc>
                <a:tc>
                  <a:txBody>
                    <a:bodyPr/>
                    <a:lstStyle/>
                    <a:p>
                      <a:pPr lvl="0" indent="0" marL="0">
                        <a:buNone/>
                      </a:pPr>
                      <a:r>
                        <a:rPr/>
                        <a:t>Mean, SD, and N for each variable</a:t>
                      </a:r>
                    </a:p>
                  </a:txBody>
                </a:tc>
              </a:tr>
              <a:tr h="0">
                <a:tc>
                  <a:txBody>
                    <a:bodyPr/>
                    <a:lstStyle/>
                    <a:p>
                      <a:pPr lvl="0" indent="0" marL="0">
                        <a:buNone/>
                      </a:pPr>
                      <a:r>
                        <a:rPr/>
                        <a:t>Pearson Correlation</a:t>
                      </a:r>
                    </a:p>
                  </a:txBody>
                </a:tc>
                <a:tc>
                  <a:txBody>
                    <a:bodyPr/>
                    <a:lstStyle/>
                    <a:p>
                      <a:pPr lvl="0" indent="0" marL="0">
                        <a:buNone/>
                      </a:pPr>
                      <a:r>
                        <a:rPr i="1"/>
                        <a:t>r</a:t>
                      </a:r>
                    </a:p>
                  </a:txBody>
                </a:tc>
              </a:tr>
              <a:tr h="0">
                <a:tc>
                  <a:txBody>
                    <a:bodyPr/>
                    <a:lstStyle/>
                    <a:p>
                      <a:pPr lvl="0" indent="0" marL="0">
                        <a:buNone/>
                      </a:pPr>
                      <a:r>
                        <a:rPr/>
                        <a:t>Sig. (2-tailed)</a:t>
                      </a:r>
                    </a:p>
                  </a:txBody>
                </a:tc>
                <a:tc>
                  <a:txBody>
                    <a:bodyPr/>
                    <a:lstStyle/>
                    <a:p>
                      <a:pPr lvl="0" indent="0" marL="0">
                        <a:buNone/>
                      </a:pPr>
                      <a:r>
                        <a:rPr i="1"/>
                        <a:t>p</a:t>
                      </a:r>
                    </a:p>
                  </a:txBody>
                </a:tc>
              </a:tr>
              <a:tr h="0">
                <a:tc>
                  <a:txBody>
                    <a:bodyPr/>
                    <a:lstStyle/>
                    <a:p>
                      <a:pPr lvl="0" indent="0" marL="0">
                        <a:buNone/>
                      </a:pPr>
                      <a:r>
                        <a:rPr/>
                        <a:t>N in the correlation table</a:t>
                      </a:r>
                    </a:p>
                  </a:txBody>
                </a:tc>
                <a:tc>
                  <a:txBody>
                    <a:bodyPr/>
                    <a:lstStyle/>
                    <a:p>
                      <a:pPr lvl="0" indent="0" marL="0">
                        <a:buNone/>
                      </a:pPr>
                      <a:r>
                        <a:rPr/>
                        <a:t>Number of complete pairs</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8 Report RH1 in Table 1</a:t>
            </a:r>
          </a:p>
        </p:txBody>
      </p:sp>
      <p:sp>
        <p:nvSpPr>
          <p:cNvPr id="3" name="Content Placeholder 2"/>
          <p:cNvSpPr>
            <a:spLocks noGrp="1"/>
          </p:cNvSpPr>
          <p:nvPr>
            <p:ph idx="1"/>
          </p:nvPr>
        </p:nvSpPr>
        <p:spPr/>
        <p:txBody>
          <a:bodyPr/>
          <a:lstStyle/>
          <a:p>
            <a:pPr lvl="0" indent="0" marL="0">
              <a:buNone/>
            </a:pPr>
            <a:r>
              <a:rPr/>
              <a:t>[Finish RH1]</a:t>
            </a:r>
          </a:p>
          <a:p>
            <a:pPr lvl="0"/>
            <a:r>
              <a:rPr/>
              <a:t>Fill the worksheet’s </a:t>
            </a:r>
            <a:r>
              <a:rPr b="1"/>
              <a:t>Table 1</a:t>
            </a:r>
            <a:r>
              <a:rPr/>
              <a:t> with the descriptives and correlation</a:t>
            </a:r>
          </a:p>
          <a:p>
            <a:pPr lvl="0"/>
            <a:r>
              <a:rPr/>
              <a:t>Write the result, including the univariate statistics</a:t>
            </a:r>
          </a:p>
          <a:p>
            <a:pPr lvl="0"/>
            <a:r>
              <a:rPr/>
              <a:t>Add the required screenshot of correct checker answers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9 Predict the RH2 cell pattern</a:t>
            </a:r>
          </a:p>
        </p:txBody>
      </p:sp>
      <p:sp>
        <p:nvSpPr>
          <p:cNvPr id="3" name="Content Placeholder 2"/>
          <p:cNvSpPr>
            <a:spLocks noGrp="1"/>
          </p:cNvSpPr>
          <p:nvPr>
            <p:ph idx="1"/>
          </p:nvPr>
        </p:nvSpPr>
        <p:spPr/>
        <p:txBody>
          <a:bodyPr/>
          <a:lstStyle/>
          <a:p>
            <a:pPr lvl="0" indent="0" marL="0">
              <a:buNone/>
            </a:pPr>
            <a:r>
              <a:rPr/>
              <a:t>[RH2 · Before the analysis]</a:t>
            </a:r>
          </a:p>
          <a:p>
            <a:pPr lvl="0" indent="0" marL="0">
              <a:buNone/>
            </a:pPr>
            <a:r>
              <a:rPr b="1"/>
              <a:t>Actor height group</a:t>
            </a:r>
            <a:r>
              <a:rPr/>
              <a:t> and </a:t>
            </a:r>
            <a:r>
              <a:rPr b="1"/>
              <a:t>Fresh/Rotten rating</a:t>
            </a:r>
          </a:p>
          <a:p>
            <a:pPr lvl="0"/>
            <a:r>
              <a:rPr/>
              <a:t>Read the two parts of RH2</a:t>
            </a:r>
          </a:p>
          <a:p>
            <a:pPr lvl="0"/>
            <a:r>
              <a:rPr/>
              <a:t>Replace each </a:t>
            </a:r>
            <a:r>
              <a:rPr b="1"/>
              <a:t>?</a:t>
            </a:r>
            <a:r>
              <a:rPr/>
              <a:t> in the worksheet grid with </a:t>
            </a:r>
            <a:r>
              <a:rPr b="1"/>
              <a:t>&lt;</a:t>
            </a:r>
            <a:r>
              <a:rPr/>
              <a:t>, </a:t>
            </a:r>
            <a:r>
              <a:rPr b="1"/>
              <a:t>&gt;</a:t>
            </a:r>
            <a:r>
              <a:rPr/>
              <a:t>, or </a:t>
            </a:r>
            <a:r>
              <a:rPr b="1"/>
              <a:t>=</a:t>
            </a:r>
          </a:p>
          <a:p>
            <a:pPr lvl="0"/>
            <a:r>
              <a:rPr/>
              <a:t>Identify the predicted pattern: symmetrical, asymmetrical, or no relationship</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10 Run the RH2 chi-square</a:t>
            </a:r>
          </a:p>
        </p:txBody>
      </p:sp>
      <p:sp>
        <p:nvSpPr>
          <p:cNvPr id="3" name="Content Placeholder 2"/>
          <p:cNvSpPr>
            <a:spLocks noGrp="1"/>
          </p:cNvSpPr>
          <p:nvPr>
            <p:ph idx="1"/>
          </p:nvPr>
        </p:nvSpPr>
        <p:spPr/>
        <p:txBody>
          <a:bodyPr/>
          <a:lstStyle/>
          <a:p>
            <a:pPr lvl="0" indent="0">
              <a:buNone/>
            </a:pPr>
            <a:r>
              <a:rPr>
                <a:latin typeface="Courier"/>
              </a:rPr>
              <a:t>CROSSTABS
  /TABLES=
    clark_grp BY tomatometer
  /STATISTICS=CHISQ
  /CELLS=COUNT EXPECTED
    ROW COLUMN.</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11 Describe the RH2 counts first</a:t>
            </a:r>
          </a:p>
        </p:txBody>
      </p:sp>
      <p:pic>
        <p:nvPicPr>
          <p:cNvPr descr="Clark height group by rating, 8 complete cases. Under 6 ft: 0 Rotten and 2 Fresh, with displayed expected counts 0.2 and 1.8. At least 6 ft: 1 Rotten and 5 Fresh, with displayed expected counts 0.8 and 5.2. Column totals: 1 Rotten and 7 Fresh." id="0" name="Picture 1"/>
          <p:cNvPicPr>
            <a:picLocks noGrp="1" noChangeAspect="1"/>
          </p:cNvPicPr>
          <p:nvPr/>
        </p:nvPicPr>
        <p:blipFill>
          <a:blip r:embed="rId3"/>
          <a:stretch>
            <a:fillRect/>
          </a:stretch>
        </p:blipFill>
        <p:spPr bwMode="auto">
          <a:xfrm>
            <a:off x="3454400" y="2628900"/>
            <a:ext cx="5283200" cy="2590800"/>
          </a:xfrm>
          <a:prstGeom prst="rect">
            <a:avLst/>
          </a:prstGeom>
          <a:noFill/>
          <a:ln w="9525">
            <a:noFill/>
            <a:headEnd/>
            <a:tailEnd/>
          </a:ln>
        </p:spPr>
      </p:pic>
      <p:sp>
        <p:nvSpPr>
          <p:cNvPr id="1" name="TextBox 3"/>
          <p:cNvSpPr txBox="1"/>
          <p:nvPr>
            <p:ph idx="1"/>
          </p:nvPr>
        </p:nvSpPr>
        <p:spPr>
          <a:xfrm>
            <a:off x="1092200" y="5219700"/>
            <a:ext cx="9994900" cy="508000"/>
          </a:xfrm>
          <a:prstGeom prst="rect">
            <a:avLst/>
          </a:prstGeom>
          <a:noFill/>
        </p:spPr>
        <p:txBody>
          <a:bodyPr/>
          <a:lstStyle/>
          <a:p>
            <a:pPr lvl="0" indent="0" marL="0" algn="ctr">
              <a:buNone/>
            </a:pPr>
            <a:r>
              <a:rPr b="1"/>
              <a:t>How does each row compare with the RH?</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12 Report RH2 in Table 2</a:t>
            </a:r>
          </a:p>
        </p:txBody>
      </p:sp>
      <p:sp>
        <p:nvSpPr>
          <p:cNvPr id="3" name="Content Placeholder 2"/>
          <p:cNvSpPr>
            <a:spLocks noGrp="1"/>
          </p:cNvSpPr>
          <p:nvPr>
            <p:ph idx="1"/>
          </p:nvPr>
        </p:nvSpPr>
        <p:spPr/>
        <p:txBody>
          <a:bodyPr/>
          <a:lstStyle/>
          <a:p>
            <a:pPr lvl="0" indent="0" marL="0">
              <a:buNone/>
            </a:pPr>
            <a:r>
              <a:rPr/>
              <a:t>[Finish RH2]</a:t>
            </a:r>
          </a:p>
          <a:p>
            <a:pPr lvl="0"/>
            <a:r>
              <a:rPr/>
              <a:t>Complete the worksheet’s </a:t>
            </a:r>
            <a:r>
              <a:rPr b="1"/>
              <a:t>Table 2</a:t>
            </a:r>
          </a:p>
          <a:p>
            <a:pPr lvl="0"/>
            <a:r>
              <a:rPr/>
              <a:t>Refer to Table 2 when describing the pattern and test result</a:t>
            </a:r>
          </a:p>
          <a:p>
            <a:pPr lvl="0"/>
            <a:r>
              <a:rPr/>
              <a:t>Add the required screenshot of correct checker answers</a:t>
            </a:r>
          </a:p>
        </p:txBody>
      </p:sp>
    </p:spTree>
  </p:cSld>
</p:sld>
</file>

<file path=ppt/theme/theme1.xml><?xml version="1.0" encoding="utf-8"?>
<a:theme xmlns:a="http://schemas.openxmlformats.org/drawingml/2006/main" name="Parcel">
  <a:themeElements>
    <a:clrScheme name="Custom 3">
      <a:dk1>
        <a:srgbClr val="000000"/>
      </a:dk1>
      <a:lt1>
        <a:srgbClr val="FFFFFF"/>
      </a:lt1>
      <a:dk2>
        <a:srgbClr val="4A5356"/>
      </a:dk2>
      <a:lt2>
        <a:srgbClr val="E8E3CE"/>
      </a:lt2>
      <a:accent1>
        <a:srgbClr val="B65B00"/>
      </a:accent1>
      <a:accent2>
        <a:srgbClr val="5E5E5E"/>
      </a:accent2>
      <a:accent3>
        <a:srgbClr val="005392"/>
      </a:accent3>
      <a:accent4>
        <a:srgbClr val="FEFB00"/>
      </a:accent4>
      <a:accent5>
        <a:srgbClr val="87795D"/>
      </a:accent5>
      <a:accent6>
        <a:srgbClr val="A0988C"/>
      </a:accent6>
      <a:hlink>
        <a:srgbClr val="005392"/>
      </a:hlink>
      <a:folHlink>
        <a:srgbClr val="738F97"/>
      </a:folHlink>
    </a:clrScheme>
    <a:fontScheme name="Parcel">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arcel" id="{8BEC4385-4EB9-4D53-BFB5-0EA123736B6D}" vid="{4DB32801-28C0-48B0-8C1D-A9A58613615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Parcel</Template>
  <TotalTime>4</TotalTime>
  <Words>0</Words>
  <Application>Microsoft Macintosh PowerPoint</Application>
  <PresentationFormat>Widescreen</PresentationFormat>
  <Paragraphs>0</Paragraphs>
  <Slides>1</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Gill Sans MT</vt:lpstr>
      <vt:lpstr>Parcel</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Correlation and Chi-Square</dc:title>
  <dc:creator>PSYC 350 Laboratory</dc:creator>
  <cp:keywords/>
  <dcterms:created xsi:type="dcterms:W3CDTF">2026-09-10T18:11:57Z</dcterms:created>
  <dcterms:modified xsi:type="dcterms:W3CDTF">2026-09-10T18:11:57Z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quarto-vars">
    <vt:lpwstr/>
  </property>
  <property fmtid="{D5CDD505-2E9C-101B-9397-08002B2CF9AE}" pid="3" name="affiliations">
    <vt:lpwstr/>
  </property>
  <property fmtid="{D5CDD505-2E9C-101B-9397-08002B2CF9AE}" pid="4" name="authors">
    <vt:lpwstr/>
  </property>
  <property fmtid="{D5CDD505-2E9C-101B-9397-08002B2CF9AE}" pid="5" name="back-to-top-navigation">
    <vt:lpwstr>True</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execute">
    <vt:lpwstr/>
  </property>
  <property fmtid="{D5CDD505-2E9C-101B-9397-08002B2CF9AE}" pid="10" name="header-includes">
    <vt:lpwstr/>
  </property>
  <property fmtid="{D5CDD505-2E9C-101B-9397-08002B2CF9AE}" pid="11" name="include-after">
    <vt:lpwstr/>
  </property>
  <property fmtid="{D5CDD505-2E9C-101B-9397-08002B2CF9AE}" pid="12" name="include-back-link">
    <vt:lpwstr>False</vt:lpwstr>
  </property>
  <property fmtid="{D5CDD505-2E9C-101B-9397-08002B2CF9AE}" pid="13" name="include-before">
    <vt:lpwstr/>
  </property>
  <property fmtid="{D5CDD505-2E9C-101B-9397-08002B2CF9AE}" pid="14" name="institute">
    <vt:lpwstr>University of Nebraska–Lincoln</vt:lpwstr>
  </property>
  <property fmtid="{D5CDD505-2E9C-101B-9397-08002B2CF9AE}" pid="15" name="institutes">
    <vt:lpwstr/>
  </property>
  <property fmtid="{D5CDD505-2E9C-101B-9397-08002B2CF9AE}" pid="16" name="labels">
    <vt:lpwstr/>
  </property>
  <property fmtid="{D5CDD505-2E9C-101B-9397-08002B2CF9AE}" pid="17" name="nebraska-pptx">
    <vt:lpwstr/>
  </property>
  <property fmtid="{D5CDD505-2E9C-101B-9397-08002B2CF9AE}" pid="18" name="revealjs-plugins">
    <vt:lpwstr/>
  </property>
  <property fmtid="{D5CDD505-2E9C-101B-9397-08002B2CF9AE}" pid="19" name="subtitle">
    <vt:lpwstr>Lab 07 · Two-Variable Analyses</vt:lpwstr>
  </property>
  <property fmtid="{D5CDD505-2E9C-101B-9397-08002B2CF9AE}" pid="20" name="toc-title">
    <vt:lpwstr>Table of contents</vt:lpwstr>
  </property>
</Properties>
</file>