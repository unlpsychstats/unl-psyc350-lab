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1" Type="http://schemas.openxmlformats.org/officeDocument/2006/relationships/slideMaster" Target="slideMasters/slideMaster1.xml" /><Relationship Id="rId41" Type="http://schemas.openxmlformats.org/officeDocument/2006/relationships/presProps" Target="presProps.xml" /><Relationship Id="rId42" Type="http://schemas.openxmlformats.org/officeDocument/2006/relationships/viewProps" Target="viewProps.xml" /><Relationship Id="rId43" Type="http://schemas.openxmlformats.org/officeDocument/2006/relationships/theme" Target="theme/theme1.xml" /><Relationship Id="rId44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unl.libguides.com/researchtools" TargetMode="External" /><Relationship Id="rId4" Type="http://schemas.openxmlformats.org/officeDocument/2006/relationships/hyperlink" Target="https://unl.libguides.com/psyc350" TargetMode="External" /><Relationship Id="rId5" Type="http://schemas.openxmlformats.org/officeDocument/2006/relationships/hyperlink" Target="https://unl.illiad.oclc.org/illiad/logon.html" TargetMode="External" /><Relationship Id="rId6" Type="http://schemas.openxmlformats.org/officeDocument/2006/relationships/hyperlink" Target="https://unl.libguides.com/scholar" TargetMode="External" /><Relationship Id="rId7" Type="http://schemas.openxmlformats.org/officeDocument/2006/relationships/hyperlink" Target="https://libguides.usc.edu/searching/boolean" TargetMode="Externa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jp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nl.libguides.com/informationliteracytutorials/search" TargetMode="Externa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Project Planning &amp; Bibliographic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5</a:t>
            </a:r>
            <a:br/>
            <a:br/>
            <a:r>
              <a:rPr/>
              <a:t>PSYCH 350-Lab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Introduction to Research Project MaterialsLiterature ReviewsBibliographic Research Assignment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Introduction to Research Project MaterialsLiterature ReviewsBibliographic Research Assignment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Research Project Data Sets and Project Planning (1/2)</a:t>
            </a:r>
          </a:p>
        </p:txBody>
      </p:sp>
      <p:sp>
        <p:nvSpPr>
          <p:cNvPr id="1002" name="card-blue" descr="card: [book icon]. Project Materials"/>
          <p:cNvSpPr/>
          <p:nvPr/>
        </p:nvSpPr>
        <p:spPr>
          <a:xfrm>
            <a:off x="1097280" y="263347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Project Materials</a:t>
            </a:r>
          </a:p>
        </p:txBody>
      </p:sp>
      <p:sp>
        <p:nvSpPr>
          <p:cNvPr id="1003" name="card-rail" descr=""/>
          <p:cNvSpPr/>
          <p:nvPr/>
        </p:nvSpPr>
        <p:spPr>
          <a:xfrm>
            <a:off x="1097280" y="263347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4" name="card-blue" descr="card: [book icon]. Research Project Suggestions [PDF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Research Project Suggestions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5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6" name="card-blue" descr="card: [book icon]. Self-Descriptive Survey Materials (select one)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Self-Descriptive Survey Materials (select one)</a:t>
            </a:r>
          </a:p>
        </p:txBody>
      </p:sp>
      <p:sp>
        <p:nvSpPr>
          <p:cNvPr id="1007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8" name="card-blue" descr="card: [book icon]. Self-Descriptive Content &amp; Methods [PDF]"/>
          <p:cNvSpPr/>
          <p:nvPr/>
        </p:nvSpPr>
        <p:spPr>
          <a:xfrm>
            <a:off x="1097280" y="348691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Self-Descriptive Content &amp; Methods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9" name="card-rail" descr=""/>
          <p:cNvSpPr/>
          <p:nvPr/>
        </p:nvSpPr>
        <p:spPr>
          <a:xfrm>
            <a:off x="1097280" y="348691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0" name="card-steel" descr="card: [chart icon]. Self-Descriptive Dataset (.sav) [SPSS data file]"/>
          <p:cNvSpPr/>
          <p:nvPr/>
        </p:nvSpPr>
        <p:spPr>
          <a:xfrm>
            <a:off x="4459224" y="348691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Self-Descriptive Dataset (.sav)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1" name="card-rail" descr=""/>
          <p:cNvSpPr/>
          <p:nvPr/>
        </p:nvSpPr>
        <p:spPr>
          <a:xfrm>
            <a:off x="4459224" y="348691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2" name="card-blue" descr="card: [book icon]. Interpersonal Survey Materials"/>
          <p:cNvSpPr/>
          <p:nvPr/>
        </p:nvSpPr>
        <p:spPr>
          <a:xfrm>
            <a:off x="7821168" y="348691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Interpersonal Survey Materials</a:t>
            </a:r>
          </a:p>
        </p:txBody>
      </p:sp>
      <p:sp>
        <p:nvSpPr>
          <p:cNvPr id="1013" name="card-rail" descr=""/>
          <p:cNvSpPr/>
          <p:nvPr/>
        </p:nvSpPr>
        <p:spPr>
          <a:xfrm>
            <a:off x="7821168" y="348691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Research Project Data Sets and Project Planning (2/2)</a:t>
            </a:r>
          </a:p>
        </p:txBody>
      </p:sp>
      <p:sp>
        <p:nvSpPr>
          <p:cNvPr id="1014" name="card-blue" descr="card: [book icon]. Interpersonal Content &amp; Methods [PDF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Interpersonal Content &amp; Methods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15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6" name="card-steel" descr="card: [chart icon]. Interpersonal Dataset (.sav) [SPSS data file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Interpersonal Dataset (.sav)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7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Project Pre-proposal (select one)</a:t>
            </a:r>
          </a:p>
        </p:txBody>
      </p:sp>
      <p:sp>
        <p:nvSpPr>
          <p:cNvPr id="1018" name="card-blue" descr="card: [book icon]. Self-Descriptive Pre-proposal [Word document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Self-Descriptive Pre-proposal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19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0" name="card-blue" descr="card: [book icon]. Interpersonal Pre-proposal [Word document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Interpersonal Pre-proposal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21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references for your project</a:t>
            </a:r>
          </a:p>
        </p:txBody>
      </p:sp>
      <p:sp>
        <p:nvSpPr>
          <p:cNvPr id="1022" name="card-blue" descr="card: [book icon]. Research Project References &amp; Literature Review Worksheet [Word document]"/>
          <p:cNvSpPr/>
          <p:nvPr/>
        </p:nvSpPr>
        <p:spPr>
          <a:xfrm>
            <a:off x="1097280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Research Project References &amp; Literature Review Worksheet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23" name="card-rail" descr=""/>
          <p:cNvSpPr/>
          <p:nvPr/>
        </p:nvSpPr>
        <p:spPr>
          <a:xfrm>
            <a:off x="1097280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Research Project Pre-Proposal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0: Select Data Source for project</a:t>
            </a:r>
          </a:p>
          <a:p>
            <a:pPr lvl="0"/>
            <a:r>
              <a:rPr/>
              <a:t>Step 1: Select </a:t>
            </a:r>
            <a:r>
              <a:rPr b="1"/>
              <a:t>CORE</a:t>
            </a:r>
            <a:r>
              <a:rPr/>
              <a:t> variable</a:t>
            </a:r>
          </a:p>
          <a:p>
            <a:pPr lvl="0"/>
            <a:r>
              <a:rPr/>
              <a:t>Step 2: Find (3) references related to the </a:t>
            </a:r>
            <a:r>
              <a:rPr b="1"/>
              <a:t>CONCEPT</a:t>
            </a:r>
            <a:r>
              <a:rPr/>
              <a:t> measured by core variable</a:t>
            </a:r>
          </a:p>
          <a:p>
            <a:pPr lvl="0"/>
            <a:r>
              <a:rPr/>
              <a:t>Step 3: Select other variables for RHs in project</a:t>
            </a:r>
          </a:p>
          <a:p>
            <a:pPr lvl="1"/>
            <a:r>
              <a:rPr/>
              <a:t>Var 1 (Quant)</a:t>
            </a:r>
          </a:p>
          <a:p>
            <a:pPr lvl="1"/>
            <a:r>
              <a:rPr/>
              <a:t>Var 2 (Quant)</a:t>
            </a:r>
          </a:p>
          <a:p>
            <a:pPr lvl="1"/>
            <a:r>
              <a:rPr/>
              <a:t>Var 3 (Cat)</a:t>
            </a:r>
          </a:p>
          <a:p>
            <a:pPr lvl="1"/>
            <a:r>
              <a:rPr/>
              <a:t>Var 4 (Cat)</a:t>
            </a:r>
          </a:p>
          <a:p>
            <a:pPr lvl="1"/>
            <a:r>
              <a:rPr/>
              <a:t>BONUS: Var 5 (Quant) &amp; Var 6 (Cat)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1024" name="callout-important" descr="important callout: Important. Reminder!! You will only complete and turn in ONE Project Pre-Proposal worksheet!"/>
          <p:cNvSpPr/>
          <p:nvPr/>
        </p:nvSpPr>
        <p:spPr>
          <a:xfrm>
            <a:off x="1097280" y="26334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00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5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Important</a:t>
            </a:r>
          </a:p>
        </p:txBody>
      </p:sp>
      <p:sp>
        <p:nvSpPr>
          <p:cNvPr id="1026" name="callout-body" descr=""/>
          <p:cNvSpPr/>
          <p:nvPr/>
        </p:nvSpPr>
        <p:spPr>
          <a:xfrm>
            <a:off x="1097280" y="29535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Reminder!! You will only complete and turn in ONE Project Pre-Proposal worksheet!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Reviewing the Literature</a:t>
            </a:r>
          </a:p>
        </p:txBody>
      </p:sp>
      <p:pic>
        <p:nvPicPr>
          <p:cNvPr descr="Comic grid titled Types of Psych Paper showing twelve parody psychology paper layouts with titles like Children Are So Weird and Freud Was Very Wro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2628900"/>
            <a:ext cx="18161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Function of </a:t>
            </a:r>
            <a:r>
              <a:rPr b="1"/>
              <a:t>literature review</a:t>
            </a:r>
            <a:r>
              <a:rPr/>
              <a:t> is to:</a:t>
            </a:r>
          </a:p>
          <a:p>
            <a:pPr lvl="1"/>
            <a:r>
              <a:rPr/>
              <a:t>🎉 </a:t>
            </a:r>
            <a:r>
              <a:rPr b="1"/>
              <a:t>define</a:t>
            </a:r>
            <a:r>
              <a:rPr/>
              <a:t> relevant constructs</a:t>
            </a:r>
          </a:p>
          <a:p>
            <a:pPr lvl="1"/>
            <a:r>
              <a:rPr/>
              <a:t>💡 </a:t>
            </a:r>
            <a:r>
              <a:rPr b="1"/>
              <a:t>build</a:t>
            </a:r>
            <a:r>
              <a:rPr/>
              <a:t> on prior work</a:t>
            </a:r>
          </a:p>
          <a:p>
            <a:pPr lvl="1"/>
            <a:r>
              <a:rPr/>
              <a:t>🚧 </a:t>
            </a:r>
            <a:r>
              <a:rPr b="1"/>
              <a:t>design</a:t>
            </a:r>
            <a:r>
              <a:rPr/>
              <a:t> program of research</a:t>
            </a:r>
          </a:p>
          <a:p>
            <a:pPr lvl="1"/>
            <a:r>
              <a:rPr/>
              <a:t>🎤 </a:t>
            </a:r>
            <a:r>
              <a:rPr b="1"/>
              <a:t>demonstrate</a:t>
            </a:r>
            <a:r>
              <a:rPr/>
              <a:t> credibility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Internet-ing as an academic</a:t>
            </a:r>
          </a:p>
        </p:txBody>
      </p:sp>
      <p:sp>
        <p:nvSpPr>
          <p:cNvPr id="1027" name="callout-tip" descr="tip callout: Tip. If you need help or have questions, ask a Librarian!"/>
          <p:cNvSpPr/>
          <p:nvPr/>
        </p:nvSpPr>
        <p:spPr>
          <a:xfrm>
            <a:off x="1097280" y="26334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8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29" name="callout-body" descr=""/>
          <p:cNvSpPr/>
          <p:nvPr/>
        </p:nvSpPr>
        <p:spPr>
          <a:xfrm>
            <a:off x="1097280" y="29535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If you need help or have questions, ask a Librarian!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Internet-ing as an academic (continued)</a:t>
            </a:r>
          </a:p>
        </p:txBody>
      </p:sp>
      <p:pic>
        <p:nvPicPr>
          <p:cNvPr descr="Meme contrasting a bored man labeled peer-reviewed articles and sources with a woman surrounded by microphones labeled psychology facts from Facebook, TikTok, and YouTub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92200" y="2794000"/>
            <a:ext cx="49022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UNL </a:t>
            </a:r>
            <a:r>
              <a:rPr>
                <a:hlinkClick r:id="rId3"/>
              </a:rPr>
              <a:t>Library Resources</a:t>
            </a:r>
          </a:p>
          <a:p>
            <a:pPr lvl="1"/>
            <a:r>
              <a:rPr>
                <a:hlinkClick r:id="rId4"/>
              </a:rPr>
              <a:t>PSYC-350 Guide</a:t>
            </a:r>
          </a:p>
          <a:p>
            <a:pPr lvl="1"/>
            <a:r>
              <a:rPr>
                <a:hlinkClick r:id="rId5"/>
              </a:rPr>
              <a:t>Interlibrary loan service</a:t>
            </a:r>
          </a:p>
          <a:p>
            <a:pPr lvl="0"/>
            <a:r>
              <a:rPr>
                <a:hlinkClick r:id="rId6"/>
              </a:rPr>
              <a:t>Google Scholar</a:t>
            </a:r>
          </a:p>
          <a:p>
            <a:pPr lvl="0"/>
            <a:r>
              <a:rPr>
                <a:hlinkClick r:id="rId7"/>
              </a:rPr>
              <a:t>Boolean Searching</a:t>
            </a:r>
          </a:p>
          <a:p>
            <a:pPr lvl="1"/>
            <a:r>
              <a:rPr/>
              <a:t>Be creative!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IYKYK</a:t>
            </a:r>
          </a:p>
        </p:txBody>
      </p:sp>
      <p:pic>
        <p:nvPicPr>
          <p:cNvPr descr="Toy Story meme where a paper my university does not have access to is dropped with the caption I do not want to reference you anymor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628900"/>
            <a:ext cx="3797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Toy Story meme where a paper my university does not have access to is dropped with the caption I do not want to reference you anymore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IYKYK (continued)</a:t>
            </a:r>
          </a:p>
        </p:txBody>
      </p:sp>
      <p:sp>
        <p:nvSpPr>
          <p:cNvPr id="1030" name="callout-tip" descr="tip callout: Tip. I am definitely not telling you to use an alternative open-source site like Sci-hub because I would never tell you to do that because IP &amp; copyright law is super-duper moral and uncomplicated."/>
          <p:cNvSpPr/>
          <p:nvPr/>
        </p:nvSpPr>
        <p:spPr>
          <a:xfrm>
            <a:off x="1097280" y="26334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1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32" name="callout-body" descr=""/>
          <p:cNvSpPr/>
          <p:nvPr/>
        </p:nvSpPr>
        <p:spPr>
          <a:xfrm>
            <a:off x="1097280" y="29535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 am definitely not telling you to use an alternative open-source site like Sci-hub because I would never tell you to do that because IP &amp; copyright law is super-duper moral and uncomplicated.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Practice: Lit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</a:t>
            </a:r>
            <a:r>
              <a:rPr/>
              <a:t> Find a starting point (identify topic/concept of interest)</a:t>
            </a:r>
          </a:p>
          <a:p>
            <a:pPr lvl="0"/>
            <a:r>
              <a:rPr b="1"/>
              <a:t>Step 2:</a:t>
            </a:r>
            <a:r>
              <a:rPr/>
              <a:t> Expand the search: Find more </a:t>
            </a:r>
            <a:r>
              <a:rPr b="1"/>
              <a:t>recent</a:t>
            </a:r>
            <a:r>
              <a:rPr/>
              <a:t> articles</a:t>
            </a:r>
          </a:p>
          <a:p>
            <a:pPr lvl="0"/>
            <a:r>
              <a:rPr b="1"/>
              <a:t>Step 3:</a:t>
            </a:r>
            <a:r>
              <a:rPr/>
              <a:t> Expand the search: Find more </a:t>
            </a:r>
            <a:r>
              <a:rPr b="1"/>
              <a:t>older</a:t>
            </a:r>
            <a:r>
              <a:rPr/>
              <a:t> articles</a:t>
            </a:r>
          </a:p>
          <a:p>
            <a:pPr lvl="0"/>
            <a:r>
              <a:rPr b="1"/>
              <a:t>Step 4:</a:t>
            </a:r>
            <a:r>
              <a:rPr/>
              <a:t> Defining the “Scope” and “Structure” of your topic</a:t>
            </a:r>
          </a:p>
          <a:p>
            <a:pPr lvl="0"/>
            <a:r>
              <a:rPr b="1"/>
              <a:t>Step 5:</a:t>
            </a:r>
            <a:r>
              <a:rPr/>
              <a:t> Search key </a:t>
            </a:r>
            <a:r>
              <a:rPr b="1"/>
              <a:t>terms</a:t>
            </a:r>
            <a:r>
              <a:rPr/>
              <a:t> in PsycINFO</a:t>
            </a:r>
          </a:p>
          <a:p>
            <a:pPr lvl="0"/>
            <a:r>
              <a:rPr b="1"/>
              <a:t>Step 6:</a:t>
            </a:r>
            <a:r>
              <a:rPr/>
              <a:t> Expand with key </a:t>
            </a:r>
            <a:r>
              <a:rPr b="1"/>
              <a:t>author</a:t>
            </a:r>
            <a:r>
              <a:rPr/>
              <a:t> search</a:t>
            </a:r>
          </a:p>
          <a:p>
            <a:pPr lvl="0"/>
            <a:r>
              <a:rPr b="1"/>
              <a:t>Step 7:</a:t>
            </a:r>
            <a:r>
              <a:rPr/>
              <a:t> Organize, track &amp; take notes for each article</a:t>
            </a:r>
          </a:p>
          <a:p>
            <a:pPr lvl="1"/>
            <a:r>
              <a:rPr/>
              <a:t>Zotero → APA references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Hindsight bias</a:t>
            </a:r>
          </a:p>
          <a:p>
            <a:pPr lvl="0" indent="0" marL="0">
              <a:buNone/>
            </a:pPr>
            <a:r>
              <a:rPr/>
              <a:t>The tendency for individuals to rely on new knowledge when recalling their initial predictions of an event.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Getting started (continued)</a:t>
            </a:r>
          </a:p>
        </p:txBody>
      </p:sp>
      <p:pic>
        <p:nvPicPr>
          <p:cNvPr descr="Dwight Schrute meme captioned You knew I was trouble when I walked in? False. Hindsight bias.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16400" y="2628900"/>
            <a:ext cx="37465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Dwight Schrute meme captioned You knew I was trouble when I walked in? False. Hindsight bias.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 types: </a:t>
            </a:r>
            <a:r>
              <a:rPr>
                <a:latin typeface="Courier"/>
              </a:rPr>
              <a:t>classic</a:t>
            </a:r>
            <a:r>
              <a:rPr/>
              <a:t> vs </a:t>
            </a:r>
            <a:r>
              <a:rPr>
                <a:latin typeface="Courier"/>
              </a:rPr>
              <a:t>hot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“Classic” reference</a:t>
            </a:r>
          </a:p>
          <a:p>
            <a:pPr lvl="0" indent="0" marL="0">
              <a:buNone/>
            </a:pPr>
            <a:r>
              <a:rPr/>
              <a:t>An older reference on the subject – the building blocks of the field, cited in recent literature.</a:t>
            </a:r>
          </a:p>
          <a:p>
            <a:pPr lvl="0" indent="0" marL="0">
              <a:buNone/>
            </a:pPr>
            <a:r>
              <a:rPr/>
              <a:t>“Hot new” reference</a:t>
            </a:r>
          </a:p>
          <a:p>
            <a:pPr lvl="0" indent="0" marL="0">
              <a:buNone/>
            </a:pPr>
            <a:r>
              <a:rPr/>
              <a:t>A recent reference (within ~5 years) – identifies the current state of the field.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classic</a:t>
            </a:r>
            <a:r>
              <a:rPr/>
              <a:t> reference</a:t>
            </a:r>
          </a:p>
        </p:txBody>
      </p:sp>
      <p:pic>
        <p:nvPicPr>
          <p:cNvPr descr="Screenshot of the UNL Libraries A-Z Databases page listing research databases with APA PsycInfo featur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70400" y="2628900"/>
            <a:ext cx="3225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UNL Libraries A-Z Databases page listing research databases with APA PsycInfo featured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classic</a:t>
            </a:r>
            <a:r>
              <a:rPr/>
              <a:t> reference (continued)</a:t>
            </a:r>
          </a:p>
        </p:txBody>
      </p:sp>
      <p:pic>
        <p:nvPicPr>
          <p:cNvPr descr="Screenshot of the APA PsycInfo advanced search page with hindsight bias typed into the search box and autocomplete suggestions display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70400" y="2628900"/>
            <a:ext cx="3225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APA PsycInfo advanced search page with hindsight bias typed into the search box and autocomplete suggestions displayed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classic</a:t>
            </a:r>
            <a:r>
              <a:rPr/>
              <a:t> reference (continued)</a:t>
            </a:r>
          </a:p>
        </p:txBody>
      </p:sp>
      <p:pic>
        <p:nvPicPr>
          <p:cNvPr descr="Annotated screenshot of PsycInfo search results for hindsight bias, highlighting keyword fields, AND and OR connectors, the result count, and filters for access, date, and peer review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70400" y="2628900"/>
            <a:ext cx="3225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Annotated screenshot of PsycInfo search results for hindsight bias, highlighting keyword fields, AND and OR connectors, the result count, and filters for access, date, and peer review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classic</a:t>
            </a:r>
            <a:r>
              <a:rPr/>
              <a:t> reference (continued)</a:t>
            </a:r>
          </a:p>
        </p:txBody>
      </p:sp>
      <p:pic>
        <p:nvPicPr>
          <p:cNvPr descr="Screenshot of PsycInfo search results with the sort menu open, highlighting the option to sort results by dat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628900"/>
            <a:ext cx="3136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PsycInfo search results with the sort menu open, highlighting the option to sort results by date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classic</a:t>
            </a:r>
            <a:r>
              <a:rPr/>
              <a:t> reference (continued)</a:t>
            </a:r>
          </a:p>
        </p:txBody>
      </p:sp>
      <p:pic>
        <p:nvPicPr>
          <p:cNvPr descr="Annotated screenshot of a 1981 PsycInfo article record on hindsight bias, highlighting the Times Cited link for finding newer articles and the journal name for checking quality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628900"/>
            <a:ext cx="3136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Annotated screenshot of a 1981 PsycInfo article record on hindsight bias, highlighting the Times Cited link for finding newer articles and the journal name for checking quality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a </a:t>
            </a:r>
            <a:r>
              <a:rPr>
                <a:latin typeface="Courier"/>
              </a:rPr>
              <a:t>Hot New</a:t>
            </a:r>
            <a:r>
              <a:rPr/>
              <a:t> reference</a:t>
            </a:r>
          </a:p>
        </p:txBody>
      </p:sp>
      <p:pic>
        <p:nvPicPr>
          <p:cNvPr descr="Annotated screenshot of a PsycInfo article record highlighting where to read the article, save it to Zotero, and find the journal name, date, author affiliation, related terms, and related citation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628900"/>
            <a:ext cx="3136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Annotated screenshot of a PsycInfo article record highlighting where to read the article, save it to Zotero, and find the journal name, date, author affiliation, related terms, and related citations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Practice: Lit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</a:t>
            </a:r>
            <a:r>
              <a:rPr/>
              <a:t> Find a stating point (identify topic/concept of interest)</a:t>
            </a:r>
          </a:p>
          <a:p>
            <a:pPr lvl="1"/>
            <a:r>
              <a:rPr/>
              <a:t>Find a </a:t>
            </a:r>
            <a:r>
              <a:rPr b="1"/>
              <a:t>“classic”</a:t>
            </a:r>
            <a:r>
              <a:rPr/>
              <a:t> (older) reference on subject</a:t>
            </a:r>
          </a:p>
          <a:p>
            <a:pPr lvl="1"/>
            <a:r>
              <a:rPr/>
              <a:t>Find a </a:t>
            </a:r>
            <a:r>
              <a:rPr b="1"/>
              <a:t>“hot new”</a:t>
            </a:r>
            <a:r>
              <a:rPr/>
              <a:t> reference</a:t>
            </a:r>
          </a:p>
          <a:p>
            <a:pPr lvl="0"/>
            <a:r>
              <a:rPr b="1"/>
              <a:t>Step 2:</a:t>
            </a:r>
            <a:r>
              <a:rPr/>
              <a:t> Expand the search: Find more </a:t>
            </a:r>
            <a:r>
              <a:rPr b="1"/>
              <a:t>recent</a:t>
            </a:r>
            <a:r>
              <a:rPr/>
              <a:t> articles</a:t>
            </a:r>
          </a:p>
          <a:p>
            <a:pPr lvl="0"/>
            <a:r>
              <a:rPr b="1"/>
              <a:t>Step 3:</a:t>
            </a:r>
            <a:r>
              <a:rPr/>
              <a:t> Expand the search: Find more </a:t>
            </a:r>
            <a:r>
              <a:rPr b="1"/>
              <a:t>older</a:t>
            </a:r>
            <a:r>
              <a:rPr/>
              <a:t> articles</a:t>
            </a:r>
          </a:p>
          <a:p>
            <a:pPr lvl="0"/>
            <a:r>
              <a:rPr b="1"/>
              <a:t>Step 4:</a:t>
            </a:r>
            <a:r>
              <a:rPr/>
              <a:t> Define the “Scope” and “Structure” of your topic</a:t>
            </a:r>
          </a:p>
          <a:p>
            <a:pPr lvl="0"/>
            <a:r>
              <a:rPr b="1"/>
              <a:t>Step 5:</a:t>
            </a:r>
            <a:r>
              <a:rPr/>
              <a:t> Search key </a:t>
            </a:r>
            <a:r>
              <a:rPr b="1"/>
              <a:t>terms</a:t>
            </a:r>
            <a:r>
              <a:rPr/>
              <a:t> in PsycINFO</a:t>
            </a:r>
          </a:p>
          <a:p>
            <a:pPr lvl="0"/>
            <a:r>
              <a:rPr b="1"/>
              <a:t>Step 6:</a:t>
            </a:r>
            <a:r>
              <a:rPr/>
              <a:t> Expand with key </a:t>
            </a:r>
            <a:r>
              <a:rPr b="1"/>
              <a:t>author</a:t>
            </a:r>
            <a:r>
              <a:rPr/>
              <a:t> search</a:t>
            </a:r>
          </a:p>
          <a:p>
            <a:pPr lvl="0"/>
            <a:r>
              <a:rPr b="1"/>
              <a:t>Step 7:</a:t>
            </a:r>
            <a:r>
              <a:rPr/>
              <a:t> Organize, track &amp; take notes for each article</a:t>
            </a:r>
          </a:p>
          <a:p>
            <a:pPr lvl="1"/>
            <a:r>
              <a:rPr/>
              <a:t>Zotero → APA references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</a:t>
            </a:r>
          </a:p>
        </p:txBody>
      </p:sp>
      <p:pic>
        <p:nvPicPr>
          <p:cNvPr descr="Screenshot of the Google Scholar homepage with an empty search bar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Google Scholar homepage with an empty search bar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 (continued)</a:t>
            </a:r>
          </a:p>
        </p:txBody>
      </p:sp>
      <p:pic>
        <p:nvPicPr>
          <p:cNvPr descr="Screenshot of Google Scholar with hindsight typed into the search bar and autocomplete suggestions including hindsight bia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Google Scholar with hindsight typed into the search bar and autocomplete suggestions including hindsight bias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 (continued)</a:t>
            </a:r>
          </a:p>
        </p:txBody>
      </p:sp>
      <p:pic>
        <p:nvPicPr>
          <p:cNvPr descr="Screenshot of Google Scholar search results for hindsight bias showing article titles, citation counts, and PDF link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Google Scholar search results for hindsight bias showing article titles, citation counts, and PDF links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 (continued)</a:t>
            </a:r>
          </a:p>
        </p:txBody>
      </p:sp>
      <p:pic>
        <p:nvPicPr>
          <p:cNvPr descr="Screenshot of Google Scholar results within citing articles for the paper Hindsight bias, showing newer related studi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Google Scholar results within citing articles for the paper Hindsight bias, showing newer related studies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 (continued)</a:t>
            </a:r>
          </a:p>
        </p:txBody>
      </p:sp>
      <p:pic>
        <p:nvPicPr>
          <p:cNvPr descr="Screenshot of the Sage Journals page for the 2012 article Hindsight Bias by Roese and Vohs, showing the abstract and article detail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Sage Journals page for the 2012 article Hindsight Bias by Roese and Vohs, showing the abstract and article details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2-3: Expand the search (continued)</a:t>
            </a:r>
          </a:p>
        </p:txBody>
      </p:sp>
      <p:pic>
        <p:nvPicPr>
          <p:cNvPr descr="Screenshot of the references section of the Hindsight Bias article on Sage Journals, listing related citation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628900"/>
            <a:ext cx="34417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references section of the Hindsight Bias article on Sage Journals, listing related citations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Practice: Lit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</a:t>
            </a:r>
            <a:r>
              <a:rPr/>
              <a:t> Find a stating point (identify topic/concept of interest)</a:t>
            </a:r>
          </a:p>
          <a:p>
            <a:pPr lvl="1"/>
            <a:r>
              <a:rPr/>
              <a:t>Find a </a:t>
            </a:r>
            <a:r>
              <a:rPr b="1"/>
              <a:t>“classic”</a:t>
            </a:r>
            <a:r>
              <a:rPr/>
              <a:t> (older) reference on subject</a:t>
            </a:r>
          </a:p>
          <a:p>
            <a:pPr lvl="1"/>
            <a:r>
              <a:rPr/>
              <a:t>Find a </a:t>
            </a:r>
            <a:r>
              <a:rPr b="1"/>
              <a:t>“hot new”</a:t>
            </a:r>
            <a:r>
              <a:rPr/>
              <a:t> reference</a:t>
            </a:r>
          </a:p>
          <a:p>
            <a:pPr lvl="0"/>
            <a:r>
              <a:rPr b="1"/>
              <a:t>Step 2:</a:t>
            </a:r>
            <a:r>
              <a:rPr/>
              <a:t> Expand the search: Find more </a:t>
            </a:r>
            <a:r>
              <a:rPr b="1"/>
              <a:t>recent</a:t>
            </a:r>
            <a:r>
              <a:rPr/>
              <a:t> articles</a:t>
            </a:r>
          </a:p>
          <a:p>
            <a:pPr lvl="1"/>
            <a:r>
              <a:rPr/>
              <a:t>Identify current state of field (within ~5 years)</a:t>
            </a:r>
          </a:p>
          <a:p>
            <a:pPr lvl="0"/>
            <a:r>
              <a:rPr b="1"/>
              <a:t>Step 3:</a:t>
            </a:r>
            <a:r>
              <a:rPr/>
              <a:t> Expand the search: Find more </a:t>
            </a:r>
            <a:r>
              <a:rPr b="1"/>
              <a:t>older</a:t>
            </a:r>
            <a:r>
              <a:rPr/>
              <a:t> articles</a:t>
            </a:r>
          </a:p>
          <a:p>
            <a:pPr lvl="1"/>
            <a:r>
              <a:rPr/>
              <a:t>Identify articles cited in recent literature (building blocks of field)</a:t>
            </a:r>
          </a:p>
          <a:p>
            <a:pPr lvl="0"/>
            <a:r>
              <a:rPr b="1"/>
              <a:t>Step 4:</a:t>
            </a:r>
            <a:r>
              <a:rPr/>
              <a:t> Defining the “Scope” and “Structure” of your topic</a:t>
            </a:r>
          </a:p>
          <a:p>
            <a:pPr lvl="0"/>
            <a:r>
              <a:rPr b="1"/>
              <a:t>Step 5:</a:t>
            </a:r>
            <a:r>
              <a:rPr/>
              <a:t> Search key </a:t>
            </a:r>
            <a:r>
              <a:rPr b="1"/>
              <a:t>terms</a:t>
            </a:r>
            <a:r>
              <a:rPr/>
              <a:t> in PsycINFO</a:t>
            </a:r>
          </a:p>
          <a:p>
            <a:pPr lvl="0"/>
            <a:r>
              <a:rPr b="1"/>
              <a:t>Step 6:</a:t>
            </a:r>
            <a:r>
              <a:rPr/>
              <a:t> Expand with key </a:t>
            </a:r>
            <a:r>
              <a:rPr b="1"/>
              <a:t>author</a:t>
            </a:r>
            <a:r>
              <a:rPr/>
              <a:t> search</a:t>
            </a:r>
          </a:p>
          <a:p>
            <a:pPr lvl="0"/>
            <a:r>
              <a:rPr b="1"/>
              <a:t>Step 7:</a:t>
            </a:r>
            <a:r>
              <a:rPr/>
              <a:t> Organize, track &amp; take notes for each article</a:t>
            </a:r>
          </a:p>
          <a:p>
            <a:pPr lvl="1"/>
            <a:r>
              <a:rPr/>
              <a:t>Zotero → APA references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4-6: Find &amp; Use Key Terms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select </a:t>
            </a:r>
            <a:r>
              <a:rPr>
                <a:latin typeface="Courier"/>
              </a:rPr>
              <a:t>good</a:t>
            </a:r>
            <a:r>
              <a:rPr/>
              <a:t> articles</a:t>
            </a:r>
          </a:p>
        </p:txBody>
      </p:sp>
      <p:sp>
        <p:nvSpPr>
          <p:cNvPr id="1033" name="callout-caution" descr="caution callout: Caution. Always check the Journal impact factor if you do not recognize the publication!!"/>
          <p:cNvSpPr/>
          <p:nvPr/>
        </p:nvSpPr>
        <p:spPr>
          <a:xfrm>
            <a:off x="1097280" y="26334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4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Caution</a:t>
            </a:r>
          </a:p>
        </p:txBody>
      </p:sp>
      <p:sp>
        <p:nvSpPr>
          <p:cNvPr id="1035" name="callout-body" descr=""/>
          <p:cNvSpPr/>
          <p:nvPr/>
        </p:nvSpPr>
        <p:spPr>
          <a:xfrm>
            <a:off x="1097280" y="29535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Always check the Journal impact factor if you do not recognize the publication!!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select </a:t>
            </a:r>
            <a:r>
              <a:rPr>
                <a:latin typeface="Courier"/>
              </a:rPr>
              <a:t>good</a:t>
            </a:r>
            <a:r>
              <a:rPr/>
              <a:t> articles (continued)</a:t>
            </a:r>
          </a:p>
        </p:txBody>
      </p:sp>
      <p:pic>
        <p:nvPicPr>
          <p:cNvPr descr="Distracted boyfriend meme where students look away from PsycINFO toward a Google link to a recent small study from a predatory journal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40200" y="2628900"/>
            <a:ext cx="3898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Distracted boyfriend meme where students look away from PsycINFO toward a Google link to a recent small study from a predatory journal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select </a:t>
            </a:r>
            <a:r>
              <a:rPr>
                <a:latin typeface="Courier"/>
              </a:rPr>
              <a:t>good</a:t>
            </a:r>
            <a:r>
              <a:rPr/>
              <a:t> articles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Learn more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Steps of Bibliographic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1: Find a stating point (identify topic/concept of interest)</a:t>
            </a:r>
          </a:p>
          <a:p>
            <a:pPr lvl="1"/>
            <a:r>
              <a:rPr/>
              <a:t>Find a </a:t>
            </a:r>
            <a:r>
              <a:rPr b="1"/>
              <a:t>“classic”</a:t>
            </a:r>
            <a:r>
              <a:rPr/>
              <a:t> (older) reference on subject</a:t>
            </a:r>
          </a:p>
          <a:p>
            <a:pPr lvl="1"/>
            <a:r>
              <a:rPr/>
              <a:t>Find a </a:t>
            </a:r>
            <a:r>
              <a:rPr b="1"/>
              <a:t>“hot new”</a:t>
            </a:r>
            <a:r>
              <a:rPr/>
              <a:t> reference</a:t>
            </a:r>
          </a:p>
          <a:p>
            <a:pPr lvl="0"/>
            <a:r>
              <a:rPr/>
              <a:t>Step 2: Expand the search: Find more </a:t>
            </a:r>
            <a:r>
              <a:rPr b="1"/>
              <a:t>recent</a:t>
            </a:r>
            <a:r>
              <a:rPr/>
              <a:t> articles</a:t>
            </a:r>
          </a:p>
          <a:p>
            <a:pPr lvl="1"/>
            <a:r>
              <a:rPr/>
              <a:t>Identify current state of field (within ~5 years)</a:t>
            </a:r>
          </a:p>
          <a:p>
            <a:pPr lvl="0"/>
            <a:r>
              <a:rPr/>
              <a:t>Step 3: Expand the search: Find more </a:t>
            </a:r>
            <a:r>
              <a:rPr b="1"/>
              <a:t>older</a:t>
            </a:r>
            <a:r>
              <a:rPr/>
              <a:t> articles</a:t>
            </a:r>
          </a:p>
          <a:p>
            <a:pPr lvl="1"/>
            <a:r>
              <a:rPr/>
              <a:t>Identify articles cited in recent literature (building blocks of field)</a:t>
            </a:r>
          </a:p>
          <a:p>
            <a:pPr lvl="0"/>
            <a:r>
              <a:rPr/>
              <a:t>Step 4: Defining the “Scope” and “Structure” of your topic</a:t>
            </a:r>
          </a:p>
          <a:p>
            <a:pPr lvl="1"/>
            <a:r>
              <a:rPr/>
              <a:t>Locate any review articles or encyclopedia entries</a:t>
            </a:r>
          </a:p>
          <a:p>
            <a:pPr lvl="0"/>
            <a:r>
              <a:rPr/>
              <a:t>Step 5: Search key </a:t>
            </a:r>
            <a:r>
              <a:rPr b="1"/>
              <a:t>terms</a:t>
            </a:r>
            <a:r>
              <a:rPr/>
              <a:t> in PsycINFO</a:t>
            </a:r>
          </a:p>
          <a:p>
            <a:pPr lvl="0"/>
            <a:r>
              <a:rPr/>
              <a:t>Step 6: Expand with key </a:t>
            </a:r>
            <a:r>
              <a:rPr b="1"/>
              <a:t>author</a:t>
            </a:r>
            <a:r>
              <a:rPr/>
              <a:t> search</a:t>
            </a:r>
          </a:p>
          <a:p>
            <a:pPr lvl="0"/>
            <a:r>
              <a:rPr/>
              <a:t>Step 7: Organize, track &amp; take notes for each article (use Zotero for APA references)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Submit to your lab section before week 6: Research Project Pre-proposal (only the one corresponding to your dataset) and Research Project References &amp; Literature Review Worksheet</a:t>
            </a:r>
          </a:p>
          <a:p>
            <a:pPr lvl="0" indent="0" marL="0">
              <a:buNone/>
            </a:pPr>
            <a:r>
              <a:rPr b="1"/>
              <a:t>Due this week:</a:t>
            </a:r>
          </a:p>
          <a:p>
            <a:pPr lvl="0"/>
            <a:r>
              <a:rPr/>
              <a:t>Lab 04: Literature Review worksheet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Planning &amp; Bibliographic Research</dc:title>
  <dc:creator>PSYCH 350-Lab</dc:creator>
  <cp:keywords/>
  <dcterms:created xsi:type="dcterms:W3CDTF">2026-08-13T23:50:27Z</dcterms:created>
  <dcterms:modified xsi:type="dcterms:W3CDTF">2026-08-13T23:50:27Z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back-to-top-navigation">
    <vt:lpwstr>True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ack-link">
    <vt:lpwstr>False</vt:lpwstr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ghtbox">
    <vt:lpwstr>True</vt:lpwstr>
  </property>
  <property fmtid="{D5CDD505-2E9C-101B-9397-08002B2CF9AE}" pid="15" name="nebraska-pptx">
    <vt:lpwstr/>
  </property>
  <property fmtid="{D5CDD505-2E9C-101B-9397-08002B2CF9AE}" pid="16" name="pdf-max-pages-per-slide">
    <vt:lpwstr>2</vt:lpwstr>
  </property>
  <property fmtid="{D5CDD505-2E9C-101B-9397-08002B2CF9AE}" pid="17" name="pdf-separate-fragments">
    <vt:lpwstr>True</vt:lpwstr>
  </property>
  <property fmtid="{D5CDD505-2E9C-101B-9397-08002B2CF9AE}" pid="18" name="revealjs-plugins">
    <vt:lpwstr/>
  </property>
  <property fmtid="{D5CDD505-2E9C-101B-9397-08002B2CF9AE}" pid="19" name="subtitle">
    <vt:lpwstr>Lab 5</vt:lpwstr>
  </property>
  <property fmtid="{D5CDD505-2E9C-101B-9397-08002B2CF9AE}" pid="20" name="toc-title">
    <vt:lpwstr>Table of contents</vt:lpwstr>
  </property>
</Properties>
</file>