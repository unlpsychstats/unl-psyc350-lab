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students identify their dataset and core variable before they start. Their preproposal must match that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to the literature review and hypothesis steps in the diagram. Ask students what they need to know about their construct before choosing a relationship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what “big” means in the Superman example, then have students define their own construct. Searching only a scale name can miss studies that use other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 collections, items, and item details in the three panels. If needed, check one imported record together before students start saving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how to reach PsycINFO through UNL Libraries. Use PsycINFO for the worksheet searches; Google Scholar can help locate a source or follow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why later researchers cite the article: do they use its findings or methods? Its age alone doesn’t make it a classic.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how the article relates to the student’s construct or proposed relationship. The newest result isn’t always the best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paper’s reference list leads backward; </a:t>
            </a:r>
            <a:r>
              <a:rPr b="1"/>
              <a:t>Cited by</a:t>
            </a:r>
            <a:r>
              <a:rPr/>
              <a:t> leads forward. If the recent citing papers aren’t useful, revisit the choice of classic.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Students can also follow the bibliography of a paper the recent article cites. They should check abstracts before choosing.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there’s no entry for the exact construct, try a broader chapter. Save reviews and encyclopedia entries alongside the empirical articles in Zotero.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a broader keyword for too few hits, or add a term with AND for too many. Use NOT carefully; it may exclude useful papers. Record each attempt in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every name in the author list. Use the Step 5 table fields again. Fewer hits may make sense for an author with fewer publications; their website or Google Scholar can help find other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students to explain how one of their chosen articles informs their question or hypothesis. Reviews and encyclopedia entries can stay in the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the Zotero records before creating the reference page, then check alphabetization and double spacing. Have students reopen both files before submitting to confirm their work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26080"/>
            <a:ext cx="4907280" cy="31775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40" y="2926080"/>
            <a:ext cx="4907280" cy="3177540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187440" y="2313433"/>
            <a:ext cx="4907280" cy="548640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  <Relationship Id="rId3" Type="http://schemas.openxmlformats.org/officeDocument/2006/relationships/hyperlink" Target="https://unlpsychstats.github.io/UNL-PSYC350-LAB/schedule.html" TargetMode="External"/>
  <Relationship Id="rId4" Type="http://schemas.openxmlformats.org/officeDocument/2006/relationships/hyperlink" Target="https://unlpsychstats.github.io/UNL-PSYC350-LAB/labs/lab05/#materials" TargetMode="External"/>
</Relationships>
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libraries.unl.edu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Searching the Literature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05 · Literature Search</a:t>
            </a:r>
            <a:br/>
            <a:br/>
            <a:r>
              <a:rPr/>
              <a:t>PSYC 350 Laboratory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Open the Lab 05 files</a:t>
            </a:r>
          </a:p>
        </p:txBody>
      </p:sp>
      <p:sp>
        <p:nvSpPr>
          <p:cNvPr id="1001" name="card-steel" descr="card: Literature search. Worksheet: lab schedule"/>
          <p:cNvSpPr/>
          <p:nvPr/>
        </p:nvSpPr>
        <p:spPr>
          <a:xfrm>
            <a:off x="1097280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Literature search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3"/>
              </a:rPr>
              <a:t>Worksheet: lab schedule</a:t>
            </a:r>
          </a:p>
        </p:txBody>
      </p:sp>
      <p:sp>
        <p:nvSpPr>
          <p:cNvPr id="1002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3" name="card-steel" descr="card: Project materials. Project files and preproposals"/>
          <p:cNvSpPr/>
          <p:nvPr/>
        </p:nvSpPr>
        <p:spPr>
          <a:xfrm>
            <a:off x="6167628" y="2633472"/>
            <a:ext cx="4924044" cy="100584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182880" tIns="182880" rIns="182880" bIns="182880" anchor="t" wrap="square">
            <a:normAutofit/>
          </a:bodyPr>
          <a:lstStyle/>
          <a:p>
            <a:pPr algn="l"/>
            <a:r>
              <a:rPr lang="en-US" sz="2200" b="1" dirty="0">
                <a:solidFill>
                  <a:srgbClr val="010B13"/>
                </a:solidFill>
              </a:rPr>
              <a:t>Project materials</a:t>
            </a:r>
          </a:p>
          <a:p>
            <a:pPr algn="l"/>
            <a:r>
              <a:rPr lang="en-US" sz="2000" b="0" dirty="0">
                <a:solidFill>
                  <a:srgbClr val="010B13"/>
                </a:solidFill>
                <a:hlinkClick r:id="rId4"/>
              </a:rPr>
              <a:t>Project files and preproposals</a:t>
            </a:r>
          </a:p>
        </p:txBody>
      </p:sp>
      <p:sp>
        <p:nvSpPr>
          <p:cNvPr id="1004" name="card-rai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7628" y="2633472"/>
            <a:ext cx="54864" cy="100584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182880" tIns="182880" rIns="182880" bIns="182880" anchor="t" wrap="square">
            <a:normAutofit/>
          </a:bodyPr>
          <a:lstStyle/>
          <a:p/>
        </p:txBody>
      </p:sp>
      <p:sp>
        <p:nvSpPr>
          <p:cNvPr id="1005" name="prose" descr=""/>
          <p:cNvSpPr/>
          <p:nvPr/>
        </p:nvSpPr>
        <p:spPr>
          <a:xfrm>
            <a:off x="1097280" y="3785616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Zotero: open your library</a:t>
            </a:r>
          </a:p>
        </p:txBody>
      </p:sp>
      <p:sp>
        <p:nvSpPr>
          <p:cNvPr id="1006" name="prose" descr=""/>
          <p:cNvSpPr/>
          <p:nvPr/>
        </p:nvSpPr>
        <p:spPr>
          <a:xfrm>
            <a:off x="1097280" y="4236720"/>
            <a:ext cx="9994392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lIns="182880" tIns="0" rIns="182880" bIns="0" anchor="t" wrap="square">
            <a:normAutofit/>
          </a:bodyPr>
          <a:lstStyle/>
          <a:p>
            <a:pPr algn="l"/>
            <a:r>
              <a:rPr lang="en-US" sz="2000" b="0" dirty="0">
                <a:solidFill>
                  <a:srgbClr val="010B13"/>
                </a:solidFill>
              </a:rPr>
              <a:t>Choose your dataset and core variable before you search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Use research to develop your question</a:t>
            </a:r>
          </a:p>
        </p:txBody>
      </p:sp>
      <p:pic>
        <p:nvPicPr>
          <p:cNvPr descr="Research-process diagram with What, How, and Who columns. Reviewing the literature follows identifying a research question and precedes formulating a hypothesis. Later steps connect design, measurement, analysis, and reporting with samples and populations.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earlier studies to develop your research question and a testable hypothesis</a:t>
            </a:r>
          </a:p>
          <a:p>
            <a:pPr lvl="0" indent="0" marL="0">
              <a:buNone/>
            </a:pPr>
            <a:r>
              <a:rPr/>
              <a:t>Follow their references, keywords, and authors to find related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Define the construct first</a:t>
            </a:r>
          </a:p>
        </p:txBody>
      </p:sp>
      <p:pic>
        <p:nvPicPr>
          <p:cNvPr descr="How big is Superman? The words big and Superman are circled, prompting the reader to define the concept in the research question.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993900" y="2628900"/>
            <a:ext cx="3098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1]</a:t>
            </a:r>
          </a:p>
          <a:p>
            <a:pPr lvl="0" indent="-457200" marL="457200">
              <a:buAutoNum type="arabicPeriod"/>
            </a:pPr>
            <a:r>
              <a:rPr/>
              <a:t>Name your dataset and core variable</a:t>
            </a:r>
          </a:p>
          <a:p>
            <a:pPr lvl="0" indent="-457200" marL="457200">
              <a:buAutoNum type="arabicPeriod"/>
            </a:pPr>
            <a:r>
              <a:rPr/>
              <a:t>Define the construct in your own words</a:t>
            </a:r>
          </a:p>
          <a:p>
            <a:pPr lvl="0" indent="-457200" marL="457200">
              <a:buAutoNum type="arabicPeriod"/>
            </a:pPr>
            <a:r>
              <a:rPr/>
              <a:t>Describe how that construct relates to other variables</a:t>
            </a:r>
          </a:p>
          <a:p>
            <a:pPr lvl="0" indent="0" marL="0">
              <a:buNone/>
            </a:pPr>
            <a:r>
              <a:rPr/>
              <a:t>Start your search with the construct’s name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Keep selected sources in Zotero</a:t>
            </a:r>
          </a:p>
        </p:txBody>
      </p:sp>
      <p:pic>
        <p:nvPicPr>
          <p:cNvPr descr="Zotero panels labeled collections on the left, items in the middle, and metadata on the right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31900" y="2628900"/>
            <a:ext cx="46228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Create a collection named </a:t>
            </a:r>
            <a:r>
              <a:rPr b="1"/>
              <a:t>Lit Search worksheet</a:t>
            </a:r>
          </a:p>
          <a:p>
            <a:pPr lvl="0"/>
            <a:r>
              <a:rPr/>
              <a:t>Save each selected source and its PDF when available</a:t>
            </a:r>
          </a:p>
          <a:p>
            <a:pPr lvl="0"/>
            <a:r>
              <a:rPr/>
              <a:t>Check authors, title, year, and DOI against the source</a:t>
            </a:r>
          </a:p>
          <a:p>
            <a:pPr lvl="0"/>
            <a:r>
              <a:rPr/>
              <a:t>Paste reference entries into the worksheet as you go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Start in PsycINFO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Open </a:t>
            </a:r>
            <a:r>
              <a:rPr>
                <a:hlinkClick r:id="rId3"/>
              </a:rPr>
              <a:t>UNL Libraries</a:t>
            </a:r>
          </a:p>
          <a:p>
            <a:pPr lvl="0" indent="-457200" marL="457200">
              <a:buAutoNum type="arabicPeriod"/>
            </a:pPr>
            <a:r>
              <a:rPr/>
              <a:t>Use the database listing to find </a:t>
            </a:r>
            <a:r>
              <a:rPr b="1"/>
              <a:t>APA PsycINFO</a:t>
            </a:r>
          </a:p>
          <a:p>
            <a:pPr lvl="0" indent="-457200" marL="457200">
              <a:buAutoNum type="arabicPeriod"/>
            </a:pPr>
            <a:r>
              <a:rPr/>
              <a:t>Search your construct</a:t>
            </a:r>
          </a:p>
          <a:p>
            <a:pPr lvl="0" indent="-457200" marL="457200">
              <a:buAutoNum type="arabicPeriod"/>
            </a:pPr>
            <a:r>
              <a:rPr/>
              <a:t>Read titles and abstracts before selecting sources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Find one classic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1]</a:t>
            </a:r>
          </a:p>
          <a:p>
            <a:pPr lvl="0"/>
            <a:r>
              <a:rPr/>
              <a:t>Find an early or highly cited </a:t>
            </a:r>
            <a:r>
              <a:rPr b="1"/>
              <a:t>empirical article</a:t>
            </a:r>
            <a:r>
              <a:rPr/>
              <a:t> about your construct</a:t>
            </a:r>
          </a:p>
          <a:p>
            <a:pPr lvl="0"/>
            <a:r>
              <a:rPr/>
              <a:t>Check why later researchers use it</a:t>
            </a:r>
          </a:p>
          <a:p>
            <a:pPr lvl="0"/>
            <a:r>
              <a:rPr/>
              <a:t>Save it in Zotero and paste its reference into the </a:t>
            </a:r>
            <a:r>
              <a:rPr b="1"/>
              <a:t>classic reference</a:t>
            </a:r>
            <a:r>
              <a:rPr/>
              <a:t> box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Add one recent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1]</a:t>
            </a:r>
          </a:p>
          <a:p>
            <a:pPr lvl="0"/>
            <a:r>
              <a:rPr/>
              <a:t>Limit the search to the </a:t>
            </a:r>
            <a:r>
              <a:rPr b="1"/>
              <a:t>last five years</a:t>
            </a:r>
          </a:p>
          <a:p>
            <a:pPr lvl="0"/>
            <a:r>
              <a:rPr/>
              <a:t>Choose an article relevant to your project</a:t>
            </a:r>
          </a:p>
          <a:p>
            <a:pPr lvl="0"/>
            <a:r>
              <a:rPr/>
              <a:t>Save it in Zotero and paste its reference into the </a:t>
            </a:r>
            <a:r>
              <a:rPr b="1"/>
              <a:t>hot new reference</a:t>
            </a:r>
            <a:r>
              <a:rPr/>
              <a:t> box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Move forward from the classic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2]</a:t>
            </a:r>
          </a:p>
          <a:p>
            <a:pPr lvl="0" indent="-457200" marL="457200">
              <a:buAutoNum type="arabicPeriod"/>
            </a:pPr>
            <a:r>
              <a:rPr/>
              <a:t>Find papers that cite your classic article using </a:t>
            </a:r>
            <a:r>
              <a:rPr b="1"/>
              <a:t>Cited by</a:t>
            </a:r>
          </a:p>
          <a:p>
            <a:pPr lvl="0" indent="-457200" marL="457200">
              <a:buAutoNum type="arabicPeriod"/>
            </a:pPr>
            <a:r>
              <a:rPr/>
              <a:t>Limit them to the </a:t>
            </a:r>
            <a:r>
              <a:rPr b="1"/>
              <a:t>last five years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three other relevant papers</a:t>
            </a:r>
          </a:p>
          <a:p>
            <a:pPr lvl="0" indent="-457200" marL="457200">
              <a:buAutoNum type="arabicPeriod"/>
            </a:pPr>
            <a:r>
              <a:rPr/>
              <a:t>Save them in Zotero and paste their reference entries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9 Move backward from the recent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3]</a:t>
            </a:r>
          </a:p>
          <a:p>
            <a:pPr lvl="0" indent="-457200" marL="457200">
              <a:buAutoNum type="arabicPeriod"/>
            </a:pPr>
            <a:r>
              <a:rPr/>
              <a:t>Open your recent article’s reference list</a:t>
            </a:r>
          </a:p>
          <a:p>
            <a:pPr lvl="0" indent="-457200" marL="457200">
              <a:buAutoNum type="arabicPeriod"/>
            </a:pPr>
            <a:r>
              <a:rPr/>
              <a:t>Identify promising titles and look up their abstracts</a:t>
            </a:r>
          </a:p>
          <a:p>
            <a:pPr lvl="0" indent="-457200" marL="457200">
              <a:buAutoNum type="arabicPeriod"/>
            </a:pPr>
            <a:r>
              <a:rPr/>
              <a:t>Choose </a:t>
            </a:r>
            <a:r>
              <a:rPr b="1"/>
              <a:t>at least three useful references</a:t>
            </a:r>
          </a:p>
          <a:p>
            <a:pPr lvl="0" indent="-457200" marL="457200">
              <a:buAutoNum type="arabicPeriod"/>
            </a:pPr>
            <a:r>
              <a:rPr/>
              <a:t>Save them in Zotero and paste their reference entries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Get an overview of your topic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4]</a:t>
            </a:r>
          </a:p>
          <a:p>
            <a:pPr lvl="0"/>
            <a:r>
              <a:rPr/>
              <a:t>Find one </a:t>
            </a:r>
            <a:r>
              <a:rPr b="1"/>
              <a:t>Annual Review of Psychology</a:t>
            </a:r>
            <a:r>
              <a:rPr/>
              <a:t> article or </a:t>
            </a:r>
            <a:r>
              <a:rPr b="1"/>
              <a:t>encyclopedia entry</a:t>
            </a:r>
            <a:r>
              <a:rPr/>
              <a:t> about your construct</a:t>
            </a:r>
          </a:p>
          <a:p>
            <a:pPr lvl="0"/>
            <a:r>
              <a:rPr/>
              <a:t>Identify useful terms and subtopics</a:t>
            </a:r>
          </a:p>
          <a:p>
            <a:pPr lvl="0"/>
            <a:r>
              <a:rPr/>
              <a:t>Paste its reference entry and highlight the source type you chose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Refine with new keywords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5]</a:t>
            </a:r>
          </a:p>
          <a:p>
            <a:pPr lvl="0" indent="-457200" marL="457200">
              <a:buAutoNum type="arabicPeriod"/>
            </a:pPr>
            <a:r>
              <a:rPr/>
              <a:t>In </a:t>
            </a:r>
            <a:r>
              <a:rPr b="1"/>
              <a:t>PsycINFO</a:t>
            </a:r>
            <a:r>
              <a:rPr/>
              <a:t>, search your construct with a keyword from your sources</a:t>
            </a:r>
          </a:p>
          <a:p>
            <a:pPr lvl="0" indent="-457200" marL="457200">
              <a:buAutoNum type="arabicPeriod"/>
            </a:pPr>
            <a:r>
              <a:rPr/>
              <a:t>Record </a:t>
            </a:r>
            <a:r>
              <a:rPr b="1"/>
              <a:t>terms, limits/filters, hits, and what to try next</a:t>
            </a:r>
          </a:p>
          <a:p>
            <a:pPr lvl="0" indent="-457200" marL="457200">
              <a:buAutoNum type="arabicPeriod"/>
            </a:pPr>
            <a:r>
              <a:rPr/>
              <a:t>Adjust the search to get roughly </a:t>
            </a:r>
            <a:r>
              <a:rPr b="1"/>
              <a:t>30–100 results</a:t>
            </a:r>
          </a:p>
          <a:p>
            <a:pPr lvl="0" indent="-457200" marL="457200">
              <a:buAutoNum type="arabicPeriod"/>
            </a:pPr>
            <a:r>
              <a:rPr/>
              <a:t>Select </a:t>
            </a:r>
            <a:r>
              <a:rPr b="1"/>
              <a:t>three references</a:t>
            </a:r>
            <a:r>
              <a:rPr/>
              <a:t>, save them, and paste their entries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 Search recurring authors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[Worksheet Step 6]</a:t>
            </a:r>
          </a:p>
          <a:p>
            <a:pPr lvl="0" indent="-457200" marL="457200">
              <a:buAutoNum type="arabicPeriod"/>
            </a:pPr>
            <a:r>
              <a:rPr/>
              <a:t>Identify an author who appears in several sources</a:t>
            </a:r>
          </a:p>
          <a:p>
            <a:pPr lvl="0" indent="-457200" marL="457200">
              <a:buAutoNum type="arabicPeriod"/>
            </a:pPr>
            <a:r>
              <a:rPr/>
              <a:t>Search their name in the </a:t>
            </a:r>
            <a:r>
              <a:rPr b="1"/>
              <a:t>Author</a:t>
            </a:r>
            <a:r>
              <a:rPr/>
              <a:t> field plus a topic term in </a:t>
            </a:r>
            <a:r>
              <a:rPr b="1"/>
              <a:t>PsycINFO</a:t>
            </a:r>
          </a:p>
          <a:p>
            <a:pPr lvl="0" indent="-457200" marL="457200">
              <a:buAutoNum type="arabicPeriod"/>
            </a:pPr>
            <a:r>
              <a:rPr/>
              <a:t>Record each attempt; aim for roughly </a:t>
            </a:r>
            <a:r>
              <a:rPr b="1"/>
              <a:t>10–30 results</a:t>
            </a:r>
          </a:p>
          <a:p>
            <a:pPr lvl="0" indent="-457200" marL="457200">
              <a:buAutoNum type="arabicPeriod"/>
            </a:pPr>
            <a:r>
              <a:rPr/>
              <a:t>Select </a:t>
            </a:r>
            <a:r>
              <a:rPr b="1"/>
              <a:t>three references</a:t>
            </a:r>
            <a:r>
              <a:rPr/>
              <a:t>, save them, and paste their entries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13 Choose sources for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</a:t>
            </a:r>
            <a:r>
              <a:rPr b="1"/>
              <a:t>at least three empirical, peer-reviewed journal articles</a:t>
            </a:r>
            <a:r>
              <a:rPr/>
              <a:t> for your preproposal</a:t>
            </a:r>
          </a:p>
          <a:p>
            <a:pPr lvl="0"/>
            <a:r>
              <a:rPr/>
              <a:t>How does each article address your construct or proposed relationship?</a:t>
            </a:r>
          </a:p>
          <a:p>
            <a:pPr lvl="0"/>
            <a:r>
              <a:rPr/>
              <a:t>Which finding or method helps you develop the project?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14 Finish the worksheet and preproposal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Complete all six steps and requested reference entries</a:t>
            </a:r>
          </a:p>
          <a:p>
            <a:pPr lvl="0" indent="-457200" marL="457200">
              <a:buAutoNum type="arabicPeriod"/>
            </a:pPr>
            <a:r>
              <a:rPr/>
              <a:t>Check that you have </a:t>
            </a:r>
            <a:r>
              <a:rPr b="1"/>
              <a:t>at least 12 references</a:t>
            </a:r>
            <a:r>
              <a:rPr/>
              <a:t> and add an </a:t>
            </a:r>
            <a:r>
              <a:rPr b="1"/>
              <a:t>APA reference page</a:t>
            </a:r>
            <a:r>
              <a:rPr/>
              <a:t> listing them all</a:t>
            </a:r>
          </a:p>
          <a:p>
            <a:pPr lvl="0" indent="-457200" marL="457200">
              <a:buAutoNum type="arabicPeriod"/>
            </a:pPr>
            <a:r>
              <a:rPr/>
              <a:t>Complete the preproposal that matches your dataset</a:t>
            </a:r>
          </a:p>
          <a:p>
            <a:pPr lvl="0" indent="-457200" marL="457200">
              <a:buAutoNum type="arabicPeriod"/>
            </a:pPr>
            <a:r>
              <a:rPr/>
              <a:t>Submit </a:t>
            </a:r>
            <a:r>
              <a:rPr b="1"/>
              <a:t>both the worksheet and preproposal before Week 6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B65B00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Searching the Literature</dc:title>
  <dc:creator>PSYC 350 Laboratory</dc:creator>
  <cp:keywords/>
  <dcterms:created xsi:type="dcterms:W3CDTF">2026-09-10T18:11:42Z</dcterms:created>
  <dcterms:modified xsi:type="dcterms:W3CDTF">2026-09-10T18:11:42Z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ffiliations">
    <vt:lpwstr/>
  </property>
  <property fmtid="{D5CDD505-2E9C-101B-9397-08002B2CF9AE}" pid="4" name="authors">
    <vt:lpwstr/>
  </property>
  <property fmtid="{D5CDD505-2E9C-101B-9397-08002B2CF9AE}" pid="5" name="back-to-top-navigation">
    <vt:lpwstr>True</vt:lpwstr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ack-link">
    <vt:lpwstr>False</vt:lpwstr>
  </property>
  <property fmtid="{D5CDD505-2E9C-101B-9397-08002B2CF9AE}" pid="13" name="include-before">
    <vt:lpwstr/>
  </property>
  <property fmtid="{D5CDD505-2E9C-101B-9397-08002B2CF9AE}" pid="14" name="institute">
    <vt:lpwstr>University of Nebraska–Lincoln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nebraska-pptx">
    <vt:lpwstr/>
  </property>
  <property fmtid="{D5CDD505-2E9C-101B-9397-08002B2CF9AE}" pid="18" name="revealjs-plugins">
    <vt:lpwstr/>
  </property>
  <property fmtid="{D5CDD505-2E9C-101B-9397-08002B2CF9AE}" pid="19" name="subtitle">
    <vt:lpwstr>Lab 05 · Literature Search</vt:lpwstr>
  </property>
  <property fmtid="{D5CDD505-2E9C-101B-9397-08002B2CF9AE}" pid="20" name="toc-title">
    <vt:lpwstr>Table of contents</vt:lpwstr>
  </property>
</Properties>
</file>