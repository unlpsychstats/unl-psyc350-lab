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1" Type="http://schemas.openxmlformats.org/officeDocument/2006/relationships/slideMaster" Target="slideMasters/slideMaster1.xml" /><Relationship Id="rId19" Type="http://schemas.openxmlformats.org/officeDocument/2006/relationships/presProps" Target="presProps.xml" /><Relationship Id="rId20" Type="http://schemas.openxmlformats.org/officeDocument/2006/relationships/viewProps" Target="viewProps.xml" /><Relationship Id="rId21" Type="http://schemas.openxmlformats.org/officeDocument/2006/relationships/theme" Target="theme/theme1.xml" /><Relationship Id="rId22"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students to open the worksheet, Zotero, and the UNL Libraries database page. They should already have selected a final-project dataset and core variable.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is not to collect isolated PDFs. Each useful article should lead to terminology, authors, cited sources, or newer work that strengthens the project literature.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worksheet Step 1. Warn students not to search only for the scale name. A measure is one operationalization; the literature search should begin with the broader psychological construct.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Students will paste citations into the worksheet as they go and use the collection to create the final APA reference page. Remind them that imported metadata can still contain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 how to open PsycINFO from the library website. Students may use Google Scholar as a supplement, but the worksheet asks them to practice the structured database tools.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Older does not automatically mean foundational. Citation counts, terminology, and later articles’ descriptions can help students judge whether a source is a useful anchor.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recent anchor shows current theories, measures, and questions. Relevance to the student’s project matters more than selecting the newest article in the list.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worksheet Step 2. If the forward search produces little relevant work, students should reconsider whether their classic article is truly central to the construct.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worksheet Step 3. Students should not pick citations at random. They should verify the article’s topic and usefulness before adding it to Zotero.</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worksheet Step 4. Review sources are useful maps, but the final project still needs at least three empirical, peer-reviewed journal articles.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worksheet Step 5. Model one revision from too broad to useful. The target range is a practical guide, not a rule that replaces judgment.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worksheet Step 6. PsycINFO should be the primary practice tool, but an author’s website or Google Scholar can help identify complete publication information.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Students will collect more than the minimum, then select the strongest sources. Remind them that relevance and design quality matter more than citation count alone.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worksheet requires at least 12 collected references, including at least three empirical, peer-reviewed journal articles that can support the project. Demonstrate generating a bibliography from the collection if students need a reminder.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students time to compare their work against the worksheet point values. The most common problems are searching the measure instead of the construct and trusting imported citation metadata without checking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Searching the Literature</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05 · Build a Research Trail</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Prepare your search workspace</a:t>
            </a:r>
          </a:p>
        </p:txBody>
      </p:sp>
      <p:sp>
        <p:nvSpPr>
          <p:cNvPr id="3" name="Content Placeholder 2"/>
          <p:cNvSpPr>
            <a:spLocks noGrp="1"/>
          </p:cNvSpPr>
          <p:nvPr>
            <p:ph idx="1"/>
          </p:nvPr>
        </p:nvSpPr>
        <p:spPr/>
        <p:txBody>
          <a:bodyPr/>
          <a:lstStyle/>
          <a:p>
            <a:pPr lvl="0"/>
            <a:r>
              <a:rPr b="1"/>
              <a:t>Worksheet:</a:t>
            </a:r>
            <a:r>
              <a:rPr/>
              <a:t> Lab 05 Literature Search</a:t>
            </a:r>
          </a:p>
          <a:p>
            <a:pPr lvl="0"/>
            <a:r>
              <a:rPr b="1"/>
              <a:t>Project:</a:t>
            </a:r>
            <a:r>
              <a:rPr/>
              <a:t> chosen dataset and core variable</a:t>
            </a:r>
          </a:p>
          <a:p>
            <a:pPr lvl="0"/>
            <a:r>
              <a:rPr b="1"/>
              <a:t>Tools:</a:t>
            </a:r>
            <a:r>
              <a:rPr/>
              <a:t> PsycINFO, Zotero, and article PDFs</a:t>
            </a:r>
          </a:p>
          <a:p>
            <a:pPr lvl="0" indent="0" marL="0">
              <a:buNone/>
            </a:pPr>
            <a:r>
              <a:rPr/>
              <a:t>Today’s path: </a:t>
            </a:r>
            <a:r>
              <a:rPr b="1"/>
              <a:t>define → anchor → expand → refine → report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Build a connected research trail</a:t>
            </a:r>
          </a:p>
        </p:txBody>
      </p:sp>
      <p:pic>
        <p:nvPicPr>
          <p:cNvPr descr="Research cycle showing how questions, literature, hypotheses, design, data, analysis, and reporting connect and repeat" id="0" name="Picture 1"/>
          <p:cNvPicPr>
            <a:picLocks noGrp="1" noChangeAspect="1"/>
          </p:cNvPicPr>
          <p:nvPr/>
        </p:nvPicPr>
        <p:blipFill>
          <a:blip r:embed="rId3"/>
          <a:stretch>
            <a:fillRect/>
          </a:stretch>
        </p:blipFill>
        <p:spPr bwMode="auto">
          <a:xfrm>
            <a:off x="4546600" y="2628900"/>
            <a:ext cx="3098800" cy="3098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Define the construct first</a:t>
            </a:r>
          </a:p>
        </p:txBody>
      </p:sp>
      <p:pic>
        <p:nvPicPr>
          <p:cNvPr descr="Example distinguishing a broad concept from the specific way it is measured in a research question" id="0" name="Picture 1"/>
          <p:cNvPicPr>
            <a:picLocks noGrp="1" noChangeAspect="1"/>
          </p:cNvPicPr>
          <p:nvPr/>
        </p:nvPicPr>
        <p:blipFill>
          <a:blip r:embed="rId3"/>
          <a:stretch>
            <a:fillRect/>
          </a:stretch>
        </p:blipFill>
        <p:spPr bwMode="auto">
          <a:xfrm>
            <a:off x="1993900" y="2628900"/>
            <a:ext cx="30988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457200" marL="457200">
              <a:buAutoNum type="arabicPeriod"/>
            </a:pPr>
            <a:r>
              <a:rPr/>
              <a:t>Name the </a:t>
            </a:r>
            <a:r>
              <a:rPr b="1"/>
              <a:t>core variable</a:t>
            </a:r>
            <a:r>
              <a:rPr/>
              <a:t>.</a:t>
            </a:r>
          </a:p>
          <a:p>
            <a:pPr lvl="0" indent="-457200" marL="457200">
              <a:buAutoNum type="arabicPeriod"/>
            </a:pPr>
            <a:r>
              <a:rPr/>
              <a:t>Identify the </a:t>
            </a:r>
            <a:r>
              <a:rPr b="1"/>
              <a:t>construct</a:t>
            </a:r>
            <a:r>
              <a:rPr/>
              <a:t> it represents.</a:t>
            </a:r>
          </a:p>
          <a:p>
            <a:pPr lvl="0" indent="-457200" marL="457200">
              <a:buAutoNum type="arabicPeriod"/>
            </a:pPr>
            <a:r>
              <a:rPr/>
              <a:t>Draft a plain-language conceptual definition.</a:t>
            </a:r>
          </a:p>
          <a:p>
            <a:pPr lvl="0" indent="-457200" marL="457200">
              <a:buAutoNum type="arabicPeriod"/>
            </a:pPr>
            <a:r>
              <a:rPr/>
              <a:t>List one or two related terms.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4 Keep every source in Zotero</a:t>
            </a:r>
          </a:p>
        </p:txBody>
      </p:sp>
      <p:pic>
        <p:nvPicPr>
          <p:cNvPr descr="Current Zotero interface annotated to show collections on the left, library items in the center, and item metadata on the right" id="0" name="Picture 1"/>
          <p:cNvPicPr>
            <a:picLocks noGrp="1" noChangeAspect="1"/>
          </p:cNvPicPr>
          <p:nvPr/>
        </p:nvPicPr>
        <p:blipFill>
          <a:blip r:embed="rId3"/>
          <a:stretch>
            <a:fillRect/>
          </a:stretch>
        </p:blipFill>
        <p:spPr bwMode="auto">
          <a:xfrm>
            <a:off x="1231900" y="2628900"/>
            <a:ext cx="46228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a:t>Create a collection named </a:t>
            </a:r>
            <a:r>
              <a:rPr b="1"/>
              <a:t>Lit Search worksheet</a:t>
            </a:r>
            <a:r>
              <a:rPr/>
              <a:t>.</a:t>
            </a:r>
          </a:p>
          <a:p>
            <a:pPr lvl="0"/>
            <a:r>
              <a:rPr/>
              <a:t>Save the article and its PDF when available.</a:t>
            </a:r>
          </a:p>
          <a:p>
            <a:pPr lvl="0"/>
            <a:r>
              <a:rPr/>
              <a:t>Check the metadata before generating a citation.</a:t>
            </a:r>
          </a:p>
          <a:p>
            <a:pPr lvl="0"/>
            <a:r>
              <a:rPr/>
              <a:t>Add useful keywords or notes as you read.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Start in PsycINFO</a:t>
            </a:r>
          </a:p>
        </p:txBody>
      </p:sp>
      <p:pic>
        <p:nvPicPr>
          <p:cNvPr descr="UNL Libraries database search page used to open APA PsycINFO" id="0" name="Picture 1"/>
          <p:cNvPicPr>
            <a:picLocks noGrp="1" noChangeAspect="1"/>
          </p:cNvPicPr>
          <p:nvPr/>
        </p:nvPicPr>
        <p:blipFill>
          <a:blip r:embed="rId3"/>
          <a:stretch>
            <a:fillRect/>
          </a:stretch>
        </p:blipFill>
        <p:spPr bwMode="auto">
          <a:xfrm>
            <a:off x="1612900" y="2628900"/>
            <a:ext cx="38608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457200" marL="457200">
              <a:buAutoNum type="arabicPeriod"/>
            </a:pPr>
            <a:r>
              <a:rPr/>
              <a:t>Open </a:t>
            </a:r>
            <a:r>
              <a:rPr b="1"/>
              <a:t>APA PsycINFO</a:t>
            </a:r>
            <a:r>
              <a:rPr/>
              <a:t> through UNL Libraries.</a:t>
            </a:r>
          </a:p>
          <a:p>
            <a:pPr lvl="0" indent="-457200" marL="457200">
              <a:buAutoNum type="arabicPeriod"/>
            </a:pPr>
            <a:r>
              <a:rPr/>
              <a:t>Search the construct—not only the measure.</a:t>
            </a:r>
          </a:p>
          <a:p>
            <a:pPr lvl="0" indent="-457200" marL="457200">
              <a:buAutoNum type="arabicPeriod"/>
            </a:pPr>
            <a:r>
              <a:rPr/>
              <a:t>Read titles and abstracts before saving.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Find one classic anchor</a:t>
            </a:r>
          </a:p>
        </p:txBody>
      </p:sp>
      <p:pic>
        <p:nvPicPr>
          <p:cNvPr descr="PsycINFO search results with controls for sorting and filtering articles by date" id="0" name="Picture 1"/>
          <p:cNvPicPr>
            <a:picLocks noGrp="1" noChangeAspect="1"/>
          </p:cNvPicPr>
          <p:nvPr/>
        </p:nvPicPr>
        <p:blipFill>
          <a:blip r:embed="rId3"/>
          <a:stretch>
            <a:fillRect/>
          </a:stretch>
        </p:blipFill>
        <p:spPr bwMode="auto">
          <a:xfrm>
            <a:off x="1663700" y="2628900"/>
            <a:ext cx="37592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a:t>Look for an early or highly cited empirical article.</a:t>
            </a:r>
          </a:p>
          <a:p>
            <a:pPr lvl="0"/>
            <a:r>
              <a:rPr/>
              <a:t>Check that it actually studies the construct.</a:t>
            </a:r>
          </a:p>
          <a:p>
            <a:pPr lvl="0"/>
            <a:r>
              <a:rPr/>
              <a:t>Save it as the </a:t>
            </a:r>
            <a:r>
              <a:rPr b="1"/>
              <a:t>classic reference</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Add one recent anchor</a:t>
            </a:r>
          </a:p>
        </p:txBody>
      </p:sp>
      <p:pic>
        <p:nvPicPr>
          <p:cNvPr descr="PsycINFO results filtered to show a recent article relevant to the search topic" id="0" name="Picture 1"/>
          <p:cNvPicPr>
            <a:picLocks noGrp="1" noChangeAspect="1"/>
          </p:cNvPicPr>
          <p:nvPr/>
        </p:nvPicPr>
        <p:blipFill>
          <a:blip r:embed="rId3"/>
          <a:stretch>
            <a:fillRect/>
          </a:stretch>
        </p:blipFill>
        <p:spPr bwMode="auto">
          <a:xfrm>
            <a:off x="1663700" y="2628900"/>
            <a:ext cx="37592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a:t>Limit results to the </a:t>
            </a:r>
            <a:r>
              <a:rPr b="1"/>
              <a:t>last five years</a:t>
            </a:r>
            <a:r>
              <a:rPr/>
              <a:t>.</a:t>
            </a:r>
          </a:p>
          <a:p>
            <a:pPr lvl="0"/>
            <a:r>
              <a:rPr/>
              <a:t>Choose a relevant empirical article.</a:t>
            </a:r>
          </a:p>
          <a:p>
            <a:pPr lvl="0"/>
            <a:r>
              <a:rPr/>
              <a:t>Save it as the </a:t>
            </a:r>
            <a:r>
              <a:rPr b="1"/>
              <a:t>hot new reference</a:t>
            </a:r>
            <a:r>
              <a:rPr/>
              <a: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Move forward from the classic</a:t>
            </a:r>
          </a:p>
        </p:txBody>
      </p:sp>
      <p:pic>
        <p:nvPicPr>
          <p:cNvPr descr="Article record showing links for finding sources that cite the selected article" id="0" name="Picture 1"/>
          <p:cNvPicPr>
            <a:picLocks noGrp="1" noChangeAspect="1"/>
          </p:cNvPicPr>
          <p:nvPr/>
        </p:nvPicPr>
        <p:blipFill>
          <a:blip r:embed="rId3"/>
          <a:stretch>
            <a:fillRect/>
          </a:stretch>
        </p:blipFill>
        <p:spPr bwMode="auto">
          <a:xfrm>
            <a:off x="1270000" y="2628900"/>
            <a:ext cx="45466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457200" marL="457200">
              <a:buAutoNum type="arabicPeriod"/>
            </a:pPr>
            <a:r>
              <a:rPr/>
              <a:t>Open </a:t>
            </a:r>
            <a:r>
              <a:rPr b="1"/>
              <a:t>Cited by</a:t>
            </a:r>
            <a:r>
              <a:rPr/>
              <a:t>.</a:t>
            </a:r>
          </a:p>
          <a:p>
            <a:pPr lvl="0" indent="-457200" marL="457200">
              <a:buAutoNum type="arabicPeriod"/>
            </a:pPr>
            <a:r>
              <a:rPr/>
              <a:t>Limit to the last five years.</a:t>
            </a:r>
          </a:p>
          <a:p>
            <a:pPr lvl="0" indent="-457200" marL="457200">
              <a:buAutoNum type="arabicPeriod"/>
            </a:pPr>
            <a:r>
              <a:rPr/>
              <a:t>Select three relevant articles.</a:t>
            </a:r>
          </a:p>
          <a:p>
            <a:pPr lvl="0" indent="-457200" marL="457200">
              <a:buAutoNum type="arabicPeriod"/>
            </a:pPr>
            <a:r>
              <a:rPr/>
              <a:t>Save and cite each one.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Move backward from the recent</a:t>
            </a:r>
          </a:p>
        </p:txBody>
      </p:sp>
      <p:pic>
        <p:nvPicPr>
          <p:cNvPr descr="Reference list at the end of a recent article, used to trace earlier relevant research" id="0" name="Picture 1"/>
          <p:cNvPicPr>
            <a:picLocks noGrp="1" noChangeAspect="1"/>
          </p:cNvPicPr>
          <p:nvPr/>
        </p:nvPicPr>
        <p:blipFill>
          <a:blip r:embed="rId3"/>
          <a:stretch>
            <a:fillRect/>
          </a:stretch>
        </p:blipFill>
        <p:spPr bwMode="auto">
          <a:xfrm>
            <a:off x="1485900" y="2628900"/>
            <a:ext cx="41148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457200" marL="457200">
              <a:buAutoNum type="arabicPeriod"/>
            </a:pPr>
            <a:r>
              <a:rPr/>
              <a:t>Open the recent article’s references.</a:t>
            </a:r>
          </a:p>
          <a:p>
            <a:pPr lvl="0" indent="-457200" marL="457200">
              <a:buAutoNum type="arabicPeriod"/>
            </a:pPr>
            <a:r>
              <a:rPr/>
              <a:t>Identify promising titles and authors.</a:t>
            </a:r>
          </a:p>
          <a:p>
            <a:pPr lvl="0" indent="-457200" marL="457200">
              <a:buAutoNum type="arabicPeriod"/>
            </a:pPr>
            <a:r>
              <a:rPr/>
              <a:t>Look up each record and abstract.</a:t>
            </a:r>
          </a:p>
          <a:p>
            <a:pPr lvl="0" indent="-457200" marL="457200">
              <a:buAutoNum type="arabicPeriod"/>
            </a:pPr>
            <a:r>
              <a:rPr/>
              <a:t>Save three useful sources.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Map the field’s scope</a:t>
            </a:r>
          </a:p>
        </p:txBody>
      </p:sp>
      <p:sp>
        <p:nvSpPr>
          <p:cNvPr id="3" name="Content Placeholder 2"/>
          <p:cNvSpPr>
            <a:spLocks noGrp="1"/>
          </p:cNvSpPr>
          <p:nvPr>
            <p:ph idx="1"/>
          </p:nvPr>
        </p:nvSpPr>
        <p:spPr/>
        <p:txBody>
          <a:bodyPr/>
          <a:lstStyle/>
          <a:p>
            <a:pPr lvl="0"/>
            <a:r>
              <a:rPr/>
              <a:t>Find an </a:t>
            </a:r>
            <a:r>
              <a:rPr b="1"/>
              <a:t>Annual Review</a:t>
            </a:r>
            <a:r>
              <a:rPr/>
              <a:t> article or encyclopedia entry.</a:t>
            </a:r>
          </a:p>
          <a:p>
            <a:pPr lvl="0"/>
            <a:r>
              <a:rPr/>
              <a:t>Use it to learn the field’s vocabulary and major subtopics.</a:t>
            </a:r>
          </a:p>
          <a:p>
            <a:pPr lvl="0"/>
            <a:r>
              <a:rPr/>
              <a:t>Search a broader topic if the exact construct has no review.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Refine with new keywords</a:t>
            </a:r>
          </a:p>
        </p:txBody>
      </p:sp>
      <p:pic>
        <p:nvPicPr>
          <p:cNvPr descr="PsycINFO advanced search with multiple concept terms combined in separate search rows" id="0" name="Picture 1"/>
          <p:cNvPicPr>
            <a:picLocks noGrp="1" noChangeAspect="1"/>
          </p:cNvPicPr>
          <p:nvPr/>
        </p:nvPicPr>
        <p:blipFill>
          <a:blip r:embed="rId3"/>
          <a:stretch>
            <a:fillRect/>
          </a:stretch>
        </p:blipFill>
        <p:spPr bwMode="auto">
          <a:xfrm>
            <a:off x="1612900" y="2628900"/>
            <a:ext cx="38608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a:t>Combine the construct with a related term.</a:t>
            </a:r>
          </a:p>
          <a:p>
            <a:pPr lvl="0"/>
            <a:r>
              <a:rPr/>
              <a:t>Use </a:t>
            </a:r>
            <a:r>
              <a:rPr b="1"/>
              <a:t>AND</a:t>
            </a:r>
            <a:r>
              <a:rPr/>
              <a:t> to narrow and </a:t>
            </a:r>
            <a:r>
              <a:rPr b="1"/>
              <a:t>NOT</a:t>
            </a:r>
            <a:r>
              <a:rPr/>
              <a:t> cautiously.</a:t>
            </a:r>
          </a:p>
          <a:p>
            <a:pPr lvl="0"/>
            <a:r>
              <a:rPr/>
              <a:t>Record each attempt and its number of hits.</a:t>
            </a:r>
          </a:p>
          <a:p>
            <a:pPr lvl="0"/>
            <a:r>
              <a:rPr/>
              <a:t>Aim for roughly </a:t>
            </a:r>
            <a:r>
              <a:rPr b="1"/>
              <a:t>30–100 results</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Search recurring authors</a:t>
            </a:r>
          </a:p>
        </p:txBody>
      </p:sp>
      <p:pic>
        <p:nvPicPr>
          <p:cNvPr descr="Author-focused scholarly search results used to locate additional work by a recurring researcher" id="0" name="Picture 1"/>
          <p:cNvPicPr>
            <a:picLocks noGrp="1" noChangeAspect="1"/>
          </p:cNvPicPr>
          <p:nvPr/>
        </p:nvPicPr>
        <p:blipFill>
          <a:blip r:embed="rId3"/>
          <a:stretch>
            <a:fillRect/>
          </a:stretch>
        </p:blipFill>
        <p:spPr bwMode="auto">
          <a:xfrm>
            <a:off x="1485900" y="2628900"/>
            <a:ext cx="4114800" cy="3098800"/>
          </a:xfrm>
          <a:prstGeom prst="rect">
            <a:avLst/>
          </a:prstGeom>
          <a:noFill/>
          <a:ln w="9525">
            <a:noFill/>
            <a:headEnd/>
            <a:tailEnd/>
          </a:ln>
        </p:spPr>
      </p:pic>
      <p:sp>
        <p:nvSpPr>
          <p:cNvPr id="4" name="Content Placeholder 3"/>
          <p:cNvSpPr>
            <a:spLocks noGrp="1"/>
          </p:cNvSpPr>
          <p:nvPr>
            <p:ph idx="2" sz="half"/>
          </p:nvPr>
        </p:nvSpPr>
        <p:spPr/>
        <p:txBody>
          <a:bodyPr/>
          <a:lstStyle/>
          <a:p>
            <a:pPr lvl="0" indent="-457200" marL="457200">
              <a:buAutoNum type="arabicPeriod"/>
            </a:pPr>
            <a:r>
              <a:rPr/>
              <a:t>Notice names that recur.</a:t>
            </a:r>
          </a:p>
          <a:p>
            <a:pPr lvl="0" indent="-457200" marL="457200">
              <a:buAutoNum type="arabicPeriod"/>
            </a:pPr>
            <a:r>
              <a:rPr/>
              <a:t>Search the author plus a topic term.</a:t>
            </a:r>
          </a:p>
          <a:p>
            <a:pPr lvl="0" indent="-457200" marL="457200">
              <a:buAutoNum type="arabicPeriod"/>
            </a:pPr>
            <a:r>
              <a:rPr/>
              <a:t>Aim for </a:t>
            </a:r>
            <a:r>
              <a:rPr b="1"/>
              <a:t>10–30 focused results</a:t>
            </a:r>
            <a:r>
              <a:rPr/>
              <a:t>.</a:t>
            </a:r>
          </a:p>
          <a:p>
            <a:pPr lvl="0" indent="-457200" marL="457200">
              <a:buAutoNum type="arabicPeriod"/>
            </a:pPr>
            <a:r>
              <a:rPr/>
              <a:t>Save three useful articles.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13 Choose sources deliberately</a:t>
            </a:r>
          </a:p>
        </p:txBody>
      </p:sp>
      <p:sp>
        <p:nvSpPr>
          <p:cNvPr id="3" name="Content Placeholder 2"/>
          <p:cNvSpPr>
            <a:spLocks noGrp="1"/>
          </p:cNvSpPr>
          <p:nvPr>
            <p:ph idx="1"/>
          </p:nvPr>
        </p:nvSpPr>
        <p:spPr/>
        <p:txBody>
          <a:bodyPr/>
          <a:lstStyle/>
          <a:p>
            <a:pPr lvl="0" indent="0" marL="0">
              <a:buNone/>
            </a:pPr>
            <a:r>
              <a:rPr/>
              <a:t>For each candidate, ask:</a:t>
            </a:r>
          </a:p>
          <a:p>
            <a:pPr lvl="0" indent="-457200" marL="457200">
              <a:buAutoNum type="arabicPeriod"/>
            </a:pPr>
            <a:r>
              <a:rPr/>
              <a:t>Is it empirical and peer reviewed?</a:t>
            </a:r>
          </a:p>
          <a:p>
            <a:pPr lvl="0" indent="-457200" marL="457200">
              <a:buAutoNum type="arabicPeriod"/>
            </a:pPr>
            <a:r>
              <a:rPr/>
              <a:t>Does it address the construct or a useful relationship?</a:t>
            </a:r>
          </a:p>
          <a:p>
            <a:pPr lvl="0" indent="-457200" marL="457200">
              <a:buAutoNum type="arabicPeriod"/>
            </a:pPr>
            <a:r>
              <a:rPr/>
              <a:t>Can it support the project’s rationale or hypothesis?</a:t>
            </a:r>
          </a:p>
          <a:p>
            <a:pPr lvl="0" indent="-457200" marL="457200">
              <a:buAutoNum type="arabicPeriod"/>
            </a:pPr>
            <a:r>
              <a:rPr/>
              <a:t>Is the full text available and readable?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14 Finish with one clean collection</a:t>
            </a:r>
          </a:p>
        </p:txBody>
      </p:sp>
      <p:sp>
        <p:nvSpPr>
          <p:cNvPr id="3" name="Content Placeholder 2"/>
          <p:cNvSpPr>
            <a:spLocks noGrp="1"/>
          </p:cNvSpPr>
          <p:nvPr>
            <p:ph idx="1"/>
          </p:nvPr>
        </p:nvSpPr>
        <p:spPr/>
        <p:txBody>
          <a:bodyPr/>
          <a:lstStyle/>
          <a:p>
            <a:pPr lvl="0" indent="-457200" marL="457200">
              <a:buAutoNum type="arabicPeriod"/>
            </a:pPr>
            <a:r>
              <a:rPr/>
              <a:t>Confirm at least 12 collected references.</a:t>
            </a:r>
          </a:p>
          <a:p>
            <a:pPr lvl="0" indent="-457200" marL="457200">
              <a:buAutoNum type="arabicPeriod"/>
            </a:pPr>
            <a:r>
              <a:rPr/>
              <a:t>Identify at least three empirical, peer-reviewed journal articles that can support the project.</a:t>
            </a:r>
          </a:p>
          <a:p>
            <a:pPr lvl="0" indent="-457200" marL="457200">
              <a:buAutoNum type="arabicPeriod"/>
            </a:pPr>
            <a:r>
              <a:rPr/>
              <a:t>Repair titles, authors, dates, and DOIs in Zotero.</a:t>
            </a:r>
          </a:p>
          <a:p>
            <a:pPr lvl="0" indent="-457200" marL="457200">
              <a:buAutoNum type="arabicPeriod"/>
            </a:pPr>
            <a:r>
              <a:rPr/>
              <a:t>Generate an APA 7 reference list for all collected sources and paste it into the worksheet’s References page.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15 Check before submitting</a:t>
            </a:r>
          </a:p>
        </p:txBody>
      </p:sp>
      <p:sp>
        <p:nvSpPr>
          <p:cNvPr id="3" name="Content Placeholder 2"/>
          <p:cNvSpPr>
            <a:spLocks noGrp="1"/>
          </p:cNvSpPr>
          <p:nvPr>
            <p:ph idx="1"/>
          </p:nvPr>
        </p:nvSpPr>
        <p:spPr/>
        <p:txBody>
          <a:bodyPr/>
          <a:lstStyle/>
          <a:p>
            <a:pPr lvl="0"/>
            <a:r>
              <a:rPr/>
              <a:t>Every worksheet step is complete.</a:t>
            </a:r>
          </a:p>
          <a:p>
            <a:pPr lvl="0"/>
            <a:r>
              <a:rPr/>
              <a:t>The collection contains at least 12 references, including at least three empirical, peer-reviewed journal articles.</a:t>
            </a:r>
          </a:p>
          <a:p>
            <a:pPr lvl="0"/>
            <a:r>
              <a:rPr/>
              <a:t>Citations appear in the requested boxes.</a:t>
            </a:r>
          </a:p>
          <a:p>
            <a:pPr lvl="0"/>
            <a:r>
              <a:rPr/>
              <a:t>The final reference page is alphabetized and double-spaced.</a:t>
            </a:r>
          </a:p>
          <a:p>
            <a:pPr lvl="0"/>
            <a:r>
              <a:rPr/>
              <a:t>Zotero metadata has been checked against each article.</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Searching the Literature</dc:title>
  <dc:creator>PSYC 350 Laboratory</dc:creator>
  <cp:keywords/>
  <dcterms:created xsi:type="dcterms:W3CDTF">2026-09-02T01:11:22Z</dcterms:created>
  <dcterms:modified xsi:type="dcterms:W3CDTF">2026-09-02T01:11:22Z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05 · Build a Research Trail</vt:lpwstr>
  </property>
  <property fmtid="{D5CDD505-2E9C-101B-9397-08002B2CF9AE}" pid="20" name="toc-title">
    <vt:lpwstr>Table of contents</vt:lpwstr>
  </property>
</Properties>
</file>