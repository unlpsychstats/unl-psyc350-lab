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notesMaster" Target="notesMasters/notesMaster1.xml" /><Relationship Id="rId1" Type="http://schemas.openxmlformats.org/officeDocument/2006/relationships/slideMaster" Target="slideMasters/slideMaster1.xml" /><Relationship Id="rId27" Type="http://schemas.openxmlformats.org/officeDocument/2006/relationships/presProps" Target="presProps.xml" /><Relationship Id="rId28" Type="http://schemas.openxmlformats.org/officeDocument/2006/relationships/viewProps" Target="viewProps.xml" /><Relationship Id="rId29" Type="http://schemas.openxmlformats.org/officeDocument/2006/relationships/theme" Target="theme/theme1.xml" /><Relationship Id="rId3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students to open all three sets of files before beginning. Emphasize that the worksheet is the working document; the paper comes later.</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students where the article summaries, synthesis, and proposal appear in the worksheet. The gray rows contain grading information and should not be completed.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diagram as a transition: the proposal is not a separate task. It should grow from what the two articles establish and what they leave unanswered.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questions compress the worksheet prompts into a repeatable reading routine. Model the routine with Study 1, then have students repeat it for the remaining studies.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Begin with the title and abstract. Ask students to identify the independent variable, dependent variable, and predicted direction before reading the method.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coin toss is the critical design detail. Because posture was assigned by table, Study 1 is an experiment even though it occurred in a natural restaurant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Tip percentage and bill-adjusted tips showed the same pattern. Ask students why the server’s expectation and the single-server sample still matter despite random assignment.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server did not expect posture to affect tips. The effect also appeared for tip percentage and bill-adjusted tips. The weekday interaction is a secondary qualification, not the main takeaway for the slide.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 integration as a relationship among studies, not two separate summaries. The second study broadens the context and weakens the expectancy explanation from Study 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students what changed before discussing the results: this article studies a different outcome and uses an observational rather than experimental design.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servers followed their usual behavior. Because each server brought their own personality and service style to the posture category, posture was confounded with server characteristics.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After removing one extreme score from each condition, add-on sales averaged $5.60 for squatting and $2.80 for standing. Initial visits averaged 64 versus 34 seconds. Keep the distinction between the pattern and the causal claim explicit.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design comparison to structure the synthesis. Students should not treat the two articles as equally strong causal evidence.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paragraph should move between articles rather than summarize one and then the other. Encourage students to mention the design difference because it changes confidence in the conclusions.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mechanism question is an example, not a required proposal topic. Students may pursue another justified question as long as the reviewed evidence leads clearly to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students read their sentence aloud. A reader should be able to identify exactly who is studied, what changes, what is measured, and what direction is expected.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method must be detailed enough for replication, but the first draft can begin with these five decisions. Ask students to check that each choice directly tests the hypothesis.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internal validity, ask what else could differ between conditions. For external validity, ask exactly which people, places, tasks, and times the sample can represent.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should compose these completed worksheet sections into a paper rather than drafting the paper from a blank page. Preserve the worksheet’s order.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students to move or revise any sentence that does not support the topic sentence. This keeps article details from becoming an unstructured list.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this example to distinguish synthesis from sentence combining. Both skills reduce repetition, but synthesis also explains how pieces of evidence relate.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 quotations are not needed for this assignment. Remind students to repeat the paper title at the top of the first body page and to include both course articles in the reference list.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this slide visible during work time. Encourage students to request feedback at the end of each stage rather than waiting until the full paper is drafted.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Reviewing the Literature</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04 · Literature Review &amp; Proposal</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Get ready to build the paper</a:t>
            </a:r>
          </a:p>
        </p:txBody>
      </p:sp>
      <p:sp>
        <p:nvSpPr>
          <p:cNvPr id="3" name="Content Placeholder 2"/>
          <p:cNvSpPr>
            <a:spLocks noGrp="1"/>
          </p:cNvSpPr>
          <p:nvPr>
            <p:ph idx="1"/>
          </p:nvPr>
        </p:nvSpPr>
        <p:spPr/>
        <p:txBody>
          <a:bodyPr/>
          <a:lstStyle/>
          <a:p>
            <a:pPr lvl="0"/>
            <a:r>
              <a:rPr b="1"/>
              <a:t>Worksheet:</a:t>
            </a:r>
            <a:r>
              <a:rPr/>
              <a:t> Lab 04 worksheet and hints sheet</a:t>
            </a:r>
          </a:p>
          <a:p>
            <a:pPr lvl="0"/>
            <a:r>
              <a:rPr b="1"/>
              <a:t>Evidence:</a:t>
            </a:r>
            <a:r>
              <a:rPr/>
              <a:t> Lynn and Mynier and VanVolkinburg articles</a:t>
            </a:r>
          </a:p>
          <a:p>
            <a:pPr lvl="0"/>
            <a:r>
              <a:rPr b="1"/>
              <a:t>Writing help:</a:t>
            </a:r>
            <a:r>
              <a:rPr/>
              <a:t> APA student-paper, citation, and plagiarism guides</a:t>
            </a:r>
          </a:p>
          <a:p>
            <a:pPr lvl="0" indent="0" marL="0">
              <a:buNone/>
            </a:pPr>
            <a:r>
              <a:rPr/>
              <a:t>Today’s path: </a:t>
            </a:r>
            <a:r>
              <a:rPr b="1"/>
              <a:t>read → integrate → propose → compose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Start with the worksheet</a:t>
            </a:r>
          </a:p>
        </p:txBody>
      </p:sp>
      <p:pic>
        <p:nvPicPr>
          <p:cNvPr descr="First page of the Lab 04 Literature Review and Proposal Worksheet, including its instructions and grading rows" id="0" name="Picture 1"/>
          <p:cNvPicPr>
            <a:picLocks noGrp="1" noChangeAspect="1"/>
          </p:cNvPicPr>
          <p:nvPr/>
        </p:nvPicPr>
        <p:blipFill>
          <a:blip r:embed="rId3"/>
          <a:stretch>
            <a:fillRect/>
          </a:stretch>
        </p:blipFill>
        <p:spPr bwMode="auto">
          <a:xfrm>
            <a:off x="2349500" y="2628900"/>
            <a:ext cx="24003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457200" marL="457200">
              <a:buAutoNum type="arabicPeriod"/>
            </a:pPr>
            <a:r>
              <a:rPr/>
              <a:t>Complete one section at a time.</a:t>
            </a:r>
          </a:p>
          <a:p>
            <a:pPr lvl="0" indent="-457200" marL="457200">
              <a:buAutoNum type="arabicPeriod"/>
            </a:pPr>
            <a:r>
              <a:rPr/>
              <a:t>Use the hints sheet to check details.</a:t>
            </a:r>
          </a:p>
          <a:p>
            <a:pPr lvl="0" indent="-457200" marL="457200">
              <a:buAutoNum type="arabicPeriod"/>
            </a:pPr>
            <a:r>
              <a:rPr/>
              <a:t>Compose the paper after the worksheet.</a:t>
            </a:r>
          </a:p>
          <a:p>
            <a:pPr lvl="0" indent="-457200" marL="457200">
              <a:buAutoNum type="arabicPeriod"/>
            </a:pPr>
            <a:r>
              <a:rPr/>
              <a:t>Leave the gray grading rows blank.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Literature leads to the next study</a:t>
            </a:r>
          </a:p>
        </p:txBody>
      </p:sp>
      <p:pic>
        <p:nvPicPr>
          <p:cNvPr descr="Circular research process showing a research question, literature review, hypothesis, design, data collection, analysis, and reporting, with reporting feeding the next question" id="0" name="Picture 1"/>
          <p:cNvPicPr>
            <a:picLocks noGrp="1" noChangeAspect="1"/>
          </p:cNvPicPr>
          <p:nvPr/>
        </p:nvPicPr>
        <p:blipFill>
          <a:blip r:embed="rId3"/>
          <a:stretch>
            <a:fillRect/>
          </a:stretch>
        </p:blipFill>
        <p:spPr bwMode="auto">
          <a:xfrm>
            <a:off x="4546600" y="2628900"/>
            <a:ext cx="3098800" cy="3098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Ask five questions as you read</a:t>
            </a:r>
          </a:p>
        </p:txBody>
      </p:sp>
      <p:sp>
        <p:nvSpPr>
          <p:cNvPr id="3" name="Content Placeholder 2"/>
          <p:cNvSpPr>
            <a:spLocks noGrp="1"/>
          </p:cNvSpPr>
          <p:nvPr>
            <p:ph idx="1"/>
          </p:nvPr>
        </p:nvSpPr>
        <p:spPr/>
        <p:txBody>
          <a:bodyPr/>
          <a:lstStyle/>
          <a:p>
            <a:pPr lvl="0" indent="-457200" marL="457200">
              <a:buAutoNum type="arabicPeriod"/>
            </a:pPr>
            <a:r>
              <a:rPr/>
              <a:t>Why was the study needed?</a:t>
            </a:r>
          </a:p>
          <a:p>
            <a:pPr lvl="0" indent="-457200" marL="457200">
              <a:buAutoNum type="arabicPeriod"/>
            </a:pPr>
            <a:r>
              <a:rPr/>
              <a:t>What did the researchers predict?</a:t>
            </a:r>
          </a:p>
          <a:p>
            <a:pPr lvl="0" indent="-457200" marL="457200">
              <a:buAutoNum type="arabicPeriod"/>
            </a:pPr>
            <a:r>
              <a:rPr/>
              <a:t>How did they test it?</a:t>
            </a:r>
          </a:p>
          <a:p>
            <a:pPr lvl="0" indent="-457200" marL="457200">
              <a:buAutoNum type="arabicPeriod"/>
            </a:pPr>
            <a:r>
              <a:rPr/>
              <a:t>What did they find?</a:t>
            </a:r>
          </a:p>
          <a:p>
            <a:pPr lvl="0" indent="-457200" marL="457200">
              <a:buAutoNum type="arabicPeriod"/>
            </a:pPr>
            <a:r>
              <a:rPr/>
              <a:t>What does the finding mean?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Read Lynn and Mynier first</a:t>
            </a:r>
          </a:p>
        </p:txBody>
      </p:sp>
      <p:pic>
        <p:nvPicPr>
          <p:cNvPr descr="First page of Lynn and Mynier's article Effect of Server Posture on Restaurant Tipping, showing its title, abstract, and opening paragraphs" id="0" name="Picture 1"/>
          <p:cNvPicPr>
            <a:picLocks noGrp="1" noChangeAspect="1"/>
          </p:cNvPicPr>
          <p:nvPr/>
        </p:nvPicPr>
        <p:blipFill>
          <a:blip r:embed="rId3"/>
          <a:stretch>
            <a:fillRect/>
          </a:stretch>
        </p:blipFill>
        <p:spPr bwMode="auto">
          <a:xfrm>
            <a:off x="2349500" y="2628900"/>
            <a:ext cx="24003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Two studies</a:t>
            </a:r>
            <a:r>
              <a:rPr/>
              <a:t> in restaurants</a:t>
            </a:r>
          </a:p>
          <a:p>
            <a:pPr lvl="0"/>
            <a:r>
              <a:rPr b="1"/>
              <a:t>Comparison:</a:t>
            </a:r>
            <a:r>
              <a:rPr/>
              <a:t> standing or squatting</a:t>
            </a:r>
          </a:p>
          <a:p>
            <a:pPr lvl="0"/>
            <a:r>
              <a:rPr b="1"/>
              <a:t>Outcome:</a:t>
            </a:r>
            <a:r>
              <a:rPr/>
              <a:t> customer tips</a:t>
            </a:r>
          </a:p>
          <a:p>
            <a:pPr lvl="0" indent="0" marL="0">
              <a:buNone/>
            </a:pPr>
            <a:r>
              <a:rPr/>
              <a:t>Course article: Lynn and Mynier (1993)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Study 1 assigns posture</a:t>
            </a:r>
          </a:p>
        </p:txBody>
      </p:sp>
      <p:sp>
        <p:nvSpPr>
          <p:cNvPr id="3" name="Content Placeholder 2"/>
          <p:cNvSpPr>
            <a:spLocks noGrp="1"/>
          </p:cNvSpPr>
          <p:nvPr>
            <p:ph idx="1"/>
          </p:nvPr>
        </p:nvSpPr>
        <p:spPr/>
        <p:txBody>
          <a:bodyPr/>
          <a:lstStyle/>
          <a:p>
            <a:pPr lvl="0" indent="-457200" marL="457200">
              <a:buAutoNum type="arabicPeriod"/>
            </a:pPr>
            <a:r>
              <a:rPr/>
              <a:t>A waiter served </a:t>
            </a:r>
            <a:r>
              <a:rPr b="1"/>
              <a:t>270 tables</a:t>
            </a:r>
            <a:r>
              <a:rPr/>
              <a:t>.</a:t>
            </a:r>
          </a:p>
          <a:p>
            <a:pPr lvl="0" indent="-457200" marL="457200">
              <a:buAutoNum type="arabicPeriod"/>
            </a:pPr>
            <a:r>
              <a:rPr/>
              <a:t>A coin toss assigned standing or squatting.</a:t>
            </a:r>
          </a:p>
          <a:p>
            <a:pPr lvl="0" indent="-457200" marL="457200">
              <a:buAutoNum type="arabicPeriod"/>
            </a:pPr>
            <a:r>
              <a:rPr/>
              <a:t>The posture occurred during the first visit.</a:t>
            </a:r>
          </a:p>
          <a:p>
            <a:pPr lvl="0" indent="-457200" marL="457200">
              <a:buAutoNum type="arabicPeriod"/>
            </a:pPr>
            <a:r>
              <a:rPr/>
              <a:t>The waiter recorded the bill and tip.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Record the result and limitation</a:t>
            </a:r>
          </a:p>
        </p:txBody>
      </p:sp>
      <p:sp>
        <p:nvSpPr>
          <p:cNvPr id="3" name="Content Placeholder 2"/>
          <p:cNvSpPr>
            <a:spLocks noGrp="1"/>
          </p:cNvSpPr>
          <p:nvPr>
            <p:ph idx="1"/>
          </p:nvPr>
        </p:nvSpPr>
        <p:spPr/>
        <p:txBody>
          <a:bodyPr/>
          <a:lstStyle/>
          <a:p>
            <a:pPr lvl="0"/>
            <a:r>
              <a:rPr b="1"/>
              <a:t>Result:</a:t>
            </a:r>
            <a:r>
              <a:rPr/>
              <a:t> Average tips were </a:t>
            </a:r>
            <a:r>
              <a:rPr b="1"/>
              <a:t>$5.18 standing</a:t>
            </a:r>
            <a:r>
              <a:rPr/>
              <a:t> and </a:t>
            </a:r>
            <a:r>
              <a:rPr b="1"/>
              <a:t>$6.40 squatting</a:t>
            </a:r>
            <a:r>
              <a:rPr/>
              <a:t>.</a:t>
            </a:r>
          </a:p>
          <a:p>
            <a:pPr lvl="0"/>
            <a:r>
              <a:rPr b="1"/>
              <a:t>Interpretation:</a:t>
            </a:r>
            <a:r>
              <a:rPr/>
              <a:t> Random assignment supports a causal conclusion.</a:t>
            </a:r>
          </a:p>
          <a:p>
            <a:pPr lvl="0"/>
            <a:r>
              <a:rPr b="1"/>
              <a:t>Limitation:</a:t>
            </a:r>
            <a:r>
              <a:rPr/>
              <a:t> One waiter collected the data and expected squatting to help.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Study 2 tests replication</a:t>
            </a:r>
          </a:p>
        </p:txBody>
      </p:sp>
      <p:sp>
        <p:nvSpPr>
          <p:cNvPr id="3" name="Content Placeholder 2"/>
          <p:cNvSpPr>
            <a:spLocks noGrp="1"/>
          </p:cNvSpPr>
          <p:nvPr>
            <p:ph idx="1"/>
          </p:nvPr>
        </p:nvSpPr>
        <p:spPr/>
        <p:txBody>
          <a:bodyPr/>
          <a:lstStyle/>
          <a:p>
            <a:pPr lvl="0"/>
            <a:r>
              <a:rPr b="1"/>
              <a:t>New context:</a:t>
            </a:r>
            <a:r>
              <a:rPr/>
              <a:t> 148 tables, a different server, and a different restaurant</a:t>
            </a:r>
          </a:p>
          <a:p>
            <a:pPr lvl="0"/>
            <a:r>
              <a:rPr b="1"/>
              <a:t>Same design:</a:t>
            </a:r>
            <a:r>
              <a:rPr/>
              <a:t> Coin-toss assignment to standing or squatting</a:t>
            </a:r>
          </a:p>
          <a:p>
            <a:pPr lvl="0"/>
            <a:r>
              <a:rPr b="1"/>
              <a:t>Same direction:</a:t>
            </a:r>
            <a:r>
              <a:rPr/>
              <a:t> </a:t>
            </a:r>
            <a:r>
              <a:rPr b="1"/>
              <a:t>$2.56 standing</a:t>
            </a:r>
            <a:r>
              <a:rPr/>
              <a:t> and </a:t>
            </a:r>
            <a:r>
              <a:rPr b="1"/>
              <a:t>$3.28 squatting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Integrate before moving on</a:t>
            </a:r>
          </a:p>
        </p:txBody>
      </p:sp>
      <p:sp>
        <p:nvSpPr>
          <p:cNvPr id="3" name="Content Placeholder 2"/>
          <p:cNvSpPr>
            <a:spLocks noGrp="1"/>
          </p:cNvSpPr>
          <p:nvPr>
            <p:ph idx="1"/>
          </p:nvPr>
        </p:nvSpPr>
        <p:spPr/>
        <p:txBody>
          <a:bodyPr/>
          <a:lstStyle/>
          <a:p>
            <a:pPr lvl="0" indent="-457200" marL="457200">
              <a:buAutoNum type="arabicPeriod"/>
            </a:pPr>
            <a:r>
              <a:rPr b="1"/>
              <a:t>Same:</a:t>
            </a:r>
            <a:r>
              <a:rPr/>
              <a:t> Assigned posture during the first table visit</a:t>
            </a:r>
          </a:p>
          <a:p>
            <a:pPr lvl="0" indent="-457200" marL="457200">
              <a:buAutoNum type="arabicPeriod"/>
            </a:pPr>
            <a:r>
              <a:rPr b="1"/>
              <a:t>Different:</a:t>
            </a:r>
            <a:r>
              <a:rPr/>
              <a:t> Server, restaurant, and customer sample</a:t>
            </a:r>
          </a:p>
          <a:p>
            <a:pPr lvl="0" indent="-457200" marL="457200">
              <a:buAutoNum type="arabicPeriod"/>
            </a:pPr>
            <a:r>
              <a:rPr b="1"/>
              <a:t>Together:</a:t>
            </a:r>
            <a:r>
              <a:rPr/>
              <a:t> Replication strengthens the evidence that squatting increased tips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Read VanVolkinburg next</a:t>
            </a:r>
          </a:p>
        </p:txBody>
      </p:sp>
      <p:pic>
        <p:nvPicPr>
          <p:cNvPr descr="First page of VanVolkinburg's article Restaurant Server Posture Related to Add-On Sales, showing its title, abstract, and opening paragraphs" id="0" name="Picture 1"/>
          <p:cNvPicPr>
            <a:picLocks noGrp="1" noChangeAspect="1"/>
          </p:cNvPicPr>
          <p:nvPr/>
        </p:nvPicPr>
        <p:blipFill>
          <a:blip r:embed="rId3"/>
          <a:stretch>
            <a:fillRect/>
          </a:stretch>
        </p:blipFill>
        <p:spPr bwMode="auto">
          <a:xfrm>
            <a:off x="2349500" y="2628900"/>
            <a:ext cx="24003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One observational study</a:t>
            </a:r>
          </a:p>
          <a:p>
            <a:pPr lvl="0"/>
            <a:r>
              <a:rPr b="1"/>
              <a:t>Four servers</a:t>
            </a:r>
            <a:r>
              <a:rPr/>
              <a:t> and 54 patrons</a:t>
            </a:r>
          </a:p>
          <a:p>
            <a:pPr lvl="0"/>
            <a:r>
              <a:rPr b="1"/>
              <a:t>Outcomes:</a:t>
            </a:r>
            <a:r>
              <a:rPr/>
              <a:t> visit time and add-on sales</a:t>
            </a:r>
          </a:p>
          <a:p>
            <a:pPr lvl="0" indent="0" marL="0">
              <a:buNone/>
            </a:pPr>
            <a:r>
              <a:rPr/>
              <a:t>Course article: VanVolkinburg (1998)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Here, researchers observed habits</a:t>
            </a:r>
          </a:p>
        </p:txBody>
      </p:sp>
      <p:sp>
        <p:nvSpPr>
          <p:cNvPr id="3" name="Content Placeholder 2"/>
          <p:cNvSpPr>
            <a:spLocks noGrp="1"/>
          </p:cNvSpPr>
          <p:nvPr>
            <p:ph idx="1"/>
          </p:nvPr>
        </p:nvSpPr>
        <p:spPr/>
        <p:txBody>
          <a:bodyPr/>
          <a:lstStyle/>
          <a:p>
            <a:pPr lvl="0" indent="-457200" marL="457200">
              <a:buAutoNum type="arabicPeriod"/>
            </a:pPr>
            <a:r>
              <a:rPr/>
              <a:t>Two servers usually squatted.</a:t>
            </a:r>
          </a:p>
          <a:p>
            <a:pPr lvl="0" indent="-457200" marL="457200">
              <a:buAutoNum type="arabicPeriod"/>
            </a:pPr>
            <a:r>
              <a:rPr/>
              <a:t>Two servers usually stood.</a:t>
            </a:r>
          </a:p>
          <a:p>
            <a:pPr lvl="0" indent="-457200" marL="457200">
              <a:buAutoNum type="arabicPeriod"/>
            </a:pPr>
            <a:r>
              <a:rPr/>
              <a:t>Researchers recorded visit time and sales.</a:t>
            </a:r>
          </a:p>
          <a:p>
            <a:pPr lvl="0" indent="0" marL="0">
              <a:buNone/>
            </a:pPr>
            <a:r>
              <a:rPr b="1"/>
              <a:t>No posture condition was assigned.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Match the claim to the design</a:t>
            </a:r>
          </a:p>
        </p:txBody>
      </p:sp>
      <p:sp>
        <p:nvSpPr>
          <p:cNvPr id="3" name="Content Placeholder 2"/>
          <p:cNvSpPr>
            <a:spLocks noGrp="1"/>
          </p:cNvSpPr>
          <p:nvPr>
            <p:ph idx="1"/>
          </p:nvPr>
        </p:nvSpPr>
        <p:spPr/>
        <p:txBody>
          <a:bodyPr/>
          <a:lstStyle/>
          <a:p>
            <a:pPr lvl="0"/>
            <a:r>
              <a:rPr b="1"/>
              <a:t>Pattern:</a:t>
            </a:r>
            <a:r>
              <a:rPr/>
              <a:t> Squatting servers spent more time at tables and had higher add-on sales after extreme scores were removed.</a:t>
            </a:r>
          </a:p>
          <a:p>
            <a:pPr lvl="0"/>
            <a:r>
              <a:rPr b="1"/>
              <a:t>Limit:</a:t>
            </a:r>
            <a:r>
              <a:rPr/>
              <a:t> Posture and server characteristics varied together.</a:t>
            </a:r>
          </a:p>
          <a:p>
            <a:pPr lvl="0"/>
            <a:r>
              <a:rPr b="1"/>
              <a:t>Claim:</a:t>
            </a:r>
            <a:r>
              <a:rPr/>
              <a:t> Posture was </a:t>
            </a:r>
            <a:r>
              <a:rPr b="1"/>
              <a:t>related to</a:t>
            </a:r>
            <a:r>
              <a:rPr/>
              <a:t> the outcomes; it was not shown to cause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13 The designs support different claims</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2489200"/>
                <a:gridCol w="2489200"/>
                <a:gridCol w="2489200"/>
                <a:gridCol w="2489200"/>
              </a:tblGrid>
              <a:tr h="0">
                <a:tc>
                  <a:txBody>
                    <a:bodyPr/>
                    <a:lstStyle/>
                    <a:p>
                      <a:pPr lvl="0" indent="0" marL="0">
                        <a:buNone/>
                      </a:pPr>
                      <a:r>
                        <a:rPr/>
                        <a:t>Article</a:t>
                      </a:r>
                    </a:p>
                  </a:txBody>
                  <a:tcPr/>
                </a:tc>
                <a:tc>
                  <a:txBody>
                    <a:bodyPr/>
                    <a:lstStyle/>
                    <a:p>
                      <a:pPr lvl="0" indent="0" marL="0">
                        <a:buNone/>
                      </a:pPr>
                      <a:r>
                        <a:rPr/>
                        <a:t>Posture</a:t>
                      </a:r>
                    </a:p>
                  </a:txBody>
                  <a:tcPr/>
                </a:tc>
                <a:tc>
                  <a:txBody>
                    <a:bodyPr/>
                    <a:lstStyle/>
                    <a:p>
                      <a:pPr lvl="0" indent="0" marL="0">
                        <a:buNone/>
                      </a:pPr>
                      <a:r>
                        <a:rPr/>
                        <a:t>Main outcome</a:t>
                      </a:r>
                    </a:p>
                  </a:txBody>
                  <a:tcPr/>
                </a:tc>
                <a:tc>
                  <a:txBody>
                    <a:bodyPr/>
                    <a:lstStyle/>
                    <a:p>
                      <a:pPr lvl="0" indent="0" marL="0">
                        <a:buNone/>
                      </a:pPr>
                      <a:r>
                        <a:rPr/>
                        <a:t>Strongest claim</a:t>
                      </a:r>
                    </a:p>
                  </a:txBody>
                  <a:tcPr/>
                </a:tc>
              </a:tr>
              <a:tr h="0">
                <a:tc>
                  <a:txBody>
                    <a:bodyPr/>
                    <a:lstStyle/>
                    <a:p>
                      <a:pPr lvl="0" indent="0" marL="0">
                        <a:buNone/>
                      </a:pPr>
                      <a:r>
                        <a:rPr/>
                        <a:t>Lynn &amp; Mynier</a:t>
                      </a:r>
                    </a:p>
                  </a:txBody>
                </a:tc>
                <a:tc>
                  <a:txBody>
                    <a:bodyPr/>
                    <a:lstStyle/>
                    <a:p>
                      <a:pPr lvl="0" indent="0" marL="0">
                        <a:buNone/>
                      </a:pPr>
                      <a:r>
                        <a:rPr/>
                        <a:t>Assigned</a:t>
                      </a:r>
                    </a:p>
                  </a:txBody>
                </a:tc>
                <a:tc>
                  <a:txBody>
                    <a:bodyPr/>
                    <a:lstStyle/>
                    <a:p>
                      <a:pPr lvl="0" indent="0" marL="0">
                        <a:buNone/>
                      </a:pPr>
                      <a:r>
                        <a:rPr/>
                        <a:t>Tips</a:t>
                      </a:r>
                    </a:p>
                  </a:txBody>
                </a:tc>
                <a:tc>
                  <a:txBody>
                    <a:bodyPr/>
                    <a:lstStyle/>
                    <a:p>
                      <a:pPr lvl="0" indent="0" marL="0">
                        <a:buNone/>
                      </a:pPr>
                      <a:r>
                        <a:rPr/>
                        <a:t>Causal effect</a:t>
                      </a:r>
                    </a:p>
                  </a:txBody>
                </a:tc>
              </a:tr>
              <a:tr h="0">
                <a:tc>
                  <a:txBody>
                    <a:bodyPr/>
                    <a:lstStyle/>
                    <a:p>
                      <a:pPr lvl="0" indent="0" marL="0">
                        <a:buNone/>
                      </a:pPr>
                      <a:r>
                        <a:rPr/>
                        <a:t>VanVolkinburg</a:t>
                      </a:r>
                    </a:p>
                  </a:txBody>
                </a:tc>
                <a:tc>
                  <a:txBody>
                    <a:bodyPr/>
                    <a:lstStyle/>
                    <a:p>
                      <a:pPr lvl="0" indent="0" marL="0">
                        <a:buNone/>
                      </a:pPr>
                      <a:r>
                        <a:rPr/>
                        <a:t>Observed</a:t>
                      </a:r>
                    </a:p>
                  </a:txBody>
                </a:tc>
                <a:tc>
                  <a:txBody>
                    <a:bodyPr/>
                    <a:lstStyle/>
                    <a:p>
                      <a:pPr lvl="0" indent="0" marL="0">
                        <a:buNone/>
                      </a:pPr>
                      <a:r>
                        <a:rPr/>
                        <a:t>Time and sales</a:t>
                      </a:r>
                    </a:p>
                  </a:txBody>
                </a:tc>
                <a:tc>
                  <a:txBody>
                    <a:bodyPr/>
                    <a:lstStyle/>
                    <a:p>
                      <a:pPr lvl="0" indent="0" marL="0">
                        <a:buNone/>
                      </a:pPr>
                      <a:r>
                        <a:rPr/>
                        <a:t>Association</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14 Write synthesis in three moves</a:t>
            </a:r>
          </a:p>
        </p:txBody>
      </p:sp>
      <p:sp>
        <p:nvSpPr>
          <p:cNvPr id="3" name="Content Placeholder 2"/>
          <p:cNvSpPr>
            <a:spLocks noGrp="1"/>
          </p:cNvSpPr>
          <p:nvPr>
            <p:ph idx="1"/>
          </p:nvPr>
        </p:nvSpPr>
        <p:spPr/>
        <p:txBody>
          <a:bodyPr/>
          <a:lstStyle/>
          <a:p>
            <a:pPr lvl="0" indent="-457200" marL="457200">
              <a:buAutoNum type="arabicPeriod"/>
            </a:pPr>
            <a:r>
              <a:rPr b="1"/>
              <a:t>Pattern:</a:t>
            </a:r>
            <a:r>
              <a:rPr/>
              <a:t> Posture relates to several customer outcomes.</a:t>
            </a:r>
          </a:p>
          <a:p>
            <a:pPr lvl="0" indent="-457200" marL="457200">
              <a:buAutoNum type="arabicPeriod"/>
            </a:pPr>
            <a:r>
              <a:rPr b="1"/>
              <a:t>Evidence:</a:t>
            </a:r>
            <a:r>
              <a:rPr/>
              <a:t> Assigned and observed designs support different claims.</a:t>
            </a:r>
          </a:p>
          <a:p>
            <a:pPr lvl="0" indent="-457200" marL="457200">
              <a:buAutoNum type="arabicPeriod"/>
            </a:pPr>
            <a:r>
              <a:rPr b="1"/>
              <a:t>Question:</a:t>
            </a:r>
            <a:r>
              <a:rPr/>
              <a:t> The mechanism remains uncertain.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15 Let the gap drive the proposal</a:t>
            </a:r>
          </a:p>
        </p:txBody>
      </p:sp>
      <p:sp>
        <p:nvSpPr>
          <p:cNvPr id="3" name="Content Placeholder 2"/>
          <p:cNvSpPr>
            <a:spLocks noGrp="1"/>
          </p:cNvSpPr>
          <p:nvPr>
            <p:ph idx="1"/>
          </p:nvPr>
        </p:nvSpPr>
        <p:spPr/>
        <p:txBody>
          <a:bodyPr/>
          <a:lstStyle/>
          <a:p>
            <a:pPr lvl="0" indent="0" marL="1270000">
              <a:buNone/>
            </a:pPr>
            <a:r>
              <a:rPr sz="2000"/>
              <a:t>Does posture change customer outcomes because it increases interaction time?</a:t>
            </a:r>
          </a:p>
          <a:p>
            <a:pPr lvl="0" indent="0" marL="0">
              <a:buNone/>
            </a:pPr>
            <a:r>
              <a:rPr/>
              <a:t>A useful proposal tests a </a:t>
            </a:r>
            <a:r>
              <a:rPr b="1"/>
              <a:t>mechanism, boundary, or unresolved question</a:t>
            </a:r>
            <a:r>
              <a:rPr/>
              <a:t>—not merely a new sample.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16 State one testable prediction</a:t>
            </a:r>
          </a:p>
        </p:txBody>
      </p:sp>
      <p:sp>
        <p:nvSpPr>
          <p:cNvPr id="3" name="Content Placeholder 2"/>
          <p:cNvSpPr>
            <a:spLocks noGrp="1"/>
          </p:cNvSpPr>
          <p:nvPr>
            <p:ph idx="1"/>
          </p:nvPr>
        </p:nvSpPr>
        <p:spPr/>
        <p:txBody>
          <a:bodyPr/>
          <a:lstStyle/>
          <a:p>
            <a:pPr lvl="0" indent="0" marL="1270000">
              <a:buNone/>
            </a:pPr>
            <a:r>
              <a:rPr sz="2000"/>
              <a:t>Among </a:t>
            </a:r>
            <a:r>
              <a:rPr sz="2000" b="1"/>
              <a:t>[sample]</a:t>
            </a:r>
            <a:r>
              <a:rPr sz="2000"/>
              <a:t>, </a:t>
            </a:r>
            <a:r>
              <a:rPr sz="2000" b="1"/>
              <a:t>[posture condition]</a:t>
            </a:r>
            <a:r>
              <a:rPr sz="2000"/>
              <a:t> will produce </a:t>
            </a:r>
            <a:r>
              <a:rPr sz="2000" b="1"/>
              <a:t>[higher or lower outcome]</a:t>
            </a:r>
            <a:r>
              <a:rPr sz="2000"/>
              <a:t> than </a:t>
            </a:r>
            <a:r>
              <a:rPr sz="2000" b="1"/>
              <a:t>[comparison condition]</a:t>
            </a:r>
            <a:r>
              <a:rPr sz="2000"/>
              <a:t>.</a:t>
            </a:r>
          </a:p>
          <a:p>
            <a:pPr lvl="0" indent="0" marL="0">
              <a:buNone/>
            </a:pPr>
            <a:r>
              <a:rPr/>
              <a:t>Name the </a:t>
            </a:r>
            <a:r>
              <a:rPr b="1"/>
              <a:t>sample · conditions · outcome · direction</a:t>
            </a:r>
            <a: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17 Plan the simplest clear method</a:t>
            </a:r>
          </a:p>
        </p:txBody>
      </p:sp>
      <p:sp>
        <p:nvSpPr>
          <p:cNvPr id="3" name="Content Placeholder 2"/>
          <p:cNvSpPr>
            <a:spLocks noGrp="1"/>
          </p:cNvSpPr>
          <p:nvPr>
            <p:ph idx="1"/>
          </p:nvPr>
        </p:nvSpPr>
        <p:spPr/>
        <p:txBody>
          <a:bodyPr/>
          <a:lstStyle/>
          <a:p>
            <a:pPr lvl="0" indent="-457200" marL="457200">
              <a:buAutoNum type="arabicPeriod"/>
            </a:pPr>
            <a:r>
              <a:rPr b="1"/>
              <a:t>Sample:</a:t>
            </a:r>
            <a:r>
              <a:rPr/>
              <a:t> Who and how many?</a:t>
            </a:r>
          </a:p>
          <a:p>
            <a:pPr lvl="0" indent="-457200" marL="457200">
              <a:buAutoNum type="arabicPeriod"/>
            </a:pPr>
            <a:r>
              <a:rPr b="1"/>
              <a:t>Assignment:</a:t>
            </a:r>
            <a:r>
              <a:rPr/>
              <a:t> How are conditions created?</a:t>
            </a:r>
          </a:p>
          <a:p>
            <a:pPr lvl="0" indent="-457200" marL="457200">
              <a:buAutoNum type="arabicPeriod"/>
            </a:pPr>
            <a:r>
              <a:rPr b="1"/>
              <a:t>Procedure:</a:t>
            </a:r>
            <a:r>
              <a:rPr/>
              <a:t> What happens, in order?</a:t>
            </a:r>
          </a:p>
          <a:p>
            <a:pPr lvl="0" indent="-457200" marL="457200">
              <a:buAutoNum type="arabicPeriod"/>
            </a:pPr>
            <a:r>
              <a:rPr b="1"/>
              <a:t>Measure:</a:t>
            </a:r>
            <a:r>
              <a:rPr/>
              <a:t> What is recorded?</a:t>
            </a:r>
          </a:p>
          <a:p>
            <a:pPr lvl="0" indent="-457200" marL="457200">
              <a:buAutoNum type="arabicPeriod"/>
            </a:pPr>
            <a:r>
              <a:rPr b="1"/>
              <a:t>Controls:</a:t>
            </a:r>
            <a:r>
              <a:rPr/>
              <a:t> What stays constant?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18 Check both kinds of validity</a:t>
            </a:r>
          </a:p>
        </p:txBody>
      </p:sp>
      <p:sp>
        <p:nvSpPr>
          <p:cNvPr id="1001" name="card-steel" descr="card: Internal validity. • Assign conditions fairly. • Standardize the procedure."/>
          <p:cNvSpPr/>
          <p:nvPr/>
        </p:nvSpPr>
        <p:spPr>
          <a:xfrm>
            <a:off x="1097280" y="2633472"/>
            <a:ext cx="4924044" cy="13106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Internal validity</a:t>
            </a:r>
          </a:p>
          <a:p>
            <a:pPr algn="l"/>
            <a:r>
              <a:rPr lang="en-US" sz="2000" b="0" dirty="0">
                <a:solidFill>
                  <a:srgbClr val="010B13"/>
                </a:solidFill>
              </a:rPr>
              <a:t>• Assign conditions fairly.</a:t>
            </a:r>
          </a:p>
          <a:p>
            <a:pPr algn="l"/>
            <a:r>
              <a:rPr lang="en-US" sz="2000" b="0" dirty="0">
                <a:solidFill>
                  <a:srgbClr val="010B13"/>
                </a:solidFill>
              </a:rPr>
              <a:t>• Standardize the procedure.</a:t>
            </a:r>
          </a:p>
        </p:txBody>
      </p:sp>
      <p:sp>
        <p:nvSpPr>
          <p:cNvPr id="1002" name="card-rail" descr=""/>
          <p:cNvSpPr/>
          <p:nvPr/>
        </p:nvSpPr>
        <p:spPr>
          <a:xfrm>
            <a:off x="1097280" y="2633472"/>
            <a:ext cx="54864" cy="13106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External validity. • Define the sample and setting. • Keep conclusions within that scope."/>
          <p:cNvSpPr/>
          <p:nvPr/>
        </p:nvSpPr>
        <p:spPr>
          <a:xfrm>
            <a:off x="6167628"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External validity</a:t>
            </a:r>
          </a:p>
          <a:p>
            <a:pPr algn="l"/>
            <a:r>
              <a:rPr lang="en-US" sz="2000" b="0" dirty="0">
                <a:solidFill>
                  <a:srgbClr val="010B13"/>
                </a:solidFill>
              </a:rPr>
              <a:t>• Define the sample and setting.</a:t>
            </a:r>
          </a:p>
          <a:p>
            <a:pPr algn="l"/>
            <a:r>
              <a:rPr lang="en-US" sz="2000" b="0" dirty="0">
                <a:solidFill>
                  <a:srgbClr val="010B13"/>
                </a:solidFill>
              </a:rPr>
              <a:t>• Keep conclusions within that scope.</a:t>
            </a:r>
          </a:p>
        </p:txBody>
      </p:sp>
      <p:sp>
        <p:nvSpPr>
          <p:cNvPr id="1004" name="card-rail" descr=""/>
          <p:cNvSpPr/>
          <p:nvPr/>
        </p:nvSpPr>
        <p:spPr>
          <a:xfrm>
            <a:off x="6167628"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19 Compose from the worksheet</a:t>
            </a:r>
          </a:p>
        </p:txBody>
      </p:sp>
      <p:sp>
        <p:nvSpPr>
          <p:cNvPr id="3" name="Content Placeholder 2"/>
          <p:cNvSpPr>
            <a:spLocks noGrp="1"/>
          </p:cNvSpPr>
          <p:nvPr>
            <p:ph idx="1"/>
          </p:nvPr>
        </p:nvSpPr>
        <p:spPr/>
        <p:txBody>
          <a:bodyPr/>
          <a:lstStyle/>
          <a:p>
            <a:pPr lvl="0" indent="-457200" marL="457200">
              <a:buAutoNum type="arabicPeriod"/>
            </a:pPr>
            <a:r>
              <a:rPr/>
              <a:t>Introduce the topic and scope.</a:t>
            </a:r>
          </a:p>
          <a:p>
            <a:pPr lvl="0" indent="-457200" marL="457200">
              <a:buAutoNum type="arabicPeriod"/>
            </a:pPr>
            <a:r>
              <a:rPr/>
              <a:t>Integrate Lynn and Mynier’s studies.</a:t>
            </a:r>
          </a:p>
          <a:p>
            <a:pPr lvl="0" indent="-457200" marL="457200">
              <a:buAutoNum type="arabicPeriod"/>
            </a:pPr>
            <a:r>
              <a:rPr/>
              <a:t>Summarize VanVolkinburg.</a:t>
            </a:r>
          </a:p>
          <a:p>
            <a:pPr lvl="0" indent="-457200" marL="457200">
              <a:buAutoNum type="arabicPeriod"/>
            </a:pPr>
            <a:r>
              <a:rPr/>
              <a:t>Synthesize both articles.</a:t>
            </a:r>
          </a:p>
          <a:p>
            <a:pPr lvl="0" indent="-457200" marL="457200">
              <a:buAutoNum type="arabicPeriod"/>
            </a:pPr>
            <a:r>
              <a:rPr/>
              <a:t>Present the proposed study.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20 Build paragraphs around one point</a:t>
            </a:r>
          </a:p>
        </p:txBody>
      </p:sp>
      <p:sp>
        <p:nvSpPr>
          <p:cNvPr id="3" name="Content Placeholder 2"/>
          <p:cNvSpPr>
            <a:spLocks noGrp="1"/>
          </p:cNvSpPr>
          <p:nvPr>
            <p:ph idx="1"/>
          </p:nvPr>
        </p:nvSpPr>
        <p:spPr/>
        <p:txBody>
          <a:bodyPr/>
          <a:lstStyle/>
          <a:p>
            <a:pPr lvl="0" indent="-457200" marL="457200">
              <a:buAutoNum type="arabicPeriod"/>
            </a:pPr>
            <a:r>
              <a:rPr/>
              <a:t>State the paragraph’s main point.</a:t>
            </a:r>
          </a:p>
          <a:p>
            <a:pPr lvl="0" indent="-457200" marL="457200">
              <a:buAutoNum type="arabicPeriod"/>
            </a:pPr>
            <a:r>
              <a:rPr/>
              <a:t>Add evidence and explain why it matters.</a:t>
            </a:r>
          </a:p>
          <a:p>
            <a:pPr lvl="0" indent="-457200" marL="457200">
              <a:buAutoNum type="arabicPeriod"/>
            </a:pPr>
            <a:r>
              <a:rPr/>
              <a:t>Connect that point to what comes next.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21 Combine related facts</a:t>
            </a:r>
          </a:p>
        </p:txBody>
      </p:sp>
      <p:sp>
        <p:nvSpPr>
          <p:cNvPr id="1005" name="card-steel" descr="card: Separate facts. Study 1 included 270 tables. A waiter served them. He flipped a coin. The coin determined his posture."/>
          <p:cNvSpPr/>
          <p:nvPr/>
        </p:nvSpPr>
        <p:spPr>
          <a:xfrm>
            <a:off x="1097280"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Separate facts</a:t>
            </a:r>
          </a:p>
          <a:p>
            <a:pPr algn="l"/>
            <a:r>
              <a:rPr lang="en-US" sz="2000" b="0" dirty="0">
                <a:solidFill>
                  <a:srgbClr val="010B13"/>
                </a:solidFill>
              </a:rPr>
              <a:t>Study 1 included 270 tables. A waiter served them. He flipped a coin. The coin determined his posture.</a:t>
            </a:r>
          </a:p>
        </p:txBody>
      </p:sp>
      <p:sp>
        <p:nvSpPr>
          <p:cNvPr id="1006" name="card-rail" descr=""/>
          <p:cNvSpPr/>
          <p:nvPr/>
        </p:nvSpPr>
        <p:spPr>
          <a:xfrm>
            <a:off x="1097280"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7" name="card-steel" descr="card: Integrated sentence. In Study 1, a waiter used a coin toss to assign 270 tables to a standing or squatting condition."/>
          <p:cNvSpPr/>
          <p:nvPr/>
        </p:nvSpPr>
        <p:spPr>
          <a:xfrm>
            <a:off x="6167628"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Integrated sentence</a:t>
            </a:r>
          </a:p>
          <a:p>
            <a:pPr algn="l"/>
            <a:r>
              <a:rPr lang="en-US" sz="2000" b="0" dirty="0">
                <a:solidFill>
                  <a:srgbClr val="010B13"/>
                </a:solidFill>
              </a:rPr>
              <a:t>In Study 1, a waiter used a coin toss to assign 270 tables to a standing or squatting condition.</a:t>
            </a:r>
          </a:p>
        </p:txBody>
      </p:sp>
      <p:sp>
        <p:nvSpPr>
          <p:cNvPr id="1008" name="card-rail" descr=""/>
          <p:cNvSpPr/>
          <p:nvPr/>
        </p:nvSpPr>
        <p:spPr>
          <a:xfrm>
            <a:off x="6167628"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22 Finish with the APA checklist</a:t>
            </a:r>
          </a:p>
        </p:txBody>
      </p:sp>
      <p:sp>
        <p:nvSpPr>
          <p:cNvPr id="3" name="Content Placeholder 2"/>
          <p:cNvSpPr>
            <a:spLocks noGrp="1"/>
          </p:cNvSpPr>
          <p:nvPr>
            <p:ph idx="1"/>
          </p:nvPr>
        </p:nvSpPr>
        <p:spPr/>
        <p:txBody>
          <a:bodyPr/>
          <a:lstStyle/>
          <a:p>
            <a:pPr lvl="0"/>
            <a:r>
              <a:rPr/>
              <a:t>Create an APA student title page.</a:t>
            </a:r>
          </a:p>
          <a:p>
            <a:pPr lvl="0"/>
            <a:r>
              <a:rPr/>
              <a:t>Use meaningful headings; do not add an </a:t>
            </a:r>
            <a:r>
              <a:rPr b="1"/>
              <a:t>Introduction</a:t>
            </a:r>
            <a:r>
              <a:rPr/>
              <a:t> heading.</a:t>
            </a:r>
          </a:p>
          <a:p>
            <a:pPr lvl="0"/>
            <a:r>
              <a:rPr/>
              <a:t>Paraphrase and cite both course articles.</a:t>
            </a:r>
          </a:p>
          <a:p>
            <a:pPr lvl="0"/>
            <a:r>
              <a:rPr/>
              <a:t>Add a </a:t>
            </a:r>
            <a:r>
              <a:rPr b="1"/>
              <a:t>References</a:t>
            </a:r>
            <a:r>
              <a:rPr/>
              <a:t> page.</a:t>
            </a:r>
          </a:p>
          <a:p>
            <a:pPr lvl="0"/>
            <a:r>
              <a:rPr/>
              <a:t>Double-space and proofread.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23 Work one stage at a time</a:t>
            </a:r>
          </a:p>
        </p:txBody>
      </p:sp>
      <p:sp>
        <p:nvSpPr>
          <p:cNvPr id="3" name="Content Placeholder 2"/>
          <p:cNvSpPr>
            <a:spLocks noGrp="1"/>
          </p:cNvSpPr>
          <p:nvPr>
            <p:ph idx="1"/>
          </p:nvPr>
        </p:nvSpPr>
        <p:spPr/>
        <p:txBody>
          <a:bodyPr/>
          <a:lstStyle/>
          <a:p>
            <a:pPr lvl="0" indent="-457200" marL="457200">
              <a:buAutoNum type="arabicPeriod"/>
            </a:pPr>
            <a:r>
              <a:rPr/>
              <a:t>Finish and integrate both Lynn and Mynier studies.</a:t>
            </a:r>
          </a:p>
          <a:p>
            <a:pPr lvl="0" indent="-457200" marL="457200">
              <a:buAutoNum type="arabicPeriod"/>
            </a:pPr>
            <a:r>
              <a:rPr/>
              <a:t>Summarize VanVolkinburg.</a:t>
            </a:r>
          </a:p>
          <a:p>
            <a:pPr lvl="0" indent="-457200" marL="457200">
              <a:buAutoNum type="arabicPeriod"/>
            </a:pPr>
            <a:r>
              <a:rPr/>
              <a:t>Write the cross-article synthesis.</a:t>
            </a:r>
          </a:p>
          <a:p>
            <a:pPr lvl="0" indent="-457200" marL="457200">
              <a:buAutoNum type="arabicPeriod"/>
            </a:pPr>
            <a:r>
              <a:rPr/>
              <a:t>Draft the proposal from the remaining question.</a:t>
            </a:r>
          </a:p>
          <a:p>
            <a:pPr lvl="0" indent="-457200" marL="457200">
              <a:buAutoNum type="arabicPeriod"/>
            </a:pPr>
            <a:r>
              <a:rPr/>
              <a:t>Compose the paper after the worksheet is complete.</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Reviewing the Literature</dc:title>
  <dc:creator>PSYC 350 Laboratory</dc:creator>
  <cp:keywords/>
  <dcterms:created xsi:type="dcterms:W3CDTF">2026-09-02T01:11:15Z</dcterms:created>
  <dcterms:modified xsi:type="dcterms:W3CDTF">2026-09-02T01:11:15Z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04 · Literature Review &amp; Proposal</vt:lpwstr>
  </property>
  <property fmtid="{D5CDD505-2E9C-101B-9397-08002B2CF9AE}" pid="20" name="toc-title">
    <vt:lpwstr>Table of contents</vt:lpwstr>
  </property>
</Properties>
</file>