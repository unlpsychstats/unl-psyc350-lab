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8.xml" ContentType="application/vnd.openxmlformats-officedocument.presentationml.slideLayout+xml"/>
  <Override PartName="/ppt/slideLayouts/slideLayout3.xml" ContentType="application/vnd.openxmlformats-officedocument.presentationml.slideLayout+xml"/>
  <Override PartName="/ppt/slideLayouts/slideLayout7.xml" ContentType="application/vnd.openxmlformats-officedocument.presentationml.slideLayout+xml"/>
  <Override PartName="/ppt/slideLayouts/slideLayout2.xml" ContentType="application/vnd.openxmlformats-officedocument.presentationml.slideLayout+xml"/>
  <Override PartName="/ppt/slideLayouts/slideLayout6.xml" ContentType="application/vnd.openxmlformats-officedocument.presentationml.slideLayout+xml"/>
  <Override PartName="/ppt/slideLayouts/slideLayout11.xml" ContentType="application/vnd.openxmlformats-officedocument.presentationml.slideLayout+xml"/>
  <Override PartName="/ppt/slideLayouts/slideLayout5.xml" ContentType="application/vnd.openxmlformats-officedocument.presentationml.slideLayout+xml"/>
  <Override PartName="/ppt/slideLayouts/slideLayout10.xml" ContentType="application/vnd.openxmlformats-officedocument.presentationml.slideLayout+xml"/>
  <Override PartName="/ppt/slideLayouts/slideLayout4.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p:sldMasterIdLst>
    <p:sldMasterId id="2147483696"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sldSz cx="12192000" cy="6858000"/>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sz="17524"/>
    <p:restoredTop sz="94694"/>
  </p:normalViewPr>
  <p:slideViewPr>
    <p:cSldViewPr snapToGrid="0">
      <p:cViewPr varScale="1">
        <p:scale>
          <a:sx d="100" n="119"/>
          <a:sy d="100" n="119"/>
        </p:scale>
        <p:origin x="232" y="232"/>
      </p:cViewPr>
      <p:guideLst/>
    </p:cSldViewPr>
  </p:slideViewPr>
  <p:notesTextViewPr>
    <p:cViewPr>
      <p:scale>
        <a:sx d="1" n="1"/>
        <a:sy d="1" n="1"/>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1" Type="http://schemas.openxmlformats.org/officeDocument/2006/relationships/slideMaster" Target="slideMasters/slideMaster1.xml" /><Relationship Id="rId23" Type="http://schemas.openxmlformats.org/officeDocument/2006/relationships/presProps" Target="presProps.xml" /><Relationship Id="rId24" Type="http://schemas.openxmlformats.org/officeDocument/2006/relationships/viewProps" Target="viewProps.xml" /><Relationship Id="rId25" Type="http://schemas.openxmlformats.org/officeDocument/2006/relationships/theme" Target="theme/theme1.xml" /><Relationship Id="rId26" Type="http://schemas.openxmlformats.org/officeDocument/2006/relationships/tableStyles" Target="tableStyles.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chemeClr val="accent2"/>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bwMode="blackWhite">
          <a:xfrm>
            <a:off x="1097280" y="2386744"/>
            <a:ext cx="9997440" cy="1645920"/>
          </a:xfrm>
          <a:solidFill>
            <a:srgbClr val="FFFFFF"/>
          </a:solidFill>
          <a:ln w="38100">
            <a:solidFill>
              <a:srgbClr val="404040"/>
            </a:solidFill>
          </a:ln>
        </p:spPr>
        <p:txBody>
          <a:bodyPr lIns="274320" rIns="274320" anchor="ctr" anchorCtr="1">
            <a:normAutofit/>
          </a:bodyPr>
          <a:lstStyle>
            <a:lvl1pPr algn="ctr">
              <a:defRPr sz="3800">
                <a:solidFill>
                  <a:srgbClr val="262626"/>
                </a:solidFill>
              </a:defRPr>
            </a:lvl1pPr>
          </a:lstStyle>
          <a:p>
            <a:r>
              <a:rPr lang="en-US"/>
              <a:t>Click to edit Master title style</a:t>
            </a:r>
            <a:endParaRPr lang="en-US" dirty="0"/>
          </a:p>
        </p:txBody>
      </p:sp>
      <p:sp>
        <p:nvSpPr>
          <p:cNvPr id="3" name="Subtitle 2"/>
          <p:cNvSpPr>
            <a:spLocks noGrp="1"/>
          </p:cNvSpPr>
          <p:nvPr>
            <p:ph type="subTitle" idx="1"/>
          </p:nvPr>
        </p:nvSpPr>
        <p:spPr>
          <a:xfrm>
            <a:off x="1097280" y="4352544"/>
            <a:ext cx="9997440" cy="1239894"/>
          </a:xfrm>
          <a:noFill/>
        </p:spPr>
        <p:txBody>
          <a:bodyPr>
            <a:normAutofit/>
          </a:bodyPr>
          <a:lstStyle>
            <a:lvl1pPr marL="0" indent="0" algn="ctr">
              <a:buNone/>
              <a:defRPr sz="2000">
                <a:solidFill>
                  <a:schemeClr val="tx1">
                    <a:lumMod val="75000"/>
                    <a:lumOff val="25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7" name="Date Placeholder 6"/>
          <p:cNvSpPr>
            <a:spLocks noGrp="1"/>
          </p:cNvSpPr>
          <p:nvPr>
            <p:ph type="dt" sz="half" idx="10"/>
          </p:nvPr>
        </p:nvSpPr>
        <p:spPr/>
        <p:txBody>
          <a:bodyPr/>
          <a:lstStyle/>
          <a:p>
            <a:fld id="{1160EA64-D806-43AC-9DF2-F8C432F32B4C}" type="datetimeFigureOut">
              <a:rPr lang="en-US" dirty="0"/>
              <a:t>1/22/26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8A7A6979-0714-4377-B894-6BE4C2D6E202}" type="slidenum">
              <a:rPr lang="en-US" dirty="0"/>
              <a:pPr/>
              <a:t>‹#›</a:t>
            </a:fld>
            <a:endParaRPr lang="en-US" dirty="0"/>
          </a:p>
        </p:txBody>
      </p:sp>
    </p:spTree>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r>
              <a:rPr lang="en-US"/>
              <a:t>Click to edit Master title style</a:t>
            </a:r>
            <a:endParaRPr lang="en-US" dirty="0"/>
          </a:p>
        </p:txBody>
      </p:sp>
      <p:sp>
        <p:nvSpPr>
          <p:cNvPr id="3" name="Content Placeholder 2"/>
          <p:cNvSpPr>
            <a:spLocks noGrp="1"/>
          </p:cNvSpPr>
          <p:nvPr>
            <p:ph idx="1"/>
          </p:nvPr>
        </p:nvSpPr>
        <p:spPr>
          <a:xfrm>
            <a:off x="1097280" y="2638044"/>
            <a:ext cx="9997440" cy="310198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F070A7B3-6521-4DCA-87E5-044747A908C1}" type="datetimeFigureOut">
              <a:rPr lang="en-US" dirty="0"/>
              <a:t>1/22/26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8A7A6979-0714-4377-B894-6BE4C2D6E202}" type="slidenum">
              <a:rPr lang="en-US" dirty="0"/>
              <a:pPr/>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bg>
      <p:bgPr>
        <a:solidFill>
          <a:schemeClr val="accent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bwMode="blackWhite">
          <a:xfrm>
            <a:off x="1097280" y="2386744"/>
            <a:ext cx="9997440" cy="1645920"/>
          </a:xfrm>
          <a:solidFill>
            <a:srgbClr val="FFFFFF"/>
          </a:solidFill>
          <a:ln w="38100">
            <a:solidFill>
              <a:srgbClr val="404040"/>
            </a:solidFill>
          </a:ln>
        </p:spPr>
        <p:txBody>
          <a:bodyPr lIns="274320" rIns="274320" anchor="ctr" anchorCtr="1">
            <a:normAutofit/>
          </a:bodyPr>
          <a:lstStyle>
            <a:lvl1pPr>
              <a:defRPr sz="3800">
                <a:solidFill>
                  <a:srgbClr val="262626"/>
                </a:solidFill>
              </a:defRPr>
            </a:lvl1pPr>
          </a:lstStyle>
          <a:p>
            <a:r>
              <a:rPr lang="en-US"/>
              <a:t>Click to edit Master title style</a:t>
            </a:r>
            <a:endParaRPr lang="en-US" dirty="0"/>
          </a:p>
        </p:txBody>
      </p:sp>
      <p:sp>
        <p:nvSpPr>
          <p:cNvPr id="3" name="Text Placeholder 2"/>
          <p:cNvSpPr>
            <a:spLocks noGrp="1"/>
          </p:cNvSpPr>
          <p:nvPr>
            <p:ph type="body" idx="1"/>
          </p:nvPr>
        </p:nvSpPr>
        <p:spPr>
          <a:xfrm>
            <a:off x="1097280" y="4352465"/>
            <a:ext cx="9997440" cy="1265082"/>
          </a:xfrm>
        </p:spPr>
        <p:txBody>
          <a:bodyPr anchor="t" anchorCtr="1">
            <a:normAutofit/>
          </a:bodyPr>
          <a:lstStyle>
            <a:lvl1pPr marL="0" indent="0">
              <a:buNone/>
              <a:defRPr sz="20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7" name="Date Placeholder 6"/>
          <p:cNvSpPr>
            <a:spLocks noGrp="1"/>
          </p:cNvSpPr>
          <p:nvPr>
            <p:ph type="dt" sz="half" idx="10"/>
          </p:nvPr>
        </p:nvSpPr>
        <p:spPr/>
        <p:txBody>
          <a:bodyPr/>
          <a:lstStyle/>
          <a:p>
            <a:fld id="{1160EA64-D806-43AC-9DF2-F8C432F32B4C}" type="datetimeFigureOut">
              <a:rPr lang="en-US" dirty="0"/>
              <a:t>1/22/26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8A7A6979-0714-4377-B894-6BE4C2D6E202}" type="slidenum">
              <a:rPr lang="en-US" dirty="0"/>
              <a:pPr/>
              <a:t>‹#›</a:t>
            </a:fld>
            <a:endParaRPr lang="en-US" dirty="0"/>
          </a:p>
        </p:txBody>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097280" y="2638044"/>
            <a:ext cx="4907280" cy="310198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87440" y="2638044"/>
            <a:ext cx="4907280" cy="310198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Date Placeholder 7"/>
          <p:cNvSpPr>
            <a:spLocks noGrp="1"/>
          </p:cNvSpPr>
          <p:nvPr>
            <p:ph type="dt" sz="half" idx="10"/>
          </p:nvPr>
        </p:nvSpPr>
        <p:spPr/>
        <p:txBody>
          <a:bodyPr/>
          <a:lstStyle/>
          <a:p>
            <a:fld id="{AB134690-1557-4C89-A502-4959FE7FAD70}" type="datetimeFigureOut">
              <a:rPr lang="en-US" dirty="0"/>
              <a:t>1/22/26</a:t>
            </a:fld>
            <a:endParaRPr lang="en-US" dirty="0"/>
          </a:p>
        </p:txBody>
      </p:sp>
      <p:sp>
        <p:nvSpPr>
          <p:cNvPr id="9" name="Footer Placeholder 8"/>
          <p:cNvSpPr>
            <a:spLocks noGrp="1"/>
          </p:cNvSpPr>
          <p:nvPr>
            <p:ph type="ftr" sz="quarter" idx="11"/>
          </p:nvPr>
        </p:nvSpPr>
        <p:spPr/>
        <p:txBody>
          <a:bodyPr/>
          <a:lstStyle/>
          <a:p>
            <a:endParaRPr lang="en-US" dirty="0"/>
          </a:p>
        </p:txBody>
      </p:sp>
      <p:sp>
        <p:nvSpPr>
          <p:cNvPr id="10" name="Slide Number Placeholder 9"/>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1583436" y="2313433"/>
            <a:ext cx="4270248" cy="704087"/>
          </a:xfrm>
        </p:spPr>
        <p:txBody>
          <a:bodyPr anchor="b" anchorCtr="1">
            <a:normAutofit/>
          </a:bodyPr>
          <a:lstStyle>
            <a:lvl1pPr marL="0" indent="0" algn="ctr">
              <a:buNone/>
              <a:defRPr sz="1900" b="0" cap="all" spc="100" baseline="0">
                <a:solidFill>
                  <a:schemeClr val="accent2">
                    <a:lumMod val="75000"/>
                  </a:schemeClr>
                </a:solidFill>
              </a:defRPr>
            </a:lvl1pPr>
            <a:lvl2pPr marL="457200" indent="0">
              <a:buNone/>
              <a:defRPr sz="19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583436" y="3143250"/>
            <a:ext cx="4270248" cy="25967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Content Placeholder 5"/>
          <p:cNvSpPr>
            <a:spLocks noGrp="1"/>
          </p:cNvSpPr>
          <p:nvPr>
            <p:ph sz="quarter" idx="4"/>
          </p:nvPr>
        </p:nvSpPr>
        <p:spPr>
          <a:xfrm>
            <a:off x="6338316" y="3143250"/>
            <a:ext cx="4253484" cy="2596776"/>
          </a:xfrm>
        </p:spPr>
        <p:txBody>
          <a:bodyPr/>
          <a:lstStyle>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4"/>
          <p:cNvSpPr>
            <a:spLocks noGrp="1"/>
          </p:cNvSpPr>
          <p:nvPr>
            <p:ph type="body" sz="quarter" idx="13"/>
          </p:nvPr>
        </p:nvSpPr>
        <p:spPr>
          <a:xfrm>
            <a:off x="6338316" y="2313433"/>
            <a:ext cx="4270248" cy="704087"/>
          </a:xfrm>
        </p:spPr>
        <p:txBody>
          <a:bodyPr anchor="b" anchorCtr="1">
            <a:normAutofit/>
          </a:bodyPr>
          <a:lstStyle>
            <a:lvl1pPr marL="0" indent="0" algn="ctr">
              <a:buNone/>
              <a:defRPr sz="1900" b="0" cap="all" spc="100" baseline="0">
                <a:solidFill>
                  <a:schemeClr val="accent2">
                    <a:lumMod val="75000"/>
                  </a:schemeClr>
                </a:solidFill>
              </a:defRPr>
            </a:lvl1pPr>
            <a:lvl2pPr marL="457200" indent="0">
              <a:buNone/>
              <a:defRPr sz="19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7" name="Date Placeholder 6"/>
          <p:cNvSpPr>
            <a:spLocks noGrp="1"/>
          </p:cNvSpPr>
          <p:nvPr>
            <p:ph type="dt" sz="half" idx="10"/>
          </p:nvPr>
        </p:nvSpPr>
        <p:spPr/>
        <p:txBody>
          <a:bodyPr/>
          <a:lstStyle/>
          <a:p>
            <a:fld id="{4F7D4976-E339-4826-83B7-FBD03F55ECF8}" type="datetimeFigureOut">
              <a:rPr lang="en-US" dirty="0"/>
              <a:t>1/22/26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8A7A6979-0714-4377-B894-6BE4C2D6E202}" type="slidenum">
              <a:rPr lang="en-US" dirty="0"/>
              <a:t>‹#›</a:t>
            </a:fld>
            <a:endParaRPr lang="en-US" dirty="0"/>
          </a:p>
        </p:txBody>
      </p:sp>
      <p:sp>
        <p:nvSpPr>
          <p:cNvPr id="10" name="Title 9"/>
          <p:cNvSpPr>
            <a:spLocks noGrp="1"/>
          </p:cNvSpPr>
          <p:nvPr>
            <p:ph type="title"/>
          </p:nvPr>
        </p:nvSpPr>
        <p:spPr/>
        <p:txBody>
          <a:bodyPr/>
          <a:lstStyle/>
          <a:p>
            <a:r>
              <a:rPr lang="en-US"/>
              <a:t>Click to edit Master title style</a:t>
            </a:r>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E1037C31-9E7A-4F99-8774-A0E530DE1A42}" type="datetimeFigureOut">
              <a:rPr lang="en-US" dirty="0"/>
              <a:t>1/22/26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278504F-A551-4DE0-9316-4DCD1D8CC752}" type="datetimeFigureOut">
              <a:rPr lang="en-US" dirty="0"/>
              <a:t>1/22/26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6" name="Rectangle 25"/>
          <p:cNvSpPr/>
          <p:nvPr/>
        </p:nvSpPr>
        <p:spPr>
          <a:xfrm>
            <a:off x="0" y="0"/>
            <a:ext cx="6096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bwMode="blackWhite">
          <a:xfrm>
            <a:off x="804672" y="2243828"/>
            <a:ext cx="4486656" cy="1141497"/>
          </a:xfrm>
          <a:solidFill>
            <a:srgbClr val="FFFFFF"/>
          </a:solidFill>
          <a:ln>
            <a:solidFill>
              <a:srgbClr val="404040"/>
            </a:solidFill>
          </a:ln>
        </p:spPr>
        <p:txBody>
          <a:bodyPr anchor="ctr" anchorCtr="1">
            <a:normAutofit/>
          </a:bodyPr>
          <a:lstStyle>
            <a:lvl1pPr>
              <a:defRPr sz="2200">
                <a:solidFill>
                  <a:srgbClr val="262626"/>
                </a:solidFill>
              </a:defRPr>
            </a:lvl1pPr>
          </a:lstStyle>
          <a:p>
            <a:r>
              <a:rPr lang="en-US"/>
              <a:t>Click to edit Master title style</a:t>
            </a:r>
            <a:endParaRPr lang="en-US" dirty="0"/>
          </a:p>
        </p:txBody>
      </p:sp>
      <p:sp>
        <p:nvSpPr>
          <p:cNvPr id="3" name="Content Placeholder 2"/>
          <p:cNvSpPr>
            <a:spLocks noGrp="1"/>
          </p:cNvSpPr>
          <p:nvPr>
            <p:ph idx="1"/>
          </p:nvPr>
        </p:nvSpPr>
        <p:spPr>
          <a:xfrm>
            <a:off x="6736080" y="804672"/>
            <a:ext cx="4815840" cy="5248656"/>
          </a:xfrm>
        </p:spPr>
        <p:txBody>
          <a:bodyPr>
            <a:normAutofit/>
          </a:bodyPr>
          <a:lstStyle>
            <a:lvl1pPr>
              <a:defRPr sz="1900">
                <a:solidFill>
                  <a:schemeClr val="tx1"/>
                </a:solidFill>
              </a:defRPr>
            </a:lvl1pPr>
            <a:lvl2pPr>
              <a:defRPr sz="1600">
                <a:solidFill>
                  <a:schemeClr val="tx1"/>
                </a:solidFill>
              </a:defRPr>
            </a:lvl2pPr>
            <a:lvl3pPr>
              <a:defRPr sz="1600">
                <a:solidFill>
                  <a:schemeClr val="tx1"/>
                </a:solidFill>
              </a:defRPr>
            </a:lvl3pPr>
            <a:lvl4pPr>
              <a:defRPr sz="1600">
                <a:solidFill>
                  <a:schemeClr val="tx1"/>
                </a:solidFill>
              </a:defRPr>
            </a:lvl4pPr>
            <a:lvl5pPr>
              <a:defRPr sz="1600">
                <a:solidFill>
                  <a:schemeClr val="tx1"/>
                </a:solidFill>
              </a:defRPr>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15568" y="3549918"/>
            <a:ext cx="3794760" cy="2194036"/>
          </a:xfrm>
        </p:spPr>
        <p:txBody>
          <a:bodyPr anchor="t" anchorCtr="1">
            <a:normAutofit/>
          </a:bodyPr>
          <a:lstStyle>
            <a:lvl1pPr marL="0" indent="0" algn="ctr">
              <a:buNone/>
              <a:defRPr sz="1500">
                <a:solidFill>
                  <a:srgbClr val="FFFFFF"/>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Date Placeholder 8"/>
          <p:cNvSpPr>
            <a:spLocks noGrp="1"/>
          </p:cNvSpPr>
          <p:nvPr>
            <p:ph type="dt" sz="half" idx="10"/>
          </p:nvPr>
        </p:nvSpPr>
        <p:spPr/>
        <p:txBody>
          <a:bodyPr/>
          <a:lstStyle/>
          <a:p>
            <a:fld id="{D1BE4249-C0D0-4B06-8692-E8BB871AF643}" type="datetimeFigureOut">
              <a:rPr lang="en-US" dirty="0"/>
              <a:t>1/22/26</a:t>
            </a:fld>
            <a:endParaRPr lang="en-US" dirty="0"/>
          </a:p>
        </p:txBody>
      </p:sp>
      <p:sp>
        <p:nvSpPr>
          <p:cNvPr id="10" name="Footer Placeholder 9"/>
          <p:cNvSpPr>
            <a:spLocks noGrp="1"/>
          </p:cNvSpPr>
          <p:nvPr>
            <p:ph type="ftr" sz="quarter" idx="11"/>
          </p:nvPr>
        </p:nvSpPr>
        <p:spPr>
          <a:xfrm>
            <a:off x="804672" y="6236208"/>
            <a:ext cx="5124797" cy="320040"/>
          </a:xfrm>
        </p:spPr>
        <p:txBody>
          <a:bodyPr/>
          <a:lstStyle>
            <a:lvl1pPr>
              <a:defRPr>
                <a:solidFill>
                  <a:srgbClr val="FFFFFF">
                    <a:alpha val="70000"/>
                  </a:srgbClr>
                </a:solidFill>
              </a:defRPr>
            </a:lvl1pPr>
          </a:lstStyle>
          <a:p>
            <a:endParaRPr lang="en-US" dirty="0"/>
          </a:p>
        </p:txBody>
      </p:sp>
      <p:sp>
        <p:nvSpPr>
          <p:cNvPr id="11" name="Slide Number Placeholder 10"/>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18" name="Rectangle 17"/>
          <p:cNvSpPr/>
          <p:nvPr/>
        </p:nvSpPr>
        <p:spPr>
          <a:xfrm>
            <a:off x="0" y="0"/>
            <a:ext cx="6095999"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bwMode="blackWhite">
          <a:xfrm>
            <a:off x="808523" y="2243828"/>
            <a:ext cx="4494998" cy="1134640"/>
          </a:xfrm>
          <a:solidFill>
            <a:srgbClr val="FFFFFF"/>
          </a:solidFill>
          <a:ln>
            <a:solidFill>
              <a:srgbClr val="404040"/>
            </a:solidFill>
          </a:ln>
        </p:spPr>
        <p:txBody>
          <a:bodyPr anchor="ctr" anchorCtr="1">
            <a:noAutofit/>
          </a:bodyPr>
          <a:lstStyle>
            <a:lvl1pPr>
              <a:defRPr sz="2200">
                <a:solidFill>
                  <a:srgbClr val="262626"/>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6095999" y="0"/>
            <a:ext cx="6102097" cy="6858000"/>
          </a:xfrm>
          <a:solidFill>
            <a:schemeClr val="bg1">
              <a:lumMod val="75000"/>
            </a:schemeClr>
          </a:solidFill>
        </p:spPr>
        <p:txBody>
          <a:bodyPr anchor="t"/>
          <a:lstStyle>
            <a:lvl1pPr marL="0" indent="0">
              <a:buNone/>
              <a:defRPr sz="3200">
                <a:solidFill>
                  <a:schemeClr val="bg1">
                    <a:lumMod val="85000"/>
                    <a:lumOff val="15000"/>
                  </a:schemeClr>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115568" y="3549918"/>
            <a:ext cx="3794760" cy="2194037"/>
          </a:xfrm>
        </p:spPr>
        <p:txBody>
          <a:bodyPr anchor="t" anchorCtr="1">
            <a:normAutofit/>
          </a:bodyPr>
          <a:lstStyle>
            <a:lvl1pPr marL="0" indent="0" algn="ctr">
              <a:buNone/>
              <a:defRPr sz="1500">
                <a:solidFill>
                  <a:srgbClr val="FFFFFF"/>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8" name="Date Placeholder 7"/>
          <p:cNvSpPr>
            <a:spLocks noGrp="1"/>
          </p:cNvSpPr>
          <p:nvPr>
            <p:ph type="dt" sz="half" idx="10"/>
          </p:nvPr>
        </p:nvSpPr>
        <p:spPr/>
        <p:txBody>
          <a:bodyPr/>
          <a:lstStyle>
            <a:lvl1pPr>
              <a:defRPr>
                <a:solidFill>
                  <a:srgbClr val="FFFFFF"/>
                </a:solidFill>
                <a:effectLst>
                  <a:outerShdw blurRad="50800" dist="38100" dir="2700000" algn="tl" rotWithShape="0">
                    <a:prstClr val="black">
                      <a:alpha val="43000"/>
                    </a:prstClr>
                  </a:outerShdw>
                </a:effectLst>
              </a:defRPr>
            </a:lvl1pPr>
          </a:lstStyle>
          <a:p>
            <a:fld id="{042B0DB6-F5C7-45FB-8CF3-31B45F9C2DAC}" type="datetimeFigureOut">
              <a:rPr lang="en-US" dirty="0"/>
              <a:t>1/22/26</a:t>
            </a:fld>
            <a:endParaRPr lang="en-US" dirty="0"/>
          </a:p>
        </p:txBody>
      </p:sp>
      <p:sp>
        <p:nvSpPr>
          <p:cNvPr id="9" name="Footer Placeholder 8"/>
          <p:cNvSpPr>
            <a:spLocks noGrp="1"/>
          </p:cNvSpPr>
          <p:nvPr>
            <p:ph type="ftr" sz="quarter" idx="11"/>
          </p:nvPr>
        </p:nvSpPr>
        <p:spPr>
          <a:xfrm>
            <a:off x="804672" y="6236208"/>
            <a:ext cx="5124797" cy="320040"/>
          </a:xfrm>
        </p:spPr>
        <p:txBody>
          <a:bodyPr/>
          <a:lstStyle>
            <a:lvl1pPr>
              <a:defRPr>
                <a:solidFill>
                  <a:srgbClr val="FFFFFF">
                    <a:alpha val="70000"/>
                  </a:srgbClr>
                </a:solidFill>
              </a:defRPr>
            </a:lvl1pPr>
          </a:lstStyle>
          <a:p>
            <a:endParaRPr lang="en-US" dirty="0"/>
          </a:p>
        </p:txBody>
      </p:sp>
      <p:sp>
        <p:nvSpPr>
          <p:cNvPr id="10" name="Slide Number Placeholder 9"/>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9F9C37B-1D36-470B-8223-D6C91242EC14}" type="datetimeFigureOut">
              <a:rPr lang="en-US" dirty="0"/>
              <a:t>1/22/26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53112" y="937260"/>
            <a:ext cx="1298608" cy="498348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2231136" y="937260"/>
            <a:ext cx="6198489" cy="498348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7C6F52A-A82B-47A2-A83A-8C4C91F2D59F}" type="datetimeFigureOut">
              <a:rPr lang="en-US" dirty="0"/>
              <a:t>1/22/26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Masters/_rels/slideMaster1.xml.rels><?xml version="1.0" encoding="UTF-8"?><Relationships xmlns="http://schemas.openxmlformats.org/package/2006/relationships"><Relationship Id="rId1" Target="../slideLayouts/slideLayout1.xml" Type="http://schemas.openxmlformats.org/officeDocument/2006/relationships/slideLayout" /><Relationship Id="rId2" Target="../slideLayouts/slideLayout2.xml" Type="http://schemas.openxmlformats.org/officeDocument/2006/relationships/slideLayout" /><Relationship Id="rId3" Target="../slideLayouts/slideLayout3.xml" Type="http://schemas.openxmlformats.org/officeDocument/2006/relationships/slideLayout" /><Relationship Id="rId4" Target="../slideLayouts/slideLayout4.xml" Type="http://schemas.openxmlformats.org/officeDocument/2006/relationships/slideLayout" /><Relationship Id="rId5" Target="../slideLayouts/slideLayout5.xml" Type="http://schemas.openxmlformats.org/officeDocument/2006/relationships/slideLayout" /><Relationship Id="rId6" Target="../slideLayouts/slideLayout6.xml" Type="http://schemas.openxmlformats.org/officeDocument/2006/relationships/slideLayout" /><Relationship Id="rId7" Target="../slideLayouts/slideLayout7.xml" Type="http://schemas.openxmlformats.org/officeDocument/2006/relationships/slideLayout" /><Relationship Id="rId8" Target="../slideLayouts/slideLayout8.xml" Type="http://schemas.openxmlformats.org/officeDocument/2006/relationships/slideLayout" /><Relationship Id="rId9" Target="../slideLayouts/slideLayout9.xml" Type="http://schemas.openxmlformats.org/officeDocument/2006/relationships/slideLayout" /><Relationship Id="rId10" Target="../slideLayouts/slideLayout10.xml" Type="http://schemas.openxmlformats.org/officeDocument/2006/relationships/slideLayout" /><Relationship Id="rId11" Target="../slideLayouts/slideLayout11.xml" Type="http://schemas.openxmlformats.org/officeDocument/2006/relationships/slideLayout" /><Relationship Id="rId12" Target="../theme/theme1.xml" Type="http://schemas.openxmlformats.org/officeDocument/2006/relationships/theme"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Pr>
        <a:solidFill>
          <a:schemeClr val="bg1">
            <a:lumMod val="95000"/>
          </a:schemeClr>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2231136" y="964692"/>
            <a:ext cx="7729728" cy="1188720"/>
          </a:xfrm>
          <a:prstGeom prst="rect">
            <a:avLst/>
          </a:prstGeom>
          <a:solidFill>
            <a:srgbClr val="FFFFFF"/>
          </a:solidFill>
          <a:ln cap="sq" w="31750">
            <a:solidFill>
              <a:srgbClr val="404040"/>
            </a:solidFill>
            <a:miter lim="800000"/>
          </a:ln>
        </p:spPr>
        <p:txBody>
          <a:bodyPr anchor="ctr" bIns="182880" lIns="182880" rIns="182880" rtlCol="0" tIns="182880" vert="horz">
            <a:normAutofit/>
          </a:bodyPr>
          <a:lstStyle/>
          <a:p>
            <a:r>
              <a:rPr lang="en-US"/>
              <a:t>Click to edit Master title style</a:t>
            </a:r>
            <a:endParaRPr dirty="0" lang="en-US"/>
          </a:p>
        </p:txBody>
      </p:sp>
      <p:sp>
        <p:nvSpPr>
          <p:cNvPr id="3" name="Text Placeholder 2"/>
          <p:cNvSpPr>
            <a:spLocks noGrp="1"/>
          </p:cNvSpPr>
          <p:nvPr>
            <p:ph idx="1" type="body"/>
          </p:nvPr>
        </p:nvSpPr>
        <p:spPr>
          <a:xfrm>
            <a:off x="2231136" y="2638044"/>
            <a:ext cx="7729728" cy="3101983"/>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dirty="0" lang="en-US"/>
          </a:p>
        </p:txBody>
      </p:sp>
      <p:sp>
        <p:nvSpPr>
          <p:cNvPr id="4" name="Date Placeholder 3"/>
          <p:cNvSpPr>
            <a:spLocks noGrp="1"/>
          </p:cNvSpPr>
          <p:nvPr>
            <p:ph idx="2" sz="half" type="dt"/>
          </p:nvPr>
        </p:nvSpPr>
        <p:spPr>
          <a:xfrm>
            <a:off x="7821429" y="6238816"/>
            <a:ext cx="2753746" cy="323968"/>
          </a:xfrm>
          <a:prstGeom prst="rect">
            <a:avLst/>
          </a:prstGeom>
        </p:spPr>
        <p:txBody>
          <a:bodyPr anchor="ctr" bIns="45720" lIns="91440" rIns="91440" rtlCol="0" tIns="45720" vert="horz"/>
          <a:lstStyle>
            <a:lvl1pPr algn="r">
              <a:defRPr sz="1050">
                <a:solidFill>
                  <a:schemeClr val="tx1">
                    <a:alpha val="70000"/>
                  </a:schemeClr>
                </a:solidFill>
              </a:defRPr>
            </a:lvl1pPr>
          </a:lstStyle>
          <a:p>
            <a:fld id="{1160EA64-D806-43AC-9DF2-F8C432F32B4C}" type="datetimeFigureOut">
              <a:rPr dirty="0" lang="en-US"/>
              <a:t>1/22/26</a:t>
            </a:fld>
            <a:endParaRPr dirty="0" lang="en-US"/>
          </a:p>
        </p:txBody>
      </p:sp>
      <p:sp>
        <p:nvSpPr>
          <p:cNvPr id="5" name="Footer Placeholder 4"/>
          <p:cNvSpPr>
            <a:spLocks noGrp="1"/>
          </p:cNvSpPr>
          <p:nvPr>
            <p:ph idx="3" sz="quarter" type="ftr"/>
          </p:nvPr>
        </p:nvSpPr>
        <p:spPr>
          <a:xfrm>
            <a:off x="1600200" y="6236208"/>
            <a:ext cx="5901189" cy="320040"/>
          </a:xfrm>
          <a:prstGeom prst="rect">
            <a:avLst/>
          </a:prstGeom>
        </p:spPr>
        <p:txBody>
          <a:bodyPr anchor="ctr" bIns="45720" lIns="91440" rIns="91440" rtlCol="0" tIns="45720" vert="horz"/>
          <a:lstStyle>
            <a:lvl1pPr algn="l">
              <a:defRPr sz="1050">
                <a:solidFill>
                  <a:schemeClr val="tx1">
                    <a:alpha val="70000"/>
                  </a:schemeClr>
                </a:solidFill>
              </a:defRPr>
            </a:lvl1pPr>
          </a:lstStyle>
          <a:p>
            <a:endParaRPr dirty="0" lang="en-US"/>
          </a:p>
        </p:txBody>
      </p:sp>
      <p:sp>
        <p:nvSpPr>
          <p:cNvPr id="6" name="Slide Number Placeholder 5"/>
          <p:cNvSpPr>
            <a:spLocks noGrp="1"/>
          </p:cNvSpPr>
          <p:nvPr>
            <p:ph idx="4" sz="quarter" type="sldNum"/>
          </p:nvPr>
        </p:nvSpPr>
        <p:spPr>
          <a:xfrm>
            <a:off x="10758922" y="6217920"/>
            <a:ext cx="365760" cy="365760"/>
          </a:xfrm>
          <a:prstGeom prst="ellipse">
            <a:avLst/>
          </a:prstGeom>
          <a:solidFill>
            <a:srgbClr val="1D1D1D">
              <a:alpha val="70000"/>
            </a:srgbClr>
          </a:solidFill>
        </p:spPr>
        <p:txBody>
          <a:bodyPr anchor="ctr" bIns="45720" lIns="18288" rIns="18288" rtlCol="0" tIns="45720" vert="horz">
            <a:noAutofit/>
          </a:bodyPr>
          <a:lstStyle>
            <a:lvl1pPr algn="ctr">
              <a:defRPr baseline="0" spc="0" sz="1100">
                <a:solidFill>
                  <a:srgbClr val="FFFFFF"/>
                </a:solidFill>
              </a:defRPr>
            </a:lvl1pPr>
          </a:lstStyle>
          <a:p>
            <a:fld id="{8A7A6979-0714-4377-B894-6BE4C2D6E202}" type="slidenum">
              <a:rPr dirty="0" lang="en-US"/>
              <a:pPr/>
              <a:t>‹#›</a:t>
            </a:fld>
            <a:endParaRPr dirty="0" lang="en-US"/>
          </a:p>
        </p:txBody>
      </p:sp>
    </p:spTree>
  </p:cSld>
  <p:clrMap accent1="accent1" accent2="accent2" accent3="accent3" accent4="accent4" accent5="accent5" accent6="accent6" bg1="lt1" bg2="lt2" folHlink="folHlink" hlink="hlink" tx1="dk1" tx2="dk2"/>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hf dt="0" ftr="0" hdr="0" sldNum="0"/>
  <p:txStyles>
    <p:titleStyle>
      <a:lvl1pPr algn="ctr" defTabSz="914400" eaLnBrk="1" hangingPunct="1" latinLnBrk="0" rtl="0">
        <a:lnSpc>
          <a:spcPct val="90000"/>
        </a:lnSpc>
        <a:spcBef>
          <a:spcPct val="0"/>
        </a:spcBef>
        <a:buNone/>
        <a:defRPr baseline="0" cap="all" kern="1200" spc="200" sz="2800">
          <a:solidFill>
            <a:srgbClr val="262626"/>
          </a:solidFill>
          <a:latin typeface="+mj-lt"/>
          <a:ea typeface="+mj-ea"/>
          <a:cs typeface="+mj-cs"/>
        </a:defRPr>
      </a:lvl1pPr>
    </p:titleStyle>
    <p:bodyStyle>
      <a:lvl1pPr algn="l" defTabSz="914400" eaLnBrk="1" hangingPunct="1" indent="-228600" latinLnBrk="0" marL="228600" rtl="0">
        <a:lnSpc>
          <a:spcPct val="100000"/>
        </a:lnSpc>
        <a:spcBef>
          <a:spcPts val="1000"/>
        </a:spcBef>
        <a:buClr>
          <a:schemeClr val="accent2"/>
        </a:buClr>
        <a:buFont charset="0" panose="020B0604020202020204" pitchFamily="34" typeface="Arial"/>
        <a:buChar char="•"/>
        <a:defRPr kern="1200" sz="1800">
          <a:solidFill>
            <a:schemeClr val="tx1">
              <a:lumMod val="85000"/>
              <a:lumOff val="15000"/>
            </a:schemeClr>
          </a:solidFill>
          <a:latin typeface="+mn-lt"/>
          <a:ea typeface="+mn-ea"/>
          <a:cs typeface="+mn-cs"/>
        </a:defRPr>
      </a:lvl1pPr>
      <a:lvl2pPr algn="l" defTabSz="914400" eaLnBrk="1" hangingPunct="1" indent="-228600" latinLnBrk="0" marL="457200" rtl="0">
        <a:lnSpc>
          <a:spcPct val="100000"/>
        </a:lnSpc>
        <a:spcBef>
          <a:spcPts val="1000"/>
        </a:spcBef>
        <a:buClr>
          <a:schemeClr val="accent2"/>
        </a:buClr>
        <a:buFont charset="0" panose="020B0604020202020204" pitchFamily="34" typeface="Arial"/>
        <a:buChar char="•"/>
        <a:defRPr kern="1200" sz="1600">
          <a:solidFill>
            <a:schemeClr val="tx1">
              <a:lumMod val="85000"/>
              <a:lumOff val="15000"/>
            </a:schemeClr>
          </a:solidFill>
          <a:latin typeface="+mn-lt"/>
          <a:ea typeface="+mn-ea"/>
          <a:cs typeface="+mn-cs"/>
        </a:defRPr>
      </a:lvl2pPr>
      <a:lvl3pPr algn="l" defTabSz="914400" eaLnBrk="1" hangingPunct="1" indent="-228600" latinLnBrk="0" marL="685800" rtl="0">
        <a:lnSpc>
          <a:spcPct val="100000"/>
        </a:lnSpc>
        <a:spcBef>
          <a:spcPts val="1000"/>
        </a:spcBef>
        <a:buClr>
          <a:schemeClr val="accent2"/>
        </a:buClr>
        <a:buFont charset="0" panose="020B0604020202020204" pitchFamily="34" typeface="Arial"/>
        <a:buChar char="•"/>
        <a:defRPr kern="1200" sz="1600">
          <a:solidFill>
            <a:schemeClr val="tx1">
              <a:lumMod val="85000"/>
              <a:lumOff val="15000"/>
            </a:schemeClr>
          </a:solidFill>
          <a:latin typeface="+mn-lt"/>
          <a:ea typeface="+mn-ea"/>
          <a:cs typeface="+mn-cs"/>
        </a:defRPr>
      </a:lvl3pPr>
      <a:lvl4pPr algn="l" defTabSz="914400" eaLnBrk="1" hangingPunct="1" indent="-228600" latinLnBrk="0" marL="914400" rtl="0">
        <a:lnSpc>
          <a:spcPct val="100000"/>
        </a:lnSpc>
        <a:spcBef>
          <a:spcPts val="1000"/>
        </a:spcBef>
        <a:buClr>
          <a:schemeClr val="accent2"/>
        </a:buClr>
        <a:buFont charset="0" panose="020B0604020202020204" pitchFamily="34" typeface="Arial"/>
        <a:buChar char="•"/>
        <a:defRPr kern="1200" sz="1600">
          <a:solidFill>
            <a:schemeClr val="tx1">
              <a:lumMod val="85000"/>
              <a:lumOff val="15000"/>
            </a:schemeClr>
          </a:solidFill>
          <a:latin typeface="+mn-lt"/>
          <a:ea typeface="+mn-ea"/>
          <a:cs typeface="+mn-cs"/>
        </a:defRPr>
      </a:lvl4pPr>
      <a:lvl5pPr algn="l" defTabSz="914400" eaLnBrk="1" hangingPunct="1" indent="-228600" latinLnBrk="0" marL="1143000" rtl="0">
        <a:lnSpc>
          <a:spcPct val="100000"/>
        </a:lnSpc>
        <a:spcBef>
          <a:spcPts val="1000"/>
        </a:spcBef>
        <a:buClr>
          <a:schemeClr val="accent2"/>
        </a:buClr>
        <a:buFont charset="0" panose="020B0604020202020204" pitchFamily="34" typeface="Arial"/>
        <a:buChar char="•"/>
        <a:defRPr kern="1200" sz="1600">
          <a:solidFill>
            <a:schemeClr val="tx1">
              <a:lumMod val="85000"/>
              <a:lumOff val="15000"/>
            </a:schemeClr>
          </a:solidFill>
          <a:latin typeface="+mn-lt"/>
          <a:ea typeface="+mn-ea"/>
          <a:cs typeface="+mn-cs"/>
        </a:defRPr>
      </a:lvl5pPr>
      <a:lvl6pPr algn="l" defTabSz="914400" eaLnBrk="1" hangingPunct="1" indent="-228600" latinLnBrk="0" marL="1312863" rtl="0">
        <a:lnSpc>
          <a:spcPct val="100000"/>
        </a:lnSpc>
        <a:spcBef>
          <a:spcPts val="1000"/>
        </a:spcBef>
        <a:buClr>
          <a:schemeClr val="accent2"/>
        </a:buClr>
        <a:buFont charset="0" panose="020B0604020202020204" pitchFamily="34" typeface="Arial"/>
        <a:buChar char="•"/>
        <a:defRPr kern="1200" sz="1600">
          <a:solidFill>
            <a:schemeClr val="tx1"/>
          </a:solidFill>
          <a:latin typeface="+mn-lt"/>
          <a:ea typeface="+mn-ea"/>
          <a:cs typeface="+mn-cs"/>
        </a:defRPr>
      </a:lvl6pPr>
      <a:lvl7pPr algn="l" defTabSz="914400" eaLnBrk="1" hangingPunct="1" indent="-228600" latinLnBrk="0" marL="1484313" rtl="0">
        <a:lnSpc>
          <a:spcPct val="100000"/>
        </a:lnSpc>
        <a:spcBef>
          <a:spcPts val="1000"/>
        </a:spcBef>
        <a:buClr>
          <a:schemeClr val="accent2"/>
        </a:buClr>
        <a:buFont charset="0" panose="020B0604020202020204" pitchFamily="34" typeface="Arial"/>
        <a:buChar char="•"/>
        <a:defRPr kern="1200" sz="1600">
          <a:solidFill>
            <a:schemeClr val="tx1"/>
          </a:solidFill>
          <a:latin typeface="+mn-lt"/>
          <a:ea typeface="+mn-ea"/>
          <a:cs typeface="+mn-cs"/>
        </a:defRPr>
      </a:lvl7pPr>
      <a:lvl8pPr algn="l" defTabSz="914400" eaLnBrk="1" hangingPunct="1" indent="-228600" latinLnBrk="0" marL="1657350" rtl="0">
        <a:lnSpc>
          <a:spcPct val="100000"/>
        </a:lnSpc>
        <a:spcBef>
          <a:spcPts val="1000"/>
        </a:spcBef>
        <a:buClr>
          <a:schemeClr val="accent2"/>
        </a:buClr>
        <a:buFont charset="0" panose="020B0604020202020204" pitchFamily="34" typeface="Arial"/>
        <a:buChar char="•"/>
        <a:defRPr baseline="0" kern="1200" sz="1600">
          <a:solidFill>
            <a:schemeClr val="tx1"/>
          </a:solidFill>
          <a:latin typeface="+mn-lt"/>
          <a:ea typeface="+mn-ea"/>
          <a:cs typeface="+mn-cs"/>
        </a:defRPr>
      </a:lvl8pPr>
      <a:lvl9pPr algn="l" defTabSz="914400" eaLnBrk="1" hangingPunct="1" indent="-228600" latinLnBrk="0" marL="1882775" rtl="0">
        <a:lnSpc>
          <a:spcPct val="100000"/>
        </a:lnSpc>
        <a:spcBef>
          <a:spcPts val="1000"/>
        </a:spcBef>
        <a:buClr>
          <a:schemeClr val="accent2"/>
        </a:buClr>
        <a:buFont charset="0" panose="020B0604020202020204" pitchFamily="34" typeface="Arial"/>
        <a:buChar char="•"/>
        <a:defRPr baseline="0" kern="1200" sz="1600">
          <a:solidFill>
            <a:schemeClr val="tx1"/>
          </a:solidFill>
          <a:latin typeface="+mn-lt"/>
          <a:ea typeface="+mn-ea"/>
          <a:cs typeface="+mn-cs"/>
        </a:defRPr>
      </a:lvl9pPr>
    </p:bodyStyle>
    <p:otherStyle>
      <a:defPPr>
        <a:defRPr lang="en-US"/>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bwMode="blackWhite">
          <a:xfrm>
            <a:off x="1097280" y="2386744"/>
            <a:ext cx="9997440" cy="1645920"/>
          </a:xfrm>
          <a:solidFill>
            <a:srgbClr val="FFFFFF"/>
          </a:solidFill>
          <a:ln w="38100">
            <a:solidFill>
              <a:srgbClr val="404040"/>
            </a:solidFill>
          </a:ln>
        </p:spPr>
        <p:txBody>
          <a:bodyPr/>
          <a:lstStyle/>
          <a:p>
            <a:pPr lvl="0" indent="0" marL="0">
              <a:buNone/>
            </a:pPr>
            <a:r>
              <a:rPr/>
              <a:t>How to Improve your Writing</a:t>
            </a:r>
          </a:p>
        </p:txBody>
      </p:sp>
      <p:sp>
        <p:nvSpPr>
          <p:cNvPr id="3" name="Subtitle 2"/>
          <p:cNvSpPr>
            <a:spLocks noGrp="1"/>
          </p:cNvSpPr>
          <p:nvPr>
            <p:ph idx="1" type="subTitle"/>
          </p:nvPr>
        </p:nvSpPr>
        <p:spPr>
          <a:xfrm>
            <a:off x="1097280" y="4352544"/>
            <a:ext cx="9997440" cy="1239894"/>
          </a:xfrm>
          <a:noFill/>
        </p:spPr>
        <p:txBody>
          <a:bodyPr/>
          <a:lstStyle/>
          <a:p>
            <a:pPr lvl="0" indent="0" marL="0">
              <a:buNone/>
            </a:pPr>
            <a:r>
              <a:rPr/>
              <a:t>Adapted from slides How to Improve Your Writing with many thanks to: James A. Burns University of Nebraska-Lincoln</a:t>
            </a:r>
            <a:br/>
            <a:br/>
            <a:r>
              <a:rPr/>
              <a:t>PSYCH 350-Lab</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What You Need Today</a:t>
            </a:r>
          </a:p>
        </p:txBody>
      </p:sp>
      <p:sp>
        <p:nvSpPr>
          <p:cNvPr id="3" name="Content Placeholder 2"/>
          <p:cNvSpPr>
            <a:spLocks noGrp="1"/>
          </p:cNvSpPr>
          <p:nvPr>
            <p:ph idx="1"/>
          </p:nvPr>
        </p:nvSpPr>
        <p:spPr/>
        <p:txBody>
          <a:bodyPr/>
          <a:lstStyle/>
          <a:p>
            <a:pPr lvl="0" indent="0" marL="0">
              <a:buNone/>
            </a:pPr>
            <a:r>
              <a:rPr/>
              <a:t>Everything for this week is linked on the next slides – and always on the lab page under </a:t>
            </a:r>
            <a:r>
              <a:rPr b="1"/>
              <a:t>Handouts &amp; References</a:t>
            </a:r>
            <a:r>
              <a:rPr/>
              <a:t>.</a:t>
            </a:r>
          </a:p>
          <a:p>
            <a:pPr lvl="0" indent="0" marL="0">
              <a:buNone/>
            </a:pPr>
            <a:r>
              <a:rPr/>
              <a:t>Open these </a:t>
            </a:r>
            <a:r>
              <a:rPr b="1"/>
              <a:t>before we start</a:t>
            </a:r>
            <a:r>
              <a:rPr/>
              <a:t> so you can follow along.</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Scientific writing &amp; synthesizing research</a:t>
            </a:r>
          </a:p>
        </p:txBody>
      </p:sp>
      <p:sp>
        <p:nvSpPr>
          <p:cNvPr id="1001" name="card-blue" descr="card: [arrow icon]. How to Improve your Writing [Web page]"/>
          <p:cNvSpPr/>
          <p:nvPr/>
        </p:nvSpPr>
        <p:spPr>
          <a:xfrm>
            <a:off x="1097280" y="2633472"/>
            <a:ext cx="3270504" cy="762000"/>
          </a:xfrm>
          <a:prstGeom prst="roundRect">
            <a:avLst>
              <a:gd name="adj" fmla="val 6000"/>
            </a:avLst>
          </a:prstGeom>
          <a:solidFill>
            <a:srgbClr val="FEFDFA"/>
          </a:solidFill>
          <a:ln w="19050">
            <a:solidFill>
              <a:srgbClr val="CCCCCC"/>
            </a:solidFill>
          </a:ln>
        </p:spPr>
        <p:txBody>
          <a:bodyPr lIns="91440" tIns="68580" rIns="91440" bIns="68580" anchor="t" wrap="square">
            <a:normAutofit/>
          </a:bodyPr>
          <a:lstStyle/>
          <a:p>
            <a:pPr algn="l"/>
            <a:r>
              <a:rPr lang="en-US" sz="1400" b="1" dirty="0">
                <a:solidFill>
                  <a:srgbClr val="005D84"/>
                </a:solidFill>
              </a:rPr>
              <a:t>[arrow icon]</a:t>
            </a:r>
          </a:p>
          <a:p>
            <a:pPr algn="l"/>
            <a:r>
              <a:rPr lang="en-US" sz="1200" b="0" dirty="0">
                <a:solidFill>
                  <a:srgbClr val="010B13"/>
                </a:solidFill>
              </a:rPr>
              <a:t>How to Improve your Writing</a:t>
            </a:r>
          </a:p>
          <a:p>
            <a:pPr algn="l"/>
            <a:r>
              <a:rPr lang="en-US" sz="1200" b="0" dirty="0">
                <a:solidFill>
                  <a:srgbClr val="010B13"/>
                </a:solidFill>
              </a:rPr>
              <a:t>[Web page]</a:t>
            </a:r>
          </a:p>
        </p:txBody>
      </p:sp>
      <p:sp>
        <p:nvSpPr>
          <p:cNvPr id="1002" name="card-rail" descr=""/>
          <p:cNvSpPr/>
          <p:nvPr/>
        </p:nvSpPr>
        <p:spPr>
          <a:xfrm>
            <a:off x="1097280" y="2633472"/>
            <a:ext cx="54864" cy="762000"/>
          </a:xfrm>
          <a:prstGeom prst="roundRect">
            <a:avLst>
              <a:gd name="adj" fmla="val 20000"/>
            </a:avLst>
          </a:prstGeom>
          <a:solidFill>
            <a:srgbClr val="005D84"/>
          </a:solidFill>
          <a:ln>
            <a:noFill/>
          </a:ln>
        </p:spPr>
        <p:txBody>
          <a:bodyPr lIns="91440" tIns="68580" rIns="91440" bIns="68580" anchor="t" wrap="square">
            <a:normAutofit/>
          </a:bodyPr>
          <a:lstStyle/>
          <a:p/>
        </p:txBody>
      </p:sp>
      <p:sp>
        <p:nvSpPr>
          <p:cNvPr id="1003" name="card-blue" descr="card: [book icon]. How to Improve your Writing (pdf version) [PowerPoint]"/>
          <p:cNvSpPr/>
          <p:nvPr/>
        </p:nvSpPr>
        <p:spPr>
          <a:xfrm>
            <a:off x="4459224" y="2633472"/>
            <a:ext cx="3270504" cy="944880"/>
          </a:xfrm>
          <a:prstGeom prst="roundRect">
            <a:avLst>
              <a:gd name="adj" fmla="val 6000"/>
            </a:avLst>
          </a:prstGeom>
          <a:solidFill>
            <a:srgbClr val="FEFDFA"/>
          </a:solidFill>
          <a:ln w="19050">
            <a:solidFill>
              <a:srgbClr val="CCCCCC"/>
            </a:solidFill>
          </a:ln>
        </p:spPr>
        <p:txBody>
          <a:bodyPr lIns="91440" tIns="68580" rIns="91440" bIns="68580" anchor="t" wrap="square">
            <a:normAutofit/>
          </a:bodyPr>
          <a:lstStyle/>
          <a:p>
            <a:pPr algn="l"/>
            <a:r>
              <a:rPr lang="en-US" sz="1400" b="1" dirty="0">
                <a:solidFill>
                  <a:srgbClr val="005D84"/>
                </a:solidFill>
              </a:rPr>
              <a:t>[book icon]</a:t>
            </a:r>
          </a:p>
          <a:p>
            <a:pPr algn="l"/>
            <a:r>
              <a:rPr lang="en-US" sz="1200" b="0" dirty="0">
                <a:solidFill>
                  <a:srgbClr val="010B13"/>
                </a:solidFill>
              </a:rPr>
              <a:t>How to Improve your Writing (pdf version)</a:t>
            </a:r>
          </a:p>
          <a:p>
            <a:pPr algn="l"/>
            <a:r>
              <a:rPr lang="en-US" sz="1200" b="0" dirty="0">
                <a:solidFill>
                  <a:srgbClr val="010B13"/>
                </a:solidFill>
              </a:rPr>
              <a:t>[PowerPoint]</a:t>
            </a:r>
          </a:p>
        </p:txBody>
      </p:sp>
      <p:sp>
        <p:nvSpPr>
          <p:cNvPr id="1004" name="card-rail" descr=""/>
          <p:cNvSpPr/>
          <p:nvPr/>
        </p:nvSpPr>
        <p:spPr>
          <a:xfrm>
            <a:off x="4459224" y="2633472"/>
            <a:ext cx="54864" cy="944880"/>
          </a:xfrm>
          <a:prstGeom prst="roundRect">
            <a:avLst>
              <a:gd name="adj" fmla="val 20000"/>
            </a:avLst>
          </a:prstGeom>
          <a:solidFill>
            <a:srgbClr val="005D84"/>
          </a:solidFill>
          <a:ln>
            <a:noFill/>
          </a:ln>
        </p:spPr>
        <p:txBody>
          <a:bodyPr lIns="91440" tIns="68580" rIns="91440" bIns="68580" anchor="t" wrap="square">
            <a:normAutofit/>
          </a:bodyPr>
          <a:lstStyle/>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Writing Literature Reviews &amp; Research Proposals</a:t>
            </a:r>
          </a:p>
        </p:txBody>
      </p:sp>
      <p:sp>
        <p:nvSpPr>
          <p:cNvPr id="1005" name="card-blue" descr="card: [book icon]. APA Student Paper Guide [PDF]"/>
          <p:cNvSpPr/>
          <p:nvPr/>
        </p:nvSpPr>
        <p:spPr>
          <a:xfrm>
            <a:off x="1097280" y="2633472"/>
            <a:ext cx="3270504" cy="762000"/>
          </a:xfrm>
          <a:prstGeom prst="roundRect">
            <a:avLst>
              <a:gd name="adj" fmla="val 6000"/>
            </a:avLst>
          </a:prstGeom>
          <a:solidFill>
            <a:srgbClr val="FEFDFA"/>
          </a:solidFill>
          <a:ln w="19050">
            <a:solidFill>
              <a:srgbClr val="CCCCCC"/>
            </a:solidFill>
          </a:ln>
        </p:spPr>
        <p:txBody>
          <a:bodyPr lIns="91440" tIns="68580" rIns="91440" bIns="68580" anchor="t" wrap="square">
            <a:normAutofit/>
          </a:bodyPr>
          <a:lstStyle/>
          <a:p>
            <a:pPr algn="l"/>
            <a:r>
              <a:rPr lang="en-US" sz="1400" b="1" dirty="0">
                <a:solidFill>
                  <a:srgbClr val="005D84"/>
                </a:solidFill>
              </a:rPr>
              <a:t>[book icon]</a:t>
            </a:r>
          </a:p>
          <a:p>
            <a:pPr algn="l"/>
            <a:r>
              <a:rPr lang="en-US" sz="1200" b="0" dirty="0">
                <a:solidFill>
                  <a:srgbClr val="010B13"/>
                </a:solidFill>
              </a:rPr>
              <a:t>APA Student Paper Guide</a:t>
            </a:r>
          </a:p>
          <a:p>
            <a:pPr algn="l"/>
            <a:r>
              <a:rPr lang="en-US" sz="1200" b="0" dirty="0">
                <a:solidFill>
                  <a:srgbClr val="010B13"/>
                </a:solidFill>
              </a:rPr>
              <a:t>[PDF]</a:t>
            </a:r>
          </a:p>
        </p:txBody>
      </p:sp>
      <p:sp>
        <p:nvSpPr>
          <p:cNvPr id="1006" name="card-rail" descr=""/>
          <p:cNvSpPr/>
          <p:nvPr/>
        </p:nvSpPr>
        <p:spPr>
          <a:xfrm>
            <a:off x="1097280" y="2633472"/>
            <a:ext cx="54864" cy="762000"/>
          </a:xfrm>
          <a:prstGeom prst="roundRect">
            <a:avLst>
              <a:gd name="adj" fmla="val 20000"/>
            </a:avLst>
          </a:prstGeom>
          <a:solidFill>
            <a:srgbClr val="005D84"/>
          </a:solidFill>
          <a:ln>
            <a:noFill/>
          </a:ln>
        </p:spPr>
        <p:txBody>
          <a:bodyPr lIns="91440" tIns="68580" rIns="91440" bIns="68580" anchor="t" wrap="square">
            <a:normAutofit/>
          </a:bodyPr>
          <a:lstStyle/>
          <a:p/>
        </p:txBody>
      </p:sp>
      <p:sp>
        <p:nvSpPr>
          <p:cNvPr id="1007" name="card-blue" descr="card: [book icon]. APA Avoiding Plagiarism Guide [PDF]"/>
          <p:cNvSpPr/>
          <p:nvPr/>
        </p:nvSpPr>
        <p:spPr>
          <a:xfrm>
            <a:off x="4459224" y="2633472"/>
            <a:ext cx="3270504" cy="762000"/>
          </a:xfrm>
          <a:prstGeom prst="roundRect">
            <a:avLst>
              <a:gd name="adj" fmla="val 6000"/>
            </a:avLst>
          </a:prstGeom>
          <a:solidFill>
            <a:srgbClr val="FEFDFA"/>
          </a:solidFill>
          <a:ln w="19050">
            <a:solidFill>
              <a:srgbClr val="CCCCCC"/>
            </a:solidFill>
          </a:ln>
        </p:spPr>
        <p:txBody>
          <a:bodyPr lIns="91440" tIns="68580" rIns="91440" bIns="68580" anchor="t" wrap="square">
            <a:normAutofit/>
          </a:bodyPr>
          <a:lstStyle/>
          <a:p>
            <a:pPr algn="l"/>
            <a:r>
              <a:rPr lang="en-US" sz="1400" b="1" dirty="0">
                <a:solidFill>
                  <a:srgbClr val="005D84"/>
                </a:solidFill>
              </a:rPr>
              <a:t>[book icon]</a:t>
            </a:r>
          </a:p>
          <a:p>
            <a:pPr algn="l"/>
            <a:r>
              <a:rPr lang="en-US" sz="1200" b="0" dirty="0">
                <a:solidFill>
                  <a:srgbClr val="010B13"/>
                </a:solidFill>
              </a:rPr>
              <a:t>APA Avoiding Plagiarism Guide</a:t>
            </a:r>
          </a:p>
          <a:p>
            <a:pPr algn="l"/>
            <a:r>
              <a:rPr lang="en-US" sz="1200" b="0" dirty="0">
                <a:solidFill>
                  <a:srgbClr val="010B13"/>
                </a:solidFill>
              </a:rPr>
              <a:t>[PDF]</a:t>
            </a:r>
          </a:p>
        </p:txBody>
      </p:sp>
      <p:sp>
        <p:nvSpPr>
          <p:cNvPr id="1008" name="card-rail" descr=""/>
          <p:cNvSpPr/>
          <p:nvPr/>
        </p:nvSpPr>
        <p:spPr>
          <a:xfrm>
            <a:off x="4459224" y="2633472"/>
            <a:ext cx="54864" cy="762000"/>
          </a:xfrm>
          <a:prstGeom prst="roundRect">
            <a:avLst>
              <a:gd name="adj" fmla="val 20000"/>
            </a:avLst>
          </a:prstGeom>
          <a:solidFill>
            <a:srgbClr val="005D84"/>
          </a:solidFill>
          <a:ln>
            <a:noFill/>
          </a:ln>
        </p:spPr>
        <p:txBody>
          <a:bodyPr lIns="91440" tIns="68580" rIns="91440" bIns="68580" anchor="t" wrap="square">
            <a:normAutofit/>
          </a:bodyPr>
          <a:lstStyle/>
          <a:p/>
        </p:txBody>
      </p:sp>
      <p:sp>
        <p:nvSpPr>
          <p:cNvPr id="1009" name="card-blue" descr="card: [book icon]. APA Student Paper Checklist [PDF]"/>
          <p:cNvSpPr/>
          <p:nvPr/>
        </p:nvSpPr>
        <p:spPr>
          <a:xfrm>
            <a:off x="7821168" y="2633472"/>
            <a:ext cx="3270504" cy="762000"/>
          </a:xfrm>
          <a:prstGeom prst="roundRect">
            <a:avLst>
              <a:gd name="adj" fmla="val 6000"/>
            </a:avLst>
          </a:prstGeom>
          <a:solidFill>
            <a:srgbClr val="FEFDFA"/>
          </a:solidFill>
          <a:ln w="19050">
            <a:solidFill>
              <a:srgbClr val="CCCCCC"/>
            </a:solidFill>
          </a:ln>
        </p:spPr>
        <p:txBody>
          <a:bodyPr lIns="91440" tIns="68580" rIns="91440" bIns="68580" anchor="t" wrap="square">
            <a:normAutofit/>
          </a:bodyPr>
          <a:lstStyle/>
          <a:p>
            <a:pPr algn="l"/>
            <a:r>
              <a:rPr lang="en-US" sz="1400" b="1" dirty="0">
                <a:solidFill>
                  <a:srgbClr val="005D84"/>
                </a:solidFill>
              </a:rPr>
              <a:t>[book icon]</a:t>
            </a:r>
          </a:p>
          <a:p>
            <a:pPr algn="l"/>
            <a:r>
              <a:rPr lang="en-US" sz="1200" b="0" dirty="0">
                <a:solidFill>
                  <a:srgbClr val="010B13"/>
                </a:solidFill>
              </a:rPr>
              <a:t>APA Student Paper Checklist</a:t>
            </a:r>
          </a:p>
          <a:p>
            <a:pPr algn="l"/>
            <a:r>
              <a:rPr lang="en-US" sz="1200" b="0" dirty="0">
                <a:solidFill>
                  <a:srgbClr val="010B13"/>
                </a:solidFill>
              </a:rPr>
              <a:t>[PDF]</a:t>
            </a:r>
          </a:p>
        </p:txBody>
      </p:sp>
      <p:sp>
        <p:nvSpPr>
          <p:cNvPr id="1010" name="card-rail" descr=""/>
          <p:cNvSpPr/>
          <p:nvPr/>
        </p:nvSpPr>
        <p:spPr>
          <a:xfrm>
            <a:off x="7821168" y="2633472"/>
            <a:ext cx="54864" cy="762000"/>
          </a:xfrm>
          <a:prstGeom prst="roundRect">
            <a:avLst>
              <a:gd name="adj" fmla="val 20000"/>
            </a:avLst>
          </a:prstGeom>
          <a:solidFill>
            <a:srgbClr val="005D84"/>
          </a:solidFill>
          <a:ln>
            <a:noFill/>
          </a:ln>
        </p:spPr>
        <p:txBody>
          <a:bodyPr lIns="91440" tIns="68580" rIns="91440" bIns="68580" anchor="t" wrap="square">
            <a:normAutofit/>
          </a:bodyPr>
          <a:lstStyle/>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Weekly Lab Assignment</a:t>
            </a:r>
          </a:p>
        </p:txBody>
      </p:sp>
      <p:sp>
        <p:nvSpPr>
          <p:cNvPr id="1011" name="card-blue" descr="card: [book icon]. Literature Review Description [Word document]"/>
          <p:cNvSpPr/>
          <p:nvPr/>
        </p:nvSpPr>
        <p:spPr>
          <a:xfrm>
            <a:off x="1097280" y="2633472"/>
            <a:ext cx="3270504" cy="762000"/>
          </a:xfrm>
          <a:prstGeom prst="roundRect">
            <a:avLst>
              <a:gd name="adj" fmla="val 6000"/>
            </a:avLst>
          </a:prstGeom>
          <a:solidFill>
            <a:srgbClr val="FEFDFA"/>
          </a:solidFill>
          <a:ln w="19050">
            <a:solidFill>
              <a:srgbClr val="CCCCCC"/>
            </a:solidFill>
          </a:ln>
        </p:spPr>
        <p:txBody>
          <a:bodyPr lIns="91440" tIns="68580" rIns="91440" bIns="68580" anchor="t" wrap="square">
            <a:normAutofit/>
          </a:bodyPr>
          <a:lstStyle/>
          <a:p>
            <a:pPr algn="l"/>
            <a:r>
              <a:rPr lang="en-US" sz="1400" b="1" dirty="0">
                <a:solidFill>
                  <a:srgbClr val="005D84"/>
                </a:solidFill>
              </a:rPr>
              <a:t>[book icon]</a:t>
            </a:r>
          </a:p>
          <a:p>
            <a:pPr algn="l"/>
            <a:r>
              <a:rPr lang="en-US" sz="1200" b="0" dirty="0">
                <a:solidFill>
                  <a:srgbClr val="010B13"/>
                </a:solidFill>
              </a:rPr>
              <a:t>Literature Review Description</a:t>
            </a:r>
          </a:p>
          <a:p>
            <a:pPr algn="l"/>
            <a:r>
              <a:rPr lang="en-US" sz="1200" b="0" dirty="0">
                <a:solidFill>
                  <a:srgbClr val="010B13"/>
                </a:solidFill>
              </a:rPr>
              <a:t>[Word document]</a:t>
            </a:r>
          </a:p>
        </p:txBody>
      </p:sp>
      <p:sp>
        <p:nvSpPr>
          <p:cNvPr id="1012" name="card-rail" descr=""/>
          <p:cNvSpPr/>
          <p:nvPr/>
        </p:nvSpPr>
        <p:spPr>
          <a:xfrm>
            <a:off x="1097280" y="2633472"/>
            <a:ext cx="54864" cy="762000"/>
          </a:xfrm>
          <a:prstGeom prst="roundRect">
            <a:avLst>
              <a:gd name="adj" fmla="val 20000"/>
            </a:avLst>
          </a:prstGeom>
          <a:solidFill>
            <a:srgbClr val="005D84"/>
          </a:solidFill>
          <a:ln>
            <a:noFill/>
          </a:ln>
        </p:spPr>
        <p:txBody>
          <a:bodyPr lIns="91440" tIns="68580" rIns="91440" bIns="68580" anchor="t" wrap="square">
            <a:normAutofit/>
          </a:bodyPr>
          <a:lstStyle/>
          <a:p/>
        </p:txBody>
      </p:sp>
      <p:sp>
        <p:nvSpPr>
          <p:cNvPr id="1013" name="card-blue" descr="card: [book icon]. Article 1 for literature review &amp; proposal [PDF]"/>
          <p:cNvSpPr/>
          <p:nvPr/>
        </p:nvSpPr>
        <p:spPr>
          <a:xfrm>
            <a:off x="4459224" y="2633472"/>
            <a:ext cx="3270504" cy="944880"/>
          </a:xfrm>
          <a:prstGeom prst="roundRect">
            <a:avLst>
              <a:gd name="adj" fmla="val 6000"/>
            </a:avLst>
          </a:prstGeom>
          <a:solidFill>
            <a:srgbClr val="FEFDFA"/>
          </a:solidFill>
          <a:ln w="19050">
            <a:solidFill>
              <a:srgbClr val="CCCCCC"/>
            </a:solidFill>
          </a:ln>
        </p:spPr>
        <p:txBody>
          <a:bodyPr lIns="91440" tIns="68580" rIns="91440" bIns="68580" anchor="t" wrap="square">
            <a:normAutofit/>
          </a:bodyPr>
          <a:lstStyle/>
          <a:p>
            <a:pPr algn="l"/>
            <a:r>
              <a:rPr lang="en-US" sz="1400" b="1" dirty="0">
                <a:solidFill>
                  <a:srgbClr val="005D84"/>
                </a:solidFill>
              </a:rPr>
              <a:t>[book icon]</a:t>
            </a:r>
          </a:p>
          <a:p>
            <a:pPr algn="l"/>
            <a:r>
              <a:rPr lang="en-US" sz="1200" b="0" dirty="0">
                <a:solidFill>
                  <a:srgbClr val="010B13"/>
                </a:solidFill>
              </a:rPr>
              <a:t>Article 1 for literature review &amp; proposal</a:t>
            </a:r>
          </a:p>
          <a:p>
            <a:pPr algn="l"/>
            <a:r>
              <a:rPr lang="en-US" sz="1200" b="0" dirty="0">
                <a:solidFill>
                  <a:srgbClr val="010B13"/>
                </a:solidFill>
              </a:rPr>
              <a:t>[PDF]</a:t>
            </a:r>
          </a:p>
        </p:txBody>
      </p:sp>
      <p:sp>
        <p:nvSpPr>
          <p:cNvPr id="1014" name="card-rail" descr=""/>
          <p:cNvSpPr/>
          <p:nvPr/>
        </p:nvSpPr>
        <p:spPr>
          <a:xfrm>
            <a:off x="4459224" y="2633472"/>
            <a:ext cx="54864" cy="944880"/>
          </a:xfrm>
          <a:prstGeom prst="roundRect">
            <a:avLst>
              <a:gd name="adj" fmla="val 20000"/>
            </a:avLst>
          </a:prstGeom>
          <a:solidFill>
            <a:srgbClr val="005D84"/>
          </a:solidFill>
          <a:ln>
            <a:noFill/>
          </a:ln>
        </p:spPr>
        <p:txBody>
          <a:bodyPr lIns="91440" tIns="68580" rIns="91440" bIns="68580" anchor="t" wrap="square">
            <a:normAutofit/>
          </a:bodyPr>
          <a:lstStyle/>
          <a:p/>
        </p:txBody>
      </p:sp>
      <p:sp>
        <p:nvSpPr>
          <p:cNvPr id="1015" name="card-blue" descr="card: [book icon]. Article 2 for literature review &amp; proposal [PDF]"/>
          <p:cNvSpPr/>
          <p:nvPr/>
        </p:nvSpPr>
        <p:spPr>
          <a:xfrm>
            <a:off x="7821168" y="2633472"/>
            <a:ext cx="3270504" cy="944880"/>
          </a:xfrm>
          <a:prstGeom prst="roundRect">
            <a:avLst>
              <a:gd name="adj" fmla="val 6000"/>
            </a:avLst>
          </a:prstGeom>
          <a:solidFill>
            <a:srgbClr val="FEFDFA"/>
          </a:solidFill>
          <a:ln w="19050">
            <a:solidFill>
              <a:srgbClr val="CCCCCC"/>
            </a:solidFill>
          </a:ln>
        </p:spPr>
        <p:txBody>
          <a:bodyPr lIns="91440" tIns="68580" rIns="91440" bIns="68580" anchor="t" wrap="square">
            <a:normAutofit/>
          </a:bodyPr>
          <a:lstStyle/>
          <a:p>
            <a:pPr algn="l"/>
            <a:r>
              <a:rPr lang="en-US" sz="1400" b="1" dirty="0">
                <a:solidFill>
                  <a:srgbClr val="005D84"/>
                </a:solidFill>
              </a:rPr>
              <a:t>[book icon]</a:t>
            </a:r>
          </a:p>
          <a:p>
            <a:pPr algn="l"/>
            <a:r>
              <a:rPr lang="en-US" sz="1200" b="0" dirty="0">
                <a:solidFill>
                  <a:srgbClr val="010B13"/>
                </a:solidFill>
              </a:rPr>
              <a:t>Article 2 for literature review &amp; proposal</a:t>
            </a:r>
          </a:p>
          <a:p>
            <a:pPr algn="l"/>
            <a:r>
              <a:rPr lang="en-US" sz="1200" b="0" dirty="0">
                <a:solidFill>
                  <a:srgbClr val="010B13"/>
                </a:solidFill>
              </a:rPr>
              <a:t>[PDF]</a:t>
            </a:r>
          </a:p>
        </p:txBody>
      </p:sp>
      <p:sp>
        <p:nvSpPr>
          <p:cNvPr id="1016" name="card-rail" descr=""/>
          <p:cNvSpPr/>
          <p:nvPr/>
        </p:nvSpPr>
        <p:spPr>
          <a:xfrm>
            <a:off x="7821168" y="2633472"/>
            <a:ext cx="54864" cy="944880"/>
          </a:xfrm>
          <a:prstGeom prst="roundRect">
            <a:avLst>
              <a:gd name="adj" fmla="val 20000"/>
            </a:avLst>
          </a:prstGeom>
          <a:solidFill>
            <a:srgbClr val="005D84"/>
          </a:solidFill>
          <a:ln>
            <a:noFill/>
          </a:ln>
        </p:spPr>
        <p:txBody>
          <a:bodyPr lIns="91440" tIns="68580" rIns="91440" bIns="68580" anchor="t" wrap="square">
            <a:normAutofit/>
          </a:bodyPr>
          <a:lstStyle/>
          <a:p/>
        </p:txBody>
      </p:sp>
      <p:sp>
        <p:nvSpPr>
          <p:cNvPr id="1017" name="card-blue" descr="card: [book icon]. Literature review &amp; proposal worksheet [Word document]"/>
          <p:cNvSpPr/>
          <p:nvPr/>
        </p:nvSpPr>
        <p:spPr>
          <a:xfrm>
            <a:off x="1097280" y="3669792"/>
            <a:ext cx="3270504" cy="944880"/>
          </a:xfrm>
          <a:prstGeom prst="roundRect">
            <a:avLst>
              <a:gd name="adj" fmla="val 6000"/>
            </a:avLst>
          </a:prstGeom>
          <a:solidFill>
            <a:srgbClr val="FEFDFA"/>
          </a:solidFill>
          <a:ln w="19050">
            <a:solidFill>
              <a:srgbClr val="CCCCCC"/>
            </a:solidFill>
          </a:ln>
        </p:spPr>
        <p:txBody>
          <a:bodyPr lIns="91440" tIns="68580" rIns="91440" bIns="68580" anchor="t" wrap="square">
            <a:normAutofit/>
          </a:bodyPr>
          <a:lstStyle/>
          <a:p>
            <a:pPr algn="l"/>
            <a:r>
              <a:rPr lang="en-US" sz="1400" b="1" dirty="0">
                <a:solidFill>
                  <a:srgbClr val="005D84"/>
                </a:solidFill>
              </a:rPr>
              <a:t>[book icon]</a:t>
            </a:r>
          </a:p>
          <a:p>
            <a:pPr algn="l"/>
            <a:r>
              <a:rPr lang="en-US" sz="1200" b="0" dirty="0">
                <a:solidFill>
                  <a:srgbClr val="010B13"/>
                </a:solidFill>
              </a:rPr>
              <a:t>Literature review &amp; proposal worksheet</a:t>
            </a:r>
          </a:p>
          <a:p>
            <a:pPr algn="l"/>
            <a:r>
              <a:rPr lang="en-US" sz="1200" b="0" dirty="0">
                <a:solidFill>
                  <a:srgbClr val="010B13"/>
                </a:solidFill>
              </a:rPr>
              <a:t>[Word document]</a:t>
            </a:r>
          </a:p>
        </p:txBody>
      </p:sp>
      <p:sp>
        <p:nvSpPr>
          <p:cNvPr id="1018" name="card-rail" descr=""/>
          <p:cNvSpPr/>
          <p:nvPr/>
        </p:nvSpPr>
        <p:spPr>
          <a:xfrm>
            <a:off x="1097280" y="3669792"/>
            <a:ext cx="54864" cy="944880"/>
          </a:xfrm>
          <a:prstGeom prst="roundRect">
            <a:avLst>
              <a:gd name="adj" fmla="val 20000"/>
            </a:avLst>
          </a:prstGeom>
          <a:solidFill>
            <a:srgbClr val="005D84"/>
          </a:solidFill>
          <a:ln>
            <a:noFill/>
          </a:ln>
        </p:spPr>
        <p:txBody>
          <a:bodyPr lIns="91440" tIns="68580" rIns="91440" bIns="68580" anchor="t" wrap="square">
            <a:normAutofit/>
          </a:bodyPr>
          <a:lstStyle/>
          <a:p/>
        </p:txBody>
      </p:sp>
      <p:sp>
        <p:nvSpPr>
          <p:cNvPr id="1019" name="card-blue" descr="card: [book icon]. Literature review &amp; proposal HINTS sheet [Word document]"/>
          <p:cNvSpPr/>
          <p:nvPr/>
        </p:nvSpPr>
        <p:spPr>
          <a:xfrm>
            <a:off x="4459224" y="3669792"/>
            <a:ext cx="3270504" cy="944880"/>
          </a:xfrm>
          <a:prstGeom prst="roundRect">
            <a:avLst>
              <a:gd name="adj" fmla="val 6000"/>
            </a:avLst>
          </a:prstGeom>
          <a:solidFill>
            <a:srgbClr val="FEFDFA"/>
          </a:solidFill>
          <a:ln w="19050">
            <a:solidFill>
              <a:srgbClr val="CCCCCC"/>
            </a:solidFill>
          </a:ln>
        </p:spPr>
        <p:txBody>
          <a:bodyPr lIns="91440" tIns="68580" rIns="91440" bIns="68580" anchor="t" wrap="square">
            <a:normAutofit/>
          </a:bodyPr>
          <a:lstStyle/>
          <a:p>
            <a:pPr algn="l"/>
            <a:r>
              <a:rPr lang="en-US" sz="1400" b="1" dirty="0">
                <a:solidFill>
                  <a:srgbClr val="005D84"/>
                </a:solidFill>
              </a:rPr>
              <a:t>[book icon]</a:t>
            </a:r>
          </a:p>
          <a:p>
            <a:pPr algn="l"/>
            <a:r>
              <a:rPr lang="en-US" sz="1200" b="0" dirty="0">
                <a:solidFill>
                  <a:srgbClr val="010B13"/>
                </a:solidFill>
              </a:rPr>
              <a:t>Literature review &amp; proposal HINTS sheet</a:t>
            </a:r>
          </a:p>
          <a:p>
            <a:pPr algn="l"/>
            <a:r>
              <a:rPr lang="en-US" sz="1200" b="0" dirty="0">
                <a:solidFill>
                  <a:srgbClr val="010B13"/>
                </a:solidFill>
              </a:rPr>
              <a:t>[Word document]</a:t>
            </a:r>
          </a:p>
        </p:txBody>
      </p:sp>
      <p:sp>
        <p:nvSpPr>
          <p:cNvPr id="1020" name="card-rail" descr=""/>
          <p:cNvSpPr/>
          <p:nvPr/>
        </p:nvSpPr>
        <p:spPr>
          <a:xfrm>
            <a:off x="4459224" y="3669792"/>
            <a:ext cx="54864" cy="944880"/>
          </a:xfrm>
          <a:prstGeom prst="roundRect">
            <a:avLst>
              <a:gd name="adj" fmla="val 20000"/>
            </a:avLst>
          </a:prstGeom>
          <a:solidFill>
            <a:srgbClr val="005D84"/>
          </a:solidFill>
          <a:ln>
            <a:noFill/>
          </a:ln>
        </p:spPr>
        <p:txBody>
          <a:bodyPr lIns="91440" tIns="68580" rIns="91440" bIns="68580" anchor="t" wrap="square">
            <a:normAutofit/>
          </a:bodyPr>
          <a:lstStyle/>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Writing Skills Matter</a:t>
            </a:r>
          </a:p>
        </p:txBody>
      </p:sp>
      <p:sp>
        <p:nvSpPr>
          <p:cNvPr id="3" name="Content Placeholder 2"/>
          <p:cNvSpPr>
            <a:spLocks noGrp="1"/>
          </p:cNvSpPr>
          <p:nvPr>
            <p:ph idx="1"/>
          </p:nvPr>
        </p:nvSpPr>
        <p:spPr/>
        <p:txBody>
          <a:bodyPr/>
          <a:lstStyle/>
          <a:p>
            <a:pPr lvl="0"/>
            <a:r>
              <a:rPr/>
              <a:t>College performance impacted by the quality of your writing.</a:t>
            </a:r>
          </a:p>
          <a:p>
            <a:pPr lvl="0"/>
            <a:r>
              <a:rPr/>
              <a:t>But you can improve your writing by properly organizing and structuring your ideas.</a:t>
            </a:r>
          </a:p>
          <a:p>
            <a:pPr lvl="0"/>
            <a:r>
              <a:rPr/>
              <a:t>There are a few myths about writing that should be dispelled before we begin:</a:t>
            </a:r>
          </a:p>
          <a:p>
            <a:pPr lvl="1"/>
            <a:r>
              <a:rPr/>
              <a:t>Great writers are born, not made by practicing.</a:t>
            </a:r>
          </a:p>
          <a:p>
            <a:pPr lvl="1"/>
            <a:r>
              <a:rPr/>
              <a:t>I need an IQ in the 130’s in order to write well.</a:t>
            </a:r>
          </a:p>
          <a:p>
            <a:pPr lvl="1"/>
            <a:r>
              <a:rPr/>
              <a:t>I need to have the vocabulary of a rocket scientist in order to write good papers.</a:t>
            </a:r>
          </a:p>
          <a:p>
            <a:pPr lvl="1"/>
            <a:r>
              <a:rPr/>
              <a:t>My papers need to be over 30 pages in length in order to be acceptable.</a:t>
            </a:r>
          </a:p>
          <a:p>
            <a:pPr lvl="1"/>
            <a:r>
              <a:rPr/>
              <a:t>I will never be good at writing papers.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Organization</a:t>
            </a:r>
          </a:p>
        </p:txBody>
      </p:sp>
      <p:sp>
        <p:nvSpPr>
          <p:cNvPr id="3" name="Content Placeholder 2"/>
          <p:cNvSpPr>
            <a:spLocks noGrp="1"/>
          </p:cNvSpPr>
          <p:nvPr>
            <p:ph idx="1"/>
          </p:nvPr>
        </p:nvSpPr>
        <p:spPr/>
        <p:txBody>
          <a:bodyPr/>
          <a:lstStyle/>
          <a:p>
            <a:pPr lvl="0"/>
            <a:r>
              <a:rPr/>
              <a:t>The most important (and often the most easily improved) aspects of writing are clarity and organization.</a:t>
            </a:r>
          </a:p>
          <a:p>
            <a:pPr lvl="0"/>
            <a:r>
              <a:rPr/>
              <a:t>The basic element of clarity and organization is a good paragraph.</a:t>
            </a:r>
          </a:p>
          <a:p>
            <a:pPr lvl="0"/>
            <a:r>
              <a:rPr/>
              <a:t>A good paragraph has 3 parts:</a:t>
            </a:r>
          </a:p>
          <a:p>
            <a:pPr lvl="1" indent="-457200" marL="914400">
              <a:buAutoNum type="arabicPeriod"/>
            </a:pPr>
            <a:r>
              <a:rPr/>
              <a:t>A TOPIC SENTENCE (to introduce the paragraph)</a:t>
            </a:r>
          </a:p>
          <a:p>
            <a:pPr lvl="1" indent="-457200" marL="914400">
              <a:buAutoNum type="arabicPeriod"/>
            </a:pPr>
            <a:r>
              <a:rPr/>
              <a:t>3-10 CONTENT SENTENCES</a:t>
            </a:r>
          </a:p>
          <a:p>
            <a:pPr lvl="1" indent="-457200" marL="914400">
              <a:buAutoNum type="arabicPeriod"/>
            </a:pPr>
            <a:r>
              <a:rPr/>
              <a:t>A TRANSITION SENTENCE (to introduce the next paragraph)</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Topic Sentences</a:t>
            </a:r>
          </a:p>
        </p:txBody>
      </p:sp>
      <p:sp>
        <p:nvSpPr>
          <p:cNvPr id="3" name="Content Placeholder 2"/>
          <p:cNvSpPr>
            <a:spLocks noGrp="1"/>
          </p:cNvSpPr>
          <p:nvPr>
            <p:ph idx="1"/>
          </p:nvPr>
        </p:nvSpPr>
        <p:spPr/>
        <p:txBody>
          <a:bodyPr/>
          <a:lstStyle/>
          <a:p>
            <a:pPr lvl="0"/>
            <a:r>
              <a:rPr/>
              <a:t>The paragraph starts with what is called a “TOPIC SENTENCE”.</a:t>
            </a:r>
          </a:p>
          <a:p>
            <a:pPr lvl="0"/>
            <a:r>
              <a:rPr/>
              <a:t>Introduces topic of paragraph the idea you will be discussing in that paragraph.</a:t>
            </a:r>
          </a:p>
          <a:p>
            <a:pPr lvl="0"/>
            <a:r>
              <a:rPr/>
              <a:t>ALL SENTENCES IN THE PARAGRAPH AFTER THE TOPIC SENTENCE MUST PERTAIN TO AND SUPPORT THE TOPIC SENTENCE!</a:t>
            </a:r>
          </a:p>
          <a:p>
            <a:pPr lvl="1"/>
            <a:r>
              <a:rPr/>
              <a:t>If there are sentences that do not pertain to the topic sentence, they are out of place (they probably belong in a different paragraph) and will only confuse the reader.</a:t>
            </a:r>
          </a:p>
          <a:p>
            <a:pPr lvl="1"/>
            <a:r>
              <a:rPr/>
              <a:t>There may be three to ten content sentences that support the topic sentence.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Transitions</a:t>
            </a:r>
          </a:p>
        </p:txBody>
      </p:sp>
      <p:sp>
        <p:nvSpPr>
          <p:cNvPr id="1021" name="prose" descr=""/>
          <p:cNvSpPr/>
          <p:nvPr/>
        </p:nvSpPr>
        <p:spPr>
          <a:xfrm>
            <a:off x="1097280" y="2633472"/>
            <a:ext cx="9994392" cy="365760"/>
          </a:xfrm>
          <a:prstGeom prst="roundRect">
            <a:avLst>
              <a:gd name="adj" fmla="val 6000"/>
            </a:avLst>
          </a:prstGeom>
          <a:noFill/>
          <a:ln>
            <a:noFill/>
          </a:ln>
        </p:spPr>
        <p:txBody>
          <a:bodyPr lIns="91440" tIns="68580" rIns="91440" bIns="68580" anchor="t" wrap="square">
            <a:normAutofit/>
          </a:bodyPr>
          <a:lstStyle/>
          <a:p>
            <a:pPr algn="l"/>
            <a:r>
              <a:rPr lang="en-US" sz="1200" b="0" dirty="0">
                <a:solidFill>
                  <a:srgbClr val="010B13"/>
                </a:solidFill>
              </a:rPr>
              <a:t>After you have fully explained the topic sentence, you need a sentence to lead the reader into the next paragraph.</a:t>
            </a:r>
          </a:p>
        </p:txBody>
      </p:sp>
      <p:sp>
        <p:nvSpPr>
          <p:cNvPr id="1022" name="prose" descr=""/>
          <p:cNvSpPr/>
          <p:nvPr/>
        </p:nvSpPr>
        <p:spPr>
          <a:xfrm>
            <a:off x="1097280" y="3090672"/>
            <a:ext cx="9994392" cy="548640"/>
          </a:xfrm>
          <a:prstGeom prst="roundRect">
            <a:avLst>
              <a:gd name="adj" fmla="val 6000"/>
            </a:avLst>
          </a:prstGeom>
          <a:noFill/>
          <a:ln>
            <a:noFill/>
          </a:ln>
        </p:spPr>
        <p:txBody>
          <a:bodyPr lIns="91440" tIns="68580" rIns="91440" bIns="68580" anchor="t" wrap="square">
            <a:normAutofit/>
          </a:bodyPr>
          <a:lstStyle/>
          <a:p>
            <a:pPr algn="l"/>
            <a:r>
              <a:rPr lang="en-US" sz="1200" b="0" dirty="0">
                <a:solidFill>
                  <a:srgbClr val="010B13"/>
                </a:solidFill>
              </a:rPr>
              <a:t>This type of sentence is called a TRANSITION SENTENCE.Learning to write good transitions takes practice.The transition often relates the idea from the current paragraph with what will be talked about next.The transition is ALWAYS the last sentence of a paragraph.</a:t>
            </a:r>
          </a:p>
        </p:txBody>
      </p:sp>
      <p:sp>
        <p:nvSpPr>
          <p:cNvPr id="1023" name="callout-tip" descr="tip callout: Tip. It is much like a “clue” about what you will talk about next."/>
          <p:cNvSpPr/>
          <p:nvPr/>
        </p:nvSpPr>
        <p:spPr>
          <a:xfrm>
            <a:off x="1097280" y="3730752"/>
            <a:ext cx="9994392" cy="899160"/>
          </a:xfrm>
          <a:prstGeom prst="roundRect">
            <a:avLst>
              <a:gd name="adj" fmla="val 6000"/>
            </a:avLst>
          </a:prstGeom>
          <a:solidFill>
            <a:srgbClr val="FEFDFA"/>
          </a:solidFill>
          <a:ln w="19050">
            <a:solidFill>
              <a:srgbClr val="009955"/>
            </a:solidFill>
          </a:ln>
        </p:spPr>
        <p:txBody>
          <a:bodyPr lIns="91440" tIns="68580" rIns="91440" bIns="68580" anchor="t" wrap="square">
            <a:normAutofit/>
          </a:bodyPr>
          <a:lstStyle/>
          <a:p/>
        </p:txBody>
      </p:sp>
      <p:sp>
        <p:nvSpPr>
          <p:cNvPr id="1024" name="callout-title" descr=""/>
          <p:cNvSpPr/>
          <p:nvPr/>
        </p:nvSpPr>
        <p:spPr>
          <a:xfrm>
            <a:off x="1097280" y="3730752"/>
            <a:ext cx="9994392" cy="320040"/>
          </a:xfrm>
          <a:prstGeom prst="roundRect">
            <a:avLst>
              <a:gd name="adj" fmla="val 6000"/>
            </a:avLst>
          </a:prstGeom>
          <a:solidFill>
            <a:srgbClr val="009955"/>
          </a:solidFill>
          <a:ln>
            <a:noFill/>
          </a:ln>
        </p:spPr>
        <p:txBody>
          <a:bodyPr lIns="91440" tIns="68580" rIns="91440" bIns="68580" anchor="t" wrap="square">
            <a:normAutofit/>
          </a:bodyPr>
          <a:lstStyle/>
          <a:p>
            <a:pPr algn="l"/>
            <a:r>
              <a:rPr lang="en-US" sz="1400" b="1" dirty="0">
                <a:solidFill>
                  <a:srgbClr val="FEFDFA"/>
                </a:solidFill>
              </a:rPr>
              <a:t>Tip</a:t>
            </a:r>
          </a:p>
        </p:txBody>
      </p:sp>
      <p:sp>
        <p:nvSpPr>
          <p:cNvPr id="1025" name="callout-body" descr=""/>
          <p:cNvSpPr/>
          <p:nvPr/>
        </p:nvSpPr>
        <p:spPr>
          <a:xfrm>
            <a:off x="1097280" y="4050792"/>
            <a:ext cx="9994392" cy="579120"/>
          </a:xfrm>
          <a:prstGeom prst="roundRect">
            <a:avLst>
              <a:gd name="adj" fmla="val 6000"/>
            </a:avLst>
          </a:prstGeom>
          <a:solidFill>
            <a:srgbClr val="FEFDFA"/>
          </a:solidFill>
          <a:ln>
            <a:noFill/>
          </a:ln>
        </p:spPr>
        <p:txBody>
          <a:bodyPr lIns="91440" tIns="68580" rIns="91440" bIns="68580" anchor="t" wrap="square">
            <a:normAutofit/>
          </a:bodyPr>
          <a:lstStyle/>
          <a:p>
            <a:pPr algn="l"/>
            <a:r>
              <a:rPr lang="en-US" sz="1200" b="0" dirty="0">
                <a:solidFill>
                  <a:srgbClr val="010B13"/>
                </a:solidFill>
              </a:rPr>
              <a:t>It is much like a “clue” about what you will talk about next.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Here is an example</a:t>
            </a:r>
          </a:p>
        </p:txBody>
      </p:sp>
      <p:sp>
        <p:nvSpPr>
          <p:cNvPr id="3" name="Content Placeholder 2"/>
          <p:cNvSpPr>
            <a:spLocks noGrp="1"/>
          </p:cNvSpPr>
          <p:nvPr>
            <p:ph idx="1"/>
          </p:nvPr>
        </p:nvSpPr>
        <p:spPr/>
        <p:txBody>
          <a:bodyPr/>
          <a:lstStyle/>
          <a:p>
            <a:pPr lvl="0" indent="0" marL="0">
              <a:buNone/>
            </a:pPr>
            <a:r>
              <a:rPr/>
              <a:t>The paragraph talked about the psychological treatment of social phobia in adults.</a:t>
            </a:r>
          </a:p>
          <a:p>
            <a:pPr lvl="0" indent="0" marL="0">
              <a:buNone/>
            </a:pPr>
            <a:r>
              <a:rPr/>
              <a:t>The transition sentence at the end of the paragraph is:</a:t>
            </a:r>
          </a:p>
          <a:p>
            <a:pPr lvl="0" indent="0" marL="1270000">
              <a:buNone/>
            </a:pPr>
            <a:r>
              <a:rPr sz="2000"/>
              <a:t>“Although much investigation has been done into the treatment of social phobia in adults, very little work has been done to address treatment avenues for children who suffer from the disorder.”</a:t>
            </a:r>
          </a:p>
          <a:p>
            <a:pPr lvl="0"/>
            <a:r>
              <a:rPr/>
              <a:t>Can you guess what the next paragraph will be about?</a:t>
            </a:r>
          </a:p>
          <a:p>
            <a:pPr lvl="0"/>
            <a:r>
              <a:rPr/>
              <a:t>You got it, the next paragraph will be about the treatment of children with social phobia!</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Paragraphs</a:t>
            </a:r>
          </a:p>
        </p:txBody>
      </p:sp>
      <p:sp>
        <p:nvSpPr>
          <p:cNvPr id="3" name="Content Placeholder 2"/>
          <p:cNvSpPr>
            <a:spLocks noGrp="1"/>
          </p:cNvSpPr>
          <p:nvPr>
            <p:ph idx="1"/>
          </p:nvPr>
        </p:nvSpPr>
        <p:spPr/>
        <p:txBody>
          <a:bodyPr/>
          <a:lstStyle/>
          <a:p>
            <a:pPr lvl="0" indent="0" marL="0">
              <a:buNone/>
            </a:pPr>
            <a:r>
              <a:rPr/>
              <a:t>So, if we look at the format for any given paragraph, it should look like this.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TOPIC SENTENCE (new paragraph)</a:t>
            </a:r>
          </a:p>
          <a:p>
            <a:pPr lvl="1"/>
            <a:r>
              <a:rPr/>
              <a:t>content sentence #1</a:t>
            </a:r>
          </a:p>
          <a:p>
            <a:pPr lvl="1"/>
            <a:r>
              <a:rPr/>
              <a:t>content sentence #2</a:t>
            </a:r>
          </a:p>
          <a:p>
            <a:pPr lvl="1"/>
            <a:r>
              <a:rPr/>
              <a:t>content sentence #3</a:t>
            </a:r>
          </a:p>
          <a:p>
            <a:pPr lvl="1"/>
            <a:r>
              <a:rPr/>
              <a:t>. . .</a:t>
            </a:r>
          </a:p>
          <a:p>
            <a:pPr lvl="1"/>
            <a:r>
              <a:rPr/>
              <a:t>content sentence #8</a:t>
            </a:r>
          </a:p>
          <a:p>
            <a:pPr lvl="0"/>
            <a:r>
              <a:rPr/>
              <a:t>TRANSITION SENTENCE</a:t>
            </a:r>
          </a:p>
        </p:txBody>
      </p:sp>
      <p:sp>
        <p:nvSpPr>
          <p:cNvPr id="4" name="Content Placeholder 3"/>
          <p:cNvSpPr>
            <a:spLocks noGrp="1"/>
          </p:cNvSpPr>
          <p:nvPr>
            <p:ph idx="2" sz="half"/>
          </p:nvPr>
        </p:nvSpPr>
        <p:spPr/>
        <p:txBody>
          <a:bodyPr/>
          <a:lstStyle/>
          <a:p>
            <a:pPr lvl="0"/>
            <a:r>
              <a:rPr/>
              <a:t>TOPIC SENTENCE (new paragraph)</a:t>
            </a:r>
          </a:p>
          <a:p>
            <a:pPr lvl="1"/>
            <a:r>
              <a:rPr/>
              <a:t>content sentence #1</a:t>
            </a:r>
          </a:p>
          <a:p>
            <a:pPr lvl="1"/>
            <a:r>
              <a:rPr/>
              <a:t>content sentence #2</a:t>
            </a:r>
          </a:p>
          <a:p>
            <a:pPr lvl="1"/>
            <a:r>
              <a:rPr/>
              <a:t>. . .</a:t>
            </a:r>
          </a:p>
          <a:p>
            <a:pPr lvl="1"/>
            <a:r>
              <a:rPr/>
              <a:t>content sentence #5</a:t>
            </a:r>
          </a:p>
          <a:p>
            <a:pPr lvl="0"/>
            <a:r>
              <a:rPr/>
              <a:t>TRANSITION SENTENCE</a:t>
            </a:r>
          </a:p>
          <a:p>
            <a:pPr lvl="0"/>
            <a:r>
              <a:rPr/>
              <a:t>… and so on until the paper is finished!</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There is no limit on how long a paragraph should be</a:t>
            </a:r>
          </a:p>
        </p:txBody>
      </p:sp>
      <p:sp>
        <p:nvSpPr>
          <p:cNvPr id="1026" name="prose" descr=""/>
          <p:cNvSpPr/>
          <p:nvPr/>
        </p:nvSpPr>
        <p:spPr>
          <a:xfrm>
            <a:off x="1097280" y="2633472"/>
            <a:ext cx="9994392" cy="182880"/>
          </a:xfrm>
          <a:prstGeom prst="roundRect">
            <a:avLst>
              <a:gd name="adj" fmla="val 6000"/>
            </a:avLst>
          </a:prstGeom>
          <a:noFill/>
          <a:ln>
            <a:noFill/>
          </a:ln>
        </p:spPr>
        <p:txBody>
          <a:bodyPr lIns="91440" tIns="68580" rIns="91440" bIns="68580" anchor="t" wrap="square">
            <a:normAutofit/>
          </a:bodyPr>
          <a:lstStyle/>
          <a:p>
            <a:pPr algn="l"/>
            <a:r>
              <a:rPr lang="en-US" sz="1200" b="0" dirty="0">
                <a:solidFill>
                  <a:srgbClr val="010B13"/>
                </a:solidFill>
              </a:rPr>
              <a:t>CLARITY IS ACHIEVED BY COMBINING SIMPLE, WELL-DESCRIBED IDEAS !!</a:t>
            </a:r>
          </a:p>
        </p:txBody>
      </p:sp>
      <p:sp>
        <p:nvSpPr>
          <p:cNvPr id="1027" name="callout-warning" descr="warning callout: But remember. If a paragraph is over 1 double-spaced page, it is probably too long. The reader may forget what idea the paragraph was discussing to begin with.Remember that paragraphs that are too big, often are trying to say too much at one time.Consider separating these multiple ideas and give each of them a separate paragraph, for a more complete description. REMEMBER CLARITY IS THE ISSUE !"/>
          <p:cNvSpPr/>
          <p:nvPr/>
        </p:nvSpPr>
        <p:spPr>
          <a:xfrm>
            <a:off x="1097280" y="2907792"/>
            <a:ext cx="9994392" cy="1630680"/>
          </a:xfrm>
          <a:prstGeom prst="roundRect">
            <a:avLst>
              <a:gd name="adj" fmla="val 6000"/>
            </a:avLst>
          </a:prstGeom>
          <a:solidFill>
            <a:srgbClr val="FEFDFA"/>
          </a:solidFill>
          <a:ln w="19050">
            <a:solidFill>
              <a:srgbClr val="CC6600"/>
            </a:solidFill>
          </a:ln>
        </p:spPr>
        <p:txBody>
          <a:bodyPr lIns="91440" tIns="68580" rIns="91440" bIns="68580" anchor="t" wrap="square">
            <a:normAutofit/>
          </a:bodyPr>
          <a:lstStyle/>
          <a:p/>
        </p:txBody>
      </p:sp>
      <p:sp>
        <p:nvSpPr>
          <p:cNvPr id="1028" name="callout-title" descr=""/>
          <p:cNvSpPr/>
          <p:nvPr/>
        </p:nvSpPr>
        <p:spPr>
          <a:xfrm>
            <a:off x="1097280" y="2907792"/>
            <a:ext cx="9994392" cy="320040"/>
          </a:xfrm>
          <a:prstGeom prst="roundRect">
            <a:avLst>
              <a:gd name="adj" fmla="val 6000"/>
            </a:avLst>
          </a:prstGeom>
          <a:solidFill>
            <a:srgbClr val="CC6600"/>
          </a:solidFill>
          <a:ln>
            <a:noFill/>
          </a:ln>
        </p:spPr>
        <p:txBody>
          <a:bodyPr lIns="91440" tIns="68580" rIns="91440" bIns="68580" anchor="t" wrap="square">
            <a:normAutofit/>
          </a:bodyPr>
          <a:lstStyle/>
          <a:p>
            <a:pPr algn="l"/>
            <a:r>
              <a:rPr lang="en-US" sz="1400" b="1" dirty="0">
                <a:solidFill>
                  <a:srgbClr val="FEFDFA"/>
                </a:solidFill>
              </a:rPr>
              <a:t>But remember</a:t>
            </a:r>
          </a:p>
        </p:txBody>
      </p:sp>
      <p:sp>
        <p:nvSpPr>
          <p:cNvPr id="1029" name="callout-body" descr=""/>
          <p:cNvSpPr/>
          <p:nvPr/>
        </p:nvSpPr>
        <p:spPr>
          <a:xfrm>
            <a:off x="1097280" y="3227832"/>
            <a:ext cx="9994392" cy="1310640"/>
          </a:xfrm>
          <a:prstGeom prst="roundRect">
            <a:avLst>
              <a:gd name="adj" fmla="val 6000"/>
            </a:avLst>
          </a:prstGeom>
          <a:solidFill>
            <a:srgbClr val="FEFDFA"/>
          </a:solidFill>
          <a:ln>
            <a:noFill/>
          </a:ln>
        </p:spPr>
        <p:txBody>
          <a:bodyPr lIns="91440" tIns="68580" rIns="91440" bIns="68580" anchor="t" wrap="square">
            <a:normAutofit/>
          </a:bodyPr>
          <a:lstStyle/>
          <a:p>
            <a:pPr algn="l"/>
            <a:r>
              <a:rPr lang="en-US" sz="1200" b="0" dirty="0">
                <a:solidFill>
                  <a:srgbClr val="010B13"/>
                </a:solidFill>
              </a:rPr>
              <a:t>If a paragraph is over 1 double-spaced page, it is probably too long. The reader may forget what idea the paragraph was discussing to begin with.Remember that paragraphs that are too big, often are trying to say too much at one time.Consider separating these multiple ideas and give each of them a separate paragraph, for a more complete description.</a:t>
            </a:r>
          </a:p>
          <a:p>
            <a:pPr algn="l"/>
            <a:r>
              <a:rPr lang="en-US" sz="1200" b="0" dirty="0">
                <a:solidFill>
                  <a:srgbClr val="010B13"/>
                </a:solidFill>
              </a:rPr>
              <a:t>REMEMBER CLARITY IS THE ISSUE !</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Ordering Paragraphs</a:t>
            </a:r>
          </a:p>
        </p:txBody>
      </p:sp>
      <p:sp>
        <p:nvSpPr>
          <p:cNvPr id="1030" name="prose" descr=""/>
          <p:cNvSpPr/>
          <p:nvPr/>
        </p:nvSpPr>
        <p:spPr>
          <a:xfrm>
            <a:off x="1097280" y="2633472"/>
            <a:ext cx="9994392" cy="182880"/>
          </a:xfrm>
          <a:prstGeom prst="roundRect">
            <a:avLst>
              <a:gd name="adj" fmla="val 6000"/>
            </a:avLst>
          </a:prstGeom>
          <a:noFill/>
          <a:ln>
            <a:noFill/>
          </a:ln>
        </p:spPr>
        <p:txBody>
          <a:bodyPr lIns="91440" tIns="68580" rIns="91440" bIns="68580" anchor="t" wrap="square">
            <a:normAutofit/>
          </a:bodyPr>
          <a:lstStyle/>
          <a:p>
            <a:pPr algn="l"/>
            <a:r>
              <a:rPr lang="en-US" sz="1200" b="0" dirty="0">
                <a:solidFill>
                  <a:srgbClr val="010B13"/>
                </a:solidFill>
              </a:rPr>
              <a:t>OK, in what order do I put the paragraphs?</a:t>
            </a:r>
          </a:p>
        </p:txBody>
      </p:sp>
      <p:sp>
        <p:nvSpPr>
          <p:cNvPr id="1031" name="callout-tip" descr="tip callout: Tip. The “rule of thumb” is that you begin with the most general idea, then narrow the focus with each successive paragraph, and finally return to remind the reader of the general idea. Here’s an example."/>
          <p:cNvSpPr/>
          <p:nvPr/>
        </p:nvSpPr>
        <p:spPr>
          <a:xfrm>
            <a:off x="1097280" y="2907792"/>
            <a:ext cx="9994392" cy="1082040"/>
          </a:xfrm>
          <a:prstGeom prst="roundRect">
            <a:avLst>
              <a:gd name="adj" fmla="val 6000"/>
            </a:avLst>
          </a:prstGeom>
          <a:solidFill>
            <a:srgbClr val="FEFDFA"/>
          </a:solidFill>
          <a:ln w="19050">
            <a:solidFill>
              <a:srgbClr val="009955"/>
            </a:solidFill>
          </a:ln>
        </p:spPr>
        <p:txBody>
          <a:bodyPr lIns="91440" tIns="68580" rIns="91440" bIns="68580" anchor="t" wrap="square">
            <a:normAutofit/>
          </a:bodyPr>
          <a:lstStyle/>
          <a:p/>
        </p:txBody>
      </p:sp>
      <p:sp>
        <p:nvSpPr>
          <p:cNvPr id="1032" name="callout-title" descr=""/>
          <p:cNvSpPr/>
          <p:nvPr/>
        </p:nvSpPr>
        <p:spPr>
          <a:xfrm>
            <a:off x="1097280" y="2907792"/>
            <a:ext cx="9994392" cy="320040"/>
          </a:xfrm>
          <a:prstGeom prst="roundRect">
            <a:avLst>
              <a:gd name="adj" fmla="val 6000"/>
            </a:avLst>
          </a:prstGeom>
          <a:solidFill>
            <a:srgbClr val="009955"/>
          </a:solidFill>
          <a:ln>
            <a:noFill/>
          </a:ln>
        </p:spPr>
        <p:txBody>
          <a:bodyPr lIns="91440" tIns="68580" rIns="91440" bIns="68580" anchor="t" wrap="square">
            <a:normAutofit/>
          </a:bodyPr>
          <a:lstStyle/>
          <a:p>
            <a:pPr algn="l"/>
            <a:r>
              <a:rPr lang="en-US" sz="1400" b="1" dirty="0">
                <a:solidFill>
                  <a:srgbClr val="FEFDFA"/>
                </a:solidFill>
              </a:rPr>
              <a:t>Tip</a:t>
            </a:r>
          </a:p>
        </p:txBody>
      </p:sp>
      <p:sp>
        <p:nvSpPr>
          <p:cNvPr id="1033" name="callout-body" descr=""/>
          <p:cNvSpPr/>
          <p:nvPr/>
        </p:nvSpPr>
        <p:spPr>
          <a:xfrm>
            <a:off x="1097280" y="3227832"/>
            <a:ext cx="9994392" cy="762000"/>
          </a:xfrm>
          <a:prstGeom prst="roundRect">
            <a:avLst>
              <a:gd name="adj" fmla="val 6000"/>
            </a:avLst>
          </a:prstGeom>
          <a:solidFill>
            <a:srgbClr val="FEFDFA"/>
          </a:solidFill>
          <a:ln>
            <a:noFill/>
          </a:ln>
        </p:spPr>
        <p:txBody>
          <a:bodyPr lIns="91440" tIns="68580" rIns="91440" bIns="68580" anchor="t" wrap="square">
            <a:normAutofit/>
          </a:bodyPr>
          <a:lstStyle/>
          <a:p>
            <a:pPr algn="l"/>
            <a:r>
              <a:rPr lang="en-US" sz="1200" b="0" dirty="0">
                <a:solidFill>
                  <a:srgbClr val="010B13"/>
                </a:solidFill>
              </a:rPr>
              <a:t>The “rule of thumb” is that you begin with the most general idea, then narrow the focus with each successive paragraph, and finally return to remind the reader of the general idea. Here’s an example.</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Ordering Paragraphs</a:t>
            </a:r>
          </a:p>
        </p:txBody>
      </p:sp>
      <p:sp>
        <p:nvSpPr>
          <p:cNvPr id="3" name="Content Placeholder 2"/>
          <p:cNvSpPr>
            <a:spLocks noGrp="1"/>
          </p:cNvSpPr>
          <p:nvPr>
            <p:ph idx="1" sz="half"/>
          </p:nvPr>
        </p:nvSpPr>
        <p:spPr/>
        <p:txBody>
          <a:bodyPr/>
          <a:lstStyle/>
          <a:p>
            <a:pPr lvl="0"/>
            <a:r>
              <a:rPr/>
              <a:t>Paragraph #1 Define social phobia</a:t>
            </a:r>
          </a:p>
          <a:p>
            <a:pPr lvl="0"/>
            <a:r>
              <a:rPr/>
              <a:t>Paragraph #2 Describe the need for treating social phobia</a:t>
            </a:r>
          </a:p>
          <a:p>
            <a:pPr lvl="0"/>
            <a:r>
              <a:rPr/>
              <a:t>Paragraph #3 Treatment of adults with social phobia</a:t>
            </a:r>
          </a:p>
          <a:p>
            <a:pPr lvl="0"/>
            <a:r>
              <a:rPr/>
              <a:t>Paragraph #4 Treatment of children with social phobia</a:t>
            </a:r>
          </a:p>
        </p:txBody>
      </p:sp>
      <p:sp>
        <p:nvSpPr>
          <p:cNvPr id="4" name="Content Placeholder 3"/>
          <p:cNvSpPr>
            <a:spLocks noGrp="1"/>
          </p:cNvSpPr>
          <p:nvPr>
            <p:ph idx="2" sz="half"/>
          </p:nvPr>
        </p:nvSpPr>
        <p:spPr/>
        <p:txBody>
          <a:bodyPr/>
          <a:lstStyle/>
          <a:p>
            <a:pPr lvl="0"/>
            <a:r>
              <a:rPr/>
              <a:t>Paragraph #5 Inpatient vs. outpatient treatment for children</a:t>
            </a:r>
          </a:p>
          <a:p>
            <a:pPr lvl="0"/>
            <a:r>
              <a:rPr/>
              <a:t>Paragraph #6 Proposed study comparing treatments (specific hypothesis)</a:t>
            </a:r>
          </a:p>
          <a:p>
            <a:pPr lvl="0"/>
            <a:r>
              <a:rPr/>
              <a:t>Paragraph #7 Brief review + what the proposed research adds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Improve your organization</a:t>
            </a:r>
          </a:p>
        </p:txBody>
      </p:sp>
      <p:sp>
        <p:nvSpPr>
          <p:cNvPr id="3" name="Content Placeholder 2"/>
          <p:cNvSpPr>
            <a:spLocks noGrp="1"/>
          </p:cNvSpPr>
          <p:nvPr>
            <p:ph idx="1"/>
          </p:nvPr>
        </p:nvSpPr>
        <p:spPr/>
        <p:txBody>
          <a:bodyPr/>
          <a:lstStyle/>
          <a:p>
            <a:pPr lvl="0" indent="0" marL="1270000">
              <a:buNone/>
            </a:pPr>
            <a:r>
              <a:rPr sz="2000"/>
              <a:t>Organized papers are easier to read because they provide a road map !!</a:t>
            </a:r>
          </a:p>
          <a:p>
            <a:pPr lvl="0"/>
            <a:r>
              <a:rPr/>
              <a:t>Make and outline BEFORE you start writing</a:t>
            </a:r>
          </a:p>
          <a:p>
            <a:pPr lvl="0"/>
            <a:r>
              <a:rPr/>
              <a:t>Label each idea (paragraph) and which order you believe they should appear in your paper.</a:t>
            </a:r>
          </a:p>
          <a:p>
            <a:pPr lvl="0"/>
            <a:r>
              <a:rPr/>
              <a:t>It will also be useful to write your topic sentences and transitions</a:t>
            </a:r>
            <a:br/>
            <a:r>
              <a:rPr/>
              <a:t>before you sit down to write the rest of the paper.</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Improve your organization</a:t>
            </a:r>
          </a:p>
        </p:txBody>
      </p:sp>
      <p:sp>
        <p:nvSpPr>
          <p:cNvPr id="1034" name="prose" descr=""/>
          <p:cNvSpPr/>
          <p:nvPr/>
        </p:nvSpPr>
        <p:spPr>
          <a:xfrm>
            <a:off x="1097280" y="2633472"/>
            <a:ext cx="9994392" cy="182880"/>
          </a:xfrm>
          <a:prstGeom prst="roundRect">
            <a:avLst>
              <a:gd name="adj" fmla="val 6000"/>
            </a:avLst>
          </a:prstGeom>
          <a:noFill/>
          <a:ln>
            <a:noFill/>
          </a:ln>
        </p:spPr>
        <p:txBody>
          <a:bodyPr lIns="91440" tIns="68580" rIns="91440" bIns="68580" anchor="t" wrap="square">
            <a:normAutofit/>
          </a:bodyPr>
          <a:lstStyle/>
          <a:p>
            <a:pPr algn="l"/>
            <a:r>
              <a:rPr lang="en-US" sz="1200" b="0" dirty="0">
                <a:solidFill>
                  <a:srgbClr val="010B13"/>
                </a:solidFill>
              </a:rPr>
              <a:t>“The way to learn to write is to write. There are no short-cuts.”</a:t>
            </a:r>
          </a:p>
        </p:txBody>
      </p:sp>
      <p:sp>
        <p:nvSpPr>
          <p:cNvPr id="1035" name="callout-tip" descr="tip callout: Two things you should do after you finish your paper. Let the paper “get cold” for a day or two and re-read it (and probably re-write it - it never looks as good as you remember it being)Let someone else read it – “peer review” brings fresh ideas &amp; options"/>
          <p:cNvSpPr/>
          <p:nvPr/>
        </p:nvSpPr>
        <p:spPr>
          <a:xfrm>
            <a:off x="1097280" y="2907792"/>
            <a:ext cx="9994392" cy="1082040"/>
          </a:xfrm>
          <a:prstGeom prst="roundRect">
            <a:avLst>
              <a:gd name="adj" fmla="val 6000"/>
            </a:avLst>
          </a:prstGeom>
          <a:solidFill>
            <a:srgbClr val="FEFDFA"/>
          </a:solidFill>
          <a:ln w="19050">
            <a:solidFill>
              <a:srgbClr val="009955"/>
            </a:solidFill>
          </a:ln>
        </p:spPr>
        <p:txBody>
          <a:bodyPr lIns="91440" tIns="68580" rIns="91440" bIns="68580" anchor="t" wrap="square">
            <a:normAutofit/>
          </a:bodyPr>
          <a:lstStyle/>
          <a:p/>
        </p:txBody>
      </p:sp>
      <p:sp>
        <p:nvSpPr>
          <p:cNvPr id="1036" name="callout-title" descr=""/>
          <p:cNvSpPr/>
          <p:nvPr/>
        </p:nvSpPr>
        <p:spPr>
          <a:xfrm>
            <a:off x="1097280" y="2907792"/>
            <a:ext cx="9994392" cy="320040"/>
          </a:xfrm>
          <a:prstGeom prst="roundRect">
            <a:avLst>
              <a:gd name="adj" fmla="val 6000"/>
            </a:avLst>
          </a:prstGeom>
          <a:solidFill>
            <a:srgbClr val="009955"/>
          </a:solidFill>
          <a:ln>
            <a:noFill/>
          </a:ln>
        </p:spPr>
        <p:txBody>
          <a:bodyPr lIns="91440" tIns="68580" rIns="91440" bIns="68580" anchor="t" wrap="square">
            <a:normAutofit/>
          </a:bodyPr>
          <a:lstStyle/>
          <a:p>
            <a:pPr algn="l"/>
            <a:r>
              <a:rPr lang="en-US" sz="1400" b="1" dirty="0">
                <a:solidFill>
                  <a:srgbClr val="FEFDFA"/>
                </a:solidFill>
              </a:rPr>
              <a:t>Two things you should do after you finish your paper</a:t>
            </a:r>
          </a:p>
        </p:txBody>
      </p:sp>
      <p:sp>
        <p:nvSpPr>
          <p:cNvPr id="1037" name="callout-body" descr=""/>
          <p:cNvSpPr/>
          <p:nvPr/>
        </p:nvSpPr>
        <p:spPr>
          <a:xfrm>
            <a:off x="1097280" y="3227832"/>
            <a:ext cx="9994392" cy="762000"/>
          </a:xfrm>
          <a:prstGeom prst="roundRect">
            <a:avLst>
              <a:gd name="adj" fmla="val 6000"/>
            </a:avLst>
          </a:prstGeom>
          <a:solidFill>
            <a:srgbClr val="FEFDFA"/>
          </a:solidFill>
          <a:ln>
            <a:noFill/>
          </a:ln>
        </p:spPr>
        <p:txBody>
          <a:bodyPr lIns="91440" tIns="68580" rIns="91440" bIns="68580" anchor="t" wrap="square">
            <a:normAutofit/>
          </a:bodyPr>
          <a:lstStyle/>
          <a:p>
            <a:pPr algn="l"/>
            <a:r>
              <a:rPr lang="en-US" sz="1200" b="0" dirty="0">
                <a:solidFill>
                  <a:srgbClr val="010B13"/>
                </a:solidFill>
              </a:rPr>
              <a:t>Let the paper “get cold” for a day or two and re-read it (and probably re-write it - it never looks as good as you remember it being)Let someone else read it – “peer review” brings fresh ideas &amp; options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Concise Writing</a:t>
            </a:r>
          </a:p>
        </p:txBody>
      </p:sp>
      <p:sp>
        <p:nvSpPr>
          <p:cNvPr id="3" name="Content Placeholder 2"/>
          <p:cNvSpPr>
            <a:spLocks noGrp="1"/>
          </p:cNvSpPr>
          <p:nvPr>
            <p:ph idx="1"/>
          </p:nvPr>
        </p:nvSpPr>
        <p:spPr/>
        <p:txBody>
          <a:bodyPr/>
          <a:lstStyle/>
          <a:p>
            <a:pPr lvl="0"/>
            <a:r>
              <a:rPr/>
              <a:t>Most reviews of articles involve reporting a variety of information, including number of participants, materials used, etc. (see grading sheets).</a:t>
            </a:r>
          </a:p>
          <a:p>
            <a:pPr lvl="0"/>
            <a:r>
              <a:rPr/>
              <a:t>While it is acceptable to report each “bit” of information in its own sentence, this leads to a bloated paper that is boring to read.</a:t>
            </a:r>
          </a:p>
          <a:p>
            <a:pPr lvl="0"/>
            <a:r>
              <a:rPr/>
              <a:t>Good writers learn to integrate ideas and information into concise sentences and paragraphs.</a:t>
            </a:r>
          </a:p>
          <a:p>
            <a:pPr lvl="0"/>
            <a:r>
              <a:rPr/>
              <a:t>Think about each “bit” of information you are including. Are they truly separate “bits” or are they describing different aspects of the same idea? Can the bits be combined into more descriptive sentences?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Examples</a:t>
            </a:r>
          </a:p>
        </p:txBody>
      </p:sp>
      <p:sp>
        <p:nvSpPr>
          <p:cNvPr id="3" name="Content Placeholder 2"/>
          <p:cNvSpPr>
            <a:spLocks noGrp="1"/>
          </p:cNvSpPr>
          <p:nvPr>
            <p:ph idx="1"/>
          </p:nvPr>
        </p:nvSpPr>
        <p:spPr/>
        <p:txBody>
          <a:bodyPr/>
          <a:lstStyle/>
          <a:p>
            <a:pPr lvl="0" indent="0" marL="0">
              <a:buNone/>
            </a:pPr>
            <a:r>
              <a:rPr b="1"/>
              <a:t>Nonintegrated (Boring)</a:t>
            </a:r>
          </a:p>
          <a:p>
            <a:pPr lvl="0" indent="0" marL="1270000">
              <a:buNone/>
            </a:pPr>
            <a:r>
              <a:rPr sz="2000"/>
              <a:t>Two hundred and four students participated in the study. All of the students were undergraduates in psychology. Roughly 84% of the participants were female. The materials used were the Beck Depression Inventory and the Beck Anxiety Inventory. The participants were brought into a large classroom and asked to fill out the inventories.</a:t>
            </a:r>
          </a:p>
          <a:p>
            <a:pPr lvl="0" indent="0" marL="0">
              <a:buNone/>
            </a:pPr>
            <a:r>
              <a:rPr/>
              <a:t>(52 words, 5 sentences)</a:t>
            </a:r>
          </a:p>
          <a:p>
            <a:pPr lvl="0" indent="0" marL="0">
              <a:buNone/>
            </a:pPr>
            <a:r>
              <a:rPr b="1"/>
              <a:t>Concise &amp; Integrated</a:t>
            </a:r>
          </a:p>
          <a:p>
            <a:pPr lvl="0" indent="0" marL="1270000">
              <a:buNone/>
            </a:pPr>
            <a:r>
              <a:rPr sz="2000"/>
              <a:t>Two hundred and four undergraduate psychology students (84% female) participated in the study. The participants were brought into a large classroom and asked to fill out the Beck Depression Inventory and the Beck Anxiety Inventory.</a:t>
            </a:r>
          </a:p>
          <a:p>
            <a:pPr lvl="0" indent="0" marL="0">
              <a:buNone/>
            </a:pPr>
            <a:r>
              <a:rPr/>
              <a:t>(35 words, 2 sentences)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blackWhite">
          <a:xfrm>
            <a:off x="1097280" y="2386744"/>
            <a:ext cx="9997440" cy="1645920"/>
          </a:xfrm>
          <a:solidFill>
            <a:srgbClr val="FFFFFF"/>
          </a:solidFill>
          <a:ln w="38100">
            <a:solidFill>
              <a:srgbClr val="404040"/>
            </a:solidFill>
          </a:ln>
        </p:spPr>
        <p:txBody>
          <a:bodyPr/>
          <a:lstStyle/>
          <a:p>
            <a:pPr lvl="0" indent="0" marL="0">
              <a:buNone/>
            </a:pPr>
            <a:r>
              <a:rPr/>
              <a:t>Questions?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Assignments &amp; Reminders</a:t>
            </a:r>
          </a:p>
        </p:txBody>
      </p:sp>
      <p:sp>
        <p:nvSpPr>
          <p:cNvPr id="3" name="Content Placeholder 2"/>
          <p:cNvSpPr>
            <a:spLocks noGrp="1"/>
          </p:cNvSpPr>
          <p:nvPr>
            <p:ph idx="1"/>
          </p:nvPr>
        </p:nvSpPr>
        <p:spPr/>
        <p:txBody>
          <a:bodyPr/>
          <a:lstStyle/>
          <a:p>
            <a:pPr lvl="0" indent="0" marL="0">
              <a:buNone/>
            </a:pPr>
            <a:r>
              <a:rPr b="1"/>
              <a:t>Given this week:</a:t>
            </a:r>
          </a:p>
          <a:p>
            <a:pPr lvl="0"/>
            <a:r>
              <a:rPr/>
              <a:t>Submit to your lab section before week 5: Literature review &amp; proposal worksheet (AFTER SUBMITTING CHECK THAT YOU CHOSE THE CORRECT FILE!)</a:t>
            </a:r>
          </a:p>
          <a:p>
            <a:pPr lvl="0" indent="0" marL="0">
              <a:buNone/>
            </a:pPr>
            <a:r>
              <a:rPr b="1"/>
              <a:t>Due this week:</a:t>
            </a:r>
          </a:p>
          <a:p>
            <a:pPr lvl="0"/>
            <a:r>
              <a:rPr/>
              <a:t>Lab 03: Research Critique #1 and Research Critique #2</a:t>
            </a:r>
          </a:p>
          <a:p>
            <a:pPr lvl="0" indent="0" marL="0">
              <a:buNone/>
            </a:pPr>
            <a:r>
              <a:rPr/>
              <a:t>Submit to your lab section in Canvas by 11:59pm the day before your lab meets.</a:t>
            </a:r>
          </a:p>
        </p:txBody>
      </p:sp>
    </p:spTree>
  </p:cSld>
</p:sld>
</file>

<file path=ppt/theme/theme1.xml><?xml version="1.0" encoding="utf-8"?>
<a:theme xmlns:a="http://schemas.openxmlformats.org/drawingml/2006/main" name="Parcel">
  <a:themeElements>
    <a:clrScheme name="Custom 3">
      <a:dk1>
        <a:srgbClr val="000000"/>
      </a:dk1>
      <a:lt1>
        <a:srgbClr val="FFFFFF"/>
      </a:lt1>
      <a:dk2>
        <a:srgbClr val="4A5356"/>
      </a:dk2>
      <a:lt2>
        <a:srgbClr val="E8E3CE"/>
      </a:lt2>
      <a:accent1>
        <a:srgbClr val="F6A21D"/>
      </a:accent1>
      <a:accent2>
        <a:srgbClr val="5E5E5E"/>
      </a:accent2>
      <a:accent3>
        <a:srgbClr val="005392"/>
      </a:accent3>
      <a:accent4>
        <a:srgbClr val="FEFB00"/>
      </a:accent4>
      <a:accent5>
        <a:srgbClr val="87795D"/>
      </a:accent5>
      <a:accent6>
        <a:srgbClr val="A0988C"/>
      </a:accent6>
      <a:hlink>
        <a:srgbClr val="005392"/>
      </a:hlink>
      <a:folHlink>
        <a:srgbClr val="738F97"/>
      </a:folHlink>
    </a:clrScheme>
    <a:fontScheme name="Parcel">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arcel" id="{8BEC4385-4EB9-4D53-BFB5-0EA123736B6D}" vid="{4DB32801-28C0-48B0-8C1D-A9A58613615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Parcel</Template>
  <TotalTime>4</TotalTime>
  <Words>0</Words>
  <Application>Microsoft Macintosh PowerPoint</Application>
  <PresentationFormat>Widescreen</PresentationFormat>
  <Paragraphs>0</Paragraphs>
  <Slides>1</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Gill Sans MT</vt:lpstr>
      <vt:lpstr>Parcel</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How to Improve your Writing</dc:title>
  <dc:creator>PSYCH 350-Lab</dc:creator>
  <cp:keywords/>
  <dcterms:created xsi:type="dcterms:W3CDTF">2026-08-13T23:50:21Z</dcterms:created>
  <dcterms:modified xsi:type="dcterms:W3CDTF">2026-08-13T23:50:21Z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quarto-vars">
    <vt:lpwstr/>
  </property>
  <property fmtid="{D5CDD505-2E9C-101B-9397-08002B2CF9AE}" pid="3" name="authors">
    <vt:lpwstr/>
  </property>
  <property fmtid="{D5CDD505-2E9C-101B-9397-08002B2CF9AE}" pid="4" name="back-to-top-navigation">
    <vt:lpwstr>True</vt:lpwstr>
  </property>
  <property fmtid="{D5CDD505-2E9C-101B-9397-08002B2CF9AE}" pid="5" name="biblio-config">
    <vt:lpwstr>True</vt:lpwstr>
  </property>
  <property fmtid="{D5CDD505-2E9C-101B-9397-08002B2CF9AE}" pid="6" name="by-author">
    <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ack-link">
    <vt:lpwstr>False</vt:lpwstr>
  </property>
  <property fmtid="{D5CDD505-2E9C-101B-9397-08002B2CF9AE}" pid="12" name="include-before">
    <vt:lpwstr/>
  </property>
  <property fmtid="{D5CDD505-2E9C-101B-9397-08002B2CF9AE}" pid="13" name="labels">
    <vt:lpwstr/>
  </property>
  <property fmtid="{D5CDD505-2E9C-101B-9397-08002B2CF9AE}" pid="14" name="nebraska-pptx">
    <vt:lpwstr/>
  </property>
  <property fmtid="{D5CDD505-2E9C-101B-9397-08002B2CF9AE}" pid="15" name="revealjs-plugins">
    <vt:lpwstr/>
  </property>
  <property fmtid="{D5CDD505-2E9C-101B-9397-08002B2CF9AE}" pid="16" name="subtitle">
    <vt:lpwstr>Adapted from slides How to Improve Your Writing with many thanks to: James A. Burns University of Nebraska-Lincoln</vt:lpwstr>
  </property>
  <property fmtid="{D5CDD505-2E9C-101B-9397-08002B2CF9AE}" pid="17" name="toc-title">
    <vt:lpwstr>Table of contents</vt:lpwstr>
  </property>
</Properties>
</file>