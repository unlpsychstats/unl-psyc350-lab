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p:sldMasterIdLst>
    <p:sldMasterId id="2147483696"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7524"/>
    <p:restoredTop sz="94694"/>
  </p:normalViewPr>
  <p:slideViewPr>
    <p:cSldViewPr snapToGrid="0">
      <p:cViewPr varScale="1">
        <p:scale>
          <a:sx d="100" n="119"/>
          <a:sy d="100" n="119"/>
        </p:scale>
        <p:origin x="232" y="232"/>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notesMaster" Target="notesMasters/notesMaster1.xml" /><Relationship Id="rId1" Type="http://schemas.openxmlformats.org/officeDocument/2006/relationships/slideMaster" Target="slideMasters/slideMaster1.xml" /><Relationship Id="rId27" Type="http://schemas.openxmlformats.org/officeDocument/2006/relationships/presProps" Target="presProps.xml" /><Relationship Id="rId28" Type="http://schemas.openxmlformats.org/officeDocument/2006/relationships/viewProps" Target="viewProps.xml" /><Relationship Id="rId29" Type="http://schemas.openxmlformats.org/officeDocument/2006/relationships/theme" Target="theme/theme1.xml" /><Relationship Id="rId30"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the worksheet, description, and hints. The hints sheet is a reference, not a submission. The two assigned articles are linked on the reading slides.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Identify the article summaries, the two integration sections, and the proposal. The Word worksheet’s gray rows contain grading information. Students write in the response spaces, then compose the paper below.</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Connect the literature review to the proposal: students use what the articles found and left unanswered to decide what to study next.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Study 1 to model this reading sequence. The worksheet also asks for participants, formal design terms, materials, and procedures. Students need all reported findings, including nonsignificant results and interactions, without copying the statistical values.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with the title and abstract. Have students identify the IV, DV, and predicted direction, then check the Method. Use the assigned course version of the article.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the coin toss to explain why this is a between-groups experiment. The hints treat each table’s tip as one DV score; the waiter collects the data. Have students identify the other sampling and procedure details in the article.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sentence models one result, not the complete worksheet answer. Have students read both Results subsections and the Discussion. They need to explain the other findings and why a limitation matters.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Students should complete each Study 2 box using the article. Check both Results subsections, including the weekday/weekend comparison, other interactions, and nonsignificant findings. Do not stop at the average-tip comparison.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Follow the worksheet’s three integration questions. Ask students to connect specific similarities and differences to replication and generalizability.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students to identify how the research question and outcomes differ from Lynn and Mynier’s. Keep the patrons and tables separate from the servers whose behavior was observed.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students to use the Method to distinguish observation from assigned posture. Have them identify a possible confound and explain how it could affect the outcomes.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the sales comparison, visit duration, and correlations separate. Students need the results before and after the outlier exclusion, then the assignment details to judge the claim. Have them explain each finding in words.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Have students justify the claims before writing the cross-article integration. They should explain how the design affects what they can conclude.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the completed comparison to build a paragraph that moves between articles. Students should explain the relationships among findings, rather than repeat the two summaries.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question is an example, not an assigned topic. The rubric gives less credit for changing only the population or setting and more for an idea that adds to what the studies tell us. Ask students what their proposed study would establish that the reviewed studies did not.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Have students state a formal hypothesis using their own study’s variables and expected direction. They should be able to explain how it follows from the review. Use causal wording only when the proposed design supports it.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Follow the proposal boxes for sample, materials, and procedures. Explain the sequence clearly enough that someone else could carry out the study. Include anyone needed to conduct it and what they would do.</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students to identify a possible confound and how they would address it. Then check that their conclusions stay within the people and situations their study represents.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a completed worksheet section without its prompt. It should make sense on its own and connect to the surrounding sections. Move or revise sentences that do not support the paragraph’s point.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example combines related facts into one sentence. Integration also explains how evidence from different studies fits together.</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Repeat the paper title at the top of the first body page. Check citations and both reference entries rather than assuming the reference manager has formatted them correctly. Use the linked APA guidance and assignment materials.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Leave this sequence visible during work time. Students finish the worksheet sections before composing the paper, including its title and reference pages. The course schedule places submission before Week 5. The hints sheet is not submitted.</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097280" y="2386744"/>
            <a:ext cx="999744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1097280" y="4352544"/>
            <a:ext cx="9997440" cy="1239894"/>
          </a:xfrm>
          <a:noFill/>
        </p:spPr>
        <p:txBody>
          <a:bodyPr>
            <a:normAutofit/>
          </a:bodyPr>
          <a:lstStyle>
            <a:lvl1pPr marL="0" indent="0" algn="ctr">
              <a:buNone/>
              <a:defRPr sz="20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1097280" y="2638044"/>
            <a:ext cx="9997440" cy="3101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097280" y="2386744"/>
            <a:ext cx="999744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352465"/>
            <a:ext cx="9997440"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638044"/>
            <a:ext cx="4907280"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40" y="2638044"/>
            <a:ext cx="4907280"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1/22/26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7280" y="2313433"/>
            <a:ext cx="4907280" cy="548640"/>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26080"/>
            <a:ext cx="4907280" cy="31775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187440" y="2926080"/>
            <a:ext cx="4907280" cy="317754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187440" y="2313433"/>
            <a:ext cx="4907280" cy="548640"/>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a:xfrm>
            <a:off x="1097280" y="964692"/>
            <a:ext cx="9997440" cy="1188720"/>
          </a:xfrm>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1/22/26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1/22/26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theme/theme1.xml" Type="http://schemas.openxmlformats.org/officeDocument/2006/relationships/them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cap="sq" w="31750">
            <a:solidFill>
              <a:srgbClr val="404040"/>
            </a:solidFill>
            <a:miter lim="800000"/>
          </a:ln>
        </p:spPr>
        <p:txBody>
          <a:bodyPr anchor="ctr" bIns="182880" lIns="182880" rIns="182880" rtlCol="0" tIns="182880" vert="horz">
            <a:normAutofit/>
          </a:bodyPr>
          <a:lstStyle/>
          <a:p>
            <a:r>
              <a:rPr lang="en-US"/>
              <a:t>Click to edit Master title style</a:t>
            </a:r>
            <a:endParaRPr dirty="0" lang="en-US"/>
          </a:p>
        </p:txBody>
      </p:sp>
      <p:sp>
        <p:nvSpPr>
          <p:cNvPr id="3" name="Text Placeholder 2"/>
          <p:cNvSpPr>
            <a:spLocks noGrp="1"/>
          </p:cNvSpPr>
          <p:nvPr>
            <p:ph idx="1" type="body"/>
          </p:nvPr>
        </p:nvSpPr>
        <p:spPr>
          <a:xfrm>
            <a:off x="2231136" y="2638044"/>
            <a:ext cx="7729728" cy="3101983"/>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4" name="Date Placeholder 3"/>
          <p:cNvSpPr>
            <a:spLocks noGrp="1"/>
          </p:cNvSpPr>
          <p:nvPr>
            <p:ph idx="2" sz="half" type="dt"/>
          </p:nvPr>
        </p:nvSpPr>
        <p:spPr>
          <a:xfrm>
            <a:off x="7821429" y="6238816"/>
            <a:ext cx="2753746" cy="323968"/>
          </a:xfrm>
          <a:prstGeom prst="rect">
            <a:avLst/>
          </a:prstGeom>
        </p:spPr>
        <p:txBody>
          <a:bodyPr anchor="ctr" bIns="45720" lIns="91440" rIns="91440" rtlCol="0" tIns="45720" vert="horz"/>
          <a:lstStyle>
            <a:lvl1pPr algn="r">
              <a:defRPr sz="1050">
                <a:solidFill>
                  <a:schemeClr val="tx1">
                    <a:alpha val="70000"/>
                  </a:schemeClr>
                </a:solidFill>
              </a:defRPr>
            </a:lvl1pPr>
          </a:lstStyle>
          <a:p>
            <a:fld id="{1160EA64-D806-43AC-9DF2-F8C432F32B4C}" type="datetimeFigureOut">
              <a:rPr dirty="0" lang="en-US"/>
              <a:t>1/22/26</a:t>
            </a:fld>
            <a:endParaRPr dirty="0" lang="en-US"/>
          </a:p>
        </p:txBody>
      </p:sp>
      <p:sp>
        <p:nvSpPr>
          <p:cNvPr id="5" name="Footer Placeholder 4"/>
          <p:cNvSpPr>
            <a:spLocks noGrp="1"/>
          </p:cNvSpPr>
          <p:nvPr>
            <p:ph idx="3" sz="quarter" type="ftr"/>
          </p:nvPr>
        </p:nvSpPr>
        <p:spPr>
          <a:xfrm>
            <a:off x="1600200" y="6236208"/>
            <a:ext cx="5901189" cy="320040"/>
          </a:xfrm>
          <a:prstGeom prst="rect">
            <a:avLst/>
          </a:prstGeom>
        </p:spPr>
        <p:txBody>
          <a:bodyPr anchor="ctr" bIns="45720" lIns="91440" rIns="91440" rtlCol="0" tIns="45720" vert="horz"/>
          <a:lstStyle>
            <a:lvl1pPr algn="l">
              <a:defRPr sz="1050">
                <a:solidFill>
                  <a:schemeClr val="tx1">
                    <a:alpha val="70000"/>
                  </a:schemeClr>
                </a:solidFill>
              </a:defRPr>
            </a:lvl1pPr>
          </a:lstStyle>
          <a:p>
            <a:endParaRPr dirty="0" lang="en-US"/>
          </a:p>
        </p:txBody>
      </p:sp>
      <p:sp>
        <p:nvSpPr>
          <p:cNvPr id="6" name="Slide Number Placeholder 5"/>
          <p:cNvSpPr>
            <a:spLocks noGrp="1"/>
          </p:cNvSpPr>
          <p:nvPr>
            <p:ph idx="4" sz="quarter" type="sldNum"/>
          </p:nvPr>
        </p:nvSpPr>
        <p:spPr>
          <a:xfrm>
            <a:off x="10758922" y="6217920"/>
            <a:ext cx="365760" cy="365760"/>
          </a:xfrm>
          <a:prstGeom prst="ellipse">
            <a:avLst/>
          </a:prstGeom>
          <a:solidFill>
            <a:srgbClr val="1D1D1D">
              <a:alpha val="70000"/>
            </a:srgbClr>
          </a:solidFill>
        </p:spPr>
        <p:txBody>
          <a:bodyPr anchor="ctr" bIns="45720" lIns="18288" rIns="18288" rtlCol="0" tIns="45720" vert="horz">
            <a:noAutofit/>
          </a:bodyPr>
          <a:lstStyle>
            <a:lvl1pPr algn="ctr">
              <a:defRPr baseline="0" spc="0" sz="1100">
                <a:solidFill>
                  <a:srgbClr val="FFFFFF"/>
                </a:solidFill>
              </a:defRPr>
            </a:lvl1pPr>
          </a:lstStyle>
          <a:p>
            <a:fld id="{8A7A6979-0714-4377-B894-6BE4C2D6E202}" type="slidenum">
              <a:rPr dirty="0" lang="en-US"/>
              <a:pPr/>
              <a:t>‹#›</a:t>
            </a:fld>
            <a:endParaRPr dirty="0" lang="en-US"/>
          </a:p>
        </p:txBody>
      </p:sp>
    </p:spTree>
  </p:cSld>
  <p:clrMap accent1="accent1" accent2="accent2" accent3="accent3" accent4="accent4" accent5="accent5" accent6="accent6" bg1="lt1" bg2="lt2" folHlink="folHlink" hlink="hlink" tx1="dk1" tx2="dk2"/>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dt="0" ftr="0" hdr="0" sldNum="0"/>
  <p:txStyles>
    <p:titleStyle>
      <a:lvl1pPr algn="ctr" defTabSz="914400" eaLnBrk="1" hangingPunct="1" latinLnBrk="0" rtl="0">
        <a:lnSpc>
          <a:spcPct val="90000"/>
        </a:lnSpc>
        <a:spcBef>
          <a:spcPct val="0"/>
        </a:spcBef>
        <a:buNone/>
        <a:defRPr baseline="0" cap="all" kern="1200" spc="200" sz="2800">
          <a:solidFill>
            <a:srgbClr val="262626"/>
          </a:solidFill>
          <a:latin typeface="+mj-lt"/>
          <a:ea typeface="+mj-ea"/>
          <a:cs typeface="+mj-cs"/>
        </a:defRPr>
      </a:lvl1pPr>
    </p:titleStyle>
    <p:bodyStyle>
      <a:lvl1pPr algn="l" defTabSz="914400" eaLnBrk="1" hangingPunct="1" indent="-228600" latinLnBrk="0" marL="228600" rtl="0">
        <a:lnSpc>
          <a:spcPct val="100000"/>
        </a:lnSpc>
        <a:spcBef>
          <a:spcPts val="1000"/>
        </a:spcBef>
        <a:buClr>
          <a:schemeClr val="accent2"/>
        </a:buClr>
        <a:buFont charset="0" panose="020B0604020202020204" pitchFamily="34" typeface="Arial"/>
        <a:buChar char="•"/>
        <a:defRPr kern="1200" sz="2000">
          <a:solidFill>
            <a:schemeClr val="tx1">
              <a:lumMod val="85000"/>
              <a:lumOff val="15000"/>
            </a:schemeClr>
          </a:solidFill>
          <a:latin typeface="+mn-lt"/>
          <a:ea typeface="+mn-ea"/>
          <a:cs typeface="+mn-cs"/>
        </a:defRPr>
      </a:lvl1pPr>
      <a:lvl2pPr algn="l" defTabSz="914400" eaLnBrk="1" hangingPunct="1" indent="-228600" latinLnBrk="0" marL="457200" rtl="0">
        <a:lnSpc>
          <a:spcPct val="100000"/>
        </a:lnSpc>
        <a:spcBef>
          <a:spcPts val="1000"/>
        </a:spcBef>
        <a:buClr>
          <a:schemeClr val="accent2"/>
        </a:buClr>
        <a:buFont charset="0" panose="020B0604020202020204" pitchFamily="34" typeface="Arial"/>
        <a:buChar char="•"/>
        <a:defRPr kern="1200" sz="2000">
          <a:solidFill>
            <a:schemeClr val="tx1">
              <a:lumMod val="85000"/>
              <a:lumOff val="15000"/>
            </a:schemeClr>
          </a:solidFill>
          <a:latin typeface="+mn-lt"/>
          <a:ea typeface="+mn-ea"/>
          <a:cs typeface="+mn-cs"/>
        </a:defRPr>
      </a:lvl2pPr>
      <a:lvl3pPr algn="l" defTabSz="914400" eaLnBrk="1" hangingPunct="1" indent="-228600" latinLnBrk="0" marL="685800" rtl="0">
        <a:lnSpc>
          <a:spcPct val="100000"/>
        </a:lnSpc>
        <a:spcBef>
          <a:spcPts val="1000"/>
        </a:spcBef>
        <a:buClr>
          <a:schemeClr val="accent2"/>
        </a:buClr>
        <a:buFont charset="0" panose="020B0604020202020204" pitchFamily="34" typeface="Arial"/>
        <a:buChar char="•"/>
        <a:defRPr kern="1200" sz="2000">
          <a:solidFill>
            <a:schemeClr val="tx1">
              <a:lumMod val="85000"/>
              <a:lumOff val="15000"/>
            </a:schemeClr>
          </a:solidFill>
          <a:latin typeface="+mn-lt"/>
          <a:ea typeface="+mn-ea"/>
          <a:cs typeface="+mn-cs"/>
        </a:defRPr>
      </a:lvl3pPr>
      <a:lvl4pPr algn="l" defTabSz="914400" eaLnBrk="1" hangingPunct="1" indent="-228600" latinLnBrk="0" marL="914400" rtl="0">
        <a:lnSpc>
          <a:spcPct val="100000"/>
        </a:lnSpc>
        <a:spcBef>
          <a:spcPts val="1000"/>
        </a:spcBef>
        <a:buClr>
          <a:schemeClr val="accent2"/>
        </a:buClr>
        <a:buFont charset="0" panose="020B0604020202020204" pitchFamily="34" typeface="Arial"/>
        <a:buChar char="•"/>
        <a:defRPr kern="1200" sz="2000">
          <a:solidFill>
            <a:schemeClr val="tx1">
              <a:lumMod val="85000"/>
              <a:lumOff val="15000"/>
            </a:schemeClr>
          </a:solidFill>
          <a:latin typeface="+mn-lt"/>
          <a:ea typeface="+mn-ea"/>
          <a:cs typeface="+mn-cs"/>
        </a:defRPr>
      </a:lvl4pPr>
      <a:lvl5pPr algn="l" defTabSz="914400" eaLnBrk="1" hangingPunct="1" indent="-228600" latinLnBrk="0" marL="1143000" rtl="0">
        <a:lnSpc>
          <a:spcPct val="100000"/>
        </a:lnSpc>
        <a:spcBef>
          <a:spcPts val="1000"/>
        </a:spcBef>
        <a:buClr>
          <a:schemeClr val="accent2"/>
        </a:buClr>
        <a:buFont charset="0" panose="020B0604020202020204" pitchFamily="34" typeface="Arial"/>
        <a:buChar char="•"/>
        <a:defRPr kern="1200" sz="2000">
          <a:solidFill>
            <a:schemeClr val="tx1">
              <a:lumMod val="85000"/>
              <a:lumOff val="15000"/>
            </a:schemeClr>
          </a:solidFill>
          <a:latin typeface="+mn-lt"/>
          <a:ea typeface="+mn-ea"/>
          <a:cs typeface="+mn-cs"/>
        </a:defRPr>
      </a:lvl5pPr>
      <a:lvl6pPr algn="l" defTabSz="914400" eaLnBrk="1" hangingPunct="1" indent="-228600" latinLnBrk="0" marL="1312863" rtl="0">
        <a:lnSpc>
          <a:spcPct val="100000"/>
        </a:lnSpc>
        <a:spcBef>
          <a:spcPts val="1000"/>
        </a:spcBef>
        <a:buClr>
          <a:schemeClr val="accent2"/>
        </a:buClr>
        <a:buFont charset="0" panose="020B0604020202020204" pitchFamily="34" typeface="Arial"/>
        <a:buChar char="•"/>
        <a:defRPr kern="1200" sz="2000">
          <a:solidFill>
            <a:schemeClr val="tx1"/>
          </a:solidFill>
          <a:latin typeface="+mn-lt"/>
          <a:ea typeface="+mn-ea"/>
          <a:cs typeface="+mn-cs"/>
        </a:defRPr>
      </a:lvl6pPr>
      <a:lvl7pPr algn="l" defTabSz="914400" eaLnBrk="1" hangingPunct="1" indent="-228600" latinLnBrk="0" marL="1484313" rtl="0">
        <a:lnSpc>
          <a:spcPct val="100000"/>
        </a:lnSpc>
        <a:spcBef>
          <a:spcPts val="1000"/>
        </a:spcBef>
        <a:buClr>
          <a:schemeClr val="accent2"/>
        </a:buClr>
        <a:buFont charset="0" panose="020B0604020202020204" pitchFamily="34" typeface="Arial"/>
        <a:buChar char="•"/>
        <a:defRPr kern="1200" sz="2000">
          <a:solidFill>
            <a:schemeClr val="tx1"/>
          </a:solidFill>
          <a:latin typeface="+mn-lt"/>
          <a:ea typeface="+mn-ea"/>
          <a:cs typeface="+mn-cs"/>
        </a:defRPr>
      </a:lvl7pPr>
      <a:lvl8pPr algn="l" defTabSz="914400" eaLnBrk="1" hangingPunct="1" indent="-228600" latinLnBrk="0" marL="1657350" rtl="0">
        <a:lnSpc>
          <a:spcPct val="100000"/>
        </a:lnSpc>
        <a:spcBef>
          <a:spcPts val="1000"/>
        </a:spcBef>
        <a:buClr>
          <a:schemeClr val="accent2"/>
        </a:buClr>
        <a:buFont charset="0" panose="020B0604020202020204" pitchFamily="34" typeface="Arial"/>
        <a:buChar char="•"/>
        <a:defRPr baseline="0" kern="1200" sz="2000">
          <a:solidFill>
            <a:schemeClr val="tx1"/>
          </a:solidFill>
          <a:latin typeface="+mn-lt"/>
          <a:ea typeface="+mn-ea"/>
          <a:cs typeface="+mn-cs"/>
        </a:defRPr>
      </a:lvl8pPr>
      <a:lvl9pPr algn="l" defTabSz="914400" eaLnBrk="1" hangingPunct="1" indent="-228600" latinLnBrk="0" marL="1882775" rtl="0">
        <a:lnSpc>
          <a:spcPct val="100000"/>
        </a:lnSpc>
        <a:spcBef>
          <a:spcPts val="1000"/>
        </a:spcBef>
        <a:buClr>
          <a:schemeClr val="accent2"/>
        </a:buClr>
        <a:buFont charset="0" panose="020B0604020202020204" pitchFamily="34" typeface="Arial"/>
        <a:buChar char="•"/>
        <a:defRPr baseline="0" kern="1200" sz="2000">
          <a:solidFill>
            <a:schemeClr val="tx1"/>
          </a:solidFill>
          <a:latin typeface="+mn-lt"/>
          <a:ea typeface="+mn-ea"/>
          <a:cs typeface="+mn-cs"/>
        </a:defRPr>
      </a:lvl9pPr>
    </p:bodyStyle>
    <p:otherStyle>
      <a:defPPr>
        <a:defRPr lang="en-US"/>
      </a:defPPr>
      <a:lvl1pPr algn="l" defTabSz="914400" eaLnBrk="1" hangingPunct="1" latinLnBrk="0" marL="0" rtl="0">
        <a:defRPr kern="1200" sz="2000">
          <a:solidFill>
            <a:schemeClr val="tx1"/>
          </a:solidFill>
          <a:latin typeface="+mn-lt"/>
          <a:ea typeface="+mn-ea"/>
          <a:cs typeface="+mn-cs"/>
        </a:defRPr>
      </a:lvl1pPr>
      <a:lvl2pPr algn="l" defTabSz="914400" eaLnBrk="1" hangingPunct="1" latinLnBrk="0" marL="457200" rtl="0">
        <a:defRPr kern="1200" sz="2000">
          <a:solidFill>
            <a:schemeClr val="tx1"/>
          </a:solidFill>
          <a:latin typeface="+mn-lt"/>
          <a:ea typeface="+mn-ea"/>
          <a:cs typeface="+mn-cs"/>
        </a:defRPr>
      </a:lvl2pPr>
      <a:lvl3pPr algn="l" defTabSz="914400" eaLnBrk="1" hangingPunct="1" latinLnBrk="0" marL="914400" rtl="0">
        <a:defRPr kern="1200" sz="2000">
          <a:solidFill>
            <a:schemeClr val="tx1"/>
          </a:solidFill>
          <a:latin typeface="+mn-lt"/>
          <a:ea typeface="+mn-ea"/>
          <a:cs typeface="+mn-cs"/>
        </a:defRPr>
      </a:lvl3pPr>
      <a:lvl4pPr algn="l" defTabSz="914400" eaLnBrk="1" hangingPunct="1" latinLnBrk="0" marL="1371600" rtl="0">
        <a:defRPr kern="1200" sz="2000">
          <a:solidFill>
            <a:schemeClr val="tx1"/>
          </a:solidFill>
          <a:latin typeface="+mn-lt"/>
          <a:ea typeface="+mn-ea"/>
          <a:cs typeface="+mn-cs"/>
        </a:defRPr>
      </a:lvl4pPr>
      <a:lvl5pPr algn="l" defTabSz="914400" eaLnBrk="1" hangingPunct="1" latinLnBrk="0" marL="1828800" rtl="0">
        <a:defRPr kern="1200" sz="2000">
          <a:solidFill>
            <a:schemeClr val="tx1"/>
          </a:solidFill>
          <a:latin typeface="+mn-lt"/>
          <a:ea typeface="+mn-ea"/>
          <a:cs typeface="+mn-cs"/>
        </a:defRPr>
      </a:lvl5pPr>
      <a:lvl6pPr algn="l" defTabSz="914400" eaLnBrk="1" hangingPunct="1" latinLnBrk="0" marL="2286000" rtl="0">
        <a:defRPr kern="1200" sz="2000">
          <a:solidFill>
            <a:schemeClr val="tx1"/>
          </a:solidFill>
          <a:latin typeface="+mn-lt"/>
          <a:ea typeface="+mn-ea"/>
          <a:cs typeface="+mn-cs"/>
        </a:defRPr>
      </a:lvl6pPr>
      <a:lvl7pPr algn="l" defTabSz="914400" eaLnBrk="1" hangingPunct="1" latinLnBrk="0" marL="2743200" rtl="0">
        <a:defRPr kern="1200" sz="2000">
          <a:solidFill>
            <a:schemeClr val="tx1"/>
          </a:solidFill>
          <a:latin typeface="+mn-lt"/>
          <a:ea typeface="+mn-ea"/>
          <a:cs typeface="+mn-cs"/>
        </a:defRPr>
      </a:lvl7pPr>
      <a:lvl8pPr algn="l" defTabSz="914400" eaLnBrk="1" hangingPunct="1" latinLnBrk="0" marL="3200400" rtl="0">
        <a:defRPr kern="1200" sz="2000">
          <a:solidFill>
            <a:schemeClr val="tx1"/>
          </a:solidFill>
          <a:latin typeface="+mn-lt"/>
          <a:ea typeface="+mn-ea"/>
          <a:cs typeface="+mn-cs"/>
        </a:defRPr>
      </a:lvl8pPr>
      <a:lvl9pPr algn="l" defTabSz="914400" eaLnBrk="1" hangingPunct="1" latinLnBrk="0" marL="3657600" rtl="0">
        <a:defRPr kern="1200" sz="20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unlpsychstats.github.io/UNL-PSYC350-LAB/schedule.html" TargetMode="External"/>
  <Relationship Id="rId4" Type="http://schemas.openxmlformats.org/officeDocument/2006/relationships/hyperlink" Target="https://unlpsychstats.github.io/UNL-PSYC350-LAB/lab-materials/lab04/files/lab04_litreview_DESCRIPTION.docx" TargetMode="External"/>
  <Relationship Id="rId5" Type="http://schemas.openxmlformats.org/officeDocument/2006/relationships/hyperlink" Target="https://unlpsychstats.github.io/UNL-PSYC350-LAB/lab-materials/lab04/files/lab04_litreview_HINTS.docx" TargetMode="External"/>
  <Relationship Id="rId6" Type="http://schemas.openxmlformats.org/officeDocument/2006/relationships/hyperlink" Target="https://apastyle.apa.org/style-grammar-guidelines"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xml" /><Relationship Id="rId4" Type="http://schemas.openxmlformats.org/officeDocument/2006/relationships/hyperlink" Target="https://unlpsychstats.github.io/UNL-PSYC350-LAB/lab-materials/lab04/files/lab04_article_01.pdf" TargetMode="Externa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xml" /><Relationship Id="rId4" Type="http://schemas.openxmlformats.org/officeDocument/2006/relationships/hyperlink" Target="https://unlpsychstats.github.io/UNL-PSYC350-LAB/lab-materials/lab04/files/lab04_article_02.pdf" TargetMode="External" /><Relationship Id="rId3"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097280" y="2386744"/>
            <a:ext cx="9997440" cy="1645920"/>
          </a:xfrm>
          <a:solidFill>
            <a:srgbClr val="FFFFFF"/>
          </a:solidFill>
          <a:ln w="38100">
            <a:solidFill>
              <a:srgbClr val="404040"/>
            </a:solidFill>
          </a:ln>
        </p:spPr>
        <p:txBody>
          <a:bodyPr/>
          <a:lstStyle/>
          <a:p>
            <a:pPr lvl="0" indent="0" marL="0">
              <a:buNone/>
            </a:pPr>
            <a:r>
              <a:rPr/>
              <a:t>Reviewing the Literature</a:t>
            </a:r>
          </a:p>
        </p:txBody>
      </p:sp>
      <p:sp>
        <p:nvSpPr>
          <p:cNvPr id="3" name="Subtitle 2"/>
          <p:cNvSpPr>
            <a:spLocks noGrp="1"/>
          </p:cNvSpPr>
          <p:nvPr>
            <p:ph idx="1" type="subTitle"/>
          </p:nvPr>
        </p:nvSpPr>
        <p:spPr>
          <a:xfrm>
            <a:off x="1097280" y="4352544"/>
            <a:ext cx="9997440" cy="1239894"/>
          </a:xfrm>
          <a:noFill/>
        </p:spPr>
        <p:txBody>
          <a:bodyPr/>
          <a:lstStyle/>
          <a:p>
            <a:pPr lvl="0" indent="0" marL="0">
              <a:buNone/>
            </a:pPr>
            <a:r>
              <a:rPr/>
              <a:t>Lab 04 · Literature Review &amp; Proposal</a:t>
            </a:r>
            <a:br/>
            <a:br/>
            <a:r>
              <a:rPr/>
              <a:t>PSYC 350 Laboratory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 Open the Lab 04 files</a:t>
            </a:r>
          </a:p>
        </p:txBody>
      </p:sp>
      <p:sp>
        <p:nvSpPr>
          <p:cNvPr id="1001" name="card-steel" descr="card: Worksheet. Write each section here before composing the paper Worksheet: lab schedule"/>
          <p:cNvSpPr/>
          <p:nvPr/>
        </p:nvSpPr>
        <p:spPr>
          <a:xfrm>
            <a:off x="1097280" y="2633472"/>
            <a:ext cx="4924044" cy="16154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Worksheet</a:t>
            </a:r>
          </a:p>
          <a:p>
            <a:pPr algn="l"/>
            <a:r>
              <a:rPr lang="en-US" sz="2000" b="0" dirty="0">
                <a:solidFill>
                  <a:srgbClr val="010B13"/>
                </a:solidFill>
              </a:rPr>
              <a:t>Write each section here before composing the paper</a:t>
            </a:r>
          </a:p>
          <a:p>
            <a:pPr algn="l"/>
            <a:r>
              <a:rPr lang="en-US" sz="2000" b="0" dirty="0">
                <a:solidFill>
                  <a:srgbClr val="010B13"/>
                </a:solidFill>
                <a:hlinkClick r:id="rId3"/>
              </a:rPr>
              <a:t>Worksheet: lab schedule</a:t>
            </a:r>
          </a:p>
        </p:txBody>
      </p:sp>
      <p:sp>
        <p:nvSpPr>
          <p:cNvPr id="1002" name="card-rail" descr="">
            <a:extLst>
              <a:ext uri="{C183D7F6-B498-43B3-948B-1728B52AA6E4}">
                <adec:decorative xmlns:adec="http://schemas.microsoft.com/office/drawing/2017/decorative" val="1"/>
              </a:ext>
            </a:extLst>
          </p:cNvPr>
          <p:cNvSpPr/>
          <p:nvPr/>
        </p:nvSpPr>
        <p:spPr>
          <a:xfrm>
            <a:off x="1097280" y="2633472"/>
            <a:ext cx="54864" cy="1615440"/>
          </a:xfrm>
          <a:prstGeom prst="roundRect">
            <a:avLst>
              <a:gd name="adj" fmla="val 20000"/>
            </a:avLst>
          </a:prstGeom>
          <a:solidFill>
            <a:srgbClr val="010B13"/>
          </a:solidFill>
          <a:ln>
            <a:noFill/>
          </a:ln>
        </p:spPr>
        <p:txBody>
          <a:bodyPr lIns="182880" tIns="182880" rIns="182880" bIns="182880" anchor="t" wrap="square">
            <a:normAutofit/>
          </a:bodyPr>
          <a:lstStyle/>
          <a:p/>
        </p:txBody>
      </p:sp>
      <p:sp>
        <p:nvSpPr>
          <p:cNvPr id="1003" name="card-steel" descr="card: Assignment description. Read what the review and proposal should include Description (Word)"/>
          <p:cNvSpPr/>
          <p:nvPr/>
        </p:nvSpPr>
        <p:spPr>
          <a:xfrm>
            <a:off x="6167628" y="2633472"/>
            <a:ext cx="4924044" cy="16154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Assignment description</a:t>
            </a:r>
          </a:p>
          <a:p>
            <a:pPr algn="l"/>
            <a:r>
              <a:rPr lang="en-US" sz="2000" b="0" dirty="0">
                <a:solidFill>
                  <a:srgbClr val="010B13"/>
                </a:solidFill>
              </a:rPr>
              <a:t>Read what the review and proposal should include</a:t>
            </a:r>
          </a:p>
          <a:p>
            <a:pPr algn="l"/>
            <a:r>
              <a:rPr lang="en-US" sz="2000" b="0" dirty="0">
                <a:solidFill>
                  <a:srgbClr val="010B13"/>
                </a:solidFill>
                <a:hlinkClick r:id="rId4"/>
              </a:rPr>
              <a:t>Description (Word)</a:t>
            </a:r>
          </a:p>
        </p:txBody>
      </p:sp>
      <p:sp>
        <p:nvSpPr>
          <p:cNvPr id="1004" name="card-rail" descr="">
            <a:extLst>
              <a:ext uri="{C183D7F6-B498-43B3-948B-1728B52AA6E4}">
                <adec:decorative xmlns:adec="http://schemas.microsoft.com/office/drawing/2017/decorative" val="1"/>
              </a:ext>
            </a:extLst>
          </p:cNvPr>
          <p:cNvSpPr/>
          <p:nvPr/>
        </p:nvSpPr>
        <p:spPr>
          <a:xfrm>
            <a:off x="6167628" y="2633472"/>
            <a:ext cx="54864" cy="1615440"/>
          </a:xfrm>
          <a:prstGeom prst="roundRect">
            <a:avLst>
              <a:gd name="adj" fmla="val 20000"/>
            </a:avLst>
          </a:prstGeom>
          <a:solidFill>
            <a:srgbClr val="010B13"/>
          </a:solidFill>
          <a:ln>
            <a:noFill/>
          </a:ln>
        </p:spPr>
        <p:txBody>
          <a:bodyPr lIns="182880" tIns="182880" rIns="182880" bIns="182880" anchor="t" wrap="square">
            <a:normAutofit/>
          </a:bodyPr>
          <a:lstStyle/>
          <a:p/>
        </p:txBody>
      </p:sp>
      <p:sp>
        <p:nvSpPr>
          <p:cNvPr id="1005" name="card-steel" descr="card: Hints sheet. Check the guidance for each worksheet section Hints (Word)"/>
          <p:cNvSpPr/>
          <p:nvPr/>
        </p:nvSpPr>
        <p:spPr>
          <a:xfrm>
            <a:off x="1097280" y="4395216"/>
            <a:ext cx="4924044" cy="16154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Hints sheet</a:t>
            </a:r>
          </a:p>
          <a:p>
            <a:pPr algn="l"/>
            <a:r>
              <a:rPr lang="en-US" sz="2000" b="0" dirty="0">
                <a:solidFill>
                  <a:srgbClr val="010B13"/>
                </a:solidFill>
              </a:rPr>
              <a:t>Check the guidance for each worksheet section</a:t>
            </a:r>
          </a:p>
          <a:p>
            <a:pPr algn="l"/>
            <a:r>
              <a:rPr lang="en-US" sz="2000" b="0" dirty="0">
                <a:solidFill>
                  <a:srgbClr val="010B13"/>
                </a:solidFill>
                <a:hlinkClick r:id="rId5"/>
              </a:rPr>
              <a:t>Hints (Word)</a:t>
            </a:r>
          </a:p>
        </p:txBody>
      </p:sp>
      <p:sp>
        <p:nvSpPr>
          <p:cNvPr id="1006" name="card-rail" descr="">
            <a:extLst>
              <a:ext uri="{C183D7F6-B498-43B3-948B-1728B52AA6E4}">
                <adec:decorative xmlns:adec="http://schemas.microsoft.com/office/drawing/2017/decorative" val="1"/>
              </a:ext>
            </a:extLst>
          </p:cNvPr>
          <p:cNvSpPr/>
          <p:nvPr/>
        </p:nvSpPr>
        <p:spPr>
          <a:xfrm>
            <a:off x="1097280" y="4395216"/>
            <a:ext cx="54864" cy="1615440"/>
          </a:xfrm>
          <a:prstGeom prst="roundRect">
            <a:avLst>
              <a:gd name="adj" fmla="val 20000"/>
            </a:avLst>
          </a:prstGeom>
          <a:solidFill>
            <a:srgbClr val="010B13"/>
          </a:solidFill>
          <a:ln>
            <a:noFill/>
          </a:ln>
        </p:spPr>
        <p:txBody>
          <a:bodyPr lIns="182880" tIns="182880" rIns="182880" bIns="182880" anchor="t" wrap="square">
            <a:normAutofit/>
          </a:bodyPr>
          <a:lstStyle/>
          <a:p/>
        </p:txBody>
      </p:sp>
      <p:sp>
        <p:nvSpPr>
          <p:cNvPr id="1007" name="card-steel" descr="card: APA writing help. Check paper format, citations, and paraphrasing APA guidelines"/>
          <p:cNvSpPr/>
          <p:nvPr/>
        </p:nvSpPr>
        <p:spPr>
          <a:xfrm>
            <a:off x="6167628" y="4395216"/>
            <a:ext cx="4924044" cy="16154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APA writing help</a:t>
            </a:r>
          </a:p>
          <a:p>
            <a:pPr algn="l"/>
            <a:r>
              <a:rPr lang="en-US" sz="2000" b="0" dirty="0">
                <a:solidFill>
                  <a:srgbClr val="010B13"/>
                </a:solidFill>
              </a:rPr>
              <a:t>Check paper format, citations, and paraphrasing</a:t>
            </a:r>
          </a:p>
          <a:p>
            <a:pPr algn="l"/>
            <a:r>
              <a:rPr lang="en-US" sz="2000" b="0" dirty="0">
                <a:solidFill>
                  <a:srgbClr val="010B13"/>
                </a:solidFill>
                <a:hlinkClick r:id="rId6"/>
              </a:rPr>
              <a:t>APA guidelines</a:t>
            </a:r>
          </a:p>
        </p:txBody>
      </p:sp>
      <p:sp>
        <p:nvSpPr>
          <p:cNvPr id="1008" name="card-rail" descr="">
            <a:extLst>
              <a:ext uri="{C183D7F6-B498-43B3-948B-1728B52AA6E4}">
                <adec:decorative xmlns:adec="http://schemas.microsoft.com/office/drawing/2017/decorative" val="1"/>
              </a:ext>
            </a:extLst>
          </p:cNvPr>
          <p:cNvSpPr/>
          <p:nvPr/>
        </p:nvSpPr>
        <p:spPr>
          <a:xfrm>
            <a:off x="6167628" y="4395216"/>
            <a:ext cx="54864" cy="1615440"/>
          </a:xfrm>
          <a:prstGeom prst="roundRect">
            <a:avLst>
              <a:gd name="adj" fmla="val 20000"/>
            </a:avLst>
          </a:prstGeom>
          <a:solidFill>
            <a:srgbClr val="010B13"/>
          </a:solidFill>
          <a:ln>
            <a:noFill/>
          </a:ln>
        </p:spPr>
        <p:txBody>
          <a:bodyPr lIns="182880" tIns="182880" rIns="182880" bIns="182880" anchor="t" wrap="square">
            <a:normAutofit/>
          </a:bodyPr>
          <a:lstStyle/>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2 Start with the worksheet</a:t>
            </a:r>
          </a:p>
        </p:txBody>
      </p:sp>
      <p:pic>
        <p:nvPicPr>
          <p:cNvPr descr="First page of the Lab 04 Literature Review and Proposal Worksheet, including its instructions and grading rows" id="0" name="Picture 1"/>
          <p:cNvPicPr>
            <a:picLocks noGrp="1" noChangeAspect="1"/>
          </p:cNvPicPr>
          <p:nvPr/>
        </p:nvPicPr>
        <p:blipFill>
          <a:blip r:embed="rId3"/>
          <a:stretch>
            <a:fillRect/>
          </a:stretch>
        </p:blipFill>
        <p:spPr bwMode="auto">
          <a:xfrm>
            <a:off x="2349500" y="2628900"/>
            <a:ext cx="2400300" cy="3098800"/>
          </a:xfrm>
          <a:prstGeom prst="rect">
            <a:avLst/>
          </a:prstGeom>
          <a:noFill/>
          <a:ln w="9525">
            <a:noFill/>
            <a:headEnd/>
            <a:tailEnd/>
          </a:ln>
        </p:spPr>
      </p:pic>
      <p:sp>
        <p:nvSpPr>
          <p:cNvPr id="4" name="Content Placeholder 3"/>
          <p:cNvSpPr>
            <a:spLocks noGrp="1"/>
          </p:cNvSpPr>
          <p:nvPr>
            <p:ph idx="2" sz="half"/>
          </p:nvPr>
        </p:nvSpPr>
        <p:spPr/>
        <p:txBody>
          <a:bodyPr/>
          <a:lstStyle/>
          <a:p>
            <a:pPr lvl="0" indent="-457200" marL="457200">
              <a:buAutoNum type="arabicPeriod"/>
            </a:pPr>
            <a:r>
              <a:rPr/>
              <a:t>Write each section in sentences and paragraphs</a:t>
            </a:r>
          </a:p>
          <a:p>
            <a:pPr lvl="0" indent="-457200" marL="457200">
              <a:buAutoNum type="arabicPeriod"/>
            </a:pPr>
            <a:r>
              <a:rPr/>
              <a:t>Use the hints to check that you included the required details</a:t>
            </a:r>
          </a:p>
          <a:p>
            <a:pPr lvl="0" indent="-457200" marL="457200">
              <a:buAutoNum type="arabicPeriod"/>
            </a:pPr>
            <a:r>
              <a:rPr/>
              <a:t>Compose the APA paper on new pages after the worksheet</a:t>
            </a:r>
          </a:p>
          <a:p>
            <a:pPr lvl="0" indent="-457200" marL="457200">
              <a:buAutoNum type="arabicPeriod"/>
            </a:pPr>
            <a:r>
              <a:rPr/>
              <a:t>Leave the gray grading rows blank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3 Literature leads to the next study</a:t>
            </a:r>
          </a:p>
        </p:txBody>
      </p:sp>
      <p:pic>
        <p:nvPicPr>
          <p:cNvPr descr="Circular research process showing a research question, literature review, hypothesis, design, data collection, analysis, and reporting, with reporting feeding the next question" id="0" name="Picture 1"/>
          <p:cNvPicPr>
            <a:picLocks noGrp="1" noChangeAspect="1"/>
          </p:cNvPicPr>
          <p:nvPr/>
        </p:nvPicPr>
        <p:blipFill>
          <a:blip r:embed="rId3"/>
          <a:stretch>
            <a:fillRect/>
          </a:stretch>
        </p:blipFill>
        <p:spPr bwMode="auto">
          <a:xfrm>
            <a:off x="4546600" y="2628900"/>
            <a:ext cx="3098800" cy="30988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4 Ask five questions as you read</a:t>
            </a:r>
          </a:p>
        </p:txBody>
      </p:sp>
      <p:sp>
        <p:nvSpPr>
          <p:cNvPr id="3" name="Content Placeholder 2"/>
          <p:cNvSpPr>
            <a:spLocks noGrp="1"/>
          </p:cNvSpPr>
          <p:nvPr>
            <p:ph idx="1"/>
          </p:nvPr>
        </p:nvSpPr>
        <p:spPr/>
        <p:txBody>
          <a:bodyPr/>
          <a:lstStyle/>
          <a:p>
            <a:pPr lvl="0" indent="-457200" marL="457200">
              <a:buAutoNum type="arabicPeriod"/>
            </a:pPr>
            <a:r>
              <a:rPr/>
              <a:t>Why was the study needed?</a:t>
            </a:r>
          </a:p>
          <a:p>
            <a:pPr lvl="0" indent="-457200" marL="457200">
              <a:buAutoNum type="arabicPeriod"/>
            </a:pPr>
            <a:r>
              <a:rPr/>
              <a:t>What did the authors predict?</a:t>
            </a:r>
          </a:p>
          <a:p>
            <a:pPr lvl="0" indent="-457200" marL="457200">
              <a:buAutoNum type="arabicPeriod"/>
            </a:pPr>
            <a:r>
              <a:rPr/>
              <a:t>How did they test it?</a:t>
            </a:r>
          </a:p>
          <a:p>
            <a:pPr lvl="0" indent="-457200" marL="457200">
              <a:buAutoNum type="arabicPeriod"/>
            </a:pPr>
            <a:r>
              <a:rPr/>
              <a:t>What did they find?</a:t>
            </a:r>
          </a:p>
          <a:p>
            <a:pPr lvl="0" indent="-457200" marL="457200">
              <a:buAutoNum type="arabicPeriod"/>
            </a:pPr>
            <a:r>
              <a:rPr/>
              <a:t>How do the findings relate to earlier research?</a:t>
            </a:r>
          </a:p>
          <a:p>
            <a:pPr lvl="0" indent="0" marL="0">
              <a:buNone/>
            </a:pPr>
            <a:r>
              <a:rPr/>
              <a:t>Report </a:t>
            </a:r>
            <a:r>
              <a:rPr b="1"/>
              <a:t>every result in words</a:t>
            </a:r>
            <a:r>
              <a:rPr/>
              <a:t>, as the hints require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5 Read Lynn and Mynier first</a:t>
            </a:r>
          </a:p>
        </p:txBody>
      </p:sp>
      <p:pic>
        <p:nvPicPr>
          <p:cNvPr descr="First page of Lynn and Mynier's course article Effect of Server Posture on Restaurant Tipping, showing its title, abstract, and opening paragraphs" id="0" name="Picture 1"/>
          <p:cNvPicPr>
            <a:picLocks noGrp="1" noChangeAspect="1"/>
          </p:cNvPicPr>
          <p:nvPr/>
        </p:nvPicPr>
        <p:blipFill>
          <a:blip r:embed="rId3"/>
          <a:stretch>
            <a:fillRect/>
          </a:stretch>
        </p:blipFill>
        <p:spPr bwMode="auto">
          <a:xfrm>
            <a:off x="2349500" y="2628900"/>
            <a:ext cx="2400300" cy="3098800"/>
          </a:xfrm>
          <a:prstGeom prst="rect">
            <a:avLst/>
          </a:prstGeom>
          <a:noFill/>
          <a:ln w="9525">
            <a:noFill/>
            <a:headEnd/>
            <a:tailEnd/>
          </a:ln>
        </p:spPr>
      </p:pic>
      <p:sp>
        <p:nvSpPr>
          <p:cNvPr id="4" name="Content Placeholder 3"/>
          <p:cNvSpPr>
            <a:spLocks noGrp="1"/>
          </p:cNvSpPr>
          <p:nvPr>
            <p:ph idx="2" sz="half"/>
          </p:nvPr>
        </p:nvSpPr>
        <p:spPr/>
        <p:txBody>
          <a:bodyPr/>
          <a:lstStyle/>
          <a:p>
            <a:pPr lvl="0"/>
            <a:r>
              <a:rPr b="1"/>
              <a:t>Two studies</a:t>
            </a:r>
            <a:r>
              <a:rPr/>
              <a:t> in restaurants</a:t>
            </a:r>
          </a:p>
          <a:p>
            <a:pPr lvl="0"/>
            <a:r>
              <a:rPr b="1"/>
              <a:t>Comparison:</a:t>
            </a:r>
            <a:r>
              <a:rPr/>
              <a:t> standing or squatting</a:t>
            </a:r>
          </a:p>
          <a:p>
            <a:pPr lvl="0"/>
            <a:r>
              <a:rPr b="1"/>
              <a:t>Outcome:</a:t>
            </a:r>
            <a:r>
              <a:rPr/>
              <a:t> customer tips</a:t>
            </a:r>
          </a:p>
          <a:p>
            <a:pPr lvl="0" indent="0" marL="0">
              <a:buNone/>
            </a:pPr>
            <a:r>
              <a:rPr>
                <a:hlinkClick r:id="rId4"/>
              </a:rPr>
              <a:t>Lynn and Mynier (1993) · PDF</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6 Study 1 assigns posture</a:t>
            </a:r>
          </a:p>
        </p:txBody>
      </p:sp>
      <p:sp>
        <p:nvSpPr>
          <p:cNvPr id="3" name="Content Placeholder 2"/>
          <p:cNvSpPr>
            <a:spLocks noGrp="1"/>
          </p:cNvSpPr>
          <p:nvPr>
            <p:ph idx="1"/>
          </p:nvPr>
        </p:nvSpPr>
        <p:spPr/>
        <p:txBody>
          <a:bodyPr/>
          <a:lstStyle/>
          <a:p>
            <a:pPr lvl="0" indent="-457200" marL="457200">
              <a:buAutoNum type="arabicPeriod"/>
            </a:pPr>
            <a:r>
              <a:rPr/>
              <a:t>A waiter recorded data for </a:t>
            </a:r>
            <a:r>
              <a:rPr b="1"/>
              <a:t>270 tables</a:t>
            </a:r>
          </a:p>
          <a:p>
            <a:pPr lvl="0" indent="-457200" marL="457200">
              <a:buAutoNum type="arabicPeriod"/>
            </a:pPr>
            <a:r>
              <a:rPr/>
              <a:t>A coin toss determined standing or squatting</a:t>
            </a:r>
          </a:p>
          <a:p>
            <a:pPr lvl="0" indent="-457200" marL="457200">
              <a:buAutoNum type="arabicPeriod"/>
            </a:pPr>
            <a:r>
              <a:rPr/>
              <a:t>The waiter used that posture during the first visit</a:t>
            </a:r>
          </a:p>
          <a:p>
            <a:pPr lvl="0" indent="-457200" marL="457200">
              <a:buAutoNum type="arabicPeriod"/>
            </a:pPr>
            <a:r>
              <a:rPr/>
              <a:t>He recorded the condition, bill size, and tip</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7 Describe the result in words</a:t>
            </a:r>
          </a:p>
        </p:txBody>
      </p:sp>
      <p:sp>
        <p:nvSpPr>
          <p:cNvPr id="3" name="Content Placeholder 2"/>
          <p:cNvSpPr>
            <a:spLocks noGrp="1"/>
          </p:cNvSpPr>
          <p:nvPr>
            <p:ph idx="1"/>
          </p:nvPr>
        </p:nvSpPr>
        <p:spPr/>
        <p:txBody>
          <a:bodyPr/>
          <a:lstStyle/>
          <a:p>
            <a:pPr lvl="0" indent="0" marL="0">
              <a:buNone/>
            </a:pPr>
            <a:r>
              <a:rPr b="1"/>
              <a:t>Example paraphrase · Study 1</a:t>
            </a:r>
          </a:p>
          <a:p>
            <a:pPr lvl="0" indent="0" marL="0">
              <a:buNone/>
            </a:pPr>
            <a:r>
              <a:rPr/>
              <a:t>Customers left larger tips when the waiter squatted during his first visit to the table.</a:t>
            </a:r>
          </a:p>
          <a:p>
            <a:pPr lvl="0"/>
            <a:r>
              <a:rPr/>
              <a:t>What other findings does the Results section report?</a:t>
            </a:r>
          </a:p>
          <a:p>
            <a:pPr lvl="0"/>
            <a:r>
              <a:rPr/>
              <a:t>How does assignment affect the conclusion you can draw?</a:t>
            </a:r>
          </a:p>
          <a:p>
            <a:pPr lvl="0"/>
            <a:r>
              <a:rPr/>
              <a:t>What limitation do the authors discuss?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8 Use Study 2 for practice</a:t>
            </a:r>
          </a:p>
        </p:txBody>
      </p:sp>
      <p:sp>
        <p:nvSpPr>
          <p:cNvPr id="3" name="Content Placeholder 2"/>
          <p:cNvSpPr>
            <a:spLocks noGrp="1"/>
          </p:cNvSpPr>
          <p:nvPr>
            <p:ph idx="1"/>
          </p:nvPr>
        </p:nvSpPr>
        <p:spPr/>
        <p:txBody>
          <a:bodyPr/>
          <a:lstStyle/>
          <a:p>
            <a:pPr lvl="0"/>
            <a:r>
              <a:rPr/>
              <a:t>Why did the authors conduct a second study?</a:t>
            </a:r>
          </a:p>
          <a:p>
            <a:pPr lvl="0"/>
            <a:r>
              <a:rPr/>
              <a:t>What stayed the same, and what changed in the method?</a:t>
            </a:r>
          </a:p>
          <a:p>
            <a:pPr lvl="0"/>
            <a:r>
              <a:rPr/>
              <a:t>Which findings repeated, and which differed?</a:t>
            </a:r>
          </a:p>
          <a:p>
            <a:pPr lvl="0"/>
            <a:r>
              <a:rPr/>
              <a:t>How did the authors connect these findings to earlier research?</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9 Compare the two studies</a:t>
            </a:r>
          </a:p>
        </p:txBody>
      </p:sp>
      <p:sp>
        <p:nvSpPr>
          <p:cNvPr id="3" name="Content Placeholder 2"/>
          <p:cNvSpPr>
            <a:spLocks noGrp="1"/>
          </p:cNvSpPr>
          <p:nvPr>
            <p:ph idx="1"/>
          </p:nvPr>
        </p:nvSpPr>
        <p:spPr/>
        <p:txBody>
          <a:bodyPr/>
          <a:lstStyle/>
          <a:p>
            <a:pPr lvl="0" indent="-457200" marL="457200">
              <a:buAutoNum type="arabicPeriod"/>
            </a:pPr>
            <a:r>
              <a:rPr b="1"/>
              <a:t>Similarities:</a:t>
            </a:r>
            <a:r>
              <a:rPr/>
              <a:t> Which procedures and findings were alike?</a:t>
            </a:r>
          </a:p>
          <a:p>
            <a:pPr lvl="0" indent="-457200" marL="457200">
              <a:buAutoNum type="arabicPeriod"/>
            </a:pPr>
            <a:r>
              <a:rPr b="1"/>
              <a:t>Differences:</a:t>
            </a:r>
            <a:r>
              <a:rPr/>
              <a:t> What changed, and could it explain a difference in results?</a:t>
            </a:r>
          </a:p>
          <a:p>
            <a:pPr lvl="0" indent="-457200" marL="457200">
              <a:buAutoNum type="arabicPeriod"/>
            </a:pPr>
            <a:r>
              <a:rPr b="1"/>
              <a:t>Together:</a:t>
            </a:r>
            <a:r>
              <a:rPr/>
              <a:t> What do you learn from both studies that either one alone would not show?</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10 Read VanVolkinburg next</a:t>
            </a:r>
          </a:p>
        </p:txBody>
      </p:sp>
      <p:pic>
        <p:nvPicPr>
          <p:cNvPr descr="First page of VanVolkinburg's course article Restaurant Server Posture Related to Add-On Sales, showing its title, abstract, and opening paragraphs" id="0" name="Picture 1"/>
          <p:cNvPicPr>
            <a:picLocks noGrp="1" noChangeAspect="1"/>
          </p:cNvPicPr>
          <p:nvPr/>
        </p:nvPicPr>
        <p:blipFill>
          <a:blip r:embed="rId3"/>
          <a:stretch>
            <a:fillRect/>
          </a:stretch>
        </p:blipFill>
        <p:spPr bwMode="auto">
          <a:xfrm>
            <a:off x="2349500" y="2628900"/>
            <a:ext cx="2400300" cy="3098800"/>
          </a:xfrm>
          <a:prstGeom prst="rect">
            <a:avLst/>
          </a:prstGeom>
          <a:noFill/>
          <a:ln w="9525">
            <a:noFill/>
            <a:headEnd/>
            <a:tailEnd/>
          </a:ln>
        </p:spPr>
      </p:pic>
      <p:sp>
        <p:nvSpPr>
          <p:cNvPr id="4" name="Content Placeholder 3"/>
          <p:cNvSpPr>
            <a:spLocks noGrp="1"/>
          </p:cNvSpPr>
          <p:nvPr>
            <p:ph idx="2" sz="half"/>
          </p:nvPr>
        </p:nvSpPr>
        <p:spPr/>
        <p:txBody>
          <a:bodyPr/>
          <a:lstStyle/>
          <a:p>
            <a:pPr lvl="0"/>
            <a:r>
              <a:rPr b="1"/>
              <a:t>One observational study</a:t>
            </a:r>
          </a:p>
          <a:p>
            <a:pPr lvl="0"/>
            <a:r>
              <a:rPr b="1"/>
              <a:t>Participants:</a:t>
            </a:r>
            <a:r>
              <a:rPr/>
              <a:t> 54 patrons at 21 tables</a:t>
            </a:r>
          </a:p>
          <a:p>
            <a:pPr lvl="0"/>
            <a:r>
              <a:rPr b="1"/>
              <a:t>Outcomes:</a:t>
            </a:r>
            <a:r>
              <a:rPr/>
              <a:t> visit time and add-on sales</a:t>
            </a:r>
          </a:p>
          <a:p>
            <a:pPr lvl="0" indent="0" marL="0">
              <a:buNone/>
            </a:pPr>
            <a:r>
              <a:rPr>
                <a:hlinkClick r:id="rId4"/>
              </a:rPr>
              <a:t>VanVolkinburg (1998) · PDF</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11 Here, researchers observed habits</a:t>
            </a:r>
          </a:p>
        </p:txBody>
      </p:sp>
      <p:sp>
        <p:nvSpPr>
          <p:cNvPr id="3" name="Content Placeholder 2"/>
          <p:cNvSpPr>
            <a:spLocks noGrp="1"/>
          </p:cNvSpPr>
          <p:nvPr>
            <p:ph idx="1"/>
          </p:nvPr>
        </p:nvSpPr>
        <p:spPr/>
        <p:txBody>
          <a:bodyPr/>
          <a:lstStyle/>
          <a:p>
            <a:pPr lvl="0" indent="-457200" marL="457200">
              <a:buAutoNum type="arabicPeriod"/>
            </a:pPr>
            <a:r>
              <a:rPr/>
              <a:t>Two servers usually squatted, and two usually stood</a:t>
            </a:r>
          </a:p>
          <a:p>
            <a:pPr lvl="0" indent="-457200" marL="457200">
              <a:buAutoNum type="arabicPeriod"/>
            </a:pPr>
            <a:r>
              <a:rPr/>
              <a:t>The observer recorded their usual posture</a:t>
            </a:r>
          </a:p>
          <a:p>
            <a:pPr lvl="0" indent="-457200" marL="457200">
              <a:buAutoNum type="arabicPeriod"/>
            </a:pPr>
            <a:r>
              <a:rPr/>
              <a:t>She also recorded visit time and add-on sales</a:t>
            </a:r>
          </a:p>
          <a:p>
            <a:pPr lvl="0" indent="0" marL="0">
              <a:buNone/>
            </a:pPr>
            <a:r>
              <a:rPr/>
              <a:t>What else might differ between these servers?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12 Match the claim to the design</a:t>
            </a:r>
          </a:p>
        </p:txBody>
      </p:sp>
      <p:sp>
        <p:nvSpPr>
          <p:cNvPr id="3" name="Content Placeholder 2"/>
          <p:cNvSpPr>
            <a:spLocks noGrp="1"/>
          </p:cNvSpPr>
          <p:nvPr>
            <p:ph idx="1"/>
          </p:nvPr>
        </p:nvSpPr>
        <p:spPr/>
        <p:txBody>
          <a:bodyPr/>
          <a:lstStyle/>
          <a:p>
            <a:pPr lvl="0"/>
            <a:r>
              <a:rPr/>
              <a:t>How did the sales comparison change when the outliers were removed?</a:t>
            </a:r>
          </a:p>
          <a:p>
            <a:pPr lvl="0"/>
            <a:r>
              <a:rPr/>
              <a:t>What did the authors find about time spent at the table?</a:t>
            </a:r>
          </a:p>
          <a:p>
            <a:pPr lvl="0"/>
            <a:r>
              <a:rPr/>
              <a:t>How did the time–sales relationship differ by posture?</a:t>
            </a:r>
          </a:p>
          <a:p>
            <a:pPr lvl="0"/>
            <a:r>
              <a:rPr/>
              <a:t>Does this design support a causal claim? Explain why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13 Compare the two designs</a:t>
            </a:r>
          </a:p>
        </p:txBody>
      </p:sp>
      <p:graphicFrame>
        <p:nvGraphicFramePr>
          <p:cNvPr id="6" name="Content Placeholder 5"/>
          <p:cNvGraphicFramePr>
            <a:graphicFrameLocks noGrp="1"/>
          </p:cNvGraphicFramePr>
          <p:nvPr>
            <p:ph idx="1"/>
          </p:nvPr>
        </p:nvGraphicFramePr>
        <p:xfrm>
          <a:off x="1092200" y="2628900"/>
          <a:ext cx="9994900" cy="3098800"/>
        </p:xfrm>
        <a:graphic>
          <a:graphicData uri="http://schemas.openxmlformats.org/drawingml/2006/table">
            <a:tbl>
              <a:tblPr firstRow="1" bandRow="1">
                <a:tableStyleId>{5C22544A-7EE6-4342-B048-85BDC9FD1C3A}</a:tableStyleId>
              </a:tblPr>
              <a:tblGrid>
                <a:gridCol w="2489200"/>
                <a:gridCol w="2489200"/>
                <a:gridCol w="2489200"/>
                <a:gridCol w="2489200"/>
              </a:tblGrid>
              <a:tr h="0">
                <a:tc>
                  <a:txBody>
                    <a:bodyPr/>
                    <a:lstStyle/>
                    <a:p>
                      <a:pPr lvl="0" indent="0" marL="0">
                        <a:buNone/>
                      </a:pPr>
                      <a:r>
                        <a:rPr/>
                        <a:t>Article</a:t>
                      </a:r>
                    </a:p>
                  </a:txBody>
                  <a:tcPr/>
                </a:tc>
                <a:tc>
                  <a:txBody>
                    <a:bodyPr/>
                    <a:lstStyle/>
                    <a:p>
                      <a:pPr lvl="0" indent="0" marL="0">
                        <a:buNone/>
                      </a:pPr>
                      <a:r>
                        <a:rPr/>
                        <a:t>Posture</a:t>
                      </a:r>
                    </a:p>
                  </a:txBody>
                  <a:tcPr/>
                </a:tc>
                <a:tc>
                  <a:txBody>
                    <a:bodyPr/>
                    <a:lstStyle/>
                    <a:p>
                      <a:pPr lvl="0" indent="0" marL="0">
                        <a:buNone/>
                      </a:pPr>
                      <a:r>
                        <a:rPr/>
                        <a:t>Outcomes</a:t>
                      </a:r>
                    </a:p>
                  </a:txBody>
                  <a:tcPr/>
                </a:tc>
                <a:tc>
                  <a:txBody>
                    <a:bodyPr/>
                    <a:lstStyle/>
                    <a:p>
                      <a:pPr lvl="0" indent="0" marL="0">
                        <a:buNone/>
                      </a:pPr>
                      <a:r>
                        <a:rPr/>
                        <a:t>Claim to justify</a:t>
                      </a:r>
                    </a:p>
                  </a:txBody>
                  <a:tcPr/>
                </a:tc>
              </a:tr>
              <a:tr h="0">
                <a:tc>
                  <a:txBody>
                    <a:bodyPr/>
                    <a:lstStyle/>
                    <a:p>
                      <a:pPr lvl="0" indent="0" marL="0">
                        <a:buNone/>
                      </a:pPr>
                      <a:r>
                        <a:rPr/>
                        <a:t>Lynn &amp; Mynier</a:t>
                      </a:r>
                    </a:p>
                  </a:txBody>
                </a:tc>
                <a:tc>
                  <a:txBody>
                    <a:bodyPr/>
                    <a:lstStyle/>
                    <a:p>
                      <a:pPr lvl="0" indent="0" marL="0">
                        <a:buNone/>
                      </a:pPr>
                      <a:r>
                        <a:rPr/>
                        <a:t>Assigned</a:t>
                      </a:r>
                    </a:p>
                  </a:txBody>
                </a:tc>
                <a:tc>
                  <a:txBody>
                    <a:bodyPr/>
                    <a:lstStyle/>
                    <a:p>
                      <a:pPr lvl="0" indent="0" marL="0">
                        <a:buNone/>
                      </a:pPr>
                      <a:r>
                        <a:rPr/>
                        <a:t>Tips</a:t>
                      </a:r>
                    </a:p>
                  </a:txBody>
                </a:tc>
                <a:tc>
                  <a:txBody>
                    <a:bodyPr/>
                    <a:lstStyle/>
                    <a:p>
                      <a:pPr lvl="0" indent="0" marL="0">
                        <a:buNone/>
                      </a:pPr>
                      <a:r>
                        <a:rPr/>
                        <a:t>Causal or associative?</a:t>
                      </a:r>
                    </a:p>
                  </a:txBody>
                </a:tc>
              </a:tr>
              <a:tr h="0">
                <a:tc>
                  <a:txBody>
                    <a:bodyPr/>
                    <a:lstStyle/>
                    <a:p>
                      <a:pPr lvl="0" indent="0" marL="0">
                        <a:buNone/>
                      </a:pPr>
                      <a:r>
                        <a:rPr/>
                        <a:t>VanVolkinburg</a:t>
                      </a:r>
                    </a:p>
                  </a:txBody>
                </a:tc>
                <a:tc>
                  <a:txBody>
                    <a:bodyPr/>
                    <a:lstStyle/>
                    <a:p>
                      <a:pPr lvl="0" indent="0" marL="0">
                        <a:buNone/>
                      </a:pPr>
                      <a:r>
                        <a:rPr/>
                        <a:t>Observed</a:t>
                      </a:r>
                    </a:p>
                  </a:txBody>
                </a:tc>
                <a:tc>
                  <a:txBody>
                    <a:bodyPr/>
                    <a:lstStyle/>
                    <a:p>
                      <a:pPr lvl="0" indent="0" marL="0">
                        <a:buNone/>
                      </a:pPr>
                      <a:r>
                        <a:rPr/>
                        <a:t>Time and sales</a:t>
                      </a:r>
                    </a:p>
                  </a:txBody>
                </a:tc>
                <a:tc>
                  <a:txBody>
                    <a:bodyPr/>
                    <a:lstStyle/>
                    <a:p>
                      <a:pPr lvl="0" indent="0" marL="0">
                        <a:buNone/>
                      </a:pPr>
                      <a:r>
                        <a:rPr/>
                        <a:t>Causal or associative?</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13 Compare the two designs (continued)</a:t>
            </a:r>
          </a:p>
        </p:txBody>
      </p:sp>
      <p:sp>
        <p:nvSpPr>
          <p:cNvPr id="3" name="Content Placeholder 2"/>
          <p:cNvSpPr>
            <a:spLocks noGrp="1"/>
          </p:cNvSpPr>
          <p:nvPr>
            <p:ph idx="1"/>
          </p:nvPr>
        </p:nvSpPr>
        <p:spPr/>
        <p:txBody>
          <a:bodyPr/>
          <a:lstStyle/>
          <a:p>
            <a:pPr lvl="0" indent="0" marL="0">
              <a:buNone/>
            </a:pPr>
            <a:r>
              <a:rPr/>
              <a:t>What design evidence supports each choice?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14 Connect the articles in your writing</a:t>
            </a:r>
          </a:p>
        </p:txBody>
      </p:sp>
      <p:sp>
        <p:nvSpPr>
          <p:cNvPr id="3" name="Content Placeholder 2"/>
          <p:cNvSpPr>
            <a:spLocks noGrp="1"/>
          </p:cNvSpPr>
          <p:nvPr>
            <p:ph idx="1"/>
          </p:nvPr>
        </p:nvSpPr>
        <p:spPr/>
        <p:txBody>
          <a:bodyPr/>
          <a:lstStyle/>
          <a:p>
            <a:pPr lvl="0" indent="-457200" marL="457200">
              <a:buAutoNum type="arabicPeriod"/>
            </a:pPr>
            <a:r>
              <a:rPr b="1"/>
              <a:t>Similarities:</a:t>
            </a:r>
            <a:r>
              <a:rPr/>
              <a:t> Connect findings and procedures from both articles</a:t>
            </a:r>
          </a:p>
          <a:p>
            <a:pPr lvl="0" indent="-457200" marL="457200">
              <a:buAutoNum type="arabicPeriod"/>
            </a:pPr>
            <a:r>
              <a:rPr b="1"/>
              <a:t>Differences:</a:t>
            </a:r>
            <a:r>
              <a:rPr/>
              <a:t> Explain how design differences might account for different findings</a:t>
            </a:r>
          </a:p>
          <a:p>
            <a:pPr lvl="0" indent="-457200" marL="457200">
              <a:buAutoNum type="arabicPeriod"/>
            </a:pPr>
            <a:r>
              <a:rPr b="1"/>
              <a:t>Together:</a:t>
            </a:r>
            <a:r>
              <a:rPr/>
              <a:t> State what considering both articles adds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15 Choose a question for your proposal</a:t>
            </a:r>
          </a:p>
        </p:txBody>
      </p:sp>
      <p:sp>
        <p:nvSpPr>
          <p:cNvPr id="3" name="Content Placeholder 2"/>
          <p:cNvSpPr>
            <a:spLocks noGrp="1"/>
          </p:cNvSpPr>
          <p:nvPr>
            <p:ph idx="1"/>
          </p:nvPr>
        </p:nvSpPr>
        <p:spPr/>
        <p:txBody>
          <a:bodyPr/>
          <a:lstStyle/>
          <a:p>
            <a:pPr lvl="0" indent="0" marL="0">
              <a:buNone/>
            </a:pPr>
            <a:r>
              <a:rPr b="1"/>
              <a:t>One possible question</a:t>
            </a:r>
          </a:p>
          <a:p>
            <a:pPr lvl="0" indent="0" marL="0">
              <a:buNone/>
            </a:pPr>
            <a:r>
              <a:rPr/>
              <a:t>Does posture change customer outcomes because it increases interaction time?</a:t>
            </a:r>
          </a:p>
          <a:p>
            <a:pPr lvl="0" indent="0" marL="0">
              <a:buNone/>
            </a:pPr>
            <a:r>
              <a:rPr/>
              <a:t>Your proposal can use different variables or a different setting. Explain how the question follows from both articles.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16 State one testable prediction</a:t>
            </a:r>
          </a:p>
        </p:txBody>
      </p:sp>
      <p:sp>
        <p:nvSpPr>
          <p:cNvPr id="3" name="Content Placeholder 2"/>
          <p:cNvSpPr>
            <a:spLocks noGrp="1"/>
          </p:cNvSpPr>
          <p:nvPr>
            <p:ph idx="1"/>
          </p:nvPr>
        </p:nvSpPr>
        <p:spPr/>
        <p:txBody>
          <a:bodyPr/>
          <a:lstStyle/>
          <a:p>
            <a:pPr lvl="0"/>
            <a:r>
              <a:rPr/>
              <a:t>Name the IV and DV in your proposed study</a:t>
            </a:r>
          </a:p>
          <a:p>
            <a:pPr lvl="0"/>
            <a:r>
              <a:rPr/>
              <a:t>State the relationship or difference you expect</a:t>
            </a:r>
          </a:p>
          <a:p>
            <a:pPr lvl="0"/>
            <a:r>
              <a:rPr/>
              <a:t>Use wording that matches your design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17 Plan the method for your question</a:t>
            </a:r>
          </a:p>
        </p:txBody>
      </p:sp>
      <p:sp>
        <p:nvSpPr>
          <p:cNvPr id="1009" name="card-steel" descr="card: Sample. Who will participate, how many, and how will you obtain the sample?"/>
          <p:cNvSpPr/>
          <p:nvPr/>
        </p:nvSpPr>
        <p:spPr>
          <a:xfrm>
            <a:off x="1097280" y="2633472"/>
            <a:ext cx="4924044" cy="16154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Sample</a:t>
            </a:r>
          </a:p>
          <a:p>
            <a:pPr algn="l"/>
            <a:r>
              <a:rPr lang="en-US" sz="2000" b="0" dirty="0">
                <a:solidFill>
                  <a:srgbClr val="010B13"/>
                </a:solidFill>
              </a:rPr>
              <a:t>Who will participate, how many, and how will you obtain the sample?</a:t>
            </a:r>
          </a:p>
        </p:txBody>
      </p:sp>
      <p:sp>
        <p:nvSpPr>
          <p:cNvPr id="1010" name="card-rail" descr="">
            <a:extLst>
              <a:ext uri="{C183D7F6-B498-43B3-948B-1728B52AA6E4}">
                <adec:decorative xmlns:adec="http://schemas.microsoft.com/office/drawing/2017/decorative" val="1"/>
              </a:ext>
            </a:extLst>
          </p:cNvPr>
          <p:cNvSpPr/>
          <p:nvPr/>
        </p:nvSpPr>
        <p:spPr>
          <a:xfrm>
            <a:off x="1097280" y="2633472"/>
            <a:ext cx="54864" cy="1615440"/>
          </a:xfrm>
          <a:prstGeom prst="roundRect">
            <a:avLst>
              <a:gd name="adj" fmla="val 20000"/>
            </a:avLst>
          </a:prstGeom>
          <a:solidFill>
            <a:srgbClr val="010B13"/>
          </a:solidFill>
          <a:ln>
            <a:noFill/>
          </a:ln>
        </p:spPr>
        <p:txBody>
          <a:bodyPr lIns="182880" tIns="182880" rIns="182880" bIns="182880" anchor="t" wrap="square">
            <a:normAutofit/>
          </a:bodyPr>
          <a:lstStyle/>
          <a:p/>
        </p:txBody>
      </p:sp>
      <p:sp>
        <p:nvSpPr>
          <p:cNvPr id="1011" name="card-steel" descr="card: Materials. What equipment, stimuli, or measures will you need?"/>
          <p:cNvSpPr/>
          <p:nvPr/>
        </p:nvSpPr>
        <p:spPr>
          <a:xfrm>
            <a:off x="6167628" y="2633472"/>
            <a:ext cx="4924044" cy="13106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Materials</a:t>
            </a:r>
          </a:p>
          <a:p>
            <a:pPr algn="l"/>
            <a:r>
              <a:rPr lang="en-US" sz="2000" b="0" dirty="0">
                <a:solidFill>
                  <a:srgbClr val="010B13"/>
                </a:solidFill>
              </a:rPr>
              <a:t>What equipment, stimuli, or measures will you need?</a:t>
            </a:r>
          </a:p>
        </p:txBody>
      </p:sp>
      <p:sp>
        <p:nvSpPr>
          <p:cNvPr id="1012" name="card-rail" descr="">
            <a:extLst>
              <a:ext uri="{C183D7F6-B498-43B3-948B-1728B52AA6E4}">
                <adec:decorative xmlns:adec="http://schemas.microsoft.com/office/drawing/2017/decorative" val="1"/>
              </a:ext>
            </a:extLst>
          </p:cNvPr>
          <p:cNvSpPr/>
          <p:nvPr/>
        </p:nvSpPr>
        <p:spPr>
          <a:xfrm>
            <a:off x="6167628" y="2633472"/>
            <a:ext cx="54864" cy="1310640"/>
          </a:xfrm>
          <a:prstGeom prst="roundRect">
            <a:avLst>
              <a:gd name="adj" fmla="val 20000"/>
            </a:avLst>
          </a:prstGeom>
          <a:solidFill>
            <a:srgbClr val="010B13"/>
          </a:solidFill>
          <a:ln>
            <a:noFill/>
          </a:ln>
        </p:spPr>
        <p:txBody>
          <a:bodyPr lIns="182880" tIns="182880" rIns="182880" bIns="182880" anchor="t" wrap="square">
            <a:normAutofit/>
          </a:bodyPr>
          <a:lstStyle/>
          <a:p/>
        </p:txBody>
      </p:sp>
      <p:sp>
        <p:nvSpPr>
          <p:cNvPr id="1013" name="card-steel" descr="card: Procedure. How will conditions be formed, and what will each participant do?"/>
          <p:cNvSpPr/>
          <p:nvPr/>
        </p:nvSpPr>
        <p:spPr>
          <a:xfrm>
            <a:off x="1097280" y="4395216"/>
            <a:ext cx="4924044" cy="16154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Procedure</a:t>
            </a:r>
          </a:p>
          <a:p>
            <a:pPr algn="l"/>
            <a:r>
              <a:rPr lang="en-US" sz="2000" b="0" dirty="0">
                <a:solidFill>
                  <a:srgbClr val="010B13"/>
                </a:solidFill>
              </a:rPr>
              <a:t>How will conditions be formed, and what will each participant do?</a:t>
            </a:r>
          </a:p>
        </p:txBody>
      </p:sp>
      <p:sp>
        <p:nvSpPr>
          <p:cNvPr id="1014" name="card-rail" descr="">
            <a:extLst>
              <a:ext uri="{C183D7F6-B498-43B3-948B-1728B52AA6E4}">
                <adec:decorative xmlns:adec="http://schemas.microsoft.com/office/drawing/2017/decorative" val="1"/>
              </a:ext>
            </a:extLst>
          </p:cNvPr>
          <p:cNvSpPr/>
          <p:nvPr/>
        </p:nvSpPr>
        <p:spPr>
          <a:xfrm>
            <a:off x="1097280" y="4395216"/>
            <a:ext cx="54864" cy="1615440"/>
          </a:xfrm>
          <a:prstGeom prst="roundRect">
            <a:avLst>
              <a:gd name="adj" fmla="val 20000"/>
            </a:avLst>
          </a:prstGeom>
          <a:solidFill>
            <a:srgbClr val="010B13"/>
          </a:solidFill>
          <a:ln>
            <a:noFill/>
          </a:ln>
        </p:spPr>
        <p:txBody>
          <a:bodyPr lIns="182880" tIns="182880" rIns="182880" bIns="182880" anchor="t" wrap="square">
            <a:normAutofit/>
          </a:bodyPr>
          <a:lstStyle/>
          <a:p/>
        </p:txBody>
      </p:sp>
      <p:sp>
        <p:nvSpPr>
          <p:cNvPr id="1015" name="card-steel" descr="card: Measures and controls. What will you record, and what will you keep consistent?"/>
          <p:cNvSpPr/>
          <p:nvPr/>
        </p:nvSpPr>
        <p:spPr>
          <a:xfrm>
            <a:off x="6167628" y="4395216"/>
            <a:ext cx="4924044" cy="13106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Measures and controls</a:t>
            </a:r>
          </a:p>
          <a:p>
            <a:pPr algn="l"/>
            <a:r>
              <a:rPr lang="en-US" sz="2000" b="0" dirty="0">
                <a:solidFill>
                  <a:srgbClr val="010B13"/>
                </a:solidFill>
              </a:rPr>
              <a:t>What will you record, and what will you keep consistent?</a:t>
            </a:r>
          </a:p>
        </p:txBody>
      </p:sp>
      <p:sp>
        <p:nvSpPr>
          <p:cNvPr id="1016" name="card-rail" descr="">
            <a:extLst>
              <a:ext uri="{C183D7F6-B498-43B3-948B-1728B52AA6E4}">
                <adec:decorative xmlns:adec="http://schemas.microsoft.com/office/drawing/2017/decorative" val="1"/>
              </a:ext>
            </a:extLst>
          </p:cNvPr>
          <p:cNvSpPr/>
          <p:nvPr/>
        </p:nvSpPr>
        <p:spPr>
          <a:xfrm>
            <a:off x="6167628" y="4395216"/>
            <a:ext cx="54864" cy="1310640"/>
          </a:xfrm>
          <a:prstGeom prst="roundRect">
            <a:avLst>
              <a:gd name="adj" fmla="val 20000"/>
            </a:avLst>
          </a:prstGeom>
          <a:solidFill>
            <a:srgbClr val="010B13"/>
          </a:solidFill>
          <a:ln>
            <a:noFill/>
          </a:ln>
        </p:spPr>
        <p:txBody>
          <a:bodyPr lIns="182880" tIns="182880" rIns="182880" bIns="182880" anchor="t" wrap="square">
            <a:normAutofit/>
          </a:bodyPr>
          <a:lstStyle/>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18 Check both kinds of validity</a:t>
            </a:r>
          </a:p>
        </p:txBody>
      </p:sp>
      <p:sp>
        <p:nvSpPr>
          <p:cNvPr id="1017" name="card-steel" descr="card: Internal validity. • How will conditions be formed? • What else could differ between them? • Which procedures will stay consistent?"/>
          <p:cNvSpPr/>
          <p:nvPr/>
        </p:nvSpPr>
        <p:spPr>
          <a:xfrm>
            <a:off x="1097280" y="2633472"/>
            <a:ext cx="4924044" cy="25298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Internal validity</a:t>
            </a:r>
          </a:p>
          <a:p>
            <a:pPr algn="l"/>
            <a:r>
              <a:rPr lang="en-US" sz="2000" b="0" dirty="0">
                <a:solidFill>
                  <a:srgbClr val="010B13"/>
                </a:solidFill>
              </a:rPr>
              <a:t>• How will conditions be formed?</a:t>
            </a:r>
          </a:p>
          <a:p>
            <a:pPr algn="l"/>
            <a:r>
              <a:rPr lang="en-US" sz="2000" b="0" dirty="0">
                <a:solidFill>
                  <a:srgbClr val="010B13"/>
                </a:solidFill>
              </a:rPr>
              <a:t>• What else could differ between them?</a:t>
            </a:r>
          </a:p>
          <a:p>
            <a:pPr algn="l"/>
            <a:r>
              <a:rPr lang="en-US" sz="2000" b="0" dirty="0">
                <a:solidFill>
                  <a:srgbClr val="010B13"/>
                </a:solidFill>
              </a:rPr>
              <a:t>• Which procedures will stay consistent?</a:t>
            </a:r>
          </a:p>
        </p:txBody>
      </p:sp>
      <p:sp>
        <p:nvSpPr>
          <p:cNvPr id="1018" name="card-rail" descr="">
            <a:extLst>
              <a:ext uri="{C183D7F6-B498-43B3-948B-1728B52AA6E4}">
                <adec:decorative xmlns:adec="http://schemas.microsoft.com/office/drawing/2017/decorative" val="1"/>
              </a:ext>
            </a:extLst>
          </p:cNvPr>
          <p:cNvSpPr/>
          <p:nvPr/>
        </p:nvSpPr>
        <p:spPr>
          <a:xfrm>
            <a:off x="1097280" y="2633472"/>
            <a:ext cx="54864" cy="2529840"/>
          </a:xfrm>
          <a:prstGeom prst="roundRect">
            <a:avLst>
              <a:gd name="adj" fmla="val 20000"/>
            </a:avLst>
          </a:prstGeom>
          <a:solidFill>
            <a:srgbClr val="010B13"/>
          </a:solidFill>
          <a:ln>
            <a:noFill/>
          </a:ln>
        </p:spPr>
        <p:txBody>
          <a:bodyPr lIns="182880" tIns="182880" rIns="182880" bIns="182880" anchor="t" wrap="square">
            <a:normAutofit/>
          </a:bodyPr>
          <a:lstStyle/>
          <a:p/>
        </p:txBody>
      </p:sp>
      <p:sp>
        <p:nvSpPr>
          <p:cNvPr id="1019" name="card-steel" descr="card: External validity. • Who does your sample represent? • To which settings, tasks, and times could the findings apply?"/>
          <p:cNvSpPr/>
          <p:nvPr/>
        </p:nvSpPr>
        <p:spPr>
          <a:xfrm>
            <a:off x="6167628" y="2633472"/>
            <a:ext cx="4924044" cy="22250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External validity</a:t>
            </a:r>
          </a:p>
          <a:p>
            <a:pPr algn="l"/>
            <a:r>
              <a:rPr lang="en-US" sz="2000" b="0" dirty="0">
                <a:solidFill>
                  <a:srgbClr val="010B13"/>
                </a:solidFill>
              </a:rPr>
              <a:t>• Who does your sample represent?</a:t>
            </a:r>
          </a:p>
          <a:p>
            <a:pPr algn="l"/>
            <a:r>
              <a:rPr lang="en-US" sz="2000" b="0" dirty="0">
                <a:solidFill>
                  <a:srgbClr val="010B13"/>
                </a:solidFill>
              </a:rPr>
              <a:t>• To which settings, tasks, and times could the findings apply?</a:t>
            </a:r>
          </a:p>
        </p:txBody>
      </p:sp>
      <p:sp>
        <p:nvSpPr>
          <p:cNvPr id="1020" name="card-rail" descr="">
            <a:extLst>
              <a:ext uri="{C183D7F6-B498-43B3-948B-1728B52AA6E4}">
                <adec:decorative xmlns:adec="http://schemas.microsoft.com/office/drawing/2017/decorative" val="1"/>
              </a:ext>
            </a:extLst>
          </p:cNvPr>
          <p:cNvSpPr/>
          <p:nvPr/>
        </p:nvSpPr>
        <p:spPr>
          <a:xfrm>
            <a:off x="6167628" y="2633472"/>
            <a:ext cx="54864" cy="2225040"/>
          </a:xfrm>
          <a:prstGeom prst="roundRect">
            <a:avLst>
              <a:gd name="adj" fmla="val 20000"/>
            </a:avLst>
          </a:prstGeom>
          <a:solidFill>
            <a:srgbClr val="010B13"/>
          </a:solidFill>
          <a:ln>
            <a:noFill/>
          </a:ln>
        </p:spPr>
        <p:txBody>
          <a:bodyPr lIns="182880" tIns="182880" rIns="182880" bIns="182880" anchor="t" wrap="square">
            <a:normAutofit/>
          </a:bodyPr>
          <a:lstStyle/>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19 Build paragraphs around one point</a:t>
            </a:r>
          </a:p>
        </p:txBody>
      </p:sp>
      <p:sp>
        <p:nvSpPr>
          <p:cNvPr id="3" name="Content Placeholder 2"/>
          <p:cNvSpPr>
            <a:spLocks noGrp="1"/>
          </p:cNvSpPr>
          <p:nvPr>
            <p:ph idx="1"/>
          </p:nvPr>
        </p:nvSpPr>
        <p:spPr/>
        <p:txBody>
          <a:bodyPr/>
          <a:lstStyle/>
          <a:p>
            <a:pPr lvl="0" indent="-457200" marL="457200">
              <a:buAutoNum type="arabicPeriod"/>
            </a:pPr>
            <a:r>
              <a:rPr/>
              <a:t>State the paragraph’s main point</a:t>
            </a:r>
          </a:p>
          <a:p>
            <a:pPr lvl="0" indent="-457200" marL="457200">
              <a:buAutoNum type="arabicPeriod"/>
            </a:pPr>
            <a:r>
              <a:rPr/>
              <a:t>Add evidence and explain why it matters</a:t>
            </a:r>
          </a:p>
          <a:p>
            <a:pPr lvl="0" indent="-457200" marL="457200">
              <a:buAutoNum type="arabicPeriod"/>
            </a:pPr>
            <a:r>
              <a:rPr/>
              <a:t>Connect that point to what comes next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20 Combine related facts</a:t>
            </a:r>
          </a:p>
        </p:txBody>
      </p:sp>
      <p:sp>
        <p:nvSpPr>
          <p:cNvPr id="1021" name="card-steel" descr="card: Separate facts. Study 1 included 270 tables. A waiter served them. He flipped a coin. The coin determined his posture."/>
          <p:cNvSpPr/>
          <p:nvPr/>
        </p:nvSpPr>
        <p:spPr>
          <a:xfrm>
            <a:off x="1097280" y="2633472"/>
            <a:ext cx="4924044" cy="19202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Separate facts</a:t>
            </a:r>
          </a:p>
          <a:p>
            <a:pPr algn="l"/>
            <a:r>
              <a:rPr lang="en-US" sz="2000" b="0" dirty="0">
                <a:solidFill>
                  <a:srgbClr val="010B13"/>
                </a:solidFill>
              </a:rPr>
              <a:t>Study 1 included 270 tables. A waiter served them. He flipped a coin. The coin determined his posture.</a:t>
            </a:r>
          </a:p>
        </p:txBody>
      </p:sp>
      <p:sp>
        <p:nvSpPr>
          <p:cNvPr id="1022" name="card-rail" descr="">
            <a:extLst>
              <a:ext uri="{C183D7F6-B498-43B3-948B-1728B52AA6E4}">
                <adec:decorative xmlns:adec="http://schemas.microsoft.com/office/drawing/2017/decorative" val="1"/>
              </a:ext>
            </a:extLst>
          </p:cNvPr>
          <p:cNvSpPr/>
          <p:nvPr/>
        </p:nvSpPr>
        <p:spPr>
          <a:xfrm>
            <a:off x="1097280" y="2633472"/>
            <a:ext cx="54864" cy="1920240"/>
          </a:xfrm>
          <a:prstGeom prst="roundRect">
            <a:avLst>
              <a:gd name="adj" fmla="val 20000"/>
            </a:avLst>
          </a:prstGeom>
          <a:solidFill>
            <a:srgbClr val="010B13"/>
          </a:solidFill>
          <a:ln>
            <a:noFill/>
          </a:ln>
        </p:spPr>
        <p:txBody>
          <a:bodyPr lIns="182880" tIns="182880" rIns="182880" bIns="182880" anchor="t" wrap="square">
            <a:normAutofit/>
          </a:bodyPr>
          <a:lstStyle/>
          <a:p/>
        </p:txBody>
      </p:sp>
      <p:sp>
        <p:nvSpPr>
          <p:cNvPr id="1023" name="card-steel" descr="card: Combined sentence. In Study 1, a waiter used a coin toss to assign 270 tables to a standing or squatting condition."/>
          <p:cNvSpPr/>
          <p:nvPr/>
        </p:nvSpPr>
        <p:spPr>
          <a:xfrm>
            <a:off x="6167628" y="2633472"/>
            <a:ext cx="4924044" cy="1920240"/>
          </a:xfrm>
          <a:prstGeom prst="roundRect">
            <a:avLst>
              <a:gd name="adj" fmla="val 6000"/>
            </a:avLst>
          </a:prstGeom>
          <a:solidFill>
            <a:srgbClr val="FEFDFA"/>
          </a:solidFill>
          <a:ln w="19050">
            <a:solidFill>
              <a:srgbClr val="CCCCCC"/>
            </a:solidFill>
          </a:ln>
        </p:spPr>
        <p:txBody>
          <a:bodyPr lIns="182880" tIns="182880" rIns="182880" bIns="182880" anchor="t" wrap="square">
            <a:normAutofit/>
          </a:bodyPr>
          <a:lstStyle/>
          <a:p>
            <a:pPr algn="l"/>
            <a:r>
              <a:rPr lang="en-US" sz="2200" b="1" dirty="0">
                <a:solidFill>
                  <a:srgbClr val="010B13"/>
                </a:solidFill>
              </a:rPr>
              <a:t>Combined sentence</a:t>
            </a:r>
          </a:p>
          <a:p>
            <a:pPr algn="l"/>
            <a:r>
              <a:rPr lang="en-US" sz="2000" b="0" dirty="0">
                <a:solidFill>
                  <a:srgbClr val="010B13"/>
                </a:solidFill>
              </a:rPr>
              <a:t>In Study 1, a waiter used a coin toss to assign 270 tables to a standing or squatting condition.</a:t>
            </a:r>
          </a:p>
        </p:txBody>
      </p:sp>
      <p:sp>
        <p:nvSpPr>
          <p:cNvPr id="1024" name="card-rail" descr="">
            <a:extLst>
              <a:ext uri="{C183D7F6-B498-43B3-948B-1728B52AA6E4}">
                <adec:decorative xmlns:adec="http://schemas.microsoft.com/office/drawing/2017/decorative" val="1"/>
              </a:ext>
            </a:extLst>
          </p:cNvPr>
          <p:cNvSpPr/>
          <p:nvPr/>
        </p:nvSpPr>
        <p:spPr>
          <a:xfrm>
            <a:off x="6167628" y="2633472"/>
            <a:ext cx="54864" cy="1920240"/>
          </a:xfrm>
          <a:prstGeom prst="roundRect">
            <a:avLst>
              <a:gd name="adj" fmla="val 20000"/>
            </a:avLst>
          </a:prstGeom>
          <a:solidFill>
            <a:srgbClr val="010B13"/>
          </a:solidFill>
          <a:ln>
            <a:noFill/>
          </a:ln>
        </p:spPr>
        <p:txBody>
          <a:bodyPr lIns="182880" tIns="182880" rIns="182880" bIns="182880" anchor="t" wrap="square">
            <a:normAutofit/>
          </a:bodyPr>
          <a:lstStyle/>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21 Finish with the APA checklist</a:t>
            </a:r>
          </a:p>
        </p:txBody>
      </p:sp>
      <p:sp>
        <p:nvSpPr>
          <p:cNvPr id="3" name="Content Placeholder 2"/>
          <p:cNvSpPr>
            <a:spLocks noGrp="1"/>
          </p:cNvSpPr>
          <p:nvPr>
            <p:ph idx="1"/>
          </p:nvPr>
        </p:nvSpPr>
        <p:spPr/>
        <p:txBody>
          <a:bodyPr/>
          <a:lstStyle/>
          <a:p>
            <a:pPr lvl="0"/>
            <a:r>
              <a:rPr/>
              <a:t>Create an APA student title page</a:t>
            </a:r>
          </a:p>
          <a:p>
            <a:pPr lvl="0"/>
            <a:r>
              <a:rPr/>
              <a:t>Use descriptive headings; do not add an </a:t>
            </a:r>
            <a:r>
              <a:rPr b="1"/>
              <a:t>Introduction</a:t>
            </a:r>
            <a:r>
              <a:rPr/>
              <a:t> heading</a:t>
            </a:r>
          </a:p>
          <a:p>
            <a:pPr lvl="0"/>
            <a:r>
              <a:rPr/>
              <a:t>Paraphrase and cite both articles; do not use direct quotations</a:t>
            </a:r>
          </a:p>
          <a:p>
            <a:pPr lvl="0"/>
            <a:r>
              <a:rPr/>
              <a:t>Add a </a:t>
            </a:r>
            <a:r>
              <a:rPr b="1"/>
              <a:t>References</a:t>
            </a:r>
            <a:r>
              <a:rPr/>
              <a:t> page</a:t>
            </a:r>
          </a:p>
          <a:p>
            <a:pPr lvl="0"/>
            <a:r>
              <a:rPr/>
              <a:t>Double-space and proofread</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64692"/>
            <a:ext cx="9997440" cy="1188720"/>
          </a:xfrm>
        </p:spPr>
        <p:txBody>
          <a:bodyPr/>
          <a:lstStyle/>
          <a:p>
            <a:pPr lvl="0" indent="0" marL="0">
              <a:buNone/>
            </a:pPr>
            <a:r>
              <a:rPr/>
              <a:t>22 Finish the worksheet, then the paper</a:t>
            </a:r>
          </a:p>
        </p:txBody>
      </p:sp>
      <p:sp>
        <p:nvSpPr>
          <p:cNvPr id="3" name="Content Placeholder 2"/>
          <p:cNvSpPr>
            <a:spLocks noGrp="1"/>
          </p:cNvSpPr>
          <p:nvPr>
            <p:ph idx="1"/>
          </p:nvPr>
        </p:nvSpPr>
        <p:spPr/>
        <p:txBody>
          <a:bodyPr/>
          <a:lstStyle/>
          <a:p>
            <a:pPr lvl="0" indent="-457200" marL="457200">
              <a:buAutoNum type="arabicPeriod"/>
            </a:pPr>
            <a:r>
              <a:rPr/>
              <a:t>Introduce the topic and scope of your review</a:t>
            </a:r>
          </a:p>
          <a:p>
            <a:pPr lvl="0" indent="-457200" marL="457200">
              <a:buAutoNum type="arabicPeriod"/>
            </a:pPr>
            <a:r>
              <a:rPr/>
              <a:t>Summarize and integrate Lynn and Mynier’s two studies</a:t>
            </a:r>
          </a:p>
          <a:p>
            <a:pPr lvl="0" indent="-457200" marL="457200">
              <a:buAutoNum type="arabicPeriod"/>
            </a:pPr>
            <a:r>
              <a:rPr/>
              <a:t>Summarize VanVolkinburg’s study</a:t>
            </a:r>
          </a:p>
          <a:p>
            <a:pPr lvl="0" indent="-457200" marL="457200">
              <a:buAutoNum type="arabicPeriod"/>
            </a:pPr>
            <a:r>
              <a:rPr/>
              <a:t>Integrate the two articles</a:t>
            </a:r>
          </a:p>
          <a:p>
            <a:pPr lvl="0" indent="-457200" marL="457200">
              <a:buAutoNum type="arabicPeriod"/>
            </a:pPr>
            <a:r>
              <a:rPr/>
              <a:t>Explain your proposed study</a:t>
            </a:r>
          </a:p>
          <a:p>
            <a:pPr lvl="0" indent="0" marL="0">
              <a:buNone/>
            </a:pPr>
            <a:r>
              <a:rPr b="1"/>
              <a:t>Before Week 5:</a:t>
            </a:r>
            <a:r>
              <a:rPr/>
              <a:t> Submit the completed worksheet with the APA paper on new pages, then check that you uploaded the correct file</a:t>
            </a:r>
          </a:p>
        </p:txBody>
      </p:sp>
    </p:spTree>
  </p:cSld>
</p:sld>
</file>

<file path=ppt/theme/theme1.xml><?xml version="1.0" encoding="utf-8"?>
<a:theme xmlns:a="http://schemas.openxmlformats.org/drawingml/2006/main" name="Parcel">
  <a:themeElements>
    <a:clrScheme name="Custom 3">
      <a:dk1>
        <a:srgbClr val="000000"/>
      </a:dk1>
      <a:lt1>
        <a:srgbClr val="FFFFFF"/>
      </a:lt1>
      <a:dk2>
        <a:srgbClr val="4A5356"/>
      </a:dk2>
      <a:lt2>
        <a:srgbClr val="E8E3CE"/>
      </a:lt2>
      <a:accent1>
        <a:srgbClr val="B65B00"/>
      </a:accent1>
      <a:accent2>
        <a:srgbClr val="5E5E5E"/>
      </a:accent2>
      <a:accent3>
        <a:srgbClr val="005392"/>
      </a:accent3>
      <a:accent4>
        <a:srgbClr val="FEFB00"/>
      </a:accent4>
      <a:accent5>
        <a:srgbClr val="87795D"/>
      </a:accent5>
      <a:accent6>
        <a:srgbClr val="A0988C"/>
      </a:accent6>
      <a:hlink>
        <a:srgbClr val="005392"/>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4</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Gill Sans MT</vt:lpstr>
      <vt:lpstr>Parcel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Reviewing the Literature</dc:title>
  <dc:creator>PSYC 350 Laboratory</dc:creator>
  <cp:keywords/>
  <dcterms:created xsi:type="dcterms:W3CDTF">2026-09-10T18:11:36Z</dcterms:created>
  <dcterms:modified xsi:type="dcterms:W3CDTF">2026-09-10T18:11:36Z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quarto-vars">
    <vt:lpwstr/>
  </property>
  <property fmtid="{D5CDD505-2E9C-101B-9397-08002B2CF9AE}" pid="3" name="affiliations">
    <vt:lpwstr/>
  </property>
  <property fmtid="{D5CDD505-2E9C-101B-9397-08002B2CF9AE}" pid="4" name="authors">
    <vt:lpwstr/>
  </property>
  <property fmtid="{D5CDD505-2E9C-101B-9397-08002B2CF9AE}" pid="5" name="back-to-top-navigation">
    <vt:lpwstr>True</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execute">
    <vt:lpwstr/>
  </property>
  <property fmtid="{D5CDD505-2E9C-101B-9397-08002B2CF9AE}" pid="10" name="header-includes">
    <vt:lpwstr/>
  </property>
  <property fmtid="{D5CDD505-2E9C-101B-9397-08002B2CF9AE}" pid="11" name="include-after">
    <vt:lpwstr/>
  </property>
  <property fmtid="{D5CDD505-2E9C-101B-9397-08002B2CF9AE}" pid="12" name="include-back-link">
    <vt:lpwstr>False</vt:lpwstr>
  </property>
  <property fmtid="{D5CDD505-2E9C-101B-9397-08002B2CF9AE}" pid="13" name="include-before">
    <vt:lpwstr/>
  </property>
  <property fmtid="{D5CDD505-2E9C-101B-9397-08002B2CF9AE}" pid="14" name="institute">
    <vt:lpwstr>University of Nebraska–Lincoln</vt:lpwstr>
  </property>
  <property fmtid="{D5CDD505-2E9C-101B-9397-08002B2CF9AE}" pid="15" name="institutes">
    <vt:lpwstr/>
  </property>
  <property fmtid="{D5CDD505-2E9C-101B-9397-08002B2CF9AE}" pid="16" name="labels">
    <vt:lpwstr/>
  </property>
  <property fmtid="{D5CDD505-2E9C-101B-9397-08002B2CF9AE}" pid="17" name="nebraska-pptx">
    <vt:lpwstr/>
  </property>
  <property fmtid="{D5CDD505-2E9C-101B-9397-08002B2CF9AE}" pid="18" name="revealjs-plugins">
    <vt:lpwstr/>
  </property>
  <property fmtid="{D5CDD505-2E9C-101B-9397-08002B2CF9AE}" pid="19" name="subtitle">
    <vt:lpwstr>Lab 04 · Literature Review &amp; Proposal</vt:lpwstr>
  </property>
  <property fmtid="{D5CDD505-2E9C-101B-9397-08002B2CF9AE}" pid="20" name="toc-title">
    <vt:lpwstr>Table of contents</vt:lpwstr>
  </property>
</Properties>
</file>