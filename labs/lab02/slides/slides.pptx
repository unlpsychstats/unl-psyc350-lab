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9" Type="http://schemas.openxmlformats.org/officeDocument/2006/relationships/presProps" Target="presProps.xml" /><Relationship Id="rId50" Type="http://schemas.openxmlformats.org/officeDocument/2006/relationships/viewProps" Target="viewProps.xml" /><Relationship Id="rId51" Type="http://schemas.openxmlformats.org/officeDocument/2006/relationships/theme" Target="theme/theme1.xml" /><Relationship Id="rId52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42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43.xml.rels><?xml version="1.0" encoding="UTF-8"?><Relationships xmlns="http://schemas.openxmlformats.org/package/2006/relationships"><Relationship Id="rId2" Type="http://schemas.openxmlformats.org/officeDocument/2006/relationships/slide" Target="../slides/slide44.xml" /><Relationship Id="rId1" Type="http://schemas.openxmlformats.org/officeDocument/2006/relationships/notesMaster" Target="../notesMasters/notesMaster1.xml" /></Relationships>
</file>

<file path=ppt/notesSlides/_rels/notesSlide44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45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 the lab: define constructs, connect them to operations, classify variables, and practice writing measurable research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research-process diagram to show that conceptual definitions and measurement decisions connect the question to evidence. The process is iterative rather than strictly 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whether everyone counts the same things as Superman. The disagreement reveals why a familiar word still needs a conceptual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conceptual definition separate from any one actor, costume, or medium. A definition states the essential meaning before a study decides how to measure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broad question to show that undefined concepts produce ambiguous answers. A specific question identifies both the construct and how the comparison will be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Elicit several meanings of “big,” then ask which operation would match each meaning. Height, body weight, audience size, and cultural influence are different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Trace the chain from conceptual meaning to measured variables and a testable hypothesis. A change in operationalization changes the claim the evidence can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terminology section. Students will distinguish conceptual definitions, operational definitions, variables, and measurement before applying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conceptual definition states what a construct means in theory. It should be broad enough to apply beyond the particular study while remaining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Operationalization specifies how the abstract concept becomes observable in this study. Different operations may represent different parts of the same construct.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variable must vary across people, objects, situations, or time. Ask what values the actor-height variable can take and why those values are meaningful.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Measurement is the systematic rule for assigning values. The rule should produce values that represent the intended characteristic consistently.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classification section. Variable type determines which summaries, graphs, and statistical analyses make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qualitative categories from quantitative amounts, then distinguish discrete from continuous quantitative variables. Numeric storage does not automatically make a variable quantitative.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examples to practice the first distinction: category labels versus measured amounts. Then ask whether an amount is counted or can vary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worksheet’s examples and answer key for this classification exercise. Give one classification for each quantitative variable. Counts and summed scores are discrete; Clark’s height, the height difference, and averaged scores are continuous in this worksheet.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terminology to guided application. Students should explain each classification using the recording rule, not just state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walk-through variables to demonstrate the full classification process. Read the variable name, construct meaning, and recording rule before deciding its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decide first whether each variable describes a category or an amount. For each quantitative variable, choose discrete or continuous using the worksheet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numbers for </a:t>
            </a:r>
            <a:r>
              <a:rPr>
                <a:latin typeface="Courier"/>
              </a:rPr>
              <a:t>type</a:t>
            </a:r>
            <a:r>
              <a:rPr/>
              <a:t> are category codes, not measured amounts. Means and standard deviations would not describe those codes meaningfully.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first_appear</a:t>
            </a:r>
            <a:r>
              <a:rPr/>
              <a:t> records a calendar year. Classify it as quantitative and discrete, as shown in the worksheet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worksheet classification: Clark’s height in meters is quantitative and continuous.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height_grp</a:t>
            </a:r>
            <a:r>
              <a:rPr/>
              <a:t> converts height into membership categories. Its numeric codes identify groups and therefore remain qualitative.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worksheet records Lois’s height in inches, rounded up to whole numbers. Classify it as quantitative and discrete.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worksheet classifies the height difference in feet as quantitative and continuous. Ask what positive, negative, and zero values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information preserved by exact height, grouped height, and a difference score. Precision, grouping, and generalization all change the possible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a broad idea about liking a film to a bivariate research question. Require operational definitions for both the predictor and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enjoyment variables as a second practice set. Platform ratings, counts, categories, and scale scores require different classifications.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Classify each enjoyment or quality variable from its recording rule. The same platform can provide both quantitative scores and qualitative status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worksheet key: the critics score is quantitative and discrete; Fresh or Rotten is qualitative even when stored as a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worksheet classifies the audience score as quantitative and discrete. Distinguish this score from an individual’s 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worksheet classifies the average star rating as quantitative and continuous. Keep this classification consistent with the averaged cognitive engagement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 of reviews is a count. Counts are quantitative and discrete even when their values become large.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worksheet classification: the Metacritic score is quantitative and discrete.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emotion codes identify categories such as fear or joy. Their numeric labels do not represent increasing amounts and should not be averaged.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how subscales combine several items to represent related dimensions of enjoyment. Classification depends on the item response scale and the scoring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subscales are quantitative. The worksheet classifies the summed scores, </a:t>
            </a:r>
            <a:r>
              <a:rPr>
                <a:latin typeface="Courier"/>
              </a:rPr>
              <a:t>emo</a:t>
            </a:r>
            <a:r>
              <a:rPr/>
              <a:t> and </a:t>
            </a:r>
            <a:r>
              <a:rPr>
                <a:latin typeface="Courier"/>
              </a:rPr>
              <a:t>aes</a:t>
            </a:r>
            <a:r>
              <a:rPr/>
              <a:t>, as discrete and the averaged score, </a:t>
            </a:r>
            <a:r>
              <a:rPr>
                <a:latin typeface="Courier"/>
              </a:rPr>
              <a:t>cog</a:t>
            </a:r>
            <a:r>
              <a:rPr/>
              <a:t>, as continuous. Ask students to identify which scores are summed and which is averaged.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Pause for terminology and classification questions before the partner activity. Use the worksheet descriptions and key to clarify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students and direct them to the In-Class section of the worksheet. Follow Parts A, B, and C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construct, write a meaning broad enough to apply beyond one study. Avoid defining the construct with the exact item or behavior used to measure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one self-report and one observational or behavioral operation. Both should specify the observable rule that produces a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worksheet sequence: identify the target population, name the independent and dependent variables, define their operations, and classify each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partners the full practice interval and require one complete response before moving to the next prompt. Circulate for construct-operation mismatches.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44</a:t>
            </a:fld>
            <a:endParaRPr lang="en-US"/>
          </a:p>
        </p:txBody>
      </p:sp>
    </p:spTree>
  </p:cSld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several reasonable operations for the same concept and evaluate the tradeoffs. An operational definition is defensible when it matches the intended construct and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by previewing the take-home task. Students should build testable hypotheses from the variables in Part 3 and use the same construct-to-operation logic practiced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26080"/>
            <a:ext cx="4907280" cy="3177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40" y="2926080"/>
            <a:ext cx="4907280" cy="3177540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8744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unlpsychstats.github.io/UNL-PSYC350-LAB/schedule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5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6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7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2.xml" /><Relationship Id="rId3" Type="http://schemas.openxmlformats.org/officeDocument/2006/relationships/image" Target="../media/image8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3.xml" /><Relationship Id="rId3" Type="http://schemas.openxmlformats.org/officeDocument/2006/relationships/image" Target="../media/image9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4.xml" /><Relationship Id="rId3" Type="http://schemas.openxmlformats.org/officeDocument/2006/relationships/image" Target="../media/image10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5.xml" /><Relationship Id="rId3" Type="http://schemas.openxmlformats.org/officeDocument/2006/relationships/image" Target="../media/image11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7.xml" /><Relationship Id="rId3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2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9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0.xml" /><Relationship Id="rId4" Type="http://schemas.openxmlformats.org/officeDocument/2006/relationships/image" Target="../media/image14.jpg" /><Relationship Id="rId3" Type="http://schemas.openxmlformats.org/officeDocument/2006/relationships/image" Target="../media/image13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1.xml" /><Relationship Id="rId3" Type="http://schemas.openxmlformats.org/officeDocument/2006/relationships/image" Target="../media/image15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2.xml" /><Relationship Id="rId3" Type="http://schemas.openxmlformats.org/officeDocument/2006/relationships/image" Target="../media/image16.jp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3.xml" /><Relationship Id="rId3" Type="http://schemas.openxmlformats.org/officeDocument/2006/relationships/image" Target="../media/image17.jp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4.xml" /><Relationship Id="rId3" Type="http://schemas.openxmlformats.org/officeDocument/2006/relationships/image" Target="../media/image18.jp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5.xml" /><Relationship Id="rId3" Type="http://schemas.openxmlformats.org/officeDocument/2006/relationships/image" Target="../media/image19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6.xml" /><Relationship Id="rId3" Type="http://schemas.openxmlformats.org/officeDocument/2006/relationships/image" Target="../media/image20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3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39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0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1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3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5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Operationalization &amp;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02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Today’s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Lab 02: Operationalization &amp; Measurement</a:t>
            </a:r>
          </a:p>
          <a:p>
            <a:pPr lvl="1"/>
            <a:r>
              <a:rPr/>
              <a:t>Understand conceptual and operational definitions</a:t>
            </a:r>
          </a:p>
          <a:p>
            <a:pPr lvl="1"/>
            <a:r>
              <a:rPr/>
              <a:t>Identify and define variables</a:t>
            </a:r>
          </a:p>
          <a:p>
            <a:pPr lvl="1"/>
            <a:r>
              <a:rPr/>
              <a:t>Describe measurement types and scales</a:t>
            </a:r>
          </a:p>
          <a:p>
            <a:pPr lvl="1"/>
            <a:r>
              <a:rPr/>
              <a:t>Practice with the Lab 02 worksheet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Worksheet: lab schedule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The Research Process</a:t>
            </a:r>
          </a:p>
        </p:txBody>
      </p:sp>
      <p:pic>
        <p:nvPicPr>
          <p:cNvPr descr="Circular research process showing research ideas leading to questions, study design, data collection, analysis, conclusions, and new research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 · Clarify</a:t>
            </a:r>
          </a:p>
          <a:p>
            <a:pPr lvl="0" indent="0" marL="0">
              <a:buNone/>
            </a:pPr>
            <a:r>
              <a:rPr/>
              <a:t>What does each concept mean?</a:t>
            </a:r>
          </a:p>
          <a:p>
            <a:pPr lvl="0" indent="0" marL="0">
              <a:buNone/>
            </a:pPr>
            <a:r>
              <a:rPr b="1"/>
              <a:t>2 · Operationalize</a:t>
            </a:r>
          </a:p>
          <a:p>
            <a:pPr lvl="0" indent="0" marL="0">
              <a:buNone/>
            </a:pPr>
            <a:r>
              <a:rPr/>
              <a:t>How will each concept be measured?</a:t>
            </a:r>
          </a:p>
          <a:p>
            <a:pPr lvl="0" indent="0" marL="0">
              <a:buNone/>
            </a:pPr>
            <a:r>
              <a:rPr b="1"/>
              <a:t>3 · Predict</a:t>
            </a:r>
          </a:p>
          <a:p>
            <a:pPr lvl="0" indent="0" marL="0">
              <a:buNone/>
            </a:pPr>
            <a:r>
              <a:rPr/>
              <a:t>What relationship do you expect?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What is the answer to this </a:t>
            </a:r>
            <a:r>
              <a:rPr i="1"/>
              <a:t>simple</a:t>
            </a:r>
            <a:r>
              <a:rPr/>
              <a:t> question?</a:t>
            </a:r>
          </a:p>
        </p:txBody>
      </p:sp>
      <p:pic>
        <p:nvPicPr>
          <p:cNvPr descr="Course illustration of the question How big is Superman with both big and Superman circled to show that each term is ambiguou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Who counts as Superman?</a:t>
            </a:r>
          </a:p>
          <a:p>
            <a:pPr lvl="0" indent="0" marL="0">
              <a:buNone/>
            </a:pPr>
            <a:r>
              <a:rPr/>
              <a:t>A comic character, an actor, a film, or every adaptation?</a:t>
            </a:r>
          </a:p>
          <a:p>
            <a:pPr lvl="0" indent="0" marL="0">
              <a:buNone/>
            </a:pPr>
            <a:r>
              <a:rPr b="1"/>
              <a:t>What counts as big?</a:t>
            </a:r>
          </a:p>
          <a:p>
            <a:pPr lvl="0" indent="0" marL="0">
              <a:buNone/>
            </a:pPr>
            <a:r>
              <a:rPr/>
              <a:t>Height, strength, popularity, or cultural impact?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Conceptually Defining “Superman”</a:t>
            </a:r>
          </a:p>
        </p:txBody>
      </p:sp>
      <p:pic>
        <p:nvPicPr>
          <p:cNvPr descr="Course illustration defining Superman as actors who portrayed Clark Kent or Superman in movies, television series, or serial films from 1948 to the presen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Conceptual definition</a:t>
            </a:r>
          </a:p>
          <a:p>
            <a:pPr lvl="0" indent="0" marL="0">
              <a:buNone/>
            </a:pPr>
            <a:r>
              <a:rPr/>
              <a:t>States what the construct includes and excludes.</a:t>
            </a:r>
          </a:p>
          <a:p>
            <a:pPr lvl="0" indent="0" marL="0">
              <a:buNone/>
            </a:pPr>
            <a:r>
              <a:rPr b="1"/>
              <a:t>In this lab:</a:t>
            </a:r>
            <a:r>
              <a:rPr/>
              <a:t> actors who portrayed Clark Kent or Superman in selected screen adaptations.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Research questions must be specific</a:t>
            </a:r>
          </a:p>
        </p:txBody>
      </p:sp>
      <p:sp>
        <p:nvSpPr>
          <p:cNvPr id="1001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Conceptual definition used in this lab</a:t>
            </a:r>
          </a:p>
        </p:txBody>
      </p:sp>
      <p:sp>
        <p:nvSpPr>
          <p:cNvPr id="1002" name="prose" descr=""/>
          <p:cNvSpPr/>
          <p:nvPr/>
        </p:nvSpPr>
        <p:spPr>
          <a:xfrm>
            <a:off x="1097280" y="3084576"/>
            <a:ext cx="9994392" cy="9144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“Superman” refers to actors who portrayed Clark Kent or Superman in movies, television series, and serial films from 1948 to the present.</a:t>
            </a:r>
          </a:p>
        </p:txBody>
      </p:sp>
      <p:sp>
        <p:nvSpPr>
          <p:cNvPr id="1003" name="callout-important" descr="important callout: Important. This definition narrows the population of portrayals. It does not yet define what “big” means or how it will be measured."/>
          <p:cNvSpPr/>
          <p:nvPr/>
        </p:nvSpPr>
        <p:spPr>
          <a:xfrm>
            <a:off x="1097280" y="41452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4" name="callout-title" descr=""/>
          <p:cNvSpPr/>
          <p:nvPr/>
        </p:nvSpPr>
        <p:spPr>
          <a:xfrm>
            <a:off x="1097280" y="41452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05" name="callout-body" descr=""/>
          <p:cNvSpPr/>
          <p:nvPr/>
        </p:nvSpPr>
        <p:spPr>
          <a:xfrm>
            <a:off x="1097280" y="45720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This definition narrows the population of portrayals. It does not yet define what “big” means or how it will be measured.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Conceptually Defining “Big”</a:t>
            </a:r>
          </a:p>
        </p:txBody>
      </p:sp>
      <p:pic>
        <p:nvPicPr>
          <p:cNvPr descr="Course illustration showing possible meanings of big for Superman, including weight, height, and popularity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Possible meanings</a:t>
            </a:r>
          </a:p>
          <a:p>
            <a:pPr lvl="0"/>
            <a:r>
              <a:rPr/>
              <a:t>Height of the actor</a:t>
            </a:r>
          </a:p>
          <a:p>
            <a:pPr lvl="0"/>
            <a:r>
              <a:rPr/>
              <a:t>Body weight of the actor</a:t>
            </a:r>
          </a:p>
          <a:p>
            <a:pPr lvl="0"/>
            <a:r>
              <a:rPr/>
              <a:t>Audience size</a:t>
            </a:r>
          </a:p>
          <a:p>
            <a:pPr lvl="0"/>
            <a:r>
              <a:rPr/>
              <a:t>Cultural influence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From concepts to research hypotheses</a:t>
            </a:r>
          </a:p>
        </p:txBody>
      </p:sp>
      <p:pic>
        <p:nvPicPr>
          <p:cNvPr descr="Course illustration showing the abstract concept big becoming a measured height variabl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Operational definition</a:t>
            </a:r>
          </a:p>
          <a:p>
            <a:pPr lvl="0" indent="0" marL="0">
              <a:buNone/>
            </a:pPr>
            <a:r>
              <a:rPr/>
              <a:t>Height of each Superman actor in meters, recorded to two decimal places.</a:t>
            </a:r>
          </a:p>
          <a:p>
            <a:pPr lvl="0" indent="0" marL="0">
              <a:buNone/>
            </a:pPr>
            <a:r>
              <a:rPr b="1"/>
              <a:t>Research hypothesis</a:t>
            </a:r>
          </a:p>
          <a:p>
            <a:pPr lvl="0" indent="0" marL="0">
              <a:buNone/>
            </a:pPr>
            <a:r>
              <a:rPr/>
              <a:t>The average height of actors who portrayed Superman from 1948 to the present is 1.88 meters.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From concepts to variables &amp; other useful terminology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What is a Conceptual Definition?</a:t>
            </a:r>
          </a:p>
        </p:txBody>
      </p:sp>
      <p:sp>
        <p:nvSpPr>
          <p:cNvPr id="1006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Conceptual definition</a:t>
            </a:r>
          </a:p>
        </p:txBody>
      </p:sp>
      <p:sp>
        <p:nvSpPr>
          <p:cNvPr id="1007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 description of the behaviors or internal processes that make up a psychological construct and connect it to other concepts.</a:t>
            </a:r>
          </a:p>
        </p:txBody>
      </p:sp>
      <p:sp>
        <p:nvSpPr>
          <p:cNvPr id="1008" name="callout-note" descr="note callout: Note. Example: social media addiction involves persistent, difficult-to-control use that disrupts daily functioning."/>
          <p:cNvSpPr/>
          <p:nvPr/>
        </p:nvSpPr>
        <p:spPr>
          <a:xfrm>
            <a:off x="1097280" y="38404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9" name="callout-title" descr=""/>
          <p:cNvSpPr/>
          <p:nvPr/>
        </p:nvSpPr>
        <p:spPr>
          <a:xfrm>
            <a:off x="1097280" y="38404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10" name="callout-body" descr=""/>
          <p:cNvSpPr/>
          <p:nvPr/>
        </p:nvSpPr>
        <p:spPr>
          <a:xfrm>
            <a:off x="1097280" y="42672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Example: social media addiction involves persistent, difficult-to-control use that disrupts daily functioning.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What is Operationalization?</a:t>
            </a:r>
          </a:p>
        </p:txBody>
      </p:sp>
      <p:sp>
        <p:nvSpPr>
          <p:cNvPr id="1011" name="card-red" descr="card: Operationalization. The process of turning an abstract concept into a measurable variable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Operationalization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process of turning an abstract concept into a measurable variable.</a:t>
            </a:r>
          </a:p>
        </p:txBody>
      </p:sp>
      <p:sp>
        <p:nvSpPr>
          <p:cNvPr id="101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3" name="card-steel" descr="card: Operational definition. The exact rule used to observe, score, or record the variable in a particular study.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Operational definition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exact rule used to observe, score, or record the variable in a particular study.</a:t>
            </a:r>
          </a:p>
        </p:txBody>
      </p:sp>
      <p:sp>
        <p:nvSpPr>
          <p:cNvPr id="101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What is a Variable?</a:t>
            </a:r>
          </a:p>
        </p:txBody>
      </p:sp>
      <p:sp>
        <p:nvSpPr>
          <p:cNvPr id="1015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Variable</a:t>
            </a:r>
          </a:p>
        </p:txBody>
      </p:sp>
      <p:sp>
        <p:nvSpPr>
          <p:cNvPr id="1016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 quantity or quality that varies across people, objects, or situations.</a:t>
            </a:r>
          </a:p>
        </p:txBody>
      </p:sp>
      <p:sp>
        <p:nvSpPr>
          <p:cNvPr id="1017" name="callout-note" descr="note callout: Note. The height of actors who portrayed Superman is a variable because it differs from actor to actor."/>
          <p:cNvSpPr/>
          <p:nvPr/>
        </p:nvSpPr>
        <p:spPr>
          <a:xfrm>
            <a:off x="1097280" y="38404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8" name="callout-title" descr=""/>
          <p:cNvSpPr/>
          <p:nvPr/>
        </p:nvSpPr>
        <p:spPr>
          <a:xfrm>
            <a:off x="1097280" y="38404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19" name="callout-body" descr=""/>
          <p:cNvSpPr/>
          <p:nvPr/>
        </p:nvSpPr>
        <p:spPr>
          <a:xfrm>
            <a:off x="1097280" y="42672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The height of actors who portrayed Superman is a variable because it differs from actor to actor.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What is Measurement?</a:t>
            </a:r>
          </a:p>
        </p:txBody>
      </p:sp>
      <p:sp>
        <p:nvSpPr>
          <p:cNvPr id="1020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Measurement</a:t>
            </a:r>
          </a:p>
        </p:txBody>
      </p:sp>
      <p:sp>
        <p:nvSpPr>
          <p:cNvPr id="1021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The systematic assignment of values so those values represent a characteristic.</a:t>
            </a:r>
          </a:p>
        </p:txBody>
      </p:sp>
      <p:sp>
        <p:nvSpPr>
          <p:cNvPr id="1022" name="callout-note" descr="note callout: Note. An operational definition supplies the rule for assigning those values."/>
          <p:cNvSpPr/>
          <p:nvPr/>
        </p:nvSpPr>
        <p:spPr>
          <a:xfrm>
            <a:off x="1097280" y="38404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3" name="callout-title" descr=""/>
          <p:cNvSpPr/>
          <p:nvPr/>
        </p:nvSpPr>
        <p:spPr>
          <a:xfrm>
            <a:off x="1097280" y="38404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24" name="callout-body" descr=""/>
          <p:cNvSpPr/>
          <p:nvPr/>
        </p:nvSpPr>
        <p:spPr>
          <a:xfrm>
            <a:off x="1097280" y="42672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An operational definition supplies the rule for assigning those values.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Measuring variables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Types of Variables</a:t>
            </a:r>
          </a:p>
        </p:txBody>
      </p:sp>
      <p:sp>
        <p:nvSpPr>
          <p:cNvPr id="1025" name="card-red" descr="card: Category membership. The values name groups or kinds. Qualitative"/>
          <p:cNvSpPr/>
          <p:nvPr/>
        </p:nvSpPr>
        <p:spPr>
          <a:xfrm>
            <a:off x="1097280" y="2633472"/>
            <a:ext cx="3233928" cy="19507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Category membership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values name groups or kinds.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Qualitative</a:t>
            </a:r>
          </a:p>
        </p:txBody>
      </p:sp>
      <p:sp>
        <p:nvSpPr>
          <p:cNvPr id="102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95072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7" name="card-steel" descr="card: Count or measurement. The distance between values has numerical meaning. Quantitative"/>
          <p:cNvSpPr/>
          <p:nvPr/>
        </p:nvSpPr>
        <p:spPr>
          <a:xfrm>
            <a:off x="4477512" y="2633472"/>
            <a:ext cx="3233928" cy="22555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Count or measurement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distance between values has numerical meaning.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</a:t>
            </a:r>
          </a:p>
        </p:txBody>
      </p:sp>
      <p:sp>
        <p:nvSpPr>
          <p:cNvPr id="102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22555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9" name="card-steel" descr="card: Then ask. If quantitative, is the variable discrete or continuous?"/>
          <p:cNvSpPr/>
          <p:nvPr/>
        </p:nvSpPr>
        <p:spPr>
          <a:xfrm>
            <a:off x="7857744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Then ask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If quantitative, is the variable discrete or continuous?</a:t>
            </a:r>
          </a:p>
        </p:txBody>
      </p:sp>
      <p:sp>
        <p:nvSpPr>
          <p:cNvPr id="103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Qualitative vs Quantitative</a:t>
            </a:r>
          </a:p>
        </p:txBody>
      </p:sp>
      <p:pic>
        <p:nvPicPr>
          <p:cNvPr descr="Media type diagram showing three category codes: movie, television series, and serial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type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1</a:t>
            </a:r>
            <a:r>
              <a:rPr/>
              <a:t>, </a:t>
            </a:r>
            <a:r>
              <a:rPr>
                <a:latin typeface="Courier"/>
              </a:rPr>
              <a:t>2</a:t>
            </a:r>
            <a:r>
              <a:rPr/>
              <a:t>, and </a:t>
            </a:r>
            <a:r>
              <a:rPr>
                <a:latin typeface="Courier"/>
              </a:rPr>
              <a:t>3</a:t>
            </a:r>
            <a:r>
              <a:rPr/>
              <a:t> label categories; they do not measure amount.</a:t>
            </a:r>
          </a:p>
          <a:p>
            <a:pPr lvl="0" indent="0" marL="0">
              <a:buNone/>
            </a:pPr>
            <a:r>
              <a:rPr b="1"/>
              <a:t>Classification</a:t>
            </a:r>
          </a:p>
          <a:p>
            <a:pPr lvl="0" indent="0" marL="0">
              <a:buNone/>
            </a:pPr>
            <a:r>
              <a:rPr b="1"/>
              <a:t>Qualitative</a:t>
            </a:r>
            <a:r>
              <a:rPr/>
              <a:t> · discrete/continuous does not apply.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Quantitative variables in this worksheet</a:t>
            </a:r>
          </a:p>
        </p:txBody>
      </p:sp>
      <p:sp>
        <p:nvSpPr>
          <p:cNvPr id="1031" name="card-red" descr="card: Discrete. Counts and whole-number scores. Examples: number of reviews, year first released, a summed 4-item scale score."/>
          <p:cNvSpPr/>
          <p:nvPr/>
        </p:nvSpPr>
        <p:spPr>
          <a:xfrm>
            <a:off x="1097280" y="2633472"/>
            <a:ext cx="4924044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Discrete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Counts and whole-number scores.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Examples: number of reviews, year first released, a summed 4-item scale score.</a:t>
            </a:r>
          </a:p>
        </p:txBody>
      </p:sp>
      <p:sp>
        <p:nvSpPr>
          <p:cNvPr id="103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3" name="card-steel" descr="card: Continuous. Measurements and averaged scores. Examples: Clark’s height, the height difference, an average rating."/>
          <p:cNvSpPr/>
          <p:nvPr/>
        </p:nvSpPr>
        <p:spPr>
          <a:xfrm>
            <a:off x="6167628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Continuous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Measurements and averaged scores.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Examples: Clark’s height, the height difference, an average rating.</a:t>
            </a:r>
          </a:p>
        </p:txBody>
      </p:sp>
      <p:sp>
        <p:nvSpPr>
          <p:cNvPr id="103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classifying variables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15 Lab 02: Walk-through Section</a:t>
            </a:r>
          </a:p>
        </p:txBody>
      </p:sp>
      <p:sp>
        <p:nvSpPr>
          <p:cNvPr id="1035" name="card-steel" descr="card: clark_height. Height in meters to two decimal places. Preserves magnitude and fine differences."/>
          <p:cNvSpPr/>
          <p:nvPr/>
        </p:nvSpPr>
        <p:spPr>
          <a:xfrm>
            <a:off x="1097280" y="2633472"/>
            <a:ext cx="3233928" cy="2529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clark_height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Height in meters to two decimal places.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Preserves magnitude and fine differences.</a:t>
            </a:r>
          </a:p>
        </p:txBody>
      </p:sp>
      <p:sp>
        <p:nvSpPr>
          <p:cNvPr id="103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2529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7" name="card-red" descr="card: height_grp. 6 feet or taller: yes or no. Preserves only category membership.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height_grp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6 feet or taller: yes or no.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Preserves only category membership.</a:t>
            </a:r>
          </a:p>
        </p:txBody>
      </p:sp>
      <p:sp>
        <p:nvSpPr>
          <p:cNvPr id="103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9" name="card-steel" descr="card: height_diff. Clark’s height minus Lois’s height. Preserves the size and direction of a difference."/>
          <p:cNvSpPr/>
          <p:nvPr/>
        </p:nvSpPr>
        <p:spPr>
          <a:xfrm>
            <a:off x="7857744" y="2633472"/>
            <a:ext cx="3233928" cy="2529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height_diff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Clark’s height minus Lois’s height.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Preserves the size and direction of a difference.</a:t>
            </a:r>
          </a:p>
        </p:txBody>
      </p:sp>
      <p:sp>
        <p:nvSpPr>
          <p:cNvPr id="104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2529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16 Identify Types of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First decide</a:t>
            </a:r>
          </a:p>
          <a:p>
            <a:pPr lvl="0"/>
            <a:r>
              <a:rPr>
                <a:latin typeface="Courier"/>
              </a:rPr>
              <a:t>type</a:t>
            </a:r>
          </a:p>
          <a:p>
            <a:pPr lvl="0"/>
            <a:r>
              <a:rPr>
                <a:latin typeface="Courier"/>
              </a:rPr>
              <a:t>first_appear</a:t>
            </a:r>
          </a:p>
          <a:p>
            <a:pPr lvl="0"/>
            <a:r>
              <a:rPr>
                <a:latin typeface="Courier"/>
              </a:rPr>
              <a:t>clark_height</a:t>
            </a:r>
          </a:p>
          <a:p>
            <a:pPr lvl="0" indent="0" marL="0">
              <a:buNone/>
            </a:pPr>
            <a:r>
              <a:rPr/>
              <a:t>Are the values categories or quantities?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Then decide</a:t>
            </a:r>
          </a:p>
          <a:p>
            <a:pPr lvl="0"/>
            <a:r>
              <a:rPr>
                <a:latin typeface="Courier"/>
              </a:rPr>
              <a:t>height_grp</a:t>
            </a:r>
          </a:p>
          <a:p>
            <a:pPr lvl="0"/>
            <a:r>
              <a:rPr>
                <a:latin typeface="Courier"/>
              </a:rPr>
              <a:t>lois_height</a:t>
            </a:r>
          </a:p>
          <a:p>
            <a:pPr lvl="0"/>
            <a:r>
              <a:rPr>
                <a:latin typeface="Courier"/>
              </a:rPr>
              <a:t>height_diff</a:t>
            </a:r>
          </a:p>
          <a:p>
            <a:pPr lvl="0" indent="0" marL="0">
              <a:buNone/>
            </a:pPr>
            <a:r>
              <a:rPr/>
              <a:t>For quantitative variables, are the values discrete or continuous?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17 Variable Name: </a:t>
            </a:r>
            <a:r>
              <a:rPr>
                <a:latin typeface="Courier"/>
              </a:rPr>
              <a:t>type</a:t>
            </a:r>
          </a:p>
        </p:txBody>
      </p:sp>
      <p:pic>
        <p:nvPicPr>
          <p:cNvPr descr="Media type diagram showing three category codes: movie, television series, and serial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Meaning of values</a:t>
            </a:r>
          </a:p>
          <a:p>
            <a:pPr lvl="0" indent="0" marL="0">
              <a:buNone/>
            </a:pPr>
            <a:r>
              <a:rPr/>
              <a:t>The values identify kinds of media. Arithmetic with the codes would not be meaningful.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Qualitative</a:t>
            </a:r>
          </a:p>
          <a:p>
            <a:pPr lvl="0" indent="0" marL="0">
              <a:buNone/>
            </a:pPr>
            <a:r>
              <a:rPr/>
              <a:t>Discrete/continuous: </a:t>
            </a:r>
            <a:r>
              <a:rPr b="1"/>
              <a:t>not applicable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18 Variable Name: </a:t>
            </a:r>
            <a:r>
              <a:rPr>
                <a:latin typeface="Courier"/>
              </a:rPr>
              <a:t>first_appear</a:t>
            </a:r>
          </a:p>
        </p:txBody>
      </p:sp>
      <p:pic>
        <p:nvPicPr>
          <p:cNvPr descr="Timeline showing the years in which selected Superman screen adaptations first appeare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Year first debuted, stored as a four-digit year such as </a:t>
            </a:r>
            <a:r>
              <a:rPr>
                <a:latin typeface="Courier"/>
              </a:rPr>
              <a:t>1978</a:t>
            </a:r>
            <a:r>
              <a:rPr/>
              <a:t> or </a:t>
            </a:r>
            <a:r>
              <a:rPr>
                <a:latin typeface="Courier"/>
              </a:rPr>
              <a:t>2025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19 Variable Name: </a:t>
            </a:r>
            <a:r>
              <a:rPr>
                <a:latin typeface="Courier"/>
              </a:rPr>
              <a:t>clark_height</a:t>
            </a:r>
          </a:p>
        </p:txBody>
      </p:sp>
      <p:pic>
        <p:nvPicPr>
          <p:cNvPr descr="Course diagram showing Superman beside a height scale and the variable Clark height measured in mete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Meaning of values</a:t>
            </a:r>
          </a:p>
          <a:p>
            <a:pPr lvl="0" indent="0" marL="0">
              <a:buNone/>
            </a:pPr>
            <a:r>
              <a:rPr/>
              <a:t>Height in meters to two decimal places, with values such as </a:t>
            </a:r>
            <a:r>
              <a:rPr>
                <a:latin typeface="Courier"/>
              </a:rPr>
              <a:t>1.93</a:t>
            </a:r>
            <a:r>
              <a:rPr/>
              <a:t> and </a:t>
            </a:r>
            <a:r>
              <a:rPr>
                <a:latin typeface="Courier"/>
              </a:rPr>
              <a:t>1.85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continuous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20 Variable Name: </a:t>
            </a:r>
            <a:r>
              <a:rPr>
                <a:latin typeface="Courier"/>
              </a:rPr>
              <a:t>height_grp</a:t>
            </a:r>
          </a:p>
        </p:txBody>
      </p:sp>
      <p:pic>
        <p:nvPicPr>
          <p:cNvPr descr="Course diagram grouping Superman actors into over six feet and under six feet categori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1 = 6 feet or taller</a:t>
            </a:r>
            <a:r>
              <a:rPr/>
              <a:t> and </a:t>
            </a:r>
            <a:r>
              <a:rPr>
                <a:latin typeface="Courier"/>
              </a:rPr>
              <a:t>2 = under 6 feet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Qualitative · not applicable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21 Variable Name: </a:t>
            </a:r>
            <a:r>
              <a:rPr>
                <a:latin typeface="Courier"/>
              </a:rPr>
              <a:t>lois_height</a:t>
            </a:r>
          </a:p>
        </p:txBody>
      </p:sp>
      <p:pic>
        <p:nvPicPr>
          <p:cNvPr descr="Course diagram showing Lois Lane actor height recorded in whole inch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Height in inches, rounded up, with values such as </a:t>
            </a:r>
            <a:r>
              <a:rPr>
                <a:latin typeface="Courier"/>
              </a:rPr>
              <a:t>63</a:t>
            </a:r>
            <a:r>
              <a:rPr/>
              <a:t> and </a:t>
            </a:r>
            <a:r>
              <a:rPr>
                <a:latin typeface="Courier"/>
              </a:rPr>
              <a:t>68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22 Height difference variable</a:t>
            </a:r>
          </a:p>
        </p:txBody>
      </p:sp>
      <p:pic>
        <p:nvPicPr>
          <p:cNvPr descr="Course diagram showing the height difference between Clark Kent and Lois Lane acto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Clark’s height minus Lois’s height in feet, recorded to two decimal places.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continuous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23 Operationalization changes what a result can mean</a:t>
            </a:r>
          </a:p>
        </p:txBody>
      </p:sp>
      <p:sp>
        <p:nvSpPr>
          <p:cNvPr id="1041" name="card-red" descr="card: Precision. Rounding height removes small differences between actors.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Precision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Rounding height removes small differences between actors.</a:t>
            </a:r>
          </a:p>
        </p:txBody>
      </p:sp>
      <p:sp>
        <p:nvSpPr>
          <p:cNvPr id="104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3" name="card-steel" descr="card: Grouping. Grouping height as 6 feet or taller versus under 6 feet discards distance from the threshold."/>
          <p:cNvSpPr/>
          <p:nvPr/>
        </p:nvSpPr>
        <p:spPr>
          <a:xfrm>
            <a:off x="4477512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Grouping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Grouping height as 6 feet or taller versus under 6 feet discards distance from the threshold.</a:t>
            </a:r>
          </a:p>
        </p:txBody>
      </p:sp>
      <p:sp>
        <p:nvSpPr>
          <p:cNvPr id="104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5" name="card-steel" descr="card: Generalization. Findings apply most directly to the construct as it was defined and measured."/>
          <p:cNvSpPr/>
          <p:nvPr/>
        </p:nvSpPr>
        <p:spPr>
          <a:xfrm>
            <a:off x="7857744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Generalization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Findings apply most directly to the construct as it was defined and measured.</a:t>
            </a:r>
          </a:p>
        </p:txBody>
      </p:sp>
      <p:sp>
        <p:nvSpPr>
          <p:cNvPr id="104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24 Developing More Research Questions</a:t>
            </a:r>
          </a:p>
        </p:txBody>
      </p:sp>
      <p:pic>
        <p:nvPicPr>
          <p:cNvPr descr="Course diagram asking whether the height of a Superman actor affects liking of the Superman film or television program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Bivariate research question</a:t>
            </a:r>
          </a:p>
          <a:p>
            <a:pPr lvl="0" indent="0" marL="0">
              <a:buNone/>
            </a:pPr>
            <a:r>
              <a:rPr/>
              <a:t>A question about the relationship between two variables.</a:t>
            </a:r>
          </a:p>
          <a:p>
            <a:pPr lvl="0" indent="0" marL="0">
              <a:buNone/>
            </a:pPr>
            <a:r>
              <a:rPr b="1"/>
              <a:t>Ask</a:t>
            </a:r>
          </a:p>
          <a:p>
            <a:pPr lvl="0" indent="0" marL="0">
              <a:buNone/>
            </a:pPr>
            <a:r>
              <a:rPr/>
              <a:t>How will the predictor and outcome each be operationalized?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More Practice: Measuring “Enjoy”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25 Classify the enjoyment and quality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Platform measures</a:t>
            </a:r>
          </a:p>
          <a:p>
            <a:pPr lvl="0"/>
            <a:r>
              <a:rPr>
                <a:latin typeface="Courier"/>
              </a:rPr>
              <a:t>rt_critics_score</a:t>
            </a:r>
          </a:p>
          <a:p>
            <a:pPr lvl="0"/>
            <a:r>
              <a:rPr>
                <a:latin typeface="Courier"/>
              </a:rPr>
              <a:t>rt_status</a:t>
            </a:r>
          </a:p>
          <a:p>
            <a:pPr lvl="0"/>
            <a:r>
              <a:rPr>
                <a:latin typeface="Courier"/>
              </a:rPr>
              <a:t>rt_audience_score</a:t>
            </a:r>
          </a:p>
          <a:p>
            <a:pPr lvl="0"/>
            <a:r>
              <a:rPr>
                <a:latin typeface="Courier"/>
              </a:rPr>
              <a:t>lb_avg_stars</a:t>
            </a:r>
          </a:p>
          <a:p>
            <a:pPr lvl="0"/>
            <a:r>
              <a:rPr>
                <a:latin typeface="Courier"/>
              </a:rPr>
              <a:t>lb_reviews</a:t>
            </a:r>
          </a:p>
          <a:p>
            <a:pPr lvl="0"/>
            <a:r>
              <a:rPr>
                <a:latin typeface="Courier"/>
              </a:rPr>
              <a:t>metacritic_score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Response measures</a:t>
            </a:r>
          </a:p>
          <a:p>
            <a:pPr lvl="0"/>
            <a:r>
              <a:rPr>
                <a:latin typeface="Courier"/>
              </a:rPr>
              <a:t>emotion</a:t>
            </a:r>
          </a:p>
          <a:p>
            <a:pPr lvl="0"/>
            <a:r>
              <a:rPr>
                <a:latin typeface="Courier"/>
              </a:rPr>
              <a:t>emo</a:t>
            </a:r>
          </a:p>
          <a:p>
            <a:pPr lvl="0"/>
            <a:r>
              <a:rPr>
                <a:latin typeface="Courier"/>
              </a:rPr>
              <a:t>aes</a:t>
            </a:r>
          </a:p>
          <a:p>
            <a:pPr lvl="0"/>
            <a:r>
              <a:rPr>
                <a:latin typeface="Courier"/>
              </a:rPr>
              <a:t>cog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26 Rotten Tomatoes variables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Critics score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  <p:pic>
        <p:nvPicPr>
          <p:cNvPr descr="Course diagram showing Rotten Tomatoes critics scores from 0 to 100 percent across several Superman film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55800" y="2921000"/>
            <a:ext cx="31750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Status</a:t>
            </a:r>
          </a:p>
          <a:p>
            <a:pPr lvl="0" indent="0" marL="0">
              <a:buNone/>
            </a:pPr>
            <a:r>
              <a:rPr b="1"/>
              <a:t>Qualitative · not applicable</a:t>
            </a:r>
          </a:p>
        </p:txBody>
      </p:sp>
      <p:pic>
        <p:nvPicPr>
          <p:cNvPr descr="Course diagram showing Rotten Tomatoes category codes for Fresh, Certified Fresh, and Rotten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7048500" y="2921000"/>
            <a:ext cx="31750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27 Variable: </a:t>
            </a:r>
            <a:r>
              <a:rPr>
                <a:latin typeface="Courier"/>
              </a:rPr>
              <a:t>rt_audience_score</a:t>
            </a:r>
          </a:p>
        </p:txBody>
      </p:sp>
      <p:pic>
        <p:nvPicPr>
          <p:cNvPr descr="Course diagram showing Rotten Tomatoes audience scores from 0 to 100 percent across several Superman film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Audience score from 0 to 100 percent.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28 Variable: </a:t>
            </a:r>
            <a:r>
              <a:rPr>
                <a:latin typeface="Courier"/>
              </a:rPr>
              <a:t>lb_avg_stars</a:t>
            </a:r>
          </a:p>
        </p:txBody>
      </p:sp>
      <p:pic>
        <p:nvPicPr>
          <p:cNvPr descr="Course diagram showing Letterboxd star ratings and an average rating for a film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Letterboxd average rating from 1 to 5 stars, with values such as </a:t>
            </a:r>
            <a:r>
              <a:rPr>
                <a:latin typeface="Courier"/>
              </a:rPr>
              <a:t>4.2</a:t>
            </a:r>
            <a:r>
              <a:rPr/>
              <a:t> and </a:t>
            </a:r>
            <a:r>
              <a:rPr>
                <a:latin typeface="Courier"/>
              </a:rPr>
              <a:t>3.8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continuous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29 Variable: </a:t>
            </a:r>
            <a:r>
              <a:rPr>
                <a:latin typeface="Courier"/>
              </a:rPr>
              <a:t>lb_reviews</a:t>
            </a:r>
          </a:p>
        </p:txBody>
      </p:sp>
      <p:pic>
        <p:nvPicPr>
          <p:cNvPr descr="Course diagram showing the number of Letterboxd members who reviewed or rated a film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Count of Letterboxd reviews, with values such as </a:t>
            </a:r>
            <a:r>
              <a:rPr>
                <a:latin typeface="Courier"/>
              </a:rPr>
              <a:t>1250</a:t>
            </a:r>
            <a:r>
              <a:rPr/>
              <a:t> and </a:t>
            </a:r>
            <a:r>
              <a:rPr>
                <a:latin typeface="Courier"/>
              </a:rPr>
              <a:t>890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30 Variable: </a:t>
            </a:r>
            <a:r>
              <a:rPr>
                <a:latin typeface="Courier"/>
              </a:rPr>
              <a:t>metacritic_score</a:t>
            </a:r>
          </a:p>
        </p:txBody>
      </p:sp>
      <p:pic>
        <p:nvPicPr>
          <p:cNvPr descr="Course diagram explaining that a Metacritic score is a weighted average of selected critics' ratings on a 0 to 100 scal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Metacritic score from 0 to 100, stored as a whole number.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31 Variable: </a:t>
            </a:r>
            <a:r>
              <a:rPr>
                <a:latin typeface="Courier"/>
              </a:rPr>
              <a:t>emotion</a:t>
            </a:r>
          </a:p>
        </p:txBody>
      </p:sp>
      <p:pic>
        <p:nvPicPr>
          <p:cNvPr descr="Course diagram coding six primary emotional responses: fear, joy, sadness, anger, disgust, and anxiety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Primary emotional response, coded </a:t>
            </a:r>
            <a:r>
              <a:rPr>
                <a:latin typeface="Courier"/>
              </a:rPr>
              <a:t>1 = fear</a:t>
            </a:r>
            <a:r>
              <a:rPr/>
              <a:t> through </a:t>
            </a:r>
            <a:r>
              <a:rPr>
                <a:latin typeface="Courier"/>
              </a:rPr>
              <a:t>6 = anxiety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Qualitative · not applicable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32 Understanding Scales &amp; Sub-scales</a:t>
            </a:r>
          </a:p>
        </p:txBody>
      </p:sp>
      <p:pic>
        <p:nvPicPr>
          <p:cNvPr descr="Venn diagram of three Subjective Movie Enjoyment Scale subscales: emotional impact, aesthetic appeal, and cognitive engagemen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Emotional impact:</a:t>
            </a:r>
            <a:r>
              <a:rPr/>
              <a:t> four items on a 1–5 scale</a:t>
            </a:r>
          </a:p>
          <a:p>
            <a:pPr lvl="0"/>
            <a:r>
              <a:rPr b="1"/>
              <a:t>Aesthetic appeal:</a:t>
            </a:r>
            <a:r>
              <a:rPr/>
              <a:t> three items on a 1–5 scale</a:t>
            </a:r>
          </a:p>
          <a:p>
            <a:pPr lvl="0"/>
            <a:r>
              <a:rPr b="1"/>
              <a:t>Cognitive engagement:</a:t>
            </a:r>
            <a:r>
              <a:rPr/>
              <a:t> four items on a 0–7 scale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33 Variables: </a:t>
            </a:r>
            <a:r>
              <a:rPr>
                <a:latin typeface="Courier"/>
              </a:rPr>
              <a:t>emo</a:t>
            </a:r>
            <a:r>
              <a:rPr/>
              <a:t>, </a:t>
            </a:r>
            <a:r>
              <a:rPr>
                <a:latin typeface="Courier"/>
              </a:rPr>
              <a:t>aes</a:t>
            </a:r>
            <a:r>
              <a:rPr/>
              <a:t>, and </a:t>
            </a:r>
            <a:r>
              <a:rPr>
                <a:latin typeface="Courier"/>
              </a:rPr>
              <a:t>cog</a:t>
            </a:r>
          </a:p>
        </p:txBody>
      </p:sp>
      <p:sp>
        <p:nvSpPr>
          <p:cNvPr id="1047" name="card-red" descr="card: emo. Sum of four 1–5 items. Quantitative · discrete"/>
          <p:cNvSpPr/>
          <p:nvPr/>
        </p:nvSpPr>
        <p:spPr>
          <a:xfrm>
            <a:off x="1097280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emo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Sum of four 1–5 items.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 · discrete</a:t>
            </a:r>
          </a:p>
        </p:txBody>
      </p:sp>
      <p:sp>
        <p:nvSpPr>
          <p:cNvPr id="104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9" name="card-steel" descr="card: aes. Sum of three 1–5 items. Quantitative · discrete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aes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Sum of three 1–5 items.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 · discrete</a:t>
            </a:r>
          </a:p>
        </p:txBody>
      </p:sp>
      <p:sp>
        <p:nvSpPr>
          <p:cNvPr id="105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1" name="card-steel" descr="card: cog. Average of four 0–7 items. Quantitative · continuous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Average of four 0–7 items.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 · continuous</a:t>
            </a:r>
          </a:p>
        </p:txBody>
      </p:sp>
      <p:sp>
        <p:nvSpPr>
          <p:cNvPr id="105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Partner Activity: Find a partner and work on Part 2: In-Class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34 Part A: write conceptual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the worksheet example</a:t>
            </a:r>
          </a:p>
          <a:p>
            <a:pPr lvl="0" indent="0" marL="0">
              <a:buNone/>
            </a:pPr>
            <a:r>
              <a:rPr b="1"/>
              <a:t>Binge-watching:</a:t>
            </a:r>
            <a:r>
              <a:rPr/>
              <a:t> watching multiple episodes in one sitting, often at the expense of other activities or responsibilities.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Define these constructs</a:t>
            </a:r>
          </a:p>
          <a:p>
            <a:pPr lvl="0"/>
            <a:r>
              <a:rPr/>
              <a:t>Physical attractiveness</a:t>
            </a:r>
          </a:p>
          <a:p>
            <a:pPr lvl="0"/>
            <a:r>
              <a:rPr/>
              <a:t>Social media addiction</a:t>
            </a:r>
          </a:p>
          <a:p>
            <a:pPr lvl="0"/>
            <a:r>
              <a:rPr/>
              <a:t>Risky behavior</a:t>
            </a:r>
          </a:p>
          <a:p>
            <a:pPr lvl="0"/>
            <a:r>
              <a:rPr/>
              <a:t>Emotional intelligence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35 Part B: write two operational definitions</a:t>
            </a:r>
          </a:p>
        </p:txBody>
      </p:sp>
      <p:sp>
        <p:nvSpPr>
          <p:cNvPr id="1053" name="card-red" descr="card: Self-report. Specify the question or scale, response options, and time frame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Self-report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Specify the question or scale, response options, and time frame.</a:t>
            </a:r>
          </a:p>
        </p:txBody>
      </p:sp>
      <p:sp>
        <p:nvSpPr>
          <p:cNvPr id="105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5" name="card-steel" descr="card: Observational or behavioral. Specify the visible behavior or device and the rule for recording it."/>
          <p:cNvSpPr/>
          <p:nvPr/>
        </p:nvSpPr>
        <p:spPr>
          <a:xfrm>
            <a:off x="6167628" y="2633472"/>
            <a:ext cx="4924044" cy="19507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Observational or behavioral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Specify the visible behavior or device and the rule for recording it.</a:t>
            </a:r>
          </a:p>
        </p:txBody>
      </p:sp>
      <p:sp>
        <p:nvSpPr>
          <p:cNvPr id="1056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9507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7" name="prose" descr=""/>
          <p:cNvSpPr/>
          <p:nvPr/>
        </p:nvSpPr>
        <p:spPr>
          <a:xfrm>
            <a:off x="1097280" y="4730496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Practice constructs</a:t>
            </a:r>
          </a:p>
        </p:txBody>
      </p:sp>
      <p:sp>
        <p:nvSpPr>
          <p:cNvPr id="1058" name="prose" descr=""/>
          <p:cNvSpPr/>
          <p:nvPr/>
        </p:nvSpPr>
        <p:spPr>
          <a:xfrm>
            <a:off x="1097280" y="5181600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Fear during a scary movie · color discrimination · relationship status · willingness to take risks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36 Part C: dissect each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Identify the </a:t>
            </a:r>
            <a:r>
              <a:rPr b="1"/>
              <a:t>target population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Name the grouping or independent variable and the dependent variable.</a:t>
            </a:r>
          </a:p>
          <a:p>
            <a:pPr lvl="0" indent="-457200" marL="457200">
              <a:buAutoNum type="arabicPeriod"/>
            </a:pPr>
            <a:r>
              <a:rPr/>
              <a:t>Write an operational definition for each variable.</a:t>
            </a:r>
          </a:p>
          <a:p>
            <a:pPr lvl="0" indent="-457200" marL="457200">
              <a:buAutoNum type="arabicPeriod"/>
            </a:pPr>
            <a:r>
              <a:rPr/>
              <a:t>Classify each variable as qualitative or quantitative.</a:t>
            </a:r>
          </a:p>
          <a:p>
            <a:pPr lvl="0" indent="-457200" marL="457200">
              <a:buAutoNum type="arabicPeriod"/>
            </a:pPr>
            <a:r>
              <a:rPr/>
              <a:t>If quantitative, classify the variable as discrete or continuous.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37 45-minute practice activity</a:t>
            </a:r>
          </a:p>
        </p:txBody>
      </p:sp>
      <p:sp>
        <p:nvSpPr>
          <p:cNvPr id="1059" name="box-red-box" descr="box: . 45 minutes Work through Part 2 with your partner. Record one complete response before moving to the next prompt."/>
          <p:cNvSpPr/>
          <p:nvPr/>
        </p:nvSpPr>
        <p:spPr>
          <a:xfrm>
            <a:off x="1097280" y="2633472"/>
            <a:ext cx="9994392" cy="1280160"/>
          </a:xfrm>
          <a:prstGeom prst="roundRect">
            <a:avLst>
              <a:gd name="adj" fmla="val 6000"/>
            </a:avLst>
          </a:prstGeom>
          <a:solidFill>
            <a:srgbClr val="F5F1E7"/>
          </a:solidFill>
          <a:ln w="19050">
            <a:solidFill>
              <a:srgbClr val="D0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45 minutes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Work through Part 2 with your partner. Record one complete response before moving to the next prompt.</a:t>
            </a:r>
          </a:p>
        </p:txBody>
      </p:sp>
      <p:sp>
        <p:nvSpPr>
          <p:cNvPr id="1060" name="box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28016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38 Discussion Time</a:t>
            </a:r>
          </a:p>
        </p:txBody>
      </p:sp>
      <p:sp>
        <p:nvSpPr>
          <p:cNvPr id="1061" name="card-red" descr="card: Compare. Where did groups choose different operational definitions for the same construct?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Compare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Where did groups choose different operational definitions for the same construct?</a:t>
            </a:r>
          </a:p>
        </p:txBody>
      </p:sp>
      <p:sp>
        <p:nvSpPr>
          <p:cNvPr id="106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3" name="card-steel" descr="card: Evaluate. How would those choices change interpretation or generalizability?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Evaluate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How would those choices change interpretation or generalizability?</a:t>
            </a:r>
          </a:p>
        </p:txBody>
      </p:sp>
      <p:sp>
        <p:nvSpPr>
          <p:cNvPr id="106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39 Take-Home Assignment</a:t>
            </a:r>
          </a:p>
        </p:txBody>
      </p:sp>
      <p:sp>
        <p:nvSpPr>
          <p:cNvPr id="1065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Developing empirically testable research hypotheses</a:t>
            </a:r>
          </a:p>
        </p:txBody>
      </p:sp>
      <p:sp>
        <p:nvSpPr>
          <p:cNvPr id="1066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Build two testable hypotheses from the current news headlines in Part 3.</a:t>
            </a:r>
          </a:p>
        </p:txBody>
      </p:sp>
      <p:sp>
        <p:nvSpPr>
          <p:cNvPr id="1067" name="card-red" descr="card: 1 · Question + concepts. State a research question, then define what must be measured."/>
          <p:cNvSpPr/>
          <p:nvPr/>
        </p:nvSpPr>
        <p:spPr>
          <a:xfrm>
            <a:off x="1097280" y="3840480"/>
            <a:ext cx="3233928" cy="22555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1 · Question + concepts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State a research question, then define what must be measured.</a:t>
            </a:r>
          </a:p>
        </p:txBody>
      </p:sp>
      <p:sp>
        <p:nvSpPr>
          <p:cNvPr id="1068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840480"/>
            <a:ext cx="54864" cy="225552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9" name="card-steel" descr="card: 2 · Variables + types. Operationalize both variables and classify each one."/>
          <p:cNvSpPr/>
          <p:nvPr/>
        </p:nvSpPr>
        <p:spPr>
          <a:xfrm>
            <a:off x="4477512" y="3840480"/>
            <a:ext cx="3233928" cy="19507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2 · Variables + types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Operationalize both variables and classify each one.</a:t>
            </a:r>
          </a:p>
        </p:txBody>
      </p:sp>
      <p:sp>
        <p:nvSpPr>
          <p:cNvPr id="1070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7512" y="3840480"/>
            <a:ext cx="54864" cy="19507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1" name="card-steel" descr="card: 3 · Population + hypothesis. Identify the target population and predict the relationship."/>
          <p:cNvSpPr/>
          <p:nvPr/>
        </p:nvSpPr>
        <p:spPr>
          <a:xfrm>
            <a:off x="7857744" y="3840480"/>
            <a:ext cx="3233928" cy="22555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3 · Population + hypothesis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Identify the target population and predict the relationship.</a:t>
            </a:r>
          </a:p>
        </p:txBody>
      </p:sp>
      <p:sp>
        <p:nvSpPr>
          <p:cNvPr id="107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57744" y="3840480"/>
            <a:ext cx="54864" cy="22555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Operationalization &amp; Variables</dc:title>
  <dc:creator>PSYC 350 Laboratory</dc:creator>
  <cp:keywords/>
  <dcterms:created xsi:type="dcterms:W3CDTF">2026-09-10T18:11:20Z</dcterms:created>
  <dcterms:modified xsi:type="dcterms:W3CDTF">2026-09-10T18:11:20Z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02</vt:lpwstr>
  </property>
  <property fmtid="{D5CDD505-2E9C-101B-9397-08002B2CF9AE}" pid="20" name="toc-title">
    <vt:lpwstr>Table of contents</vt:lpwstr>
  </property>
</Properties>
</file>