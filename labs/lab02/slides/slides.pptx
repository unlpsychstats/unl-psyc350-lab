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96" r:id="rId1"/>
  </p:sldMasterIdLst>
  <p:notesMasterIdLst>
    <p:notesMasterId r:id="rId4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24"/>
    <p:restoredTop sz="94694"/>
  </p:normalViewPr>
  <p:slideViewPr>
    <p:cSldViewPr snapToGrid="0">
      <p:cViewPr varScale="1">
        <p:scale>
          <a:sx d="100" n="119"/>
          <a:sy d="100" n="119"/>
        </p:scale>
        <p:origin x="232" y="23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49" Type="http://schemas.openxmlformats.org/officeDocument/2006/relationships/presProps" Target="presProps.xml" /><Relationship Id="rId50" Type="http://schemas.openxmlformats.org/officeDocument/2006/relationships/viewProps" Target="viewProps.xml" /><Relationship Id="rId51" Type="http://schemas.openxmlformats.org/officeDocument/2006/relationships/theme" Target="theme/theme1.xml" /><Relationship Id="rId52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30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31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3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3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3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35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36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3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38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39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40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41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42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43.xml.rels><?xml version="1.0" encoding="UTF-8"?><Relationships xmlns="http://schemas.openxmlformats.org/package/2006/relationships"><Relationship Id="rId2" Type="http://schemas.openxmlformats.org/officeDocument/2006/relationships/slide" Target="../slides/slide44.xml" /><Relationship Id="rId1" Type="http://schemas.openxmlformats.org/officeDocument/2006/relationships/notesMaster" Target="../notesMasters/notesMaster1.xml" /></Relationships>
</file>

<file path=ppt/notesSlides/_rels/notesSlide44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45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 the lab: define constructs, connect them to operations, classify variables, and practice writing measurable research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research-process diagram to show that conceptual definitions and measurement decisions connect the question to evidence. The process is iterative rather than strictly linear.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students whether everyone counts the same things as Superman. The disagreement reveals why a familiar word still needs a conceptual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the conceptual definition separate from any one actor, costume, or medium. A definition states the essential meaning before a study decides how to measure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broad question to show that undefined concepts produce ambiguous answers. A specific question identifies both the construct and how the comparison will be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Elicit several meanings of “big,” then ask which operation would match each meaning. Height, body weight, audience size, and cultural influence are different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Trace the chain from conceptual meaning to measured variables and a testable hypothesis. A change in operationalization changes the claim the evidence can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Introduce the terminology section. Students will distinguish conceptual definitions, operational definitions, variables, and measurement before applying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conceptual definition states what a construct means in theory. It should be broad enough to apply beyond the particular study while remaining precise.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Operationalization specifies how the abstract concept becomes observable in this study. Different operations may represent different parts of the same construct.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variable must vary across people, objects, situations, or time. Ask what values the actor-height variable can take and why those values are meaningful.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Measurement is the systematic rule for assigning values. The rule should produce values that represent the intended characteristic consistently.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Introduce the classification section. Variable type determines which summaries, graphs, and statistical analyses make sense.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Separate qualitative categories from quantitative amounts, then distinguish discrete from continuous quantitative variables. Numeric storage does not automatically make a variable quantitative.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examples to practice the first distinction: category labels versus measured amounts. Then ask whether an amount is counted or can vary continuously.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Discrete quantitative variables are countable or recorded in fixed steps; continuous variables can take any value within a meaningful interval. Classification depends on how values are recorded.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terminology to guided application. Students should explain each classification using the recording rule, not just state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walk-through variables to demonstrate the full classification process. Read the variable name, construct meaning, and recording rule before deciding its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students decide first whether each variable records a category or an amount. For quantitative variables, decide whether the recorded values are discrete or continuous.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numbers for </a:t>
            </a:r>
            <a:r>
              <a:rPr>
                <a:latin typeface="Courier"/>
              </a:rPr>
              <a:t>type</a:t>
            </a:r>
            <a:r>
              <a:rPr/>
              <a:t> are category codes, not measured amounts. Means and standard deviations would not describe those codes meaningfully.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first_appear</a:t>
            </a:r>
            <a:r>
              <a:rPr/>
              <a:t> records a year in fixed one-year units, so classify it as quantitative and discrete as recorded. State the recording rule with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Actor height represents an amount and can vary within a meaningful interval. Even if rounded for display, the underlying construct is quantitative and continuous.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height_grp</a:t>
            </a:r>
            <a:r>
              <a:rPr/>
              <a:t> converts height into membership categories. Its numeric codes identify groups and therefore remain qualitative.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Classify Lois’s height from its measurement rule, not from the character label. It is a quantitative, continuous measure recorded in feet.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height_diff</a:t>
            </a:r>
            <a:r>
              <a:rPr/>
              <a:t> subtracts two continuous measurements and preserves meaningful size and direction. Explain what positive, negative, and zero values would mean.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Compare the information preserved by exact height, grouped height, and a difference score. Precision, grouping, and generalization all change the possible interpretation.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a broad idea about liking a film to a bivariate research question. Require operational definitions for both the predictor and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Introduce the enjoyment variables as a second practice set. Platform ratings, counts, categories, and scale scores require different classifications.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Classify each enjoyment or quality variable from its recording rule. The same platform can provide both quantitative scores and qualitative status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Contrast the critics score with status. A 0–100 score is quantitative and discrete as recorded; Fresh or Rotten is qualitative even when stored as a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Audience score is recorded as a whole-number percentage. Classify it as quantitative and discrete as recorded, then distinguish it from an individual’s rating.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Average stars can take decimal values within the one-to-five interval, so treat the recorded variable as quantitative and continuous.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number of reviews is a count. Counts are quantitative and discrete even when their values become large.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Metacritic’s weighted score is stored as a whole number from 0 to 100. The weighting process does not change its discrete recorded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emotion codes identify categories such as fear or joy. Their numeric labels do not represent increasing amounts and should not be averaged.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how subscales combine several items to represent related dimensions of enjoyment. Classification depends on the item response scale and the scoring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Compare summed integer subscales with an averaged subscale that can produce decimals. All are quantitative, but the recorded scoring rule affects discrete versus continuous classification.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Pause for terminology and classification questions before the partner activity. Ask students to explain any disputed answer from its recording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students and direct them to Part 2 of the worksheet. Each answer should name the construct, operation, and variable type in ordinary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construct, write a meaning broad enough to apply beyond one study. Avoid defining the construct with the exact item or behavior used to measure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one self-report and one observational or behavioral operation. Both should specify the observable rule that produces a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same sequence for every question: identify constructs, name predictor and outcome, define operations, and classify the recorded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partners the full practice interval and require one complete response before moving to the next prompt. Circulate for construct-operation mismatches.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44</a:t>
            </a:fld>
            <a:endParaRPr lang="en-US"/>
          </a:p>
        </p:txBody>
      </p:sp>
    </p:spTree>
  </p:cSld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Compare several reasonable operations for the same concept and evaluate the tradeoffs. An operational definition is defensible when it matches the intended construct and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by previewing the take-home task. Students should build testable hypotheses from the variables in Part 3 and use the same construct-to-operation logic practiced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4352544"/>
            <a:ext cx="9997440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2638044"/>
            <a:ext cx="9997440" cy="3101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352465"/>
            <a:ext cx="9997440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4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w="31750">
            <a:solidFill>
              <a:srgbClr val="404040"/>
            </a:solidFill>
            <a:miter lim="800000"/>
          </a:ln>
        </p:spPr>
        <p:txBody>
          <a:bodyPr anchor="ctr" bIns="182880" lIns="182880" rIns="182880" rtlCol="0" tIns="18288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dirty="0" lang="en-US"/>
              <a:t>1/22/26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anchor="ctr" bIns="45720" lIns="18288" rIns="18288" rtlCol="0" tIns="45720" vert="horz">
            <a:noAutofit/>
          </a:bodyPr>
          <a:lstStyle>
            <a:lvl1pPr algn="ctr">
              <a:defRPr baseline="0" spc="0" sz="110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dirty="0" lang="en-US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dt="0" ftr="0" hdr="0" sldNum="0"/>
  <p:txStyles>
    <p:titleStyle>
      <a:lvl1pPr algn="ctr" defTabSz="914400" eaLnBrk="1" hangingPunct="1" latinLnBrk="0" rtl="0">
        <a:lnSpc>
          <a:spcPct val="90000"/>
        </a:lnSpc>
        <a:spcBef>
          <a:spcPct val="0"/>
        </a:spcBef>
        <a:buNone/>
        <a:defRPr baseline="0" cap="all" kern="1200" spc="200" sz="280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4572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6858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9144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11430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131286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148431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165735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1882775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4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5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0.xml" /><Relationship Id="rId3" Type="http://schemas.openxmlformats.org/officeDocument/2006/relationships/image" Target="../media/image6.jp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7.jp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2.xml" /><Relationship Id="rId3" Type="http://schemas.openxmlformats.org/officeDocument/2006/relationships/image" Target="../media/image8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3.xml" /><Relationship Id="rId3" Type="http://schemas.openxmlformats.org/officeDocument/2006/relationships/image" Target="../media/image9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4.xml" /><Relationship Id="rId3" Type="http://schemas.openxmlformats.org/officeDocument/2006/relationships/image" Target="../media/image10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5.xml" /><Relationship Id="rId3" Type="http://schemas.openxmlformats.org/officeDocument/2006/relationships/image" Target="../media/image11.jp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7.xml" /><Relationship Id="rId3" Type="http://schemas.openxmlformats.org/officeDocument/2006/relationships/image" Target="../media/image12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2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9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30.xml" /><Relationship Id="rId4" Type="http://schemas.openxmlformats.org/officeDocument/2006/relationships/image" Target="../media/image14.jpg" /><Relationship Id="rId3" Type="http://schemas.openxmlformats.org/officeDocument/2006/relationships/image" Target="../media/image13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1.xml" /><Relationship Id="rId3" Type="http://schemas.openxmlformats.org/officeDocument/2006/relationships/image" Target="../media/image15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2.xml" /><Relationship Id="rId3" Type="http://schemas.openxmlformats.org/officeDocument/2006/relationships/image" Target="../media/image16.jp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3.xml" /><Relationship Id="rId3" Type="http://schemas.openxmlformats.org/officeDocument/2006/relationships/image" Target="../media/image17.jp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4.xml" /><Relationship Id="rId3" Type="http://schemas.openxmlformats.org/officeDocument/2006/relationships/image" Target="../media/image18.jp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5.xml" /><Relationship Id="rId3" Type="http://schemas.openxmlformats.org/officeDocument/2006/relationships/image" Target="../media/image19.jp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6.xml" /><Relationship Id="rId3" Type="http://schemas.openxmlformats.org/officeDocument/2006/relationships/image" Target="../media/image20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38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notesSlide" Target="../notesSlides/notesSlide39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0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1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3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5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Operationalization &amp;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097280" y="4352544"/>
            <a:ext cx="9997440" cy="1239894"/>
          </a:xfrm>
          <a:noFill/>
        </p:spPr>
        <p:txBody>
          <a:bodyPr/>
          <a:lstStyle/>
          <a:p>
            <a:pPr lvl="0" indent="0" marL="0">
              <a:buNone/>
            </a:pPr>
            <a:r>
              <a:rPr/>
              <a:t>Lab 02</a:t>
            </a:r>
            <a:br/>
            <a:br/>
            <a:r>
              <a:rPr/>
              <a:t>PSYC 350 Laboratory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Today’s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Lab 02: Operationalization &amp; Measurement</a:t>
            </a:r>
          </a:p>
          <a:p>
            <a:pPr lvl="1"/>
            <a:r>
              <a:rPr/>
              <a:t>Understand conceptual and operational definitions</a:t>
            </a:r>
          </a:p>
          <a:p>
            <a:pPr lvl="1"/>
            <a:r>
              <a:rPr/>
              <a:t>Identify and define variables</a:t>
            </a:r>
          </a:p>
          <a:p>
            <a:pPr lvl="1"/>
            <a:r>
              <a:rPr/>
              <a:t>Describe measurement types and scales</a:t>
            </a:r>
          </a:p>
          <a:p>
            <a:pPr lvl="1"/>
            <a:r>
              <a:rPr/>
              <a:t>Practice with the Lab 02 worksheet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The Research Process</a:t>
            </a:r>
          </a:p>
        </p:txBody>
      </p:sp>
      <p:pic>
        <p:nvPicPr>
          <p:cNvPr descr="Circular research process showing research ideas leading to questions, study design, data collection, analysis, conclusions, and new research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 · Clarify</a:t>
            </a:r>
          </a:p>
          <a:p>
            <a:pPr lvl="0" indent="0" marL="0">
              <a:buNone/>
            </a:pPr>
            <a:r>
              <a:rPr/>
              <a:t>What does each concept mean?</a:t>
            </a:r>
          </a:p>
          <a:p>
            <a:pPr lvl="0" indent="0" marL="0">
              <a:buNone/>
            </a:pPr>
            <a:r>
              <a:rPr b="1"/>
              <a:t>2 · Operationalize</a:t>
            </a:r>
          </a:p>
          <a:p>
            <a:pPr lvl="0" indent="0" marL="0">
              <a:buNone/>
            </a:pPr>
            <a:r>
              <a:rPr/>
              <a:t>How will each concept be measured?</a:t>
            </a:r>
          </a:p>
          <a:p>
            <a:pPr lvl="0" indent="0" marL="0">
              <a:buNone/>
            </a:pPr>
            <a:r>
              <a:rPr b="1"/>
              <a:t>3 · Predict</a:t>
            </a:r>
          </a:p>
          <a:p>
            <a:pPr lvl="0" indent="0" marL="0">
              <a:buNone/>
            </a:pPr>
            <a:r>
              <a:rPr/>
              <a:t>What relationship do you expect?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What is the answer to this </a:t>
            </a:r>
            <a:r>
              <a:rPr i="1"/>
              <a:t>simple</a:t>
            </a:r>
            <a:r>
              <a:rPr/>
              <a:t> question?</a:t>
            </a:r>
          </a:p>
        </p:txBody>
      </p:sp>
      <p:pic>
        <p:nvPicPr>
          <p:cNvPr descr="Course illustration of the question How big is Superman with both big and Superman circled to show that each term is ambiguou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Who counts as Superman?</a:t>
            </a:r>
          </a:p>
          <a:p>
            <a:pPr lvl="0" indent="0" marL="0">
              <a:buNone/>
            </a:pPr>
            <a:r>
              <a:rPr/>
              <a:t>A comic character, an actor, a film, or every adaptation?</a:t>
            </a:r>
          </a:p>
          <a:p>
            <a:pPr lvl="0" indent="0" marL="0">
              <a:buNone/>
            </a:pPr>
            <a:r>
              <a:rPr b="1"/>
              <a:t>What counts as big?</a:t>
            </a:r>
          </a:p>
          <a:p>
            <a:pPr lvl="0" indent="0" marL="0">
              <a:buNone/>
            </a:pPr>
            <a:r>
              <a:rPr/>
              <a:t>Height, strength, popularity, or cultural impact?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Conceptually Defining “Superman”</a:t>
            </a:r>
          </a:p>
        </p:txBody>
      </p:sp>
      <p:pic>
        <p:nvPicPr>
          <p:cNvPr descr="Course illustration defining Superman as actors who portrayed Clark Kent or Superman in movies, television series, or serial films from 1948 to the present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Conceptual definition</a:t>
            </a:r>
          </a:p>
          <a:p>
            <a:pPr lvl="0" indent="0" marL="0">
              <a:buNone/>
            </a:pPr>
            <a:r>
              <a:rPr/>
              <a:t>States what the construct includes and excludes.</a:t>
            </a:r>
          </a:p>
          <a:p>
            <a:pPr lvl="0" indent="0" marL="0">
              <a:buNone/>
            </a:pPr>
            <a:r>
              <a:rPr b="1"/>
              <a:t>In this lab:</a:t>
            </a:r>
            <a:r>
              <a:rPr/>
              <a:t> actors who portrayed Clark Kent or Superman in selected screen adaptations.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Research questions must be specific</a:t>
            </a:r>
          </a:p>
        </p:txBody>
      </p:sp>
      <p:sp>
        <p:nvSpPr>
          <p:cNvPr id="1001" name="prose" descr=""/>
          <p:cNvSpPr/>
          <p:nvPr/>
        </p:nvSpPr>
        <p:spPr>
          <a:xfrm>
            <a:off x="1097280" y="2633472"/>
            <a:ext cx="9994392" cy="3048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Conceptual definition used in this lab</a:t>
            </a:r>
          </a:p>
        </p:txBody>
      </p:sp>
      <p:sp>
        <p:nvSpPr>
          <p:cNvPr id="1002" name="prose" descr=""/>
          <p:cNvSpPr/>
          <p:nvPr/>
        </p:nvSpPr>
        <p:spPr>
          <a:xfrm>
            <a:off x="1097280" y="3084576"/>
            <a:ext cx="9994392" cy="9144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“Superman” refers to actors who portrayed Clark Kent or Superman in movies, television series, and serial films from 1948 to the present.</a:t>
            </a:r>
          </a:p>
        </p:txBody>
      </p:sp>
      <p:sp>
        <p:nvSpPr>
          <p:cNvPr id="1003" name="callout-important" descr="important callout: Important. This definition narrows the population of portrayals. It does not yet define what “big” means or how it will be measured."/>
          <p:cNvSpPr/>
          <p:nvPr/>
        </p:nvSpPr>
        <p:spPr>
          <a:xfrm>
            <a:off x="1097280" y="4145280"/>
            <a:ext cx="9994392" cy="173736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0000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4" name="callout-title" descr=""/>
          <p:cNvSpPr/>
          <p:nvPr/>
        </p:nvSpPr>
        <p:spPr>
          <a:xfrm>
            <a:off x="1097280" y="4145280"/>
            <a:ext cx="9994392" cy="426720"/>
          </a:xfrm>
          <a:prstGeom prst="roundRect">
            <a:avLst>
              <a:gd name="adj" fmla="val 6000"/>
            </a:avLst>
          </a:prstGeom>
          <a:solidFill>
            <a:srgbClr val="CC0000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FEFDFA"/>
                </a:solidFill>
              </a:rPr>
              <a:t>Important</a:t>
            </a:r>
          </a:p>
        </p:txBody>
      </p:sp>
      <p:sp>
        <p:nvSpPr>
          <p:cNvPr id="1005" name="callout-body" descr=""/>
          <p:cNvSpPr/>
          <p:nvPr/>
        </p:nvSpPr>
        <p:spPr>
          <a:xfrm>
            <a:off x="1097280" y="4572000"/>
            <a:ext cx="9994392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This definition narrows the population of portrayals. It does not yet define what “big” means or how it will be measured.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Conceptually Defining “Big”</a:t>
            </a:r>
          </a:p>
        </p:txBody>
      </p:sp>
      <p:pic>
        <p:nvPicPr>
          <p:cNvPr descr="Course illustration showing possible meanings of big for Superman, including weight, height, and popularity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Possible meanings</a:t>
            </a:r>
          </a:p>
          <a:p>
            <a:pPr lvl="0"/>
            <a:r>
              <a:rPr/>
              <a:t>Height of the actor</a:t>
            </a:r>
          </a:p>
          <a:p>
            <a:pPr lvl="0"/>
            <a:r>
              <a:rPr/>
              <a:t>Body weight of the actor</a:t>
            </a:r>
          </a:p>
          <a:p>
            <a:pPr lvl="0"/>
            <a:r>
              <a:rPr/>
              <a:t>Audience size</a:t>
            </a:r>
          </a:p>
          <a:p>
            <a:pPr lvl="0"/>
            <a:r>
              <a:rPr/>
              <a:t>Cultural influence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From concepts to research hypotheses</a:t>
            </a:r>
          </a:p>
        </p:txBody>
      </p:sp>
      <p:pic>
        <p:nvPicPr>
          <p:cNvPr descr="Course illustration showing the abstract concept big becoming a measured height variabl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Operational definition</a:t>
            </a:r>
          </a:p>
          <a:p>
            <a:pPr lvl="0" indent="0" marL="0">
              <a:buNone/>
            </a:pPr>
            <a:r>
              <a:rPr/>
              <a:t>Height of each Superman actor in meters, recorded to two decimal places.</a:t>
            </a:r>
          </a:p>
          <a:p>
            <a:pPr lvl="0" indent="0" marL="0">
              <a:buNone/>
            </a:pPr>
            <a:r>
              <a:rPr b="1"/>
              <a:t>Research hypothesis</a:t>
            </a:r>
          </a:p>
          <a:p>
            <a:pPr lvl="0" indent="0" marL="0">
              <a:buNone/>
            </a:pPr>
            <a:r>
              <a:rPr/>
              <a:t>The average height of actors who portrayed Superman from 1948 to the present is 1.88 meters.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From concepts to variables &amp; other useful terminology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What is a Conceptual Definition?</a:t>
            </a:r>
          </a:p>
        </p:txBody>
      </p:sp>
      <p:sp>
        <p:nvSpPr>
          <p:cNvPr id="1006" name="prose" descr=""/>
          <p:cNvSpPr/>
          <p:nvPr/>
        </p:nvSpPr>
        <p:spPr>
          <a:xfrm>
            <a:off x="1097280" y="2633472"/>
            <a:ext cx="9994392" cy="3048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Conceptual definition</a:t>
            </a:r>
          </a:p>
        </p:txBody>
      </p:sp>
      <p:sp>
        <p:nvSpPr>
          <p:cNvPr id="1007" name="prose" descr=""/>
          <p:cNvSpPr/>
          <p:nvPr/>
        </p:nvSpPr>
        <p:spPr>
          <a:xfrm>
            <a:off x="1097280" y="3084576"/>
            <a:ext cx="9994392" cy="6096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A description of the behaviors or internal processes that make up a psychological construct and connect it to other concepts.</a:t>
            </a:r>
          </a:p>
        </p:txBody>
      </p:sp>
      <p:sp>
        <p:nvSpPr>
          <p:cNvPr id="1008" name="callout-note" descr="note callout: Note. Example: social media addiction involves persistent, difficult-to-control use that disrupts daily functioning."/>
          <p:cNvSpPr/>
          <p:nvPr/>
        </p:nvSpPr>
        <p:spPr>
          <a:xfrm>
            <a:off x="1097280" y="3840480"/>
            <a:ext cx="9994392" cy="173736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66CC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9" name="callout-title" descr=""/>
          <p:cNvSpPr/>
          <p:nvPr/>
        </p:nvSpPr>
        <p:spPr>
          <a:xfrm>
            <a:off x="1097280" y="3840480"/>
            <a:ext cx="9994392" cy="426720"/>
          </a:xfrm>
          <a:prstGeom prst="roundRect">
            <a:avLst>
              <a:gd name="adj" fmla="val 6000"/>
            </a:avLst>
          </a:prstGeom>
          <a:solidFill>
            <a:srgbClr val="0066CC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FEFDFA"/>
                </a:solidFill>
              </a:rPr>
              <a:t>Note</a:t>
            </a:r>
          </a:p>
        </p:txBody>
      </p:sp>
      <p:sp>
        <p:nvSpPr>
          <p:cNvPr id="1010" name="callout-body" descr=""/>
          <p:cNvSpPr/>
          <p:nvPr/>
        </p:nvSpPr>
        <p:spPr>
          <a:xfrm>
            <a:off x="1097280" y="4267200"/>
            <a:ext cx="9994392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Example: social media addiction involves persistent, difficult-to-control use that disrupts daily functioning.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9 What is Operationalization?</a:t>
            </a:r>
          </a:p>
        </p:txBody>
      </p:sp>
      <p:sp>
        <p:nvSpPr>
          <p:cNvPr id="1011" name="card-red" descr="card: Operationalization. The process of turning an abstract concept into a measurable variable."/>
          <p:cNvSpPr/>
          <p:nvPr/>
        </p:nvSpPr>
        <p:spPr>
          <a:xfrm>
            <a:off x="1097280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Operationalization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process of turning an abstract concept into a measurable variable.</a:t>
            </a:r>
          </a:p>
        </p:txBody>
      </p:sp>
      <p:sp>
        <p:nvSpPr>
          <p:cNvPr id="1012" name="card-rail" descr=""/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13" name="card-steel" descr="card: Operational definition. The exact rule used to observe, score, or record the variable in a particular study."/>
          <p:cNvSpPr/>
          <p:nvPr/>
        </p:nvSpPr>
        <p:spPr>
          <a:xfrm>
            <a:off x="6167628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Operational definition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exact rule used to observe, score, or record the variable in a particular study.</a:t>
            </a:r>
          </a:p>
        </p:txBody>
      </p:sp>
      <p:sp>
        <p:nvSpPr>
          <p:cNvPr id="1014" name="card-rail" descr=""/>
          <p:cNvSpPr/>
          <p:nvPr/>
        </p:nvSpPr>
        <p:spPr>
          <a:xfrm>
            <a:off x="6167628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What is a Variable?</a:t>
            </a:r>
          </a:p>
        </p:txBody>
      </p:sp>
      <p:sp>
        <p:nvSpPr>
          <p:cNvPr id="1015" name="prose" descr=""/>
          <p:cNvSpPr/>
          <p:nvPr/>
        </p:nvSpPr>
        <p:spPr>
          <a:xfrm>
            <a:off x="1097280" y="2633472"/>
            <a:ext cx="9994392" cy="3048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Variable</a:t>
            </a:r>
          </a:p>
        </p:txBody>
      </p:sp>
      <p:sp>
        <p:nvSpPr>
          <p:cNvPr id="1016" name="prose" descr=""/>
          <p:cNvSpPr/>
          <p:nvPr/>
        </p:nvSpPr>
        <p:spPr>
          <a:xfrm>
            <a:off x="1097280" y="3084576"/>
            <a:ext cx="9994392" cy="6096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A quantity or quality that varies across people, objects, or situations.</a:t>
            </a:r>
          </a:p>
        </p:txBody>
      </p:sp>
      <p:sp>
        <p:nvSpPr>
          <p:cNvPr id="1017" name="callout-note" descr="note callout: Note. The height of actors who portrayed Superman is a variable because it differs from actor to actor."/>
          <p:cNvSpPr/>
          <p:nvPr/>
        </p:nvSpPr>
        <p:spPr>
          <a:xfrm>
            <a:off x="1097280" y="3840480"/>
            <a:ext cx="9994392" cy="173736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66CC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18" name="callout-title" descr=""/>
          <p:cNvSpPr/>
          <p:nvPr/>
        </p:nvSpPr>
        <p:spPr>
          <a:xfrm>
            <a:off x="1097280" y="3840480"/>
            <a:ext cx="9994392" cy="426720"/>
          </a:xfrm>
          <a:prstGeom prst="roundRect">
            <a:avLst>
              <a:gd name="adj" fmla="val 6000"/>
            </a:avLst>
          </a:prstGeom>
          <a:solidFill>
            <a:srgbClr val="0066CC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FEFDFA"/>
                </a:solidFill>
              </a:rPr>
              <a:t>Note</a:t>
            </a:r>
          </a:p>
        </p:txBody>
      </p:sp>
      <p:sp>
        <p:nvSpPr>
          <p:cNvPr id="1019" name="callout-body" descr=""/>
          <p:cNvSpPr/>
          <p:nvPr/>
        </p:nvSpPr>
        <p:spPr>
          <a:xfrm>
            <a:off x="1097280" y="4267200"/>
            <a:ext cx="9994392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The height of actors who portrayed Superman is a variable because it differs from actor to actor.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What is Measurement?</a:t>
            </a:r>
          </a:p>
        </p:txBody>
      </p:sp>
      <p:sp>
        <p:nvSpPr>
          <p:cNvPr id="1020" name="prose" descr=""/>
          <p:cNvSpPr/>
          <p:nvPr/>
        </p:nvSpPr>
        <p:spPr>
          <a:xfrm>
            <a:off x="1097280" y="2633472"/>
            <a:ext cx="9994392" cy="3048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Measurement</a:t>
            </a:r>
          </a:p>
        </p:txBody>
      </p:sp>
      <p:sp>
        <p:nvSpPr>
          <p:cNvPr id="1021" name="prose" descr=""/>
          <p:cNvSpPr/>
          <p:nvPr/>
        </p:nvSpPr>
        <p:spPr>
          <a:xfrm>
            <a:off x="1097280" y="3084576"/>
            <a:ext cx="9994392" cy="6096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The systematic assignment of values so those values represent a characteristic.</a:t>
            </a:r>
          </a:p>
        </p:txBody>
      </p:sp>
      <p:sp>
        <p:nvSpPr>
          <p:cNvPr id="1022" name="callout-note" descr="note callout: Note. An operational definition supplies the rule for assigning those values."/>
          <p:cNvSpPr/>
          <p:nvPr/>
        </p:nvSpPr>
        <p:spPr>
          <a:xfrm>
            <a:off x="1097280" y="3840480"/>
            <a:ext cx="9994392" cy="173736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66CC"/>
            </a:solidFill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3" name="callout-title" descr=""/>
          <p:cNvSpPr/>
          <p:nvPr/>
        </p:nvSpPr>
        <p:spPr>
          <a:xfrm>
            <a:off x="1097280" y="3840480"/>
            <a:ext cx="9994392" cy="426720"/>
          </a:xfrm>
          <a:prstGeom prst="roundRect">
            <a:avLst>
              <a:gd name="adj" fmla="val 6000"/>
            </a:avLst>
          </a:prstGeom>
          <a:solidFill>
            <a:srgbClr val="0066CC"/>
          </a:solidFill>
          <a:ln>
            <a:noFill/>
          </a:ln>
        </p:spPr>
        <p:txBody>
          <a:bodyPr lIns="182880" tIns="0" rIns="182880" bIns="0" anchor="ctr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FEFDFA"/>
                </a:solidFill>
              </a:rPr>
              <a:t>Note</a:t>
            </a:r>
          </a:p>
        </p:txBody>
      </p:sp>
      <p:sp>
        <p:nvSpPr>
          <p:cNvPr id="1024" name="callout-body" descr=""/>
          <p:cNvSpPr/>
          <p:nvPr/>
        </p:nvSpPr>
        <p:spPr>
          <a:xfrm>
            <a:off x="1097280" y="4267200"/>
            <a:ext cx="9994392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An operational definition supplies the rule for assigning those values.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Measuring variables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12 Types of Variables</a:t>
            </a:r>
          </a:p>
        </p:txBody>
      </p:sp>
      <p:sp>
        <p:nvSpPr>
          <p:cNvPr id="1025" name="card-red" descr="card: Category membership. The values name groups or kinds. Qualitative"/>
          <p:cNvSpPr/>
          <p:nvPr/>
        </p:nvSpPr>
        <p:spPr>
          <a:xfrm>
            <a:off x="1097280" y="2633472"/>
            <a:ext cx="3233928" cy="19507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Category membership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values name groups or kinds.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Qualitative</a:t>
            </a:r>
          </a:p>
        </p:txBody>
      </p:sp>
      <p:sp>
        <p:nvSpPr>
          <p:cNvPr id="1026" name="card-rail" descr=""/>
          <p:cNvSpPr/>
          <p:nvPr/>
        </p:nvSpPr>
        <p:spPr>
          <a:xfrm>
            <a:off x="1097280" y="2633472"/>
            <a:ext cx="54864" cy="195072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7" name="card-steel" descr="card: Count or measurement. The distance between values has numerical meaning. Quantitative"/>
          <p:cNvSpPr/>
          <p:nvPr/>
        </p:nvSpPr>
        <p:spPr>
          <a:xfrm>
            <a:off x="4477512" y="2633472"/>
            <a:ext cx="3233928" cy="22555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Count or measurement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The distance between values has numerical meaning.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Quantitative</a:t>
            </a:r>
          </a:p>
        </p:txBody>
      </p:sp>
      <p:sp>
        <p:nvSpPr>
          <p:cNvPr id="1028" name="card-rail" descr=""/>
          <p:cNvSpPr/>
          <p:nvPr/>
        </p:nvSpPr>
        <p:spPr>
          <a:xfrm>
            <a:off x="4477512" y="2633472"/>
            <a:ext cx="54864" cy="225552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29" name="card-steel" descr="card: Then ask. If quantitative, are the recorded values discrete or continuous?"/>
          <p:cNvSpPr/>
          <p:nvPr/>
        </p:nvSpPr>
        <p:spPr>
          <a:xfrm>
            <a:off x="7857744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Then ask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If quantitative, are the recorded values discrete or continuous?</a:t>
            </a:r>
          </a:p>
        </p:txBody>
      </p:sp>
      <p:sp>
        <p:nvSpPr>
          <p:cNvPr id="1030" name="card-rail" descr=""/>
          <p:cNvSpPr/>
          <p:nvPr/>
        </p:nvSpPr>
        <p:spPr>
          <a:xfrm>
            <a:off x="7857744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13 Qualitative vs Quantitative</a:t>
            </a:r>
          </a:p>
        </p:txBody>
      </p:sp>
      <p:pic>
        <p:nvPicPr>
          <p:cNvPr descr="Media type diagram showing three category codes: movie, television series, and serial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type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1</a:t>
            </a:r>
            <a:r>
              <a:rPr/>
              <a:t>, </a:t>
            </a:r>
            <a:r>
              <a:rPr>
                <a:latin typeface="Courier"/>
              </a:rPr>
              <a:t>2</a:t>
            </a:r>
            <a:r>
              <a:rPr/>
              <a:t>, and </a:t>
            </a:r>
            <a:r>
              <a:rPr>
                <a:latin typeface="Courier"/>
              </a:rPr>
              <a:t>3</a:t>
            </a:r>
            <a:r>
              <a:rPr/>
              <a:t> label categories; they do not measure amount.</a:t>
            </a:r>
          </a:p>
          <a:p>
            <a:pPr lvl="0" indent="0" marL="0">
              <a:buNone/>
            </a:pPr>
            <a:r>
              <a:rPr b="1"/>
              <a:t>Classification</a:t>
            </a:r>
          </a:p>
          <a:p>
            <a:pPr lvl="0" indent="0" marL="0">
              <a:buNone/>
            </a:pPr>
            <a:r>
              <a:rPr b="1"/>
              <a:t>Qualitative</a:t>
            </a:r>
            <a:r>
              <a:rPr/>
              <a:t> · discrete/continuous does not apply.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14 Quantitative Variables</a:t>
            </a:r>
          </a:p>
        </p:txBody>
      </p:sp>
      <p:sp>
        <p:nvSpPr>
          <p:cNvPr id="1031" name="card-red" descr="card: Discrete. Recorded in separate, countable values. Examples: number of reviews, year first released, a summed 4-item scale score."/>
          <p:cNvSpPr/>
          <p:nvPr/>
        </p:nvSpPr>
        <p:spPr>
          <a:xfrm>
            <a:off x="1097280" y="2633472"/>
            <a:ext cx="4924044" cy="2225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Discrete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Recorded in separate, countable values.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Examples: number of reviews, year first released, a summed 4-item scale score.</a:t>
            </a:r>
          </a:p>
        </p:txBody>
      </p:sp>
      <p:sp>
        <p:nvSpPr>
          <p:cNvPr id="1032" name="card-rail" descr=""/>
          <p:cNvSpPr/>
          <p:nvPr/>
        </p:nvSpPr>
        <p:spPr>
          <a:xfrm>
            <a:off x="1097280" y="2633472"/>
            <a:ext cx="54864" cy="22250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3" name="card-steel" descr="card: Continuous. Can take any value within a meaningful interval, even when rounded for recording. Examples: height, elapsed time, an average rating."/>
          <p:cNvSpPr/>
          <p:nvPr/>
        </p:nvSpPr>
        <p:spPr>
          <a:xfrm>
            <a:off x="6167628" y="2633472"/>
            <a:ext cx="4924044" cy="2225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Continuous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Can take any value within a meaningful interval, even when rounded for recording.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Examples: height, elapsed time, an average rating.</a:t>
            </a:r>
          </a:p>
        </p:txBody>
      </p:sp>
      <p:sp>
        <p:nvSpPr>
          <p:cNvPr id="1034" name="card-rail" descr=""/>
          <p:cNvSpPr/>
          <p:nvPr/>
        </p:nvSpPr>
        <p:spPr>
          <a:xfrm>
            <a:off x="6167628" y="2633472"/>
            <a:ext cx="54864" cy="22250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Let’s Practice!!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15 Lab 02: Walk-through Section</a:t>
            </a:r>
          </a:p>
        </p:txBody>
      </p:sp>
      <p:sp>
        <p:nvSpPr>
          <p:cNvPr id="1035" name="card-steel" descr="card: clark_height. Height in meters to two decimal places. Preserves magnitude and fine differences."/>
          <p:cNvSpPr/>
          <p:nvPr/>
        </p:nvSpPr>
        <p:spPr>
          <a:xfrm>
            <a:off x="1097280" y="2633472"/>
            <a:ext cx="3233928" cy="2529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clark_height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Height in meters to two decimal places.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Preserves magnitude and fine differences.</a:t>
            </a:r>
          </a:p>
        </p:txBody>
      </p:sp>
      <p:sp>
        <p:nvSpPr>
          <p:cNvPr id="1036" name="card-rail" descr=""/>
          <p:cNvSpPr/>
          <p:nvPr/>
        </p:nvSpPr>
        <p:spPr>
          <a:xfrm>
            <a:off x="1097280" y="2633472"/>
            <a:ext cx="54864" cy="25298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7" name="card-red" descr="card: height_grp. Over 6 feet: yes or no. Preserves only category membership."/>
          <p:cNvSpPr/>
          <p:nvPr/>
        </p:nvSpPr>
        <p:spPr>
          <a:xfrm>
            <a:off x="4477512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height_grp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Over 6 feet: yes or no.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Preserves only category membership.</a:t>
            </a:r>
          </a:p>
        </p:txBody>
      </p:sp>
      <p:sp>
        <p:nvSpPr>
          <p:cNvPr id="1038" name="card-rail" descr=""/>
          <p:cNvSpPr/>
          <p:nvPr/>
        </p:nvSpPr>
        <p:spPr>
          <a:xfrm>
            <a:off x="4477512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39" name="card-steel" descr="card: height_diff. Clark’s height minus Lois’s height. Preserves the size and direction of a difference."/>
          <p:cNvSpPr/>
          <p:nvPr/>
        </p:nvSpPr>
        <p:spPr>
          <a:xfrm>
            <a:off x="7857744" y="2633472"/>
            <a:ext cx="3233928" cy="2529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height_diff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Clark’s height minus Lois’s height.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Preserves the size and direction of a difference.</a:t>
            </a:r>
          </a:p>
        </p:txBody>
      </p:sp>
      <p:sp>
        <p:nvSpPr>
          <p:cNvPr id="1040" name="card-rail" descr=""/>
          <p:cNvSpPr/>
          <p:nvPr/>
        </p:nvSpPr>
        <p:spPr>
          <a:xfrm>
            <a:off x="7857744" y="2633472"/>
            <a:ext cx="54864" cy="25298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16 Identify Types of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First decide</a:t>
            </a:r>
          </a:p>
          <a:p>
            <a:pPr lvl="0"/>
            <a:r>
              <a:rPr>
                <a:latin typeface="Courier"/>
              </a:rPr>
              <a:t>type</a:t>
            </a:r>
          </a:p>
          <a:p>
            <a:pPr lvl="0"/>
            <a:r>
              <a:rPr>
                <a:latin typeface="Courier"/>
              </a:rPr>
              <a:t>first_appear</a:t>
            </a:r>
          </a:p>
          <a:p>
            <a:pPr lvl="0"/>
            <a:r>
              <a:rPr>
                <a:latin typeface="Courier"/>
              </a:rPr>
              <a:t>clark_height</a:t>
            </a:r>
          </a:p>
          <a:p>
            <a:pPr lvl="0" indent="0" marL="0">
              <a:buNone/>
            </a:pPr>
            <a:r>
              <a:rPr/>
              <a:t>Are the values categories or quantities?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Then decide</a:t>
            </a:r>
          </a:p>
          <a:p>
            <a:pPr lvl="0"/>
            <a:r>
              <a:rPr>
                <a:latin typeface="Courier"/>
              </a:rPr>
              <a:t>height_grp</a:t>
            </a:r>
          </a:p>
          <a:p>
            <a:pPr lvl="0"/>
            <a:r>
              <a:rPr>
                <a:latin typeface="Courier"/>
              </a:rPr>
              <a:t>lois_height</a:t>
            </a:r>
          </a:p>
          <a:p>
            <a:pPr lvl="0"/>
            <a:r>
              <a:rPr>
                <a:latin typeface="Courier"/>
              </a:rPr>
              <a:t>height_diff</a:t>
            </a:r>
          </a:p>
          <a:p>
            <a:pPr lvl="0" indent="0" marL="0">
              <a:buNone/>
            </a:pPr>
            <a:r>
              <a:rPr/>
              <a:t>For quantitative variables, are the values discrete or continuous?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17 Variable Name: </a:t>
            </a:r>
            <a:r>
              <a:rPr>
                <a:latin typeface="Courier"/>
              </a:rPr>
              <a:t>type</a:t>
            </a:r>
          </a:p>
        </p:txBody>
      </p:sp>
      <p:pic>
        <p:nvPicPr>
          <p:cNvPr descr="Media type diagram showing three category codes: movie, television series, and serial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Meaning of values</a:t>
            </a:r>
          </a:p>
          <a:p>
            <a:pPr lvl="0" indent="0" marL="0">
              <a:buNone/>
            </a:pPr>
            <a:r>
              <a:rPr/>
              <a:t>The values identify kinds of media. Arithmetic with the codes would not be meaningful.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Qualitative</a:t>
            </a:r>
          </a:p>
          <a:p>
            <a:pPr lvl="0" indent="0" marL="0">
              <a:buNone/>
            </a:pPr>
            <a:r>
              <a:rPr/>
              <a:t>Discrete/continuous: </a:t>
            </a:r>
            <a:r>
              <a:rPr b="1"/>
              <a:t>not applicable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18 Variable Name: </a:t>
            </a:r>
            <a:r>
              <a:rPr>
                <a:latin typeface="Courier"/>
              </a:rPr>
              <a:t>first_appear</a:t>
            </a:r>
          </a:p>
        </p:txBody>
      </p:sp>
      <p:pic>
        <p:nvPicPr>
          <p:cNvPr descr="Timeline showing the years in which selected Superman screen adaptations first appeared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Recording rule</a:t>
            </a:r>
          </a:p>
          <a:p>
            <a:pPr lvl="0" indent="0" marL="0">
              <a:buNone/>
            </a:pPr>
            <a:r>
              <a:rPr/>
              <a:t>Year first debuted, stored as a four-digit year such as </a:t>
            </a:r>
            <a:r>
              <a:rPr>
                <a:latin typeface="Courier"/>
              </a:rPr>
              <a:t>1978</a:t>
            </a:r>
            <a:r>
              <a:rPr/>
              <a:t> or </a:t>
            </a:r>
            <a:r>
              <a:rPr>
                <a:latin typeface="Courier"/>
              </a:rPr>
              <a:t>2025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Quantitative · discrete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19 Variable Name: </a:t>
            </a:r>
            <a:r>
              <a:rPr>
                <a:latin typeface="Courier"/>
              </a:rPr>
              <a:t>clark_height</a:t>
            </a:r>
          </a:p>
        </p:txBody>
      </p:sp>
      <p:pic>
        <p:nvPicPr>
          <p:cNvPr descr="Course diagram showing Superman beside a height scale and the variable Clark height measured in meter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Meaning of values</a:t>
            </a:r>
          </a:p>
          <a:p>
            <a:pPr lvl="0" indent="0" marL="0">
              <a:buNone/>
            </a:pPr>
            <a:r>
              <a:rPr/>
              <a:t>Values such as </a:t>
            </a:r>
            <a:r>
              <a:rPr>
                <a:latin typeface="Courier"/>
              </a:rPr>
              <a:t>1.93</a:t>
            </a:r>
            <a:r>
              <a:rPr/>
              <a:t> and </a:t>
            </a:r>
            <a:r>
              <a:rPr>
                <a:latin typeface="Courier"/>
              </a:rPr>
              <a:t>1.85</a:t>
            </a:r>
            <a:r>
              <a:rPr/>
              <a:t> represent measured height in meters.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Quantitative · continuous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20 Variable Name: </a:t>
            </a:r>
            <a:r>
              <a:rPr>
                <a:latin typeface="Courier"/>
              </a:rPr>
              <a:t>height_grp</a:t>
            </a:r>
          </a:p>
        </p:txBody>
      </p:sp>
      <p:pic>
        <p:nvPicPr>
          <p:cNvPr descr="Course diagram grouping Superman actors into over six feet and under six feet categorie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Recording rule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1 = over 6 feet</a:t>
            </a:r>
            <a:r>
              <a:rPr/>
              <a:t> and </a:t>
            </a:r>
            <a:r>
              <a:rPr>
                <a:latin typeface="Courier"/>
              </a:rPr>
              <a:t>2 = under 6 feet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Qualitative · not applicable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21 Variable Name: </a:t>
            </a:r>
            <a:r>
              <a:rPr>
                <a:latin typeface="Courier"/>
              </a:rPr>
              <a:t>lois_height</a:t>
            </a:r>
          </a:p>
        </p:txBody>
      </p:sp>
      <p:pic>
        <p:nvPicPr>
          <p:cNvPr descr="Course diagram showing Lois Lane actor height recorded in whole inche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Recording rule</a:t>
            </a:r>
          </a:p>
          <a:p>
            <a:pPr lvl="0" indent="0" marL="0">
              <a:buNone/>
            </a:pPr>
            <a:r>
              <a:rPr/>
              <a:t>Height in inches, rounded up, with values such as </a:t>
            </a:r>
            <a:r>
              <a:rPr>
                <a:latin typeface="Courier"/>
              </a:rPr>
              <a:t>63</a:t>
            </a:r>
            <a:r>
              <a:rPr/>
              <a:t> and </a:t>
            </a:r>
            <a:r>
              <a:rPr>
                <a:latin typeface="Courier"/>
              </a:rPr>
              <a:t>68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Quantitative · discrete as recorded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22 Height difference variable</a:t>
            </a:r>
          </a:p>
        </p:txBody>
      </p:sp>
      <p:pic>
        <p:nvPicPr>
          <p:cNvPr descr="Course diagram showing the height difference between Clark Kent and Lois Lane actor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Recording rule</a:t>
            </a:r>
          </a:p>
          <a:p>
            <a:pPr lvl="0" indent="0" marL="0">
              <a:buNone/>
            </a:pPr>
            <a:r>
              <a:rPr/>
              <a:t>Clark’s height minus Lois’s height in feet, recorded to two decimal places.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Quantitative · continuous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23 Operationalization changes what a result can mean</a:t>
            </a:r>
          </a:p>
        </p:txBody>
      </p:sp>
      <p:sp>
        <p:nvSpPr>
          <p:cNvPr id="1041" name="card-red" descr="card: Precision. Rounding height removes small differences between actors."/>
          <p:cNvSpPr/>
          <p:nvPr/>
        </p:nvSpPr>
        <p:spPr>
          <a:xfrm>
            <a:off x="1097280" y="2633472"/>
            <a:ext cx="3233928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Precision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Rounding height removes small differences between actors.</a:t>
            </a:r>
          </a:p>
        </p:txBody>
      </p:sp>
      <p:sp>
        <p:nvSpPr>
          <p:cNvPr id="1042" name="card-rail" descr=""/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43" name="card-steel" descr="card: Grouping. Reducing height to over/under 6 feet discards distance from the threshold."/>
          <p:cNvSpPr/>
          <p:nvPr/>
        </p:nvSpPr>
        <p:spPr>
          <a:xfrm>
            <a:off x="4477512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Grouping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Reducing height to over/under 6 feet discards distance from the threshold.</a:t>
            </a:r>
          </a:p>
        </p:txBody>
      </p:sp>
      <p:sp>
        <p:nvSpPr>
          <p:cNvPr id="1044" name="card-rail" descr=""/>
          <p:cNvSpPr/>
          <p:nvPr/>
        </p:nvSpPr>
        <p:spPr>
          <a:xfrm>
            <a:off x="4477512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45" name="card-steel" descr="card: Generalization. Findings apply most directly to the construct as it was defined and measured."/>
          <p:cNvSpPr/>
          <p:nvPr/>
        </p:nvSpPr>
        <p:spPr>
          <a:xfrm>
            <a:off x="7857744" y="2633472"/>
            <a:ext cx="3233928" cy="22250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Generalization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Findings apply most directly to the construct as it was defined and measured.</a:t>
            </a:r>
          </a:p>
        </p:txBody>
      </p:sp>
      <p:sp>
        <p:nvSpPr>
          <p:cNvPr id="1046" name="card-rail" descr=""/>
          <p:cNvSpPr/>
          <p:nvPr/>
        </p:nvSpPr>
        <p:spPr>
          <a:xfrm>
            <a:off x="7857744" y="2633472"/>
            <a:ext cx="54864" cy="22250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24 Developing More Research Questions</a:t>
            </a:r>
          </a:p>
        </p:txBody>
      </p:sp>
      <p:pic>
        <p:nvPicPr>
          <p:cNvPr descr="Course diagram asking whether the height of a Superman actor affects liking of the Superman film or television program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Bivariate research question</a:t>
            </a:r>
          </a:p>
          <a:p>
            <a:pPr lvl="0" indent="0" marL="0">
              <a:buNone/>
            </a:pPr>
            <a:r>
              <a:rPr/>
              <a:t>A question about the relationship between two variables.</a:t>
            </a:r>
          </a:p>
          <a:p>
            <a:pPr lvl="0" indent="0" marL="0">
              <a:buNone/>
            </a:pPr>
            <a:r>
              <a:rPr b="1"/>
              <a:t>Ask</a:t>
            </a:r>
          </a:p>
          <a:p>
            <a:pPr lvl="0" indent="0" marL="0">
              <a:buNone/>
            </a:pPr>
            <a:r>
              <a:rPr/>
              <a:t>How will the predictor and outcome each be operationalized?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More Practice: Measuring “Enjoy”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25 Classify the enjoyment and quality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Platform measures</a:t>
            </a:r>
          </a:p>
          <a:p>
            <a:pPr lvl="0"/>
            <a:r>
              <a:rPr>
                <a:latin typeface="Courier"/>
              </a:rPr>
              <a:t>rt_critics_score</a:t>
            </a:r>
          </a:p>
          <a:p>
            <a:pPr lvl="0"/>
            <a:r>
              <a:rPr>
                <a:latin typeface="Courier"/>
              </a:rPr>
              <a:t>rt_status</a:t>
            </a:r>
          </a:p>
          <a:p>
            <a:pPr lvl="0"/>
            <a:r>
              <a:rPr>
                <a:latin typeface="Courier"/>
              </a:rPr>
              <a:t>rt_audience_score</a:t>
            </a:r>
          </a:p>
          <a:p>
            <a:pPr lvl="0"/>
            <a:r>
              <a:rPr>
                <a:latin typeface="Courier"/>
              </a:rPr>
              <a:t>lb_avg_stars</a:t>
            </a:r>
          </a:p>
          <a:p>
            <a:pPr lvl="0"/>
            <a:r>
              <a:rPr>
                <a:latin typeface="Courier"/>
              </a:rPr>
              <a:t>lb_reviews</a:t>
            </a:r>
          </a:p>
          <a:p>
            <a:pPr lvl="0"/>
            <a:r>
              <a:rPr>
                <a:latin typeface="Courier"/>
              </a:rPr>
              <a:t>metacritic_score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Response measures</a:t>
            </a:r>
          </a:p>
          <a:p>
            <a:pPr lvl="0"/>
            <a:r>
              <a:rPr>
                <a:latin typeface="Courier"/>
              </a:rPr>
              <a:t>emotion</a:t>
            </a:r>
          </a:p>
          <a:p>
            <a:pPr lvl="0"/>
            <a:r>
              <a:rPr>
                <a:latin typeface="Courier"/>
              </a:rPr>
              <a:t>emo</a:t>
            </a:r>
          </a:p>
          <a:p>
            <a:pPr lvl="0"/>
            <a:r>
              <a:rPr>
                <a:latin typeface="Courier"/>
              </a:rPr>
              <a:t>aes</a:t>
            </a:r>
          </a:p>
          <a:p>
            <a:pPr lvl="0"/>
            <a:r>
              <a:rPr>
                <a:latin typeface="Courier"/>
              </a:rPr>
              <a:t>cog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26 Rotten Tomatoes variables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Critics score</a:t>
            </a:r>
          </a:p>
          <a:p>
            <a:pPr lvl="0" indent="0" marL="0">
              <a:buNone/>
            </a:pPr>
            <a:r>
              <a:rPr b="1"/>
              <a:t>Quantitative · discrete</a:t>
            </a:r>
          </a:p>
        </p:txBody>
      </p:sp>
      <p:pic>
        <p:nvPicPr>
          <p:cNvPr descr="Course diagram showing Rotten Tomatoes critics scores from 0 to 100 percent across several Superman film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3136900"/>
            <a:ext cx="25908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Text Placeholder 4"/>
          <p:cNvSpPr>
            <a:spLocks noGrp="1"/>
          </p:cNvSpPr>
          <p:nvPr>
            <p:ph idx="1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Status</a:t>
            </a:r>
          </a:p>
          <a:p>
            <a:pPr lvl="0" indent="0" marL="0">
              <a:buNone/>
            </a:pPr>
            <a:r>
              <a:rPr b="1"/>
              <a:t>Qualitative · not applicable</a:t>
            </a:r>
          </a:p>
        </p:txBody>
      </p:sp>
      <p:pic>
        <p:nvPicPr>
          <p:cNvPr descr="Course diagram showing Rotten Tomatoes category codes for Fresh, Certified Fresh, and Rotten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7162800" y="3136900"/>
            <a:ext cx="25908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27 Variable: </a:t>
            </a:r>
            <a:r>
              <a:rPr>
                <a:latin typeface="Courier"/>
              </a:rPr>
              <a:t>rt_audience_score</a:t>
            </a:r>
          </a:p>
        </p:txBody>
      </p:sp>
      <p:pic>
        <p:nvPicPr>
          <p:cNvPr descr="Course diagram showing Rotten Tomatoes audience scores from 0 to 100 percent across several Superman films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Recording rule</a:t>
            </a:r>
          </a:p>
          <a:p>
            <a:pPr lvl="0" indent="0" marL="0">
              <a:buNone/>
            </a:pPr>
            <a:r>
              <a:rPr/>
              <a:t>Audience score from 0 to 100 percent.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Quantitative · discrete as recorded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28 Variable: </a:t>
            </a:r>
            <a:r>
              <a:rPr>
                <a:latin typeface="Courier"/>
              </a:rPr>
              <a:t>lb_avg_stars</a:t>
            </a:r>
          </a:p>
        </p:txBody>
      </p:sp>
      <p:pic>
        <p:nvPicPr>
          <p:cNvPr descr="Course diagram showing Letterboxd star ratings and an average rating for a film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Recording rule</a:t>
            </a:r>
          </a:p>
          <a:p>
            <a:pPr lvl="0" indent="0" marL="0">
              <a:buNone/>
            </a:pPr>
            <a:r>
              <a:rPr/>
              <a:t>Letterboxd average rating from 1 to 5 stars, with values such as </a:t>
            </a:r>
            <a:r>
              <a:rPr>
                <a:latin typeface="Courier"/>
              </a:rPr>
              <a:t>4.2</a:t>
            </a:r>
            <a:r>
              <a:rPr/>
              <a:t> and </a:t>
            </a:r>
            <a:r>
              <a:rPr>
                <a:latin typeface="Courier"/>
              </a:rPr>
              <a:t>3.8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Quantitative · continuous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29 Variable: </a:t>
            </a:r>
            <a:r>
              <a:rPr>
                <a:latin typeface="Courier"/>
              </a:rPr>
              <a:t>lb_reviews</a:t>
            </a:r>
          </a:p>
        </p:txBody>
      </p:sp>
      <p:pic>
        <p:nvPicPr>
          <p:cNvPr descr="Course diagram showing the number of Letterboxd members who reviewed or rated a film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Recording rule</a:t>
            </a:r>
          </a:p>
          <a:p>
            <a:pPr lvl="0" indent="0" marL="0">
              <a:buNone/>
            </a:pPr>
            <a:r>
              <a:rPr/>
              <a:t>Count of Letterboxd reviews, with values such as </a:t>
            </a:r>
            <a:r>
              <a:rPr>
                <a:latin typeface="Courier"/>
              </a:rPr>
              <a:t>1250</a:t>
            </a:r>
            <a:r>
              <a:rPr/>
              <a:t> and </a:t>
            </a:r>
            <a:r>
              <a:rPr>
                <a:latin typeface="Courier"/>
              </a:rPr>
              <a:t>890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Quantitative · discrete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30 Variable: </a:t>
            </a:r>
            <a:r>
              <a:rPr>
                <a:latin typeface="Courier"/>
              </a:rPr>
              <a:t>metacritic_score</a:t>
            </a:r>
          </a:p>
        </p:txBody>
      </p:sp>
      <p:pic>
        <p:nvPicPr>
          <p:cNvPr descr="Course diagram explaining that a Metacritic score is a weighted average of selected critics' ratings on a 0 to 100 scal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Recording rule</a:t>
            </a:r>
          </a:p>
          <a:p>
            <a:pPr lvl="0" indent="0" marL="0">
              <a:buNone/>
            </a:pPr>
            <a:r>
              <a:rPr/>
              <a:t>Metacritic score from 0 to 100, stored as a whole number.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Quantitative · discrete as recorded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31 Variable: </a:t>
            </a:r>
            <a:r>
              <a:rPr>
                <a:latin typeface="Courier"/>
              </a:rPr>
              <a:t>emotion</a:t>
            </a:r>
          </a:p>
        </p:txBody>
      </p:sp>
      <p:pic>
        <p:nvPicPr>
          <p:cNvPr descr="Course diagram coding six primary emotional responses: fear, joy, sadness, anger, disgust, and anxiety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Recording rule</a:t>
            </a:r>
          </a:p>
          <a:p>
            <a:pPr lvl="0" indent="0" marL="0">
              <a:buNone/>
            </a:pPr>
            <a:r>
              <a:rPr/>
              <a:t>Primary emotional response, coded </a:t>
            </a:r>
            <a:r>
              <a:rPr>
                <a:latin typeface="Courier"/>
              </a:rPr>
              <a:t>1 = fear</a:t>
            </a:r>
            <a:r>
              <a:rPr/>
              <a:t> through </a:t>
            </a:r>
            <a:r>
              <a:rPr>
                <a:latin typeface="Courier"/>
              </a:rPr>
              <a:t>6 = anxiety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Answer</a:t>
            </a:r>
          </a:p>
          <a:p>
            <a:pPr lvl="0" indent="0" marL="0">
              <a:buNone/>
            </a:pPr>
            <a:r>
              <a:rPr b="1"/>
              <a:t>Qualitative · not applicable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32 Understanding Scales &amp; Sub-scales</a:t>
            </a:r>
          </a:p>
        </p:txBody>
      </p:sp>
      <p:pic>
        <p:nvPicPr>
          <p:cNvPr descr="Venn diagram of three Subjective Movie Enjoyment Scale subscales: emotional impact, aesthetic appeal, and cognitive engagement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Emotional impact:</a:t>
            </a:r>
            <a:r>
              <a:rPr/>
              <a:t> four items on a 1–5 scale</a:t>
            </a:r>
          </a:p>
          <a:p>
            <a:pPr lvl="0"/>
            <a:r>
              <a:rPr b="1"/>
              <a:t>Aesthetic appeal:</a:t>
            </a:r>
            <a:r>
              <a:rPr/>
              <a:t> three items on a 1–5 scale</a:t>
            </a:r>
          </a:p>
          <a:p>
            <a:pPr lvl="0"/>
            <a:r>
              <a:rPr b="1"/>
              <a:t>Cognitive engagement:</a:t>
            </a:r>
            <a:r>
              <a:rPr/>
              <a:t> four items on a 0–7 scale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33 Variables: </a:t>
            </a:r>
            <a:r>
              <a:rPr>
                <a:latin typeface="Courier"/>
              </a:rPr>
              <a:t>emo</a:t>
            </a:r>
            <a:r>
              <a:rPr/>
              <a:t>, </a:t>
            </a:r>
            <a:r>
              <a:rPr>
                <a:latin typeface="Courier"/>
              </a:rPr>
              <a:t>aes</a:t>
            </a:r>
            <a:r>
              <a:rPr/>
              <a:t>, and </a:t>
            </a:r>
            <a:r>
              <a:rPr>
                <a:latin typeface="Courier"/>
              </a:rPr>
              <a:t>cog</a:t>
            </a:r>
          </a:p>
        </p:txBody>
      </p:sp>
      <p:sp>
        <p:nvSpPr>
          <p:cNvPr id="1047" name="card-red" descr="card: emo. Sum of four 1–5 items. Quantitative · discrete"/>
          <p:cNvSpPr/>
          <p:nvPr/>
        </p:nvSpPr>
        <p:spPr>
          <a:xfrm>
            <a:off x="1097280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emo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Sum of four 1–5 items.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Quantitative · discrete</a:t>
            </a:r>
          </a:p>
        </p:txBody>
      </p:sp>
      <p:sp>
        <p:nvSpPr>
          <p:cNvPr id="1048" name="card-rail" descr=""/>
          <p:cNvSpPr/>
          <p:nvPr/>
        </p:nvSpPr>
        <p:spPr>
          <a:xfrm>
            <a:off x="1097280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49" name="card-steel" descr="card: aes. Sum of three 1–5 items. Quantitative · discrete"/>
          <p:cNvSpPr/>
          <p:nvPr/>
        </p:nvSpPr>
        <p:spPr>
          <a:xfrm>
            <a:off x="4477512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aes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Sum of three 1–5 items.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Quantitative · discrete</a:t>
            </a:r>
          </a:p>
        </p:txBody>
      </p:sp>
      <p:sp>
        <p:nvSpPr>
          <p:cNvPr id="1050" name="card-rail" descr=""/>
          <p:cNvSpPr/>
          <p:nvPr/>
        </p:nvSpPr>
        <p:spPr>
          <a:xfrm>
            <a:off x="4477512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51" name="card-steel" descr="card: cog. Average of four 0–7 items. Quantitative · continuous"/>
          <p:cNvSpPr/>
          <p:nvPr/>
        </p:nvSpPr>
        <p:spPr>
          <a:xfrm>
            <a:off x="7857744" y="2633472"/>
            <a:ext cx="3233928" cy="19202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cog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Average of four 0–7 items.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Quantitative · continuous</a:t>
            </a:r>
          </a:p>
        </p:txBody>
      </p:sp>
      <p:sp>
        <p:nvSpPr>
          <p:cNvPr id="1052" name="card-rail" descr=""/>
          <p:cNvSpPr/>
          <p:nvPr/>
        </p:nvSpPr>
        <p:spPr>
          <a:xfrm>
            <a:off x="7857744" y="2633472"/>
            <a:ext cx="54864" cy="19202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Partner Activity: Find a partner and work on Part 2: In-Class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34 Part A: write conceptual definitions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the workbook example</a:t>
            </a:r>
          </a:p>
          <a:p>
            <a:pPr lvl="0" indent="0" marL="0">
              <a:buNone/>
            </a:pPr>
            <a:r>
              <a:rPr b="1"/>
              <a:t>Binge-watching:</a:t>
            </a:r>
            <a:r>
              <a:rPr/>
              <a:t> watching multiple episodes in one sitting, often at the expense of other activities or responsibilities.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Define these constructs</a:t>
            </a:r>
          </a:p>
          <a:p>
            <a:pPr lvl="0"/>
            <a:r>
              <a:rPr/>
              <a:t>Physical attractiveness</a:t>
            </a:r>
          </a:p>
          <a:p>
            <a:pPr lvl="0"/>
            <a:r>
              <a:rPr/>
              <a:t>Social media addiction</a:t>
            </a:r>
          </a:p>
          <a:p>
            <a:pPr lvl="0"/>
            <a:r>
              <a:rPr/>
              <a:t>Risky behavior</a:t>
            </a:r>
          </a:p>
          <a:p>
            <a:pPr lvl="0"/>
            <a:r>
              <a:rPr/>
              <a:t>Emotional intelligence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35 Part B: write two operational definitions</a:t>
            </a:r>
          </a:p>
        </p:txBody>
      </p:sp>
      <p:sp>
        <p:nvSpPr>
          <p:cNvPr id="1053" name="card-red" descr="card: Self-report. Specify the question or scale, response options, and time frame."/>
          <p:cNvSpPr/>
          <p:nvPr/>
        </p:nvSpPr>
        <p:spPr>
          <a:xfrm>
            <a:off x="1097280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Self-report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Specify the question or scale, response options, and time frame.</a:t>
            </a:r>
          </a:p>
        </p:txBody>
      </p:sp>
      <p:sp>
        <p:nvSpPr>
          <p:cNvPr id="1054" name="card-rail" descr=""/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55" name="card-steel" descr="card: Observational or behavioral. Specify the visible behavior or device and the rule for recording it."/>
          <p:cNvSpPr/>
          <p:nvPr/>
        </p:nvSpPr>
        <p:spPr>
          <a:xfrm>
            <a:off x="6167628" y="2633472"/>
            <a:ext cx="4924044" cy="19507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Observational or behavioral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Specify the visible behavior or device and the rule for recording it.</a:t>
            </a:r>
          </a:p>
        </p:txBody>
      </p:sp>
      <p:sp>
        <p:nvSpPr>
          <p:cNvPr id="1056" name="card-rail" descr=""/>
          <p:cNvSpPr/>
          <p:nvPr/>
        </p:nvSpPr>
        <p:spPr>
          <a:xfrm>
            <a:off x="6167628" y="2633472"/>
            <a:ext cx="54864" cy="195072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57" name="prose" descr=""/>
          <p:cNvSpPr/>
          <p:nvPr/>
        </p:nvSpPr>
        <p:spPr>
          <a:xfrm>
            <a:off x="1097280" y="4730496"/>
            <a:ext cx="9994392" cy="3048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Practice constructs</a:t>
            </a:r>
          </a:p>
        </p:txBody>
      </p:sp>
      <p:sp>
        <p:nvSpPr>
          <p:cNvPr id="1058" name="prose" descr=""/>
          <p:cNvSpPr/>
          <p:nvPr/>
        </p:nvSpPr>
        <p:spPr>
          <a:xfrm>
            <a:off x="1097280" y="5181600"/>
            <a:ext cx="9994392" cy="6096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Fear during a scary movie · color discrimination · relationship status · willingness to take risks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36 Part C: dissect each research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Identify the </a:t>
            </a:r>
            <a:r>
              <a:rPr b="1"/>
              <a:t>target population</a:t>
            </a:r>
            <a:r>
              <a:rPr/>
              <a:t>.</a:t>
            </a:r>
          </a:p>
          <a:p>
            <a:pPr lvl="0" indent="-457200" marL="457200">
              <a:buAutoNum type="arabicPeriod"/>
            </a:pPr>
            <a:r>
              <a:rPr/>
              <a:t>Name the grouping or independent variable and the dependent variable.</a:t>
            </a:r>
          </a:p>
          <a:p>
            <a:pPr lvl="0" indent="-457200" marL="457200">
              <a:buAutoNum type="arabicPeriod"/>
            </a:pPr>
            <a:r>
              <a:rPr/>
              <a:t>Write an operational definition for each variable.</a:t>
            </a:r>
          </a:p>
          <a:p>
            <a:pPr lvl="0" indent="-457200" marL="457200">
              <a:buAutoNum type="arabicPeriod"/>
            </a:pPr>
            <a:r>
              <a:rPr/>
              <a:t>Classify each variable as qualitative or quantitative.</a:t>
            </a:r>
          </a:p>
          <a:p>
            <a:pPr lvl="0" indent="-457200" marL="457200">
              <a:buAutoNum type="arabicPeriod"/>
            </a:pPr>
            <a:r>
              <a:rPr/>
              <a:t>If quantitative, classify its recorded values as discrete or continuous.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37 45-minute practice activity</a:t>
            </a:r>
          </a:p>
        </p:txBody>
      </p:sp>
      <p:sp>
        <p:nvSpPr>
          <p:cNvPr id="1059" name="box-red-box" descr="box: . 45 minutes Work through Part 2 with your partner. Record one complete response before moving to the next prompt."/>
          <p:cNvSpPr/>
          <p:nvPr/>
        </p:nvSpPr>
        <p:spPr>
          <a:xfrm>
            <a:off x="1097280" y="2633472"/>
            <a:ext cx="9994392" cy="1280160"/>
          </a:xfrm>
          <a:prstGeom prst="roundRect">
            <a:avLst>
              <a:gd name="adj" fmla="val 6000"/>
            </a:avLst>
          </a:prstGeom>
          <a:solidFill>
            <a:srgbClr val="F5F1E7"/>
          </a:solidFill>
          <a:ln w="19050">
            <a:solidFill>
              <a:srgbClr val="D00000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45 minutes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Work through Part 2 with your partner. Record one complete response before moving to the next prompt.</a:t>
            </a:r>
          </a:p>
        </p:txBody>
      </p:sp>
      <p:sp>
        <p:nvSpPr>
          <p:cNvPr id="1060" name="box-rail" descr=""/>
          <p:cNvSpPr/>
          <p:nvPr/>
        </p:nvSpPr>
        <p:spPr>
          <a:xfrm>
            <a:off x="1097280" y="2633472"/>
            <a:ext cx="54864" cy="128016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38 Discussion Time</a:t>
            </a:r>
          </a:p>
        </p:txBody>
      </p:sp>
      <p:sp>
        <p:nvSpPr>
          <p:cNvPr id="1061" name="card-red" descr="card: Compare. Where did groups choose different operational definitions for the same construct?"/>
          <p:cNvSpPr/>
          <p:nvPr/>
        </p:nvSpPr>
        <p:spPr>
          <a:xfrm>
            <a:off x="1097280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Compare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Where did groups choose different operational definitions for the same construct?</a:t>
            </a:r>
          </a:p>
        </p:txBody>
      </p:sp>
      <p:sp>
        <p:nvSpPr>
          <p:cNvPr id="1062" name="card-rail" descr=""/>
          <p:cNvSpPr/>
          <p:nvPr/>
        </p:nvSpPr>
        <p:spPr>
          <a:xfrm>
            <a:off x="1097280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63" name="card-steel" descr="card: Evaluate. How would those choices change interpretation or generalizability?"/>
          <p:cNvSpPr/>
          <p:nvPr/>
        </p:nvSpPr>
        <p:spPr>
          <a:xfrm>
            <a:off x="6167628" y="2633472"/>
            <a:ext cx="4924044" cy="16154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Evaluate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How would those choices change interpretation or generalizability?</a:t>
            </a:r>
          </a:p>
        </p:txBody>
      </p:sp>
      <p:sp>
        <p:nvSpPr>
          <p:cNvPr id="1064" name="card-rail" descr=""/>
          <p:cNvSpPr/>
          <p:nvPr/>
        </p:nvSpPr>
        <p:spPr>
          <a:xfrm>
            <a:off x="6167628" y="2633472"/>
            <a:ext cx="54864" cy="16154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39 Take-Home Assignment</a:t>
            </a:r>
          </a:p>
        </p:txBody>
      </p:sp>
      <p:sp>
        <p:nvSpPr>
          <p:cNvPr id="1065" name="prose" descr=""/>
          <p:cNvSpPr/>
          <p:nvPr/>
        </p:nvSpPr>
        <p:spPr>
          <a:xfrm>
            <a:off x="1097280" y="2633472"/>
            <a:ext cx="9994392" cy="3048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Developing empirically testable research hypotheses</a:t>
            </a:r>
          </a:p>
        </p:txBody>
      </p:sp>
      <p:sp>
        <p:nvSpPr>
          <p:cNvPr id="1066" name="prose" descr=""/>
          <p:cNvSpPr/>
          <p:nvPr/>
        </p:nvSpPr>
        <p:spPr>
          <a:xfrm>
            <a:off x="1097280" y="3084576"/>
            <a:ext cx="9994392" cy="6096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Build two testable hypotheses from the current news headlines in Part 3.</a:t>
            </a:r>
          </a:p>
        </p:txBody>
      </p:sp>
      <p:sp>
        <p:nvSpPr>
          <p:cNvPr id="1067" name="card-red" descr="card: 1 · Question + concepts. State a research question, then define what must be measured."/>
          <p:cNvSpPr/>
          <p:nvPr/>
        </p:nvSpPr>
        <p:spPr>
          <a:xfrm>
            <a:off x="1097280" y="3840480"/>
            <a:ext cx="3233928" cy="22555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D00000"/>
                </a:solidFill>
              </a:rPr>
              <a:t>1 · Question + concepts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State a research question, then define what must be measured.</a:t>
            </a:r>
          </a:p>
        </p:txBody>
      </p:sp>
      <p:sp>
        <p:nvSpPr>
          <p:cNvPr id="1068" name="card-rail" descr=""/>
          <p:cNvSpPr/>
          <p:nvPr/>
        </p:nvSpPr>
        <p:spPr>
          <a:xfrm>
            <a:off x="1097280" y="3840480"/>
            <a:ext cx="54864" cy="225552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69" name="card-steel" descr="card: 2 · Variables + types. Operationalize both variables and classify their recorded values."/>
          <p:cNvSpPr/>
          <p:nvPr/>
        </p:nvSpPr>
        <p:spPr>
          <a:xfrm>
            <a:off x="4477512" y="3840480"/>
            <a:ext cx="3233928" cy="22555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2 · Variables + types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Operationalize both variables and classify their recorded values.</a:t>
            </a:r>
          </a:p>
        </p:txBody>
      </p:sp>
      <p:sp>
        <p:nvSpPr>
          <p:cNvPr id="1070" name="card-rail" descr=""/>
          <p:cNvSpPr/>
          <p:nvPr/>
        </p:nvSpPr>
        <p:spPr>
          <a:xfrm>
            <a:off x="4477512" y="3840480"/>
            <a:ext cx="54864" cy="225552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71" name="card-steel" descr="card: 3 · Population + hypothesis. Identify the target population and predict the relationship."/>
          <p:cNvSpPr/>
          <p:nvPr/>
        </p:nvSpPr>
        <p:spPr>
          <a:xfrm>
            <a:off x="7857744" y="3840480"/>
            <a:ext cx="3233928" cy="22555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3 · Population + hypothesis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</a:rPr>
              <a:t>Identify the target population and predict the relationship.</a:t>
            </a:r>
          </a:p>
        </p:txBody>
      </p:sp>
      <p:sp>
        <p:nvSpPr>
          <p:cNvPr id="1072" name="card-rail" descr=""/>
          <p:cNvSpPr/>
          <p:nvPr/>
        </p:nvSpPr>
        <p:spPr>
          <a:xfrm>
            <a:off x="7857744" y="3840480"/>
            <a:ext cx="54864" cy="225552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theme/theme1.xml><?xml version="1.0" encoding="utf-8"?>
<a:theme xmlns:a="http://schemas.openxmlformats.org/drawingml/2006/main" name="Parcel">
  <a:themeElements>
    <a:clrScheme name="Custom 3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B65B00"/>
      </a:accent1>
      <a:accent2>
        <a:srgbClr val="5E5E5E"/>
      </a:accent2>
      <a:accent3>
        <a:srgbClr val="005392"/>
      </a:accent3>
      <a:accent4>
        <a:srgbClr val="FEFB00"/>
      </a:accent4>
      <a:accent5>
        <a:srgbClr val="87795D"/>
      </a:accent5>
      <a:accent6>
        <a:srgbClr val="A0988C"/>
      </a:accent6>
      <a:hlink>
        <a:srgbClr val="005392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Parcel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Operationalization &amp; Variables</dc:title>
  <dc:creator>PSYC 350 Laboratory</dc:creator>
  <cp:keywords/>
  <dcterms:created xsi:type="dcterms:W3CDTF">2026-09-02T01:10:59Z</dcterms:created>
  <dcterms:modified xsi:type="dcterms:W3CDTF">2026-09-02T01:10:59Z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ffiliations">
    <vt:lpwstr/>
  </property>
  <property fmtid="{D5CDD505-2E9C-101B-9397-08002B2CF9AE}" pid="4" name="authors">
    <vt:lpwstr/>
  </property>
  <property fmtid="{D5CDD505-2E9C-101B-9397-08002B2CF9AE}" pid="5" name="back-to-top-navigation">
    <vt:lpwstr>True</vt:lpwstr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ack-link">
    <vt:lpwstr>False</vt:lpwstr>
  </property>
  <property fmtid="{D5CDD505-2E9C-101B-9397-08002B2CF9AE}" pid="13" name="include-before">
    <vt:lpwstr/>
  </property>
  <property fmtid="{D5CDD505-2E9C-101B-9397-08002B2CF9AE}" pid="14" name="institute">
    <vt:lpwstr>University of Nebraska–Lincoln</vt:lpwstr>
  </property>
  <property fmtid="{D5CDD505-2E9C-101B-9397-08002B2CF9AE}" pid="15" name="institutes">
    <vt:lpwstr/>
  </property>
  <property fmtid="{D5CDD505-2E9C-101B-9397-08002B2CF9AE}" pid="16" name="labels">
    <vt:lpwstr/>
  </property>
  <property fmtid="{D5CDD505-2E9C-101B-9397-08002B2CF9AE}" pid="17" name="nebraska-pptx">
    <vt:lpwstr/>
  </property>
  <property fmtid="{D5CDD505-2E9C-101B-9397-08002B2CF9AE}" pid="18" name="revealjs-plugins">
    <vt:lpwstr/>
  </property>
  <property fmtid="{D5CDD505-2E9C-101B-9397-08002B2CF9AE}" pid="19" name="subtitle">
    <vt:lpwstr>Lab 02</vt:lpwstr>
  </property>
  <property fmtid="{D5CDD505-2E9C-101B-9397-08002B2CF9AE}" pid="20" name="toc-title">
    <vt:lpwstr>Table of contents</vt:lpwstr>
  </property>
</Properties>
</file>