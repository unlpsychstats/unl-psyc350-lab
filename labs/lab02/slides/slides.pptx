
<file path=[Content_Types].xml><?xml version="1.0" encoding="utf-8"?>
<Types xmlns="http://schemas.openxmlformats.org/package/2006/content-types">
  <Default Extension="xml" ContentType="application/xml"/>
  <Default Extension="rels" ContentType="application/vnd.openxmlformats-package.relationships+xml"/>
  <Default Extension="jpg" ContentType="image/jpeg"/>
  <Default Extension="svg" ContentType="image/svg+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8.xml" ContentType="application/vnd.openxmlformats-officedocument.presentationml.slideLayout+xml"/>
  <Override PartName="/ppt/slideLayouts/slideLayout3.xml" ContentType="application/vnd.openxmlformats-officedocument.presentationml.slideLayout+xml"/>
  <Override PartName="/ppt/slideLayouts/slideLayout7.xml" ContentType="application/vnd.openxmlformats-officedocument.presentationml.slideLayout+xml"/>
  <Override PartName="/ppt/slideLayouts/slideLayout2.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4.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Types>
</file>

<file path=ppt/presentation.xml><?xml version="1.0" encoding="utf-8"?>
<p:presentation xmlns:a="http://schemas.openxmlformats.org/drawingml/2006/main" xmlns:p="http://schemas.openxmlformats.org/presentationml/2006/main" xmlns:r="http://schemas.openxmlformats.org/officeDocument/2006/relationships" autoCompressPictures="0">
  <p:sldMasterIdLst>
    <p:sldMasterId id="2147483696" r:id="rId1"/>
  </p:sldMasterIdLst>
  <p:notesMasterIdLst>
    <p:notesMasterId r:id="rId9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Lst>
  <p:sldSz cx="12192000" cy="6858000"/>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sz="17524"/>
    <p:restoredTop sz="94694"/>
  </p:normalViewPr>
  <p:slideViewPr>
    <p:cSldViewPr snapToGrid="0">
      <p:cViewPr varScale="1">
        <p:scale>
          <a:sx d="100" n="119"/>
          <a:sy d="100" n="119"/>
        </p:scale>
        <p:origin x="232" y="232"/>
      </p:cViewPr>
      <p:guideLst/>
    </p:cSldViewPr>
  </p:slideViewPr>
  <p:notesTextViewPr>
    <p:cViewPr>
      <p:scale>
        <a:sx d="1" n="1"/>
        <a:sy d="1" n="1"/>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0" Type="http://schemas.openxmlformats.org/officeDocument/2006/relationships/slide" Target="slides/slide59.xml" /><Relationship Id="rId61" Type="http://schemas.openxmlformats.org/officeDocument/2006/relationships/slide" Target="slides/slide60.xml" /><Relationship Id="rId62" Type="http://schemas.openxmlformats.org/officeDocument/2006/relationships/slide" Target="slides/slide61.xml" /><Relationship Id="rId63" Type="http://schemas.openxmlformats.org/officeDocument/2006/relationships/slide" Target="slides/slide62.xml" /><Relationship Id="rId64" Type="http://schemas.openxmlformats.org/officeDocument/2006/relationships/slide" Target="slides/slide63.xml" /><Relationship Id="rId65" Type="http://schemas.openxmlformats.org/officeDocument/2006/relationships/slide" Target="slides/slide64.xml" /><Relationship Id="rId66" Type="http://schemas.openxmlformats.org/officeDocument/2006/relationships/slide" Target="slides/slide65.xml" /><Relationship Id="rId67" Type="http://schemas.openxmlformats.org/officeDocument/2006/relationships/slide" Target="slides/slide66.xml" /><Relationship Id="rId68" Type="http://schemas.openxmlformats.org/officeDocument/2006/relationships/slide" Target="slides/slide67.xml" /><Relationship Id="rId69" Type="http://schemas.openxmlformats.org/officeDocument/2006/relationships/slide" Target="slides/slide68.xml" /><Relationship Id="rId70" Type="http://schemas.openxmlformats.org/officeDocument/2006/relationships/slide" Target="slides/slide69.xml" /><Relationship Id="rId71" Type="http://schemas.openxmlformats.org/officeDocument/2006/relationships/slide" Target="slides/slide70.xml" /><Relationship Id="rId72" Type="http://schemas.openxmlformats.org/officeDocument/2006/relationships/slide" Target="slides/slide71.xml" /><Relationship Id="rId73" Type="http://schemas.openxmlformats.org/officeDocument/2006/relationships/slide" Target="slides/slide72.xml" /><Relationship Id="rId74" Type="http://schemas.openxmlformats.org/officeDocument/2006/relationships/slide" Target="slides/slide73.xml" /><Relationship Id="rId75" Type="http://schemas.openxmlformats.org/officeDocument/2006/relationships/slide" Target="slides/slide74.xml" /><Relationship Id="rId76" Type="http://schemas.openxmlformats.org/officeDocument/2006/relationships/slide" Target="slides/slide75.xml" /><Relationship Id="rId77" Type="http://schemas.openxmlformats.org/officeDocument/2006/relationships/slide" Target="slides/slide76.xml" /><Relationship Id="rId78" Type="http://schemas.openxmlformats.org/officeDocument/2006/relationships/slide" Target="slides/slide77.xml" /><Relationship Id="rId79" Type="http://schemas.openxmlformats.org/officeDocument/2006/relationships/slide" Target="slides/slide78.xml" /><Relationship Id="rId80" Type="http://schemas.openxmlformats.org/officeDocument/2006/relationships/slide" Target="slides/slide79.xml" /><Relationship Id="rId81" Type="http://schemas.openxmlformats.org/officeDocument/2006/relationships/slide" Target="slides/slide80.xml" /><Relationship Id="rId82" Type="http://schemas.openxmlformats.org/officeDocument/2006/relationships/slide" Target="slides/slide81.xml" /><Relationship Id="rId83" Type="http://schemas.openxmlformats.org/officeDocument/2006/relationships/slide" Target="slides/slide82.xml" /><Relationship Id="rId84" Type="http://schemas.openxmlformats.org/officeDocument/2006/relationships/slide" Target="slides/slide83.xml" /><Relationship Id="rId85" Type="http://schemas.openxmlformats.org/officeDocument/2006/relationships/slide" Target="slides/slide84.xml" /><Relationship Id="rId86" Type="http://schemas.openxmlformats.org/officeDocument/2006/relationships/slide" Target="slides/slide85.xml" /><Relationship Id="rId87" Type="http://schemas.openxmlformats.org/officeDocument/2006/relationships/slide" Target="slides/slide86.xml" /><Relationship Id="rId88" Type="http://schemas.openxmlformats.org/officeDocument/2006/relationships/slide" Target="slides/slide87.xml" /><Relationship Id="rId89" Type="http://schemas.openxmlformats.org/officeDocument/2006/relationships/slide" Target="slides/slide88.xml" /><Relationship Id="rId90" Type="http://schemas.openxmlformats.org/officeDocument/2006/relationships/slide" Target="slides/slide89.xml" /><Relationship Id="rId91" Type="http://schemas.openxmlformats.org/officeDocument/2006/relationships/slide" Target="slides/slide90.xml" /><Relationship Id="rId92" Type="http://schemas.openxmlformats.org/officeDocument/2006/relationships/notesMaster" Target="notesMasters/notesMaster1.xml" /><Relationship Id="rId1" Type="http://schemas.openxmlformats.org/officeDocument/2006/relationships/slideMaster" Target="slideMasters/slideMaster1.xml" /><Relationship Id="rId93" Type="http://schemas.openxmlformats.org/officeDocument/2006/relationships/presProps" Target="presProps.xml" /><Relationship Id="rId94" Type="http://schemas.openxmlformats.org/officeDocument/2006/relationships/viewProps" Target="viewProps.xml" /><Relationship Id="rId95" Type="http://schemas.openxmlformats.org/officeDocument/2006/relationships/theme" Target="theme/theme1.xml" /><Relationship Id="rId96" Type="http://schemas.openxmlformats.org/officeDocument/2006/relationships/tableStyles" Target="tableStyle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9.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Research ideas can come from a variety of sources, including informal observations, practical problems, and previous research.</a:t>
            </a:r>
          </a:p>
          <a:p>
            <a:pPr lvl="0" indent="0" marL="0">
              <a:buNone/>
            </a:pPr>
          </a:p>
          <a:p>
            <a:pPr lvl="0" indent="0" marL="0">
              <a:buNone/>
            </a:pPr>
            <a:r>
              <a:rPr/>
              <a:t>Once you have a research idea, you need to use it to generate one or more empirically testable research questions, that is, questions expressed in terms of a single variable or relationship between variables.</a:t>
            </a:r>
          </a:p>
          <a:p>
            <a:pPr lvl="0" indent="0" marL="0">
              <a:buNone/>
            </a:pPr>
          </a:p>
          <a:p>
            <a:pPr lvl="0" indent="0" marL="0">
              <a:buNone/>
            </a:pPr>
            <a:r>
              <a:rPr/>
              <a:t>But this part of the process is more complicated and difficult than it might initially seem, especially with multidimensional or abstract psychological concepts.</a:t>
            </a:r>
          </a:p>
          <a:p>
            <a:pPr lvl="0" indent="0" marL="0">
              <a:buNone/>
            </a:pPr>
          </a:p>
          <a:p>
            <a:pPr lvl="0" indent="0" marL="0">
              <a:buNone/>
            </a:pPr>
            <a:r>
              <a:rPr/>
              <a:t>But to get a better sense of what this process looks like, lets start with a very simple and unscientific question we might want to answer:</a:t>
            </a:r>
          </a:p>
          <a:p>
            <a:pPr lvl="0" indent="0" marL="0">
              <a:buNone/>
            </a:pPr>
          </a:p>
          <a:p>
            <a:pPr lvl="0" indent="0" marL="0">
              <a:buNone/>
            </a:pPr>
            <a:r>
              <a:rPr/>
              <a:t>How big is Superman? [next slide]</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Does anyone know the answer? (some might try to answer)</a:t>
            </a:r>
          </a:p>
          <a:p>
            <a:pPr lvl="0" indent="0" marL="0">
              <a:buNone/>
            </a:pPr>
          </a:p>
          <a:p>
            <a:pPr lvl="0" indent="0" marL="0">
              <a:buNone/>
            </a:pPr>
            <a:r>
              <a:rPr/>
              <a:t>There are lots of potential answers to this question! But the accuracy of any of those answers will necessarily depend on what exactly we mean by both “big” and “superman”</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What is Discrete Data? Discrete variables can only assume specific values that you cannot subdivide. Typically, you count them, and the results are integers. For example, if you work at an animal shelter, you’ll count the number of cats.</a:t>
            </a:r>
          </a:p>
          <a:p>
            <a:pPr lvl="0" indent="0" marL="0">
              <a:buNone/>
            </a:pPr>
          </a:p>
          <a:p>
            <a:pPr lvl="0" indent="0" marL="0">
              <a:buNone/>
            </a:pPr>
            <a:r>
              <a:rPr/>
              <a:t>Discrete data can only take on specific values. For example, you might count 20 cats at the animal shelter. These variables cannot have fractional or decimal values. You can have 20 or 21 cats, but not 20.5! Natural numbers have discrete values.</a:t>
            </a:r>
          </a:p>
          <a:p>
            <a:pPr lvl="0" indent="0" marL="0">
              <a:buNone/>
            </a:pPr>
          </a:p>
          <a:p>
            <a:pPr lvl="0" indent="0" marL="0">
              <a:buNone/>
            </a:pPr>
            <a:r>
              <a:rPr/>
              <a:t>Examples of discrete data include The number of books you check out from the library. The number of heads in a sequence of coin tosses. The result of rolling a die. The number of patients in a hospital. The population of a country.</a:t>
            </a:r>
          </a:p>
          <a:p>
            <a:pPr lvl="0" indent="0" marL="0">
              <a:buNone/>
            </a:pPr>
          </a:p>
          <a:p>
            <a:pPr lvl="0" indent="0" marL="0">
              <a:buNone/>
            </a:pPr>
            <a:r>
              <a:rPr/>
              <a:t>What is Continuous Data? Continuous variables can assume any numeric value and can be meaningfully split into smaller parts. Consequently, they have valid fractional and decimal values. In fact, continuous data have an infinite number of potential values between any two points. Generally, you measure them using a scale.</a:t>
            </a:r>
          </a:p>
          <a:p>
            <a:pPr lvl="0" indent="0" marL="0">
              <a:buNone/>
            </a:pPr>
          </a:p>
          <a:p>
            <a:pPr lvl="0" indent="0" marL="0">
              <a:buNone/>
            </a:pPr>
            <a:r>
              <a:rPr/>
              <a:t>When you see decimal places for individual values, you’re looking at a continuous variable.</a:t>
            </a:r>
          </a:p>
        </p:txBody>
      </p:sp>
      <p:sp>
        <p:nvSpPr>
          <p:cNvPr id="4" name="Slide Number Placeholder 3"/>
          <p:cNvSpPr>
            <a:spLocks noGrp="1"/>
          </p:cNvSpPr>
          <p:nvPr>
            <p:ph type="sldNum" sz="quarter" idx="10"/>
          </p:nvPr>
        </p:nvSpPr>
        <p:spPr/>
        <p:txBody>
          <a:bodyPr/>
          <a:lstStyle/>
          <a:p>
            <a:fld id="{18BDFEC3-8487-43E8-A154-7C12CBC1FFF2}" type="slidenum">
              <a:rPr lang="en-US"/>
              <a:t>49</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097280" y="2386744"/>
            <a:ext cx="999744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1097280" y="4352544"/>
            <a:ext cx="9997440"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1160EA64-D806-43AC-9DF2-F8C432F32B4C}" type="datetimeFigureOut">
              <a:rPr lang="en-US" dirty="0"/>
              <a:t>1/22/26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r>
              <a:rPr lang="en-US"/>
              <a:t>Click to edit Master title style</a:t>
            </a:r>
            <a:endParaRPr lang="en-US" dirty="0"/>
          </a:p>
        </p:txBody>
      </p:sp>
      <p:sp>
        <p:nvSpPr>
          <p:cNvPr id="3" name="Content Placeholder 2"/>
          <p:cNvSpPr>
            <a:spLocks noGrp="1"/>
          </p:cNvSpPr>
          <p:nvPr>
            <p:ph idx="1"/>
          </p:nvPr>
        </p:nvSpPr>
        <p:spPr>
          <a:xfrm>
            <a:off x="1097280" y="2638044"/>
            <a:ext cx="9997440" cy="31019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070A7B3-6521-4DCA-87E5-044747A908C1}" type="datetimeFigureOut">
              <a:rPr lang="en-US" dirty="0"/>
              <a:t>1/22/26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097280" y="2386744"/>
            <a:ext cx="999744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352465"/>
            <a:ext cx="9997440"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1160EA64-D806-43AC-9DF2-F8C432F32B4C}" type="datetimeFigureOut">
              <a:rPr lang="en-US" dirty="0"/>
              <a:t>1/22/26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638044"/>
            <a:ext cx="4907280"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7440" y="2638044"/>
            <a:ext cx="4907280"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AB134690-1557-4C89-A502-4959FE7FAD70}" type="datetimeFigureOut">
              <a:rPr lang="en-US" dirty="0"/>
              <a:t>1/22/26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4F7D4976-E339-4826-83B7-FBD03F55ECF8}" type="datetimeFigureOut">
              <a:rPr lang="en-US" dirty="0"/>
              <a:t>1/22/26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1037C31-9E7A-4F99-8774-A0E530DE1A42}" type="datetimeFigureOut">
              <a:rPr lang="en-US" dirty="0"/>
              <a:t>1/22/26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dirty="0"/>
              <a:t>1/22/26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D1BE4249-C0D0-4B06-8692-E8BB871AF643}" type="datetimeFigureOut">
              <a:rPr lang="en-US" dirty="0"/>
              <a:t>1/22/26</a:t>
            </a:fld>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1" name="Slide Number Placeholder 10"/>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42B0DB6-F5C7-45FB-8CF3-31B45F9C2DAC}" type="datetimeFigureOut">
              <a:rPr lang="en-US" dirty="0"/>
              <a:t>1/22/26</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F9C37B-1D36-470B-8223-D6C91242EC14}" type="datetimeFigureOut">
              <a:rPr lang="en-US" dirty="0"/>
              <a:t>1/22/26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C6F52A-A82B-47A2-A83A-8C4C91F2D59F}" type="datetimeFigureOut">
              <a:rPr lang="en-US" dirty="0"/>
              <a:t>1/22/26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Masters/_rels/slideMaster1.xml.rels><?xml version="1.0" encoding="UTF-8"?><Relationships xmlns="http://schemas.openxmlformats.org/package/2006/relationships"><Relationship Id="rId1" Target="../slideLayouts/slideLayout1.xml" Type="http://schemas.openxmlformats.org/officeDocument/2006/relationships/slideLayout" /><Relationship Id="rId2" Target="../slideLayouts/slideLayout2.xml" Type="http://schemas.openxmlformats.org/officeDocument/2006/relationships/slideLayout" /><Relationship Id="rId3" Target="../slideLayouts/slideLayout3.xml" Type="http://schemas.openxmlformats.org/officeDocument/2006/relationships/slideLayout" /><Relationship Id="rId4" Target="../slideLayouts/slideLayout4.xml" Type="http://schemas.openxmlformats.org/officeDocument/2006/relationships/slideLayout" /><Relationship Id="rId5" Target="../slideLayouts/slideLayout5.xml" Type="http://schemas.openxmlformats.org/officeDocument/2006/relationships/slideLayout" /><Relationship Id="rId6" Target="../slideLayouts/slideLayout6.xml" Type="http://schemas.openxmlformats.org/officeDocument/2006/relationships/slideLayout" /><Relationship Id="rId7" Target="../slideLayouts/slideLayout7.xml" Type="http://schemas.openxmlformats.org/officeDocument/2006/relationships/slideLayout" /><Relationship Id="rId8" Target="../slideLayouts/slideLayout8.xml" Type="http://schemas.openxmlformats.org/officeDocument/2006/relationships/slideLayout" /><Relationship Id="rId9" Target="../slideLayouts/slideLayout9.xml" Type="http://schemas.openxmlformats.org/officeDocument/2006/relationships/slideLayout" /><Relationship Id="rId10" Target="../slideLayouts/slideLayout10.xml" Type="http://schemas.openxmlformats.org/officeDocument/2006/relationships/slideLayout" /><Relationship Id="rId11" Target="../slideLayouts/slideLayout11.xml" Type="http://schemas.openxmlformats.org/officeDocument/2006/relationships/slideLayout" /><Relationship Id="rId12" Target="../theme/theme1.xml" Type="http://schemas.openxmlformats.org/officeDocument/2006/relationships/theme"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cap="sq" w="31750">
            <a:solidFill>
              <a:srgbClr val="404040"/>
            </a:solidFill>
            <a:miter lim="800000"/>
          </a:ln>
        </p:spPr>
        <p:txBody>
          <a:bodyPr anchor="ctr" bIns="182880" lIns="182880" rIns="182880" rtlCol="0" tIns="182880" vert="horz">
            <a:normAutofit/>
          </a:bodyPr>
          <a:lstStyle/>
          <a:p>
            <a:r>
              <a:rPr lang="en-US"/>
              <a:t>Click to edit Master title style</a:t>
            </a:r>
            <a:endParaRPr dirty="0" lang="en-US"/>
          </a:p>
        </p:txBody>
      </p:sp>
      <p:sp>
        <p:nvSpPr>
          <p:cNvPr id="3" name="Text Placeholder 2"/>
          <p:cNvSpPr>
            <a:spLocks noGrp="1"/>
          </p:cNvSpPr>
          <p:nvPr>
            <p:ph idx="1" type="body"/>
          </p:nvPr>
        </p:nvSpPr>
        <p:spPr>
          <a:xfrm>
            <a:off x="2231136" y="2638044"/>
            <a:ext cx="7729728" cy="3101983"/>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4" name="Date Placeholder 3"/>
          <p:cNvSpPr>
            <a:spLocks noGrp="1"/>
          </p:cNvSpPr>
          <p:nvPr>
            <p:ph idx="2" sz="half" type="dt"/>
          </p:nvPr>
        </p:nvSpPr>
        <p:spPr>
          <a:xfrm>
            <a:off x="7821429" y="6238816"/>
            <a:ext cx="2753746" cy="323968"/>
          </a:xfrm>
          <a:prstGeom prst="rect">
            <a:avLst/>
          </a:prstGeom>
        </p:spPr>
        <p:txBody>
          <a:bodyPr anchor="ctr" bIns="45720" lIns="91440" rIns="91440" rtlCol="0" tIns="45720" vert="horz"/>
          <a:lstStyle>
            <a:lvl1pPr algn="r">
              <a:defRPr sz="1050">
                <a:solidFill>
                  <a:schemeClr val="tx1">
                    <a:alpha val="70000"/>
                  </a:schemeClr>
                </a:solidFill>
              </a:defRPr>
            </a:lvl1pPr>
          </a:lstStyle>
          <a:p>
            <a:fld id="{1160EA64-D806-43AC-9DF2-F8C432F32B4C}" type="datetimeFigureOut">
              <a:rPr dirty="0" lang="en-US"/>
              <a:t>1/22/26</a:t>
            </a:fld>
            <a:endParaRPr dirty="0" lang="en-US"/>
          </a:p>
        </p:txBody>
      </p:sp>
      <p:sp>
        <p:nvSpPr>
          <p:cNvPr id="5" name="Footer Placeholder 4"/>
          <p:cNvSpPr>
            <a:spLocks noGrp="1"/>
          </p:cNvSpPr>
          <p:nvPr>
            <p:ph idx="3" sz="quarter" type="ftr"/>
          </p:nvPr>
        </p:nvSpPr>
        <p:spPr>
          <a:xfrm>
            <a:off x="1600200" y="6236208"/>
            <a:ext cx="5901189" cy="320040"/>
          </a:xfrm>
          <a:prstGeom prst="rect">
            <a:avLst/>
          </a:prstGeom>
        </p:spPr>
        <p:txBody>
          <a:bodyPr anchor="ctr" bIns="45720" lIns="91440" rIns="91440" rtlCol="0" tIns="45720" vert="horz"/>
          <a:lstStyle>
            <a:lvl1pPr algn="l">
              <a:defRPr sz="1050">
                <a:solidFill>
                  <a:schemeClr val="tx1">
                    <a:alpha val="70000"/>
                  </a:schemeClr>
                </a:solidFill>
              </a:defRPr>
            </a:lvl1pPr>
          </a:lstStyle>
          <a:p>
            <a:endParaRPr dirty="0" lang="en-US"/>
          </a:p>
        </p:txBody>
      </p:sp>
      <p:sp>
        <p:nvSpPr>
          <p:cNvPr id="6" name="Slide Number Placeholder 5"/>
          <p:cNvSpPr>
            <a:spLocks noGrp="1"/>
          </p:cNvSpPr>
          <p:nvPr>
            <p:ph idx="4" sz="quarter" type="sldNum"/>
          </p:nvPr>
        </p:nvSpPr>
        <p:spPr>
          <a:xfrm>
            <a:off x="10758922" y="6217920"/>
            <a:ext cx="365760" cy="365760"/>
          </a:xfrm>
          <a:prstGeom prst="ellipse">
            <a:avLst/>
          </a:prstGeom>
          <a:solidFill>
            <a:srgbClr val="1D1D1D">
              <a:alpha val="70000"/>
            </a:srgbClr>
          </a:solidFill>
        </p:spPr>
        <p:txBody>
          <a:bodyPr anchor="ctr" bIns="45720" lIns="18288" rIns="18288" rtlCol="0" tIns="45720" vert="horz">
            <a:noAutofit/>
          </a:bodyPr>
          <a:lstStyle>
            <a:lvl1pPr algn="ctr">
              <a:defRPr baseline="0" spc="0" sz="1100">
                <a:solidFill>
                  <a:srgbClr val="FFFFFF"/>
                </a:solidFill>
              </a:defRPr>
            </a:lvl1pPr>
          </a:lstStyle>
          <a:p>
            <a:fld id="{8A7A6979-0714-4377-B894-6BE4C2D6E202}" type="slidenum">
              <a:rPr dirty="0" lang="en-US"/>
              <a:pPr/>
              <a:t>‹#›</a:t>
            </a:fld>
            <a:endParaRPr dirty="0" lang="en-US"/>
          </a:p>
        </p:txBody>
      </p:sp>
    </p:spTree>
  </p:cSld>
  <p:clrMap accent1="accent1" accent2="accent2" accent3="accent3" accent4="accent4" accent5="accent5" accent6="accent6" bg1="lt1" bg2="lt2" folHlink="folHlink" hlink="hlink" tx1="dk1" tx2="dk2"/>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dt="0" ftr="0" hdr="0" sldNum="0"/>
  <p:txStyles>
    <p:titleStyle>
      <a:lvl1pPr algn="ctr" defTabSz="914400" eaLnBrk="1" hangingPunct="1" latinLnBrk="0" rtl="0">
        <a:lnSpc>
          <a:spcPct val="90000"/>
        </a:lnSpc>
        <a:spcBef>
          <a:spcPct val="0"/>
        </a:spcBef>
        <a:buNone/>
        <a:defRPr baseline="0" cap="all" kern="1200" spc="200" sz="2800">
          <a:solidFill>
            <a:srgbClr val="262626"/>
          </a:solidFill>
          <a:latin typeface="+mj-lt"/>
          <a:ea typeface="+mj-ea"/>
          <a:cs typeface="+mj-cs"/>
        </a:defRPr>
      </a:lvl1pPr>
    </p:titleStyle>
    <p:bodyStyle>
      <a:lvl1pPr algn="l" defTabSz="914400" eaLnBrk="1" hangingPunct="1" indent="-228600" latinLnBrk="0" marL="228600" rtl="0">
        <a:lnSpc>
          <a:spcPct val="100000"/>
        </a:lnSpc>
        <a:spcBef>
          <a:spcPts val="1000"/>
        </a:spcBef>
        <a:buClr>
          <a:schemeClr val="accent2"/>
        </a:buClr>
        <a:buFont charset="0" panose="020B0604020202020204" pitchFamily="34" typeface="Arial"/>
        <a:buChar char="•"/>
        <a:defRPr kern="1200" sz="1800">
          <a:solidFill>
            <a:schemeClr val="tx1">
              <a:lumMod val="85000"/>
              <a:lumOff val="15000"/>
            </a:schemeClr>
          </a:solidFill>
          <a:latin typeface="+mn-lt"/>
          <a:ea typeface="+mn-ea"/>
          <a:cs typeface="+mn-cs"/>
        </a:defRPr>
      </a:lvl1pPr>
      <a:lvl2pPr algn="l" defTabSz="914400" eaLnBrk="1" hangingPunct="1" indent="-228600" latinLnBrk="0" marL="457200" rtl="0">
        <a:lnSpc>
          <a:spcPct val="100000"/>
        </a:lnSpc>
        <a:spcBef>
          <a:spcPts val="1000"/>
        </a:spcBef>
        <a:buClr>
          <a:schemeClr val="accent2"/>
        </a:buClr>
        <a:buFont charset="0" panose="020B0604020202020204" pitchFamily="34" typeface="Arial"/>
        <a:buChar char="•"/>
        <a:defRPr kern="1200" sz="1600">
          <a:solidFill>
            <a:schemeClr val="tx1">
              <a:lumMod val="85000"/>
              <a:lumOff val="15000"/>
            </a:schemeClr>
          </a:solidFill>
          <a:latin typeface="+mn-lt"/>
          <a:ea typeface="+mn-ea"/>
          <a:cs typeface="+mn-cs"/>
        </a:defRPr>
      </a:lvl2pPr>
      <a:lvl3pPr algn="l" defTabSz="914400" eaLnBrk="1" hangingPunct="1" indent="-228600" latinLnBrk="0" marL="685800" rtl="0">
        <a:lnSpc>
          <a:spcPct val="100000"/>
        </a:lnSpc>
        <a:spcBef>
          <a:spcPts val="1000"/>
        </a:spcBef>
        <a:buClr>
          <a:schemeClr val="accent2"/>
        </a:buClr>
        <a:buFont charset="0" panose="020B0604020202020204" pitchFamily="34" typeface="Arial"/>
        <a:buChar char="•"/>
        <a:defRPr kern="1200" sz="1600">
          <a:solidFill>
            <a:schemeClr val="tx1">
              <a:lumMod val="85000"/>
              <a:lumOff val="15000"/>
            </a:schemeClr>
          </a:solidFill>
          <a:latin typeface="+mn-lt"/>
          <a:ea typeface="+mn-ea"/>
          <a:cs typeface="+mn-cs"/>
        </a:defRPr>
      </a:lvl3pPr>
      <a:lvl4pPr algn="l" defTabSz="914400" eaLnBrk="1" hangingPunct="1" indent="-228600" latinLnBrk="0" marL="914400" rtl="0">
        <a:lnSpc>
          <a:spcPct val="100000"/>
        </a:lnSpc>
        <a:spcBef>
          <a:spcPts val="1000"/>
        </a:spcBef>
        <a:buClr>
          <a:schemeClr val="accent2"/>
        </a:buClr>
        <a:buFont charset="0" panose="020B0604020202020204" pitchFamily="34" typeface="Arial"/>
        <a:buChar char="•"/>
        <a:defRPr kern="1200" sz="1600">
          <a:solidFill>
            <a:schemeClr val="tx1">
              <a:lumMod val="85000"/>
              <a:lumOff val="15000"/>
            </a:schemeClr>
          </a:solidFill>
          <a:latin typeface="+mn-lt"/>
          <a:ea typeface="+mn-ea"/>
          <a:cs typeface="+mn-cs"/>
        </a:defRPr>
      </a:lvl4pPr>
      <a:lvl5pPr algn="l" defTabSz="914400" eaLnBrk="1" hangingPunct="1" indent="-228600" latinLnBrk="0" marL="1143000" rtl="0">
        <a:lnSpc>
          <a:spcPct val="100000"/>
        </a:lnSpc>
        <a:spcBef>
          <a:spcPts val="1000"/>
        </a:spcBef>
        <a:buClr>
          <a:schemeClr val="accent2"/>
        </a:buClr>
        <a:buFont charset="0" panose="020B0604020202020204" pitchFamily="34" typeface="Arial"/>
        <a:buChar char="•"/>
        <a:defRPr kern="1200" sz="1600">
          <a:solidFill>
            <a:schemeClr val="tx1">
              <a:lumMod val="85000"/>
              <a:lumOff val="15000"/>
            </a:schemeClr>
          </a:solidFill>
          <a:latin typeface="+mn-lt"/>
          <a:ea typeface="+mn-ea"/>
          <a:cs typeface="+mn-cs"/>
        </a:defRPr>
      </a:lvl5pPr>
      <a:lvl6pPr algn="l" defTabSz="914400" eaLnBrk="1" hangingPunct="1" indent="-228600" latinLnBrk="0" marL="1312863" rtl="0">
        <a:lnSpc>
          <a:spcPct val="100000"/>
        </a:lnSpc>
        <a:spcBef>
          <a:spcPts val="1000"/>
        </a:spcBef>
        <a:buClr>
          <a:schemeClr val="accent2"/>
        </a:buClr>
        <a:buFont charset="0" panose="020B0604020202020204" pitchFamily="34" typeface="Arial"/>
        <a:buChar char="•"/>
        <a:defRPr kern="1200" sz="1600">
          <a:solidFill>
            <a:schemeClr val="tx1"/>
          </a:solidFill>
          <a:latin typeface="+mn-lt"/>
          <a:ea typeface="+mn-ea"/>
          <a:cs typeface="+mn-cs"/>
        </a:defRPr>
      </a:lvl6pPr>
      <a:lvl7pPr algn="l" defTabSz="914400" eaLnBrk="1" hangingPunct="1" indent="-228600" latinLnBrk="0" marL="1484313" rtl="0">
        <a:lnSpc>
          <a:spcPct val="100000"/>
        </a:lnSpc>
        <a:spcBef>
          <a:spcPts val="1000"/>
        </a:spcBef>
        <a:buClr>
          <a:schemeClr val="accent2"/>
        </a:buClr>
        <a:buFont charset="0" panose="020B0604020202020204" pitchFamily="34" typeface="Arial"/>
        <a:buChar char="•"/>
        <a:defRPr kern="1200" sz="1600">
          <a:solidFill>
            <a:schemeClr val="tx1"/>
          </a:solidFill>
          <a:latin typeface="+mn-lt"/>
          <a:ea typeface="+mn-ea"/>
          <a:cs typeface="+mn-cs"/>
        </a:defRPr>
      </a:lvl7pPr>
      <a:lvl8pPr algn="l" defTabSz="914400" eaLnBrk="1" hangingPunct="1" indent="-228600" latinLnBrk="0" marL="1657350" rtl="0">
        <a:lnSpc>
          <a:spcPct val="100000"/>
        </a:lnSpc>
        <a:spcBef>
          <a:spcPts val="1000"/>
        </a:spcBef>
        <a:buClr>
          <a:schemeClr val="accent2"/>
        </a:buClr>
        <a:buFont charset="0" panose="020B0604020202020204" pitchFamily="34" typeface="Arial"/>
        <a:buChar char="•"/>
        <a:defRPr baseline="0" kern="1200" sz="1600">
          <a:solidFill>
            <a:schemeClr val="tx1"/>
          </a:solidFill>
          <a:latin typeface="+mn-lt"/>
          <a:ea typeface="+mn-ea"/>
          <a:cs typeface="+mn-cs"/>
        </a:defRPr>
      </a:lvl8pPr>
      <a:lvl9pPr algn="l" defTabSz="914400" eaLnBrk="1" hangingPunct="1" indent="-228600" latinLnBrk="0" marL="1882775" rtl="0">
        <a:lnSpc>
          <a:spcPct val="100000"/>
        </a:lnSpc>
        <a:spcBef>
          <a:spcPts val="1000"/>
        </a:spcBef>
        <a:buClr>
          <a:schemeClr val="accent2"/>
        </a:buClr>
        <a:buFont charset="0" panose="020B0604020202020204" pitchFamily="34" typeface="Arial"/>
        <a:buChar char="•"/>
        <a:defRPr baseline="0" kern="1200" sz="1600">
          <a:solidFill>
            <a:schemeClr val="tx1"/>
          </a:solidFill>
          <a:latin typeface="+mn-lt"/>
          <a:ea typeface="+mn-ea"/>
          <a:cs typeface="+mn-cs"/>
        </a:defRPr>
      </a:lvl9pPr>
    </p:bodyStyle>
    <p:otherStyle>
      <a:defPPr>
        <a:defRPr lang="en-US"/>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jpg"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jpg"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jpg"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4.jpg"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5.jpg"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6.jpg"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7.jpg"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8.jpg"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9.jpg"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0.jpg"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1.jpg"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2.jpg"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4.jpg"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3.jpg"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4.jpg"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5.jpg"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6.jpg"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7.jpg"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8.svg"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9.jpg"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0.jpg"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1.jpg"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2.jpg"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3.jpg" /></Relationships>
</file>

<file path=ppt/slides/_rels/slide36.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4.jpg"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5.png"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6.png"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7.png" /></Relationships>
</file>

<file path=ppt/slides/_rels/slide4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8.png"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50.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5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4.jpg" /></Relationships>
</file>

<file path=ppt/slides/_rels/slide5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9.jpg" /></Relationships>
</file>

<file path=ppt/slides/_rels/slide5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0.jpg" /></Relationships>
</file>

<file path=ppt/slides/_rels/slide5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1.jpg" /></Relationships>
</file>

<file path=ppt/slides/_rels/slide5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2.jpg" /></Relationships>
</file>

<file path=ppt/slides/_rels/slide5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3.jpg" /></Relationships>
</file>

<file path=ppt/slides/_rels/slide6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4.jpg" /></Relationships>
</file>

<file path=ppt/slides/_rels/slide6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5.jpg" /></Relationships>
</file>

<file path=ppt/slides/_rels/slide64.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6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6.xml.rels><?xml version="1.0" encoding="UTF-8"?><Relationships xmlns="http://schemas.openxmlformats.org/package/2006/relationships"><Relationship Id="rId1" Type="http://schemas.openxmlformats.org/officeDocument/2006/relationships/slideLayout" Target="../slideLayouts/slideLayout2.xml" /><Relationship Id="rId3" Type="http://schemas.openxmlformats.org/officeDocument/2006/relationships/hyperlink" Target="https://www.rottentomatoes.com/about" TargetMode="External" /><Relationship Id="rId2" Type="http://schemas.openxmlformats.org/officeDocument/2006/relationships/image" Target="../media/image36.jpg" /></Relationships>
</file>

<file path=ppt/slides/_rels/slide6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rottentomatoes.com/about" TargetMode="External" /></Relationships>
</file>

<file path=ppt/slides/_rels/slide6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7.jpg" /></Relationships>
</file>

<file path=ppt/slides/_rels/slide6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rottentomatoes.com/about" TargetMode="External" /></Relationships>
</file>

<file path=ppt/slides/_rels/slide7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8.jpg" /></Relationships>
</file>

<file path=ppt/slides/_rels/slide7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letterboxd.com/" TargetMode="External" /></Relationships>
</file>

<file path=ppt/slides/_rels/slide7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9.jpg" /></Relationships>
</file>

<file path=ppt/slides/_rels/slide7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letterboxd.com/" TargetMode="External" /></Relationships>
</file>

<file path=ppt/slides/_rels/slide7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40.jpg" /></Relationships>
</file>

<file path=ppt/slides/_rels/slide7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metacritic.com/about-us/" TargetMode="External" /></Relationships>
</file>

<file path=ppt/slides/_rels/slide7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41.jpg" /></Relationships>
</file>

<file path=ppt/slides/_rels/slide7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42.jpg" /></Relationships>
</file>

<file path=ppt/slides/_rels/slide7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43.svg" /></Relationships>
</file>

<file path=ppt/slides/_rels/slide8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44.jpg" /></Relationships>
</file>

<file path=ppt/slides/_rels/slide8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45.svg" /></Relationships>
</file>

<file path=ppt/slides/_rels/slide8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46.svg" /></Relationships>
</file>

<file path=ppt/slides/_rels/slide8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47.svg" /></Relationships>
</file>

<file path=ppt/slides/_rels/slide84.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8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8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0.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097280" y="2386744"/>
            <a:ext cx="9997440" cy="1645920"/>
          </a:xfrm>
          <a:solidFill>
            <a:srgbClr val="FFFFFF"/>
          </a:solidFill>
          <a:ln w="38100">
            <a:solidFill>
              <a:srgbClr val="404040"/>
            </a:solidFill>
          </a:ln>
        </p:spPr>
        <p:txBody>
          <a:bodyPr/>
          <a:lstStyle/>
          <a:p>
            <a:pPr lvl="0" indent="0" marL="0">
              <a:buNone/>
            </a:pPr>
            <a:r>
              <a:rPr/>
              <a:t>Operationalization &amp; Variables</a:t>
            </a:r>
          </a:p>
        </p:txBody>
      </p:sp>
      <p:sp>
        <p:nvSpPr>
          <p:cNvPr id="3" name="Subtitle 2"/>
          <p:cNvSpPr>
            <a:spLocks noGrp="1"/>
          </p:cNvSpPr>
          <p:nvPr>
            <p:ph idx="1" type="subTitle"/>
          </p:nvPr>
        </p:nvSpPr>
        <p:spPr>
          <a:xfrm>
            <a:off x="1097280" y="4352544"/>
            <a:ext cx="9997440" cy="1239894"/>
          </a:xfrm>
          <a:noFill/>
        </p:spPr>
        <p:txBody>
          <a:bodyPr/>
          <a:lstStyle/>
          <a:p>
            <a:pPr lvl="0" indent="0" marL="0">
              <a:buNone/>
            </a:pPr>
            <a:r>
              <a:rPr/>
              <a:t>Lab 02</a:t>
            </a:r>
            <a:br/>
            <a:br/>
            <a:r>
              <a:rPr/>
              <a:t>PSYCH 350-Lab</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Today’s Tasks</a:t>
            </a:r>
          </a:p>
        </p:txBody>
      </p:sp>
      <p:sp>
        <p:nvSpPr>
          <p:cNvPr id="1001" name="box-post-it" descr="box: . Lab 02: Operationalization &amp; MeasurementUnderstanding Conceptual &amp; Operational DefinitionsIdentifying &amp; defining variablesDescribing measurement types &amp; scalesPractice!!"/>
          <p:cNvSpPr/>
          <p:nvPr/>
        </p:nvSpPr>
        <p:spPr>
          <a:xfrm>
            <a:off x="1097280" y="2633472"/>
            <a:ext cx="9994392" cy="548640"/>
          </a:xfrm>
          <a:prstGeom prst="roundRect">
            <a:avLst>
              <a:gd name="adj" fmla="val 6000"/>
            </a:avLst>
          </a:prstGeom>
          <a:solidFill>
            <a:srgbClr val="FFF9C4"/>
          </a:solidFill>
          <a:ln w="19050">
            <a:solidFill>
              <a:srgbClr val="CCCCCC"/>
            </a:solidFill>
          </a:ln>
        </p:spPr>
        <p:txBody>
          <a:bodyPr lIns="91440" tIns="68580" rIns="91440" bIns="68580" anchor="t" wrap="square">
            <a:normAutofit/>
          </a:bodyPr>
          <a:lstStyle/>
          <a:p>
            <a:pPr algn="l"/>
            <a:r>
              <a:rPr lang="en-US" sz="1200" b="0" dirty="0">
                <a:solidFill>
                  <a:srgbClr val="010B13"/>
                </a:solidFill>
              </a:rPr>
              <a:t>Lab 02: Operationalization &amp; MeasurementUnderstanding Conceptual &amp; Operational DefinitionsIdentifying &amp; defining variablesDescribing measurement types &amp; scalesPractice!!</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What You Need Today</a:t>
            </a:r>
          </a:p>
        </p:txBody>
      </p:sp>
      <p:sp>
        <p:nvSpPr>
          <p:cNvPr id="3" name="Content Placeholder 2"/>
          <p:cNvSpPr>
            <a:spLocks noGrp="1"/>
          </p:cNvSpPr>
          <p:nvPr>
            <p:ph idx="1"/>
          </p:nvPr>
        </p:nvSpPr>
        <p:spPr/>
        <p:txBody>
          <a:bodyPr/>
          <a:lstStyle/>
          <a:p>
            <a:pPr lvl="0" indent="0" marL="0">
              <a:buNone/>
            </a:pPr>
            <a:r>
              <a:rPr/>
              <a:t>Everything for this week is linked on the next slides – and always on the lab page under </a:t>
            </a:r>
            <a:r>
              <a:rPr b="1"/>
              <a:t>Handouts &amp; References</a:t>
            </a:r>
            <a:r>
              <a:rPr/>
              <a:t>.</a:t>
            </a:r>
          </a:p>
          <a:p>
            <a:pPr lvl="0" indent="0" marL="0">
              <a:buNone/>
            </a:pPr>
            <a:r>
              <a:rPr/>
              <a:t>Open these </a:t>
            </a:r>
            <a:r>
              <a:rPr b="1"/>
              <a:t>before we start</a:t>
            </a:r>
            <a:r>
              <a:rPr/>
              <a:t> so you can follow along.</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Getting started with Variables</a:t>
            </a:r>
          </a:p>
        </p:txBody>
      </p:sp>
      <p:sp>
        <p:nvSpPr>
          <p:cNvPr id="1002" name="card-blue" descr="card: [arrow icon]. Identifying &amp; understanding variables [Web page]"/>
          <p:cNvSpPr/>
          <p:nvPr/>
        </p:nvSpPr>
        <p:spPr>
          <a:xfrm>
            <a:off x="1097280" y="2633472"/>
            <a:ext cx="3270504" cy="944880"/>
          </a:xfrm>
          <a:prstGeom prst="roundRect">
            <a:avLst>
              <a:gd name="adj" fmla="val 6000"/>
            </a:avLst>
          </a:prstGeom>
          <a:solidFill>
            <a:srgbClr val="FEFDFA"/>
          </a:solidFill>
          <a:ln w="19050">
            <a:solidFill>
              <a:srgbClr val="CCCCCC"/>
            </a:solidFill>
          </a:ln>
        </p:spPr>
        <p:txBody>
          <a:bodyPr lIns="91440" tIns="68580" rIns="91440" bIns="68580" anchor="t" wrap="square">
            <a:normAutofit/>
          </a:bodyPr>
          <a:lstStyle/>
          <a:p>
            <a:pPr algn="l"/>
            <a:r>
              <a:rPr lang="en-US" sz="1400" b="1" dirty="0">
                <a:solidFill>
                  <a:srgbClr val="005D84"/>
                </a:solidFill>
              </a:rPr>
              <a:t>[arrow icon]</a:t>
            </a:r>
          </a:p>
          <a:p>
            <a:pPr algn="l"/>
            <a:r>
              <a:rPr lang="en-US" sz="1200" b="0" dirty="0">
                <a:solidFill>
                  <a:srgbClr val="010B13"/>
                </a:solidFill>
              </a:rPr>
              <a:t>Identifying &amp; understanding variables</a:t>
            </a:r>
          </a:p>
          <a:p>
            <a:pPr algn="l"/>
            <a:r>
              <a:rPr lang="en-US" sz="1200" b="0" dirty="0">
                <a:solidFill>
                  <a:srgbClr val="010B13"/>
                </a:solidFill>
              </a:rPr>
              <a:t>[Web page]</a:t>
            </a:r>
          </a:p>
        </p:txBody>
      </p:sp>
      <p:sp>
        <p:nvSpPr>
          <p:cNvPr id="1003" name="card-rail" descr=""/>
          <p:cNvSpPr/>
          <p:nvPr/>
        </p:nvSpPr>
        <p:spPr>
          <a:xfrm>
            <a:off x="1097280" y="2633472"/>
            <a:ext cx="54864" cy="944880"/>
          </a:xfrm>
          <a:prstGeom prst="roundRect">
            <a:avLst>
              <a:gd name="adj" fmla="val 20000"/>
            </a:avLst>
          </a:prstGeom>
          <a:solidFill>
            <a:srgbClr val="005D84"/>
          </a:solidFill>
          <a:ln>
            <a:noFill/>
          </a:ln>
        </p:spPr>
        <p:txBody>
          <a:bodyPr lIns="91440" tIns="68580" rIns="91440" bIns="68580" anchor="t" wrap="square">
            <a:normAutofit/>
          </a:bodyPr>
          <a:lstStyle/>
          <a:p/>
        </p:txBody>
      </p:sp>
      <p:sp>
        <p:nvSpPr>
          <p:cNvPr id="1004" name="card-blue" descr="card: [book icon]. Identifying &amp; understanding variables"/>
          <p:cNvSpPr/>
          <p:nvPr/>
        </p:nvSpPr>
        <p:spPr>
          <a:xfrm>
            <a:off x="4459224" y="2633472"/>
            <a:ext cx="3270504" cy="762000"/>
          </a:xfrm>
          <a:prstGeom prst="roundRect">
            <a:avLst>
              <a:gd name="adj" fmla="val 6000"/>
            </a:avLst>
          </a:prstGeom>
          <a:solidFill>
            <a:srgbClr val="FEFDFA"/>
          </a:solidFill>
          <a:ln w="19050">
            <a:solidFill>
              <a:srgbClr val="CCCCCC"/>
            </a:solidFill>
          </a:ln>
        </p:spPr>
        <p:txBody>
          <a:bodyPr lIns="91440" tIns="68580" rIns="91440" bIns="68580" anchor="t" wrap="square">
            <a:normAutofit/>
          </a:bodyPr>
          <a:lstStyle/>
          <a:p>
            <a:pPr algn="l"/>
            <a:r>
              <a:rPr lang="en-US" sz="1400" b="1" dirty="0">
                <a:solidFill>
                  <a:srgbClr val="005D84"/>
                </a:solidFill>
              </a:rPr>
              <a:t>[book icon]</a:t>
            </a:r>
          </a:p>
          <a:p>
            <a:pPr algn="l"/>
            <a:r>
              <a:rPr lang="en-US" sz="1200" b="0" dirty="0">
                <a:solidFill>
                  <a:srgbClr val="010B13"/>
                </a:solidFill>
              </a:rPr>
              <a:t>Identifying &amp; understanding variables</a:t>
            </a:r>
          </a:p>
        </p:txBody>
      </p:sp>
      <p:sp>
        <p:nvSpPr>
          <p:cNvPr id="1005" name="card-rail" descr=""/>
          <p:cNvSpPr/>
          <p:nvPr/>
        </p:nvSpPr>
        <p:spPr>
          <a:xfrm>
            <a:off x="4459224" y="2633472"/>
            <a:ext cx="54864" cy="762000"/>
          </a:xfrm>
          <a:prstGeom prst="roundRect">
            <a:avLst>
              <a:gd name="adj" fmla="val 20000"/>
            </a:avLst>
          </a:prstGeom>
          <a:solidFill>
            <a:srgbClr val="005D84"/>
          </a:solidFill>
          <a:ln>
            <a:noFill/>
          </a:ln>
        </p:spPr>
        <p:txBody>
          <a:bodyPr lIns="91440" tIns="68580" rIns="91440" bIns="68580" anchor="t" wrap="square">
            <a:normAutofit/>
          </a:bodyPr>
          <a:lstStyle/>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Weekly Lab Assignment</a:t>
            </a:r>
          </a:p>
        </p:txBody>
      </p:sp>
      <p:sp>
        <p:nvSpPr>
          <p:cNvPr id="1006" name="card-blue" descr="card: [book icon]. Lab 02: Operationalization &amp; Measurement Worksheet [Word document]"/>
          <p:cNvSpPr/>
          <p:nvPr/>
        </p:nvSpPr>
        <p:spPr>
          <a:xfrm>
            <a:off x="1097280" y="2633472"/>
            <a:ext cx="3270504" cy="944880"/>
          </a:xfrm>
          <a:prstGeom prst="roundRect">
            <a:avLst>
              <a:gd name="adj" fmla="val 6000"/>
            </a:avLst>
          </a:prstGeom>
          <a:solidFill>
            <a:srgbClr val="FEFDFA"/>
          </a:solidFill>
          <a:ln w="19050">
            <a:solidFill>
              <a:srgbClr val="CCCCCC"/>
            </a:solidFill>
          </a:ln>
        </p:spPr>
        <p:txBody>
          <a:bodyPr lIns="91440" tIns="68580" rIns="91440" bIns="68580" anchor="t" wrap="square">
            <a:normAutofit/>
          </a:bodyPr>
          <a:lstStyle/>
          <a:p>
            <a:pPr algn="l"/>
            <a:r>
              <a:rPr lang="en-US" sz="1400" b="1" dirty="0">
                <a:solidFill>
                  <a:srgbClr val="005D84"/>
                </a:solidFill>
              </a:rPr>
              <a:t>[book icon]</a:t>
            </a:r>
          </a:p>
          <a:p>
            <a:pPr algn="l"/>
            <a:r>
              <a:rPr lang="en-US" sz="1200" b="0" dirty="0">
                <a:solidFill>
                  <a:srgbClr val="010B13"/>
                </a:solidFill>
              </a:rPr>
              <a:t>Lab 02: Operationalization &amp; Measurement Worksheet</a:t>
            </a:r>
          </a:p>
          <a:p>
            <a:pPr algn="l"/>
            <a:r>
              <a:rPr lang="en-US" sz="1200" b="0" dirty="0">
                <a:solidFill>
                  <a:srgbClr val="010B13"/>
                </a:solidFill>
              </a:rPr>
              <a:t>[Word document]</a:t>
            </a:r>
          </a:p>
        </p:txBody>
      </p:sp>
      <p:sp>
        <p:nvSpPr>
          <p:cNvPr id="1007" name="card-rail" descr=""/>
          <p:cNvSpPr/>
          <p:nvPr/>
        </p:nvSpPr>
        <p:spPr>
          <a:xfrm>
            <a:off x="1097280" y="2633472"/>
            <a:ext cx="54864" cy="944880"/>
          </a:xfrm>
          <a:prstGeom prst="roundRect">
            <a:avLst>
              <a:gd name="adj" fmla="val 20000"/>
            </a:avLst>
          </a:prstGeom>
          <a:solidFill>
            <a:srgbClr val="005D84"/>
          </a:solidFill>
          <a:ln>
            <a:noFill/>
          </a:ln>
        </p:spPr>
        <p:txBody>
          <a:bodyPr lIns="91440" tIns="68580" rIns="91440" bIns="68580" anchor="t" wrap="square">
            <a:normAutofit/>
          </a:bodyPr>
          <a:lstStyle/>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The Research Process</a:t>
            </a:r>
          </a:p>
        </p:txBody>
      </p:sp>
      <p:sp>
        <p:nvSpPr>
          <p:cNvPr id="3" name="Content Placeholder 2"/>
          <p:cNvSpPr>
            <a:spLocks noGrp="1"/>
          </p:cNvSpPr>
          <p:nvPr>
            <p:ph idx="1"/>
          </p:nvPr>
        </p:nvSpPr>
        <p:spPr/>
        <p:txBody>
          <a:bodyPr/>
          <a:lstStyle/>
          <a:p>
            <a:pPr lvl="0" indent="0" marL="0">
              <a:buNone/>
            </a:pPr>
            <a:r>
              <a:rPr/>
              <a:t>Research ideas can come from a variety of sources, including informal observations, practical problems, and previous research</a:t>
            </a:r>
          </a:p>
          <a:p>
            <a:pPr lvl="0" indent="0" marL="0">
              <a:buNone/>
            </a:pPr>
            <a:r>
              <a:rPr/>
              <a:t>Once you have a general research idea, you need to use it to generate empirically testable research questions, which requires conceptual clarity and </a:t>
            </a:r>
            <a:r>
              <a:rPr b="1" i="1"/>
              <a:t>operationally defining</a:t>
            </a:r>
            <a:r>
              <a:rPr/>
              <a:t> one or more </a:t>
            </a:r>
            <a:r>
              <a:rPr b="1" i="1"/>
              <a:t>variables</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The Research Process (continued)</a:t>
            </a:r>
          </a:p>
        </p:txBody>
      </p:sp>
      <p:pic>
        <p:nvPicPr>
          <p:cNvPr descr="Circular diagram showing research process cycle with five stages: Idea, Question, Study, Analysis, and Interpretation connected by arrows forming a continuous loop" id="0" name="Picture 1"/>
          <p:cNvPicPr>
            <a:picLocks noGrp="1" noChangeAspect="1"/>
          </p:cNvPicPr>
          <p:nvPr/>
        </p:nvPicPr>
        <p:blipFill>
          <a:blip r:embed="rId2"/>
          <a:stretch>
            <a:fillRect/>
          </a:stretch>
        </p:blipFill>
        <p:spPr bwMode="auto">
          <a:xfrm>
            <a:off x="4800600" y="2628900"/>
            <a:ext cx="2590800" cy="2590800"/>
          </a:xfrm>
          <a:prstGeom prst="rect">
            <a:avLst/>
          </a:prstGeom>
          <a:noFill/>
          <a:ln w="9525">
            <a:noFill/>
            <a:headEnd/>
            <a:tailEnd/>
          </a:ln>
        </p:spPr>
      </p:pic>
      <p:sp>
        <p:nvSpPr>
          <p:cNvPr id="1" name="TextBox 3"/>
          <p:cNvSpPr txBox="1"/>
          <p:nvPr>
            <p:ph idx="1"/>
          </p:nvPr>
        </p:nvSpPr>
        <p:spPr>
          <a:xfrm>
            <a:off x="1092200" y="5219700"/>
            <a:ext cx="9994900" cy="508000"/>
          </a:xfrm>
          <a:prstGeom prst="rect">
            <a:avLst/>
          </a:prstGeom>
          <a:noFill/>
        </p:spPr>
        <p:txBody>
          <a:bodyPr/>
          <a:lstStyle/>
          <a:p>
            <a:pPr lvl="0" indent="0" marL="0" algn="ctr">
              <a:buNone/>
            </a:pPr>
            <a:r>
              <a:rPr/>
              <a:t>Circular diagram showing research process cycle with five stages: Idea, Question, Study, Analysis, and Interpretation connected by arrows forming a continuous loop</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The Research Process (continued)</a:t>
            </a:r>
          </a:p>
        </p:txBody>
      </p:sp>
      <p:pic>
        <p:nvPicPr>
          <p:cNvPr descr="Research process diagram with idea stage highlighted showing sources of research ideas from observations, problems, and previous research" id="0" name="Picture 1"/>
          <p:cNvPicPr>
            <a:picLocks noGrp="1" noChangeAspect="1"/>
          </p:cNvPicPr>
          <p:nvPr/>
        </p:nvPicPr>
        <p:blipFill>
          <a:blip r:embed="rId2"/>
          <a:stretch>
            <a:fillRect/>
          </a:stretch>
        </p:blipFill>
        <p:spPr bwMode="auto">
          <a:xfrm>
            <a:off x="4800600" y="2628900"/>
            <a:ext cx="2590800" cy="2590800"/>
          </a:xfrm>
          <a:prstGeom prst="rect">
            <a:avLst/>
          </a:prstGeom>
          <a:noFill/>
          <a:ln w="9525">
            <a:noFill/>
            <a:headEnd/>
            <a:tailEnd/>
          </a:ln>
        </p:spPr>
      </p:pic>
      <p:sp>
        <p:nvSpPr>
          <p:cNvPr id="1" name="TextBox 3"/>
          <p:cNvSpPr txBox="1"/>
          <p:nvPr>
            <p:ph idx="1"/>
          </p:nvPr>
        </p:nvSpPr>
        <p:spPr>
          <a:xfrm>
            <a:off x="1092200" y="5219700"/>
            <a:ext cx="9994900" cy="508000"/>
          </a:xfrm>
          <a:prstGeom prst="rect">
            <a:avLst/>
          </a:prstGeom>
          <a:noFill/>
        </p:spPr>
        <p:txBody>
          <a:bodyPr/>
          <a:lstStyle/>
          <a:p>
            <a:pPr lvl="0" indent="0" marL="0" algn="ctr">
              <a:buNone/>
            </a:pPr>
            <a:r>
              <a:rPr/>
              <a:t>Research process diagram with idea stage highlighted showing sources of research ideas from observations, problems, and previous research</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The Research Process (continued)</a:t>
            </a:r>
          </a:p>
        </p:txBody>
      </p:sp>
      <p:pic>
        <p:nvPicPr>
          <p:cNvPr descr="Research process diagram with Question stage highlighted showing formation of empirically testable research questions with conceptual clarity" id="0" name="Picture 1"/>
          <p:cNvPicPr>
            <a:picLocks noGrp="1" noChangeAspect="1"/>
          </p:cNvPicPr>
          <p:nvPr/>
        </p:nvPicPr>
        <p:blipFill>
          <a:blip r:embed="rId2"/>
          <a:stretch>
            <a:fillRect/>
          </a:stretch>
        </p:blipFill>
        <p:spPr bwMode="auto">
          <a:xfrm>
            <a:off x="4800600" y="2628900"/>
            <a:ext cx="2590800" cy="2590800"/>
          </a:xfrm>
          <a:prstGeom prst="rect">
            <a:avLst/>
          </a:prstGeom>
          <a:noFill/>
          <a:ln w="9525">
            <a:noFill/>
            <a:headEnd/>
            <a:tailEnd/>
          </a:ln>
        </p:spPr>
      </p:pic>
      <p:sp>
        <p:nvSpPr>
          <p:cNvPr id="1" name="TextBox 3"/>
          <p:cNvSpPr txBox="1"/>
          <p:nvPr>
            <p:ph idx="1"/>
          </p:nvPr>
        </p:nvSpPr>
        <p:spPr>
          <a:xfrm>
            <a:off x="1092200" y="5219700"/>
            <a:ext cx="9994900" cy="508000"/>
          </a:xfrm>
          <a:prstGeom prst="rect">
            <a:avLst/>
          </a:prstGeom>
          <a:noFill/>
        </p:spPr>
        <p:txBody>
          <a:bodyPr/>
          <a:lstStyle/>
          <a:p>
            <a:pPr lvl="0" indent="0" marL="0" algn="ctr">
              <a:buNone/>
            </a:pPr>
            <a:r>
              <a:rPr/>
              <a:t>Research process diagram with Question stage highlighted showing formation of empirically testable research questions with conceptual clarity</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The Research Process (continued)</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What is the answer to this </a:t>
            </a:r>
            <a:r>
              <a:rPr i="1"/>
              <a:t>simple</a:t>
            </a:r>
            <a:r>
              <a:rPr/>
              <a:t> question?</a:t>
            </a:r>
          </a:p>
        </p:txBody>
      </p:sp>
      <p:sp>
        <p:nvSpPr>
          <p:cNvPr id="3" name="Content Placeholder 2"/>
          <p:cNvSpPr>
            <a:spLocks noGrp="1"/>
          </p:cNvSpPr>
          <p:nvPr>
            <p:ph idx="1"/>
          </p:nvPr>
        </p:nvSpPr>
        <p:spPr/>
        <p:txBody>
          <a:bodyPr/>
          <a:lstStyle/>
          <a:p>
            <a:pPr lvl="0"/>
            <a:r>
              <a:rPr/>
              <a:t>Well…it depends!!</a:t>
            </a:r>
          </a:p>
          <a:p>
            <a:pPr lvl="0"/>
            <a:r>
              <a:rPr/>
              <a:t>Answering requires agreement on </a:t>
            </a:r>
            <a:r>
              <a:rPr i="1"/>
              <a:t>clear</a:t>
            </a:r>
            <a:r>
              <a:rPr/>
              <a:t> and </a:t>
            </a:r>
            <a:r>
              <a:rPr i="1"/>
              <a:t>complete</a:t>
            </a:r>
            <a:r>
              <a:rPr/>
              <a:t> conceptual definition of </a:t>
            </a:r>
            <a:r>
              <a:rPr b="1" i="1"/>
              <a:t>all</a:t>
            </a:r>
            <a:r>
              <a:rPr/>
              <a:t> constructs</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What is the answer to this </a:t>
            </a:r>
            <a:r>
              <a:rPr i="1"/>
              <a:t>simple</a:t>
            </a:r>
            <a:r>
              <a:rPr/>
              <a:t> question? (continued)</a:t>
            </a:r>
          </a:p>
        </p:txBody>
      </p:sp>
      <p:pic>
        <p:nvPicPr>
          <p:cNvPr descr="Research question diagram showing partial progress with Superman now defined as actors who portrayed the character" id="0" name="Picture 1"/>
          <p:cNvPicPr>
            <a:picLocks noGrp="1" noChangeAspect="1"/>
          </p:cNvPicPr>
          <p:nvPr/>
        </p:nvPicPr>
        <p:blipFill>
          <a:blip r:embed="rId2"/>
          <a:stretch>
            <a:fillRect/>
          </a:stretch>
        </p:blipFill>
        <p:spPr bwMode="auto">
          <a:xfrm>
            <a:off x="4800600" y="2628900"/>
            <a:ext cx="2590800" cy="2590800"/>
          </a:xfrm>
          <a:prstGeom prst="rect">
            <a:avLst/>
          </a:prstGeom>
          <a:noFill/>
          <a:ln w="9525">
            <a:noFill/>
            <a:headEnd/>
            <a:tailEnd/>
          </a:ln>
        </p:spPr>
      </p:pic>
      <p:sp>
        <p:nvSpPr>
          <p:cNvPr id="1" name="TextBox 3"/>
          <p:cNvSpPr txBox="1"/>
          <p:nvPr>
            <p:ph idx="1"/>
          </p:nvPr>
        </p:nvSpPr>
        <p:spPr>
          <a:xfrm>
            <a:off x="1092200" y="5219700"/>
            <a:ext cx="9994900" cy="508000"/>
          </a:xfrm>
          <a:prstGeom prst="rect">
            <a:avLst/>
          </a:prstGeom>
          <a:noFill/>
        </p:spPr>
        <p:txBody>
          <a:bodyPr/>
          <a:lstStyle/>
          <a:p>
            <a:pPr lvl="0" indent="0" marL="0" algn="ctr">
              <a:buNone/>
            </a:pPr>
            <a:r>
              <a:rPr/>
              <a:t>Diagram showing research question How big is Superman with question marks indicating conceptual ambiguity about both terms</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What is the answer to this </a:t>
            </a:r>
            <a:r>
              <a:rPr i="1"/>
              <a:t>simple</a:t>
            </a:r>
            <a:r>
              <a:rPr/>
              <a:t> question? (continued)</a:t>
            </a:r>
          </a:p>
        </p:txBody>
      </p:sp>
      <p:pic>
        <p:nvPicPr>
          <p:cNvPr descr="Research question diagram with Superman highlighted in yellow showing the need to define this concept clearly" id="0" name="Picture 1"/>
          <p:cNvPicPr>
            <a:picLocks noGrp="1" noChangeAspect="1"/>
          </p:cNvPicPr>
          <p:nvPr/>
        </p:nvPicPr>
        <p:blipFill>
          <a:blip r:embed="rId2"/>
          <a:stretch>
            <a:fillRect/>
          </a:stretch>
        </p:blipFill>
        <p:spPr bwMode="auto">
          <a:xfrm>
            <a:off x="4800600" y="2628900"/>
            <a:ext cx="2590800" cy="2590800"/>
          </a:xfrm>
          <a:prstGeom prst="rect">
            <a:avLst/>
          </a:prstGeom>
          <a:noFill/>
          <a:ln w="9525">
            <a:noFill/>
            <a:headEnd/>
            <a:tailEnd/>
          </a:ln>
        </p:spPr>
      </p:pic>
      <p:sp>
        <p:nvSpPr>
          <p:cNvPr id="1" name="TextBox 3"/>
          <p:cNvSpPr txBox="1"/>
          <p:nvPr>
            <p:ph idx="1"/>
          </p:nvPr>
        </p:nvSpPr>
        <p:spPr>
          <a:xfrm>
            <a:off x="1092200" y="5219700"/>
            <a:ext cx="9994900" cy="508000"/>
          </a:xfrm>
          <a:prstGeom prst="rect">
            <a:avLst/>
          </a:prstGeom>
          <a:noFill/>
        </p:spPr>
        <p:txBody>
          <a:bodyPr/>
          <a:lstStyle/>
          <a:p>
            <a:pPr lvl="0" indent="0" marL="0" algn="ctr">
              <a:buNone/>
            </a:pPr>
            <a:r>
              <a:rPr/>
              <a:t>Research question diagram with Superman highlighted in yellow showing the need to define this concept clearly</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What is the answer to this </a:t>
            </a:r>
            <a:r>
              <a:rPr i="1"/>
              <a:t>simple</a:t>
            </a:r>
            <a:r>
              <a:rPr/>
              <a:t> question? (continued)</a:t>
            </a:r>
          </a:p>
        </p:txBody>
      </p:sp>
      <p:pic>
        <p:nvPicPr>
          <p:cNvPr descr="Research question diagram with both big and Superman highlighted showing both concepts need clear definitions" id="0" name="Picture 1"/>
          <p:cNvPicPr>
            <a:picLocks noGrp="1" noChangeAspect="1"/>
          </p:cNvPicPr>
          <p:nvPr/>
        </p:nvPicPr>
        <p:blipFill>
          <a:blip r:embed="rId2"/>
          <a:stretch>
            <a:fillRect/>
          </a:stretch>
        </p:blipFill>
        <p:spPr bwMode="auto">
          <a:xfrm>
            <a:off x="4800600" y="2628900"/>
            <a:ext cx="2590800" cy="2590800"/>
          </a:xfrm>
          <a:prstGeom prst="rect">
            <a:avLst/>
          </a:prstGeom>
          <a:noFill/>
          <a:ln w="9525">
            <a:noFill/>
            <a:headEnd/>
            <a:tailEnd/>
          </a:ln>
        </p:spPr>
      </p:pic>
      <p:sp>
        <p:nvSpPr>
          <p:cNvPr id="1" name="TextBox 3"/>
          <p:cNvSpPr txBox="1"/>
          <p:nvPr>
            <p:ph idx="1"/>
          </p:nvPr>
        </p:nvSpPr>
        <p:spPr>
          <a:xfrm>
            <a:off x="1092200" y="5219700"/>
            <a:ext cx="9994900" cy="508000"/>
          </a:xfrm>
          <a:prstGeom prst="rect">
            <a:avLst/>
          </a:prstGeom>
          <a:noFill/>
        </p:spPr>
        <p:txBody>
          <a:bodyPr/>
          <a:lstStyle/>
          <a:p>
            <a:pPr lvl="0" indent="0" marL="0" algn="ctr">
              <a:buNone/>
            </a:pPr>
            <a:r>
              <a:rPr/>
              <a:t>Research question diagram with both big and Superman highlighted showing both concepts need clear definitions</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What is the answer to this </a:t>
            </a:r>
            <a:r>
              <a:rPr i="1"/>
              <a:t>simple</a:t>
            </a:r>
            <a:r>
              <a:rPr/>
              <a:t> question? (continued)</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Conceptually Defining “Superman”</a:t>
            </a:r>
          </a:p>
        </p:txBody>
      </p:sp>
      <p:sp>
        <p:nvSpPr>
          <p:cNvPr id="3" name="Content Placeholder 2"/>
          <p:cNvSpPr>
            <a:spLocks noGrp="1"/>
          </p:cNvSpPr>
          <p:nvPr>
            <p:ph idx="1"/>
          </p:nvPr>
        </p:nvSpPr>
        <p:spPr/>
        <p:txBody>
          <a:bodyPr/>
          <a:lstStyle/>
          <a:p>
            <a:pPr lvl="0"/>
            <a:r>
              <a:rPr/>
              <a:t>Most have a general idea, but need to be more specific…</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Conceptually Defining “Superman” (continued)</a:t>
            </a:r>
          </a:p>
        </p:txBody>
      </p:sp>
      <p:pic>
        <p:nvPicPr>
          <p:cNvPr descr="Question mark icon representing the abstract concept of Superman that needs a clear definition" id="0" name="Picture 1"/>
          <p:cNvPicPr>
            <a:picLocks noGrp="1" noChangeAspect="1"/>
          </p:cNvPicPr>
          <p:nvPr/>
        </p:nvPicPr>
        <p:blipFill>
          <a:blip r:embed="rId2"/>
          <a:stretch>
            <a:fillRect/>
          </a:stretch>
        </p:blipFill>
        <p:spPr bwMode="auto">
          <a:xfrm>
            <a:off x="4800600" y="2628900"/>
            <a:ext cx="2590800" cy="2590800"/>
          </a:xfrm>
          <a:prstGeom prst="rect">
            <a:avLst/>
          </a:prstGeom>
          <a:noFill/>
          <a:ln w="9525">
            <a:noFill/>
            <a:headEnd/>
            <a:tailEnd/>
          </a:ln>
        </p:spPr>
      </p:pic>
      <p:sp>
        <p:nvSpPr>
          <p:cNvPr id="1" name="TextBox 3"/>
          <p:cNvSpPr txBox="1"/>
          <p:nvPr>
            <p:ph idx="1"/>
          </p:nvPr>
        </p:nvSpPr>
        <p:spPr>
          <a:xfrm>
            <a:off x="1092200" y="5219700"/>
            <a:ext cx="9994900" cy="508000"/>
          </a:xfrm>
          <a:prstGeom prst="rect">
            <a:avLst/>
          </a:prstGeom>
          <a:noFill/>
        </p:spPr>
        <p:txBody>
          <a:bodyPr/>
          <a:lstStyle/>
          <a:p>
            <a:pPr lvl="0" indent="0" marL="0" algn="ctr">
              <a:buNone/>
            </a:pPr>
            <a:r>
              <a:rPr/>
              <a:t>Question mark icon representing the abstract concept of Superman that needs a clear definition</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Conceptually Defining “Superman” (continued)</a:t>
            </a:r>
          </a:p>
        </p:txBody>
      </p:sp>
      <p:pic>
        <p:nvPicPr>
          <p:cNvPr descr="Google search bar with Superman query showing the first step in finding a clear definition" id="0" name="Picture 1"/>
          <p:cNvPicPr>
            <a:picLocks noGrp="1" noChangeAspect="1"/>
          </p:cNvPicPr>
          <p:nvPr/>
        </p:nvPicPr>
        <p:blipFill>
          <a:blip r:embed="rId2"/>
          <a:stretch>
            <a:fillRect/>
          </a:stretch>
        </p:blipFill>
        <p:spPr bwMode="auto">
          <a:xfrm>
            <a:off x="4800600" y="2628900"/>
            <a:ext cx="2590800" cy="2590800"/>
          </a:xfrm>
          <a:prstGeom prst="rect">
            <a:avLst/>
          </a:prstGeom>
          <a:noFill/>
          <a:ln w="9525">
            <a:noFill/>
            <a:headEnd/>
            <a:tailEnd/>
          </a:ln>
        </p:spPr>
      </p:pic>
      <p:sp>
        <p:nvSpPr>
          <p:cNvPr id="1" name="TextBox 3"/>
          <p:cNvSpPr txBox="1"/>
          <p:nvPr>
            <p:ph idx="1"/>
          </p:nvPr>
        </p:nvSpPr>
        <p:spPr>
          <a:xfrm>
            <a:off x="1092200" y="5219700"/>
            <a:ext cx="9994900" cy="508000"/>
          </a:xfrm>
          <a:prstGeom prst="rect">
            <a:avLst/>
          </a:prstGeom>
          <a:noFill/>
        </p:spPr>
        <p:txBody>
          <a:bodyPr/>
          <a:lstStyle/>
          <a:p>
            <a:pPr lvl="0" indent="0" marL="0" algn="ctr">
              <a:buNone/>
            </a:pPr>
            <a:r>
              <a:rPr/>
              <a:t>Google search bar with Superman query showing the first step in finding a clear definition</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Conceptually Defining “Superman” (continued)</a:t>
            </a:r>
          </a:p>
        </p:txBody>
      </p:sp>
      <p:pic>
        <p:nvPicPr>
          <p:cNvPr descr="Google search results showing multiple Superman entries including comics, movies, TV shows, and different interpretations" id="0" name="Picture 1"/>
          <p:cNvPicPr>
            <a:picLocks noGrp="1" noChangeAspect="1"/>
          </p:cNvPicPr>
          <p:nvPr/>
        </p:nvPicPr>
        <p:blipFill>
          <a:blip r:embed="rId2"/>
          <a:stretch>
            <a:fillRect/>
          </a:stretch>
        </p:blipFill>
        <p:spPr bwMode="auto">
          <a:xfrm>
            <a:off x="4800600" y="2628900"/>
            <a:ext cx="2590800" cy="2590800"/>
          </a:xfrm>
          <a:prstGeom prst="rect">
            <a:avLst/>
          </a:prstGeom>
          <a:noFill/>
          <a:ln w="9525">
            <a:noFill/>
            <a:headEnd/>
            <a:tailEnd/>
          </a:ln>
        </p:spPr>
      </p:pic>
      <p:sp>
        <p:nvSpPr>
          <p:cNvPr id="1" name="TextBox 3"/>
          <p:cNvSpPr txBox="1"/>
          <p:nvPr>
            <p:ph idx="1"/>
          </p:nvPr>
        </p:nvSpPr>
        <p:spPr>
          <a:xfrm>
            <a:off x="1092200" y="5219700"/>
            <a:ext cx="9994900" cy="508000"/>
          </a:xfrm>
          <a:prstGeom prst="rect">
            <a:avLst/>
          </a:prstGeom>
          <a:noFill/>
        </p:spPr>
        <p:txBody>
          <a:bodyPr/>
          <a:lstStyle/>
          <a:p>
            <a:pPr lvl="0" indent="0" marL="0" algn="ctr">
              <a:buNone/>
            </a:pPr>
            <a:r>
              <a:rPr/>
              <a:t>Google search results showing multiple Superman entries including comics, movies, TV shows, and different interpretations</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Conceptually Defining “Superman” (continued)</a:t>
            </a:r>
          </a:p>
        </p:txBody>
      </p:sp>
      <p:pic>
        <p:nvPicPr>
          <p:cNvPr descr="Narrowed search results focusing on specific Superman media adaptations and their details" id="0" name="Picture 1"/>
          <p:cNvPicPr>
            <a:picLocks noGrp="1" noChangeAspect="1"/>
          </p:cNvPicPr>
          <p:nvPr/>
        </p:nvPicPr>
        <p:blipFill>
          <a:blip r:embed="rId2"/>
          <a:stretch>
            <a:fillRect/>
          </a:stretch>
        </p:blipFill>
        <p:spPr bwMode="auto">
          <a:xfrm>
            <a:off x="4800600" y="2628900"/>
            <a:ext cx="2590800" cy="2590800"/>
          </a:xfrm>
          <a:prstGeom prst="rect">
            <a:avLst/>
          </a:prstGeom>
          <a:noFill/>
          <a:ln w="9525">
            <a:noFill/>
            <a:headEnd/>
            <a:tailEnd/>
          </a:ln>
        </p:spPr>
      </p:pic>
      <p:sp>
        <p:nvSpPr>
          <p:cNvPr id="1" name="TextBox 3"/>
          <p:cNvSpPr txBox="1"/>
          <p:nvPr>
            <p:ph idx="1"/>
          </p:nvPr>
        </p:nvSpPr>
        <p:spPr>
          <a:xfrm>
            <a:off x="1092200" y="5219700"/>
            <a:ext cx="9994900" cy="508000"/>
          </a:xfrm>
          <a:prstGeom prst="rect">
            <a:avLst/>
          </a:prstGeom>
          <a:noFill/>
        </p:spPr>
        <p:txBody>
          <a:bodyPr/>
          <a:lstStyle/>
          <a:p>
            <a:pPr lvl="0" indent="0" marL="0" algn="ctr">
              <a:buNone/>
            </a:pPr>
            <a:r>
              <a:rPr/>
              <a:t>Narrowed search results focusing on specific Superman media adaptations and their details</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Conceptually Defining “Superman” (continued)</a:t>
            </a:r>
          </a:p>
        </p:txBody>
      </p:sp>
      <p:pic>
        <p:nvPicPr>
          <p:cNvPr descr="Grid of photos showing different actors who portrayed Superman over the years demonstrating variation in the concept" id="0" name="Picture 1"/>
          <p:cNvPicPr>
            <a:picLocks noGrp="1" noChangeAspect="1"/>
          </p:cNvPicPr>
          <p:nvPr/>
        </p:nvPicPr>
        <p:blipFill>
          <a:blip r:embed="rId2"/>
          <a:stretch>
            <a:fillRect/>
          </a:stretch>
        </p:blipFill>
        <p:spPr bwMode="auto">
          <a:xfrm>
            <a:off x="4800600" y="2628900"/>
            <a:ext cx="2590800" cy="2590800"/>
          </a:xfrm>
          <a:prstGeom prst="rect">
            <a:avLst/>
          </a:prstGeom>
          <a:noFill/>
          <a:ln w="9525">
            <a:noFill/>
            <a:headEnd/>
            <a:tailEnd/>
          </a:ln>
        </p:spPr>
      </p:pic>
      <p:sp>
        <p:nvSpPr>
          <p:cNvPr id="1" name="TextBox 3"/>
          <p:cNvSpPr txBox="1"/>
          <p:nvPr>
            <p:ph idx="1"/>
          </p:nvPr>
        </p:nvSpPr>
        <p:spPr>
          <a:xfrm>
            <a:off x="1092200" y="5219700"/>
            <a:ext cx="9994900" cy="508000"/>
          </a:xfrm>
          <a:prstGeom prst="rect">
            <a:avLst/>
          </a:prstGeom>
          <a:noFill/>
        </p:spPr>
        <p:txBody>
          <a:bodyPr/>
          <a:lstStyle/>
          <a:p>
            <a:pPr lvl="0" indent="0" marL="0" algn="ctr">
              <a:buNone/>
            </a:pPr>
            <a:r>
              <a:rPr/>
              <a:t>Grid of photos showing different actors who portrayed Superman over the years demonstrating variation in the concept</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Conceptually Defining “Superman” (continued)</a:t>
            </a:r>
          </a:p>
        </p:txBody>
      </p:sp>
      <p:pic>
        <p:nvPicPr>
          <p:cNvPr descr="Expanded grid of Superman actors from movies, TV series, and serials across decades from 1948 to present" id="0" name="Picture 1"/>
          <p:cNvPicPr>
            <a:picLocks noGrp="1" noChangeAspect="1"/>
          </p:cNvPicPr>
          <p:nvPr/>
        </p:nvPicPr>
        <p:blipFill>
          <a:blip r:embed="rId2"/>
          <a:stretch>
            <a:fillRect/>
          </a:stretch>
        </p:blipFill>
        <p:spPr bwMode="auto">
          <a:xfrm>
            <a:off x="4800600" y="2628900"/>
            <a:ext cx="2590800" cy="2590800"/>
          </a:xfrm>
          <a:prstGeom prst="rect">
            <a:avLst/>
          </a:prstGeom>
          <a:noFill/>
          <a:ln w="9525">
            <a:noFill/>
            <a:headEnd/>
            <a:tailEnd/>
          </a:ln>
        </p:spPr>
      </p:pic>
      <p:sp>
        <p:nvSpPr>
          <p:cNvPr id="1" name="TextBox 3"/>
          <p:cNvSpPr txBox="1"/>
          <p:nvPr>
            <p:ph idx="1"/>
          </p:nvPr>
        </p:nvSpPr>
        <p:spPr>
          <a:xfrm>
            <a:off x="1092200" y="5219700"/>
            <a:ext cx="9994900" cy="508000"/>
          </a:xfrm>
          <a:prstGeom prst="rect">
            <a:avLst/>
          </a:prstGeom>
          <a:noFill/>
        </p:spPr>
        <p:txBody>
          <a:bodyPr/>
          <a:lstStyle/>
          <a:p>
            <a:pPr lvl="0" indent="0" marL="0" algn="ctr">
              <a:buNone/>
            </a:pPr>
            <a:r>
              <a:rPr/>
              <a:t>Expanded grid of Superman actors from movies, TV series, and serials across decades from 1948 to present</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Research questions must be specific!!!</a:t>
            </a:r>
          </a:p>
        </p:txBody>
      </p:sp>
      <p:pic>
        <p:nvPicPr>
          <p:cNvPr descr="Research question diagram showing partial progress with Superman now defined as actors who portrayed the character" id="0" name="Picture 1"/>
          <p:cNvPicPr>
            <a:picLocks noGrp="1" noChangeAspect="1"/>
          </p:cNvPicPr>
          <p:nvPr/>
        </p:nvPicPr>
        <p:blipFill>
          <a:blip r:embed="rId2"/>
          <a:stretch>
            <a:fillRect/>
          </a:stretch>
        </p:blipFill>
        <p:spPr bwMode="auto">
          <a:xfrm>
            <a:off x="4800600" y="2628900"/>
            <a:ext cx="2590800" cy="2590800"/>
          </a:xfrm>
          <a:prstGeom prst="rect">
            <a:avLst/>
          </a:prstGeom>
          <a:noFill/>
          <a:ln w="9525">
            <a:noFill/>
            <a:headEnd/>
            <a:tailEnd/>
          </a:ln>
        </p:spPr>
      </p:pic>
      <p:sp>
        <p:nvSpPr>
          <p:cNvPr id="1" name="TextBox 3"/>
          <p:cNvSpPr txBox="1"/>
          <p:nvPr>
            <p:ph idx="1"/>
          </p:nvPr>
        </p:nvSpPr>
        <p:spPr>
          <a:xfrm>
            <a:off x="1092200" y="5219700"/>
            <a:ext cx="9994900" cy="508000"/>
          </a:xfrm>
          <a:prstGeom prst="rect">
            <a:avLst/>
          </a:prstGeom>
          <a:noFill/>
        </p:spPr>
        <p:txBody>
          <a:bodyPr/>
          <a:lstStyle/>
          <a:p>
            <a:pPr lvl="0" indent="0" marL="0" algn="ctr">
              <a:buNone/>
            </a:pPr>
            <a:r>
              <a:rPr/>
              <a:t>Research question diagram showing partial progress with Superman now defined as actors who portrayed the character</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Research questions must be specific!!! (continued)</a:t>
            </a:r>
          </a:p>
        </p:txBody>
      </p:sp>
      <p:pic>
        <p:nvPicPr>
          <p:cNvPr descr="Complete conceptual definition stating Superman equals the actors who portrayed Clark Kent Superman in movies, TV series, and serial films from 1948 to present" id="0" name="Picture 1"/>
          <p:cNvPicPr>
            <a:picLocks noGrp="1" noChangeAspect="1"/>
          </p:cNvPicPr>
          <p:nvPr/>
        </p:nvPicPr>
        <p:blipFill>
          <a:blip r:embed="rId2"/>
          <a:stretch>
            <a:fillRect/>
          </a:stretch>
        </p:blipFill>
        <p:spPr bwMode="auto">
          <a:xfrm>
            <a:off x="4800600" y="2628900"/>
            <a:ext cx="2590800" cy="2590800"/>
          </a:xfrm>
          <a:prstGeom prst="rect">
            <a:avLst/>
          </a:prstGeom>
          <a:noFill/>
          <a:ln w="9525">
            <a:noFill/>
            <a:headEnd/>
            <a:tailEnd/>
          </a:ln>
        </p:spPr>
      </p:pic>
      <p:sp>
        <p:nvSpPr>
          <p:cNvPr id="1" name="TextBox 3"/>
          <p:cNvSpPr txBox="1"/>
          <p:nvPr>
            <p:ph idx="1"/>
          </p:nvPr>
        </p:nvSpPr>
        <p:spPr>
          <a:xfrm>
            <a:off x="1092200" y="5219700"/>
            <a:ext cx="9994900" cy="508000"/>
          </a:xfrm>
          <a:prstGeom prst="rect">
            <a:avLst/>
          </a:prstGeom>
          <a:noFill/>
        </p:spPr>
        <p:txBody>
          <a:bodyPr/>
          <a:lstStyle/>
          <a:p>
            <a:pPr lvl="0" indent="0" marL="0" algn="ctr">
              <a:buNone/>
            </a:pPr>
            <a:r>
              <a:rPr/>
              <a:t>Complete conceptual definition stating Superman equals the actors who portrayed Clark Kent Superman in movies, TV series, and serial films from 1948 to present</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Conceptually Defining “Big”</a:t>
            </a:r>
          </a:p>
        </p:txBody>
      </p:sp>
      <p:sp>
        <p:nvSpPr>
          <p:cNvPr id="3" name="Content Placeholder 2"/>
          <p:cNvSpPr>
            <a:spLocks noGrp="1"/>
          </p:cNvSpPr>
          <p:nvPr>
            <p:ph idx="1"/>
          </p:nvPr>
        </p:nvSpPr>
        <p:spPr/>
        <p:txBody>
          <a:bodyPr/>
          <a:lstStyle/>
          <a:p>
            <a:pPr lvl="0"/>
            <a:r>
              <a:rPr/>
              <a:t>“Big” is a more abstract concept and can refer to many different ideas</a:t>
            </a:r>
          </a:p>
          <a:p>
            <a:pPr lvl="0"/>
            <a:r>
              <a:rPr/>
              <a:t>Keep in mind: there is not an inherently </a:t>
            </a:r>
            <a:r>
              <a:rPr b="1" i="1"/>
              <a:t>right</a:t>
            </a:r>
            <a:r>
              <a:rPr/>
              <a:t> or </a:t>
            </a:r>
            <a:r>
              <a:rPr b="1" i="1"/>
              <a:t>wrong</a:t>
            </a:r>
            <a:r>
              <a:rPr/>
              <a:t> way to define a concept, but should look to what others have done</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Conceptually Defining “Big” (continued)</a:t>
            </a:r>
          </a:p>
        </p:txBody>
      </p:sp>
      <p:pic>
        <p:nvPicPr>
          <p:cNvPr descr="Thought bubble showing multiple interpretations of big including height, weight, physical strength, cultural impact, and popularity" id="0" name="Picture 1"/>
          <p:cNvPicPr>
            <a:picLocks noGrp="1" noChangeAspect="1"/>
          </p:cNvPicPr>
          <p:nvPr/>
        </p:nvPicPr>
        <p:blipFill>
          <a:blip r:embed="rId2"/>
          <a:stretch>
            <a:fillRect/>
          </a:stretch>
        </p:blipFill>
        <p:spPr bwMode="auto">
          <a:xfrm>
            <a:off x="4800600" y="2628900"/>
            <a:ext cx="2590800" cy="2590800"/>
          </a:xfrm>
          <a:prstGeom prst="rect">
            <a:avLst/>
          </a:prstGeom>
          <a:noFill/>
          <a:ln w="9525">
            <a:noFill/>
            <a:headEnd/>
            <a:tailEnd/>
          </a:ln>
        </p:spPr>
      </p:pic>
      <p:sp>
        <p:nvSpPr>
          <p:cNvPr id="1" name="TextBox 3"/>
          <p:cNvSpPr txBox="1"/>
          <p:nvPr>
            <p:ph idx="1"/>
          </p:nvPr>
        </p:nvSpPr>
        <p:spPr>
          <a:xfrm>
            <a:off x="1092200" y="5219700"/>
            <a:ext cx="9994900" cy="508000"/>
          </a:xfrm>
          <a:prstGeom prst="rect">
            <a:avLst/>
          </a:prstGeom>
          <a:noFill/>
        </p:spPr>
        <p:txBody>
          <a:bodyPr/>
          <a:lstStyle/>
          <a:p>
            <a:pPr lvl="0" indent="0" marL="0" algn="ctr">
              <a:buNone/>
            </a:pPr>
            <a:r>
              <a:rPr/>
              <a:t>Thought bubble showing multiple interpretations of big including height, weight, physical strength, cultural impact, and popularity</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Conceptually Defining “Big” (continued)</a:t>
            </a:r>
          </a:p>
        </p:txBody>
      </p:sp>
      <p:pic>
        <p:nvPicPr>
          <p:cNvPr descr="Thought bubble highlighting height as one specific operational definition of big" id="0" name="Picture 1"/>
          <p:cNvPicPr>
            <a:picLocks noGrp="1" noChangeAspect="1"/>
          </p:cNvPicPr>
          <p:nvPr/>
        </p:nvPicPr>
        <p:blipFill>
          <a:blip r:embed="rId2"/>
          <a:stretch>
            <a:fillRect/>
          </a:stretch>
        </p:blipFill>
        <p:spPr bwMode="auto">
          <a:xfrm>
            <a:off x="4800600" y="2628900"/>
            <a:ext cx="2590800" cy="2590800"/>
          </a:xfrm>
          <a:prstGeom prst="rect">
            <a:avLst/>
          </a:prstGeom>
          <a:noFill/>
          <a:ln w="9525">
            <a:noFill/>
            <a:headEnd/>
            <a:tailEnd/>
          </a:ln>
        </p:spPr>
      </p:pic>
      <p:sp>
        <p:nvSpPr>
          <p:cNvPr id="1" name="TextBox 3"/>
          <p:cNvSpPr txBox="1"/>
          <p:nvPr>
            <p:ph idx="1"/>
          </p:nvPr>
        </p:nvSpPr>
        <p:spPr>
          <a:xfrm>
            <a:off x="1092200" y="5219700"/>
            <a:ext cx="9994900" cy="508000"/>
          </a:xfrm>
          <a:prstGeom prst="rect">
            <a:avLst/>
          </a:prstGeom>
          <a:noFill/>
        </p:spPr>
        <p:txBody>
          <a:bodyPr/>
          <a:lstStyle/>
          <a:p>
            <a:pPr lvl="0" indent="0" marL="0" algn="ctr">
              <a:buNone/>
            </a:pPr>
            <a:r>
              <a:rPr/>
              <a:t>Thought bubble highlighting height as one specific operational definition of big</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Conceptually Defining “Big” (continued)</a:t>
            </a:r>
          </a:p>
        </p:txBody>
      </p:sp>
      <p:pic>
        <p:nvPicPr>
          <p:cNvPr descr="Thought bubble showing height further specified as height of the actor in meters as a precise operational definition" id="0" name="Picture 1"/>
          <p:cNvPicPr>
            <a:picLocks noGrp="1" noChangeAspect="1"/>
          </p:cNvPicPr>
          <p:nvPr/>
        </p:nvPicPr>
        <p:blipFill>
          <a:blip r:embed="rId2"/>
          <a:stretch>
            <a:fillRect/>
          </a:stretch>
        </p:blipFill>
        <p:spPr bwMode="auto">
          <a:xfrm>
            <a:off x="4800600" y="2628900"/>
            <a:ext cx="2590800" cy="2590800"/>
          </a:xfrm>
          <a:prstGeom prst="rect">
            <a:avLst/>
          </a:prstGeom>
          <a:noFill/>
          <a:ln w="9525">
            <a:noFill/>
            <a:headEnd/>
            <a:tailEnd/>
          </a:ln>
        </p:spPr>
      </p:pic>
      <p:sp>
        <p:nvSpPr>
          <p:cNvPr id="1" name="TextBox 3"/>
          <p:cNvSpPr txBox="1"/>
          <p:nvPr>
            <p:ph idx="1"/>
          </p:nvPr>
        </p:nvSpPr>
        <p:spPr>
          <a:xfrm>
            <a:off x="1092200" y="5219700"/>
            <a:ext cx="9994900" cy="508000"/>
          </a:xfrm>
          <a:prstGeom prst="rect">
            <a:avLst/>
          </a:prstGeom>
          <a:noFill/>
        </p:spPr>
        <p:txBody>
          <a:bodyPr/>
          <a:lstStyle/>
          <a:p>
            <a:pPr lvl="0" indent="0" marL="0" algn="ctr">
              <a:buNone/>
            </a:pPr>
            <a:r>
              <a:rPr/>
              <a:t>Thought bubble showing height further specified as height of the actor in meters as a precise operational definition</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Conceptually Defining “Big” (continued)</a:t>
            </a:r>
          </a:p>
        </p:txBody>
      </p:sp>
      <p:pic>
        <p:nvPicPr>
          <p:cNvPr descr="Meme with a businessman showing a researcher making choices, representing degrees of freedom in operationalization decisions" id="0" name="Picture 1"/>
          <p:cNvPicPr>
            <a:picLocks noGrp="1" noChangeAspect="1"/>
          </p:cNvPicPr>
          <p:nvPr/>
        </p:nvPicPr>
        <p:blipFill>
          <a:blip r:embed="rId2"/>
          <a:stretch>
            <a:fillRect/>
          </a:stretch>
        </p:blipFill>
        <p:spPr bwMode="auto">
          <a:xfrm>
            <a:off x="4800600" y="2628900"/>
            <a:ext cx="2590800" cy="2590800"/>
          </a:xfrm>
          <a:prstGeom prst="rect">
            <a:avLst/>
          </a:prstGeom>
          <a:noFill/>
          <a:ln w="9525">
            <a:noFill/>
            <a:headEnd/>
            <a:tailEnd/>
          </a:ln>
        </p:spPr>
      </p:pic>
      <p:sp>
        <p:nvSpPr>
          <p:cNvPr id="1" name="TextBox 3"/>
          <p:cNvSpPr txBox="1"/>
          <p:nvPr>
            <p:ph idx="1"/>
          </p:nvPr>
        </p:nvSpPr>
        <p:spPr>
          <a:xfrm>
            <a:off x="1092200" y="5219700"/>
            <a:ext cx="9994900" cy="508000"/>
          </a:xfrm>
          <a:prstGeom prst="rect">
            <a:avLst/>
          </a:prstGeom>
          <a:noFill/>
        </p:spPr>
        <p:txBody>
          <a:bodyPr/>
          <a:lstStyle/>
          <a:p>
            <a:pPr lvl="0" indent="0" marL="0" algn="ctr">
              <a:buNone/>
            </a:pPr>
            <a:r>
              <a:rPr/>
              <a:t>Meme with a businessman showing a researcher making choices, representing degrees of freedom in operationalization decisions</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Conceptually Defining “Big” (continued)</a:t>
            </a:r>
          </a:p>
        </p:txBody>
      </p:sp>
      <p:pic>
        <p:nvPicPr>
          <p:cNvPr descr="List showing researcher decisions: height versus other measures, meters versus other units, multiple operational definitions possible" id="0" name="Picture 1"/>
          <p:cNvPicPr>
            <a:picLocks noGrp="1" noChangeAspect="1"/>
          </p:cNvPicPr>
          <p:nvPr/>
        </p:nvPicPr>
        <p:blipFill>
          <a:blip r:embed="rId2"/>
          <a:stretch>
            <a:fillRect/>
          </a:stretch>
        </p:blipFill>
        <p:spPr bwMode="auto">
          <a:xfrm>
            <a:off x="4800600" y="2628900"/>
            <a:ext cx="2590800" cy="2590800"/>
          </a:xfrm>
          <a:prstGeom prst="rect">
            <a:avLst/>
          </a:prstGeom>
          <a:noFill/>
          <a:ln w="9525">
            <a:noFill/>
            <a:headEnd/>
            <a:tailEnd/>
          </a:ln>
        </p:spPr>
      </p:pic>
      <p:sp>
        <p:nvSpPr>
          <p:cNvPr id="1" name="TextBox 3"/>
          <p:cNvSpPr txBox="1"/>
          <p:nvPr>
            <p:ph idx="1"/>
          </p:nvPr>
        </p:nvSpPr>
        <p:spPr>
          <a:xfrm>
            <a:off x="1092200" y="5219700"/>
            <a:ext cx="9994900" cy="508000"/>
          </a:xfrm>
          <a:prstGeom prst="rect">
            <a:avLst/>
          </a:prstGeom>
          <a:noFill/>
        </p:spPr>
        <p:txBody>
          <a:bodyPr/>
          <a:lstStyle/>
          <a:p>
            <a:pPr lvl="0" indent="0" marL="0" algn="ctr">
              <a:buNone/>
            </a:pPr>
            <a:r>
              <a:rPr/>
              <a:t>List showing researcher decisions: height versus other measures, meters versus other units, multiple operational definitions possible</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From concepts to research hypotheses</a:t>
            </a:r>
          </a:p>
        </p:txBody>
      </p:sp>
      <p:pic>
        <p:nvPicPr>
          <p:cNvPr descr="Complete research question: How big are the actors who portrayed Superman with both concepts now clearly defined" id="0" name="Picture 1"/>
          <p:cNvPicPr>
            <a:picLocks noGrp="1" noChangeAspect="1"/>
          </p:cNvPicPr>
          <p:nvPr/>
        </p:nvPicPr>
        <p:blipFill>
          <a:blip r:embed="rId2"/>
          <a:stretch>
            <a:fillRect/>
          </a:stretch>
        </p:blipFill>
        <p:spPr bwMode="auto">
          <a:xfrm>
            <a:off x="4800600" y="2628900"/>
            <a:ext cx="2590800" cy="2590800"/>
          </a:xfrm>
          <a:prstGeom prst="rect">
            <a:avLst/>
          </a:prstGeom>
          <a:noFill/>
          <a:ln w="9525">
            <a:noFill/>
            <a:headEnd/>
            <a:tailEnd/>
          </a:ln>
        </p:spPr>
      </p:pic>
      <p:sp>
        <p:nvSpPr>
          <p:cNvPr id="1" name="TextBox 3"/>
          <p:cNvSpPr txBox="1"/>
          <p:nvPr>
            <p:ph idx="1"/>
          </p:nvPr>
        </p:nvSpPr>
        <p:spPr>
          <a:xfrm>
            <a:off x="1092200" y="5219700"/>
            <a:ext cx="9994900" cy="508000"/>
          </a:xfrm>
          <a:prstGeom prst="rect">
            <a:avLst/>
          </a:prstGeom>
          <a:noFill/>
        </p:spPr>
        <p:txBody>
          <a:bodyPr/>
          <a:lstStyle/>
          <a:p>
            <a:pPr lvl="0" indent="0" marL="0" algn="ctr">
              <a:buNone/>
            </a:pPr>
            <a:r>
              <a:rPr/>
              <a:t>Complete research question: How big are the actors who portrayed Superman with both concepts now clearly defined</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From concepts to research hypotheses (continued)</a:t>
            </a:r>
          </a:p>
        </p:txBody>
      </p:sp>
      <p:pic>
        <p:nvPicPr>
          <p:cNvPr descr="Research hypothesis formation step 1: Converting conceptual question into testable hypothesis about actor heights" id="0" name="Picture 1"/>
          <p:cNvPicPr>
            <a:picLocks noGrp="1" noChangeAspect="1"/>
          </p:cNvPicPr>
          <p:nvPr/>
        </p:nvPicPr>
        <p:blipFill>
          <a:blip r:embed="rId2"/>
          <a:stretch>
            <a:fillRect/>
          </a:stretch>
        </p:blipFill>
        <p:spPr bwMode="auto">
          <a:xfrm>
            <a:off x="4800600" y="2628900"/>
            <a:ext cx="2590800" cy="2590800"/>
          </a:xfrm>
          <a:prstGeom prst="rect">
            <a:avLst/>
          </a:prstGeom>
          <a:noFill/>
          <a:ln w="9525">
            <a:noFill/>
            <a:headEnd/>
            <a:tailEnd/>
          </a:ln>
        </p:spPr>
      </p:pic>
      <p:sp>
        <p:nvSpPr>
          <p:cNvPr id="1" name="TextBox 3"/>
          <p:cNvSpPr txBox="1"/>
          <p:nvPr>
            <p:ph idx="1"/>
          </p:nvPr>
        </p:nvSpPr>
        <p:spPr>
          <a:xfrm>
            <a:off x="1092200" y="5219700"/>
            <a:ext cx="9994900" cy="508000"/>
          </a:xfrm>
          <a:prstGeom prst="rect">
            <a:avLst/>
          </a:prstGeom>
          <a:noFill/>
        </p:spPr>
        <p:txBody>
          <a:bodyPr/>
          <a:lstStyle/>
          <a:p>
            <a:pPr lvl="0" indent="0" marL="0" algn="ctr">
              <a:buNone/>
            </a:pPr>
            <a:r>
              <a:rPr/>
              <a:t>Research hypothesis formation step 1: Converting conceptual question into testable hypothesis about actor heights</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From concepts to research hypotheses (continued)</a:t>
            </a:r>
          </a:p>
        </p:txBody>
      </p:sp>
      <p:pic>
        <p:nvPicPr>
          <p:cNvPr descr="Research hypothesis formation step 2: Specifying the operational definition and measurement approach for testing" id="0" name="Picture 1"/>
          <p:cNvPicPr>
            <a:picLocks noGrp="1" noChangeAspect="1"/>
          </p:cNvPicPr>
          <p:nvPr/>
        </p:nvPicPr>
        <p:blipFill>
          <a:blip r:embed="rId2"/>
          <a:stretch>
            <a:fillRect/>
          </a:stretch>
        </p:blipFill>
        <p:spPr bwMode="auto">
          <a:xfrm>
            <a:off x="4800600" y="2628900"/>
            <a:ext cx="2590800" cy="2590800"/>
          </a:xfrm>
          <a:prstGeom prst="rect">
            <a:avLst/>
          </a:prstGeom>
          <a:noFill/>
          <a:ln w="9525">
            <a:noFill/>
            <a:headEnd/>
            <a:tailEnd/>
          </a:ln>
        </p:spPr>
      </p:pic>
      <p:sp>
        <p:nvSpPr>
          <p:cNvPr id="1" name="TextBox 3"/>
          <p:cNvSpPr txBox="1"/>
          <p:nvPr>
            <p:ph idx="1"/>
          </p:nvPr>
        </p:nvSpPr>
        <p:spPr>
          <a:xfrm>
            <a:off x="1092200" y="5219700"/>
            <a:ext cx="9994900" cy="508000"/>
          </a:xfrm>
          <a:prstGeom prst="rect">
            <a:avLst/>
          </a:prstGeom>
          <a:noFill/>
        </p:spPr>
        <p:txBody>
          <a:bodyPr/>
          <a:lstStyle/>
          <a:p>
            <a:pPr lvl="0" indent="0" marL="0" algn="ctr">
              <a:buNone/>
            </a:pPr>
            <a:r>
              <a:rPr/>
              <a:t>Research hypothesis formation step 2: Specifying the operational definition and measurement approach for testing</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From concepts to research hypotheses (continued)</a:t>
            </a:r>
          </a:p>
        </p:txBody>
      </p:sp>
      <p:pic>
        <p:nvPicPr>
          <p:cNvPr descr="Research hypothesis formation step 3: Creating specific predictions based on the operationalized variables" id="0" name="Picture 1"/>
          <p:cNvPicPr>
            <a:picLocks noGrp="1" noChangeAspect="1"/>
          </p:cNvPicPr>
          <p:nvPr/>
        </p:nvPicPr>
        <p:blipFill>
          <a:blip r:embed="rId2"/>
          <a:stretch>
            <a:fillRect/>
          </a:stretch>
        </p:blipFill>
        <p:spPr bwMode="auto">
          <a:xfrm>
            <a:off x="4800600" y="2628900"/>
            <a:ext cx="2590800" cy="2590800"/>
          </a:xfrm>
          <a:prstGeom prst="rect">
            <a:avLst/>
          </a:prstGeom>
          <a:noFill/>
          <a:ln w="9525">
            <a:noFill/>
            <a:headEnd/>
            <a:tailEnd/>
          </a:ln>
        </p:spPr>
      </p:pic>
      <p:sp>
        <p:nvSpPr>
          <p:cNvPr id="1" name="TextBox 3"/>
          <p:cNvSpPr txBox="1"/>
          <p:nvPr>
            <p:ph idx="1"/>
          </p:nvPr>
        </p:nvSpPr>
        <p:spPr>
          <a:xfrm>
            <a:off x="1092200" y="5219700"/>
            <a:ext cx="9994900" cy="508000"/>
          </a:xfrm>
          <a:prstGeom prst="rect">
            <a:avLst/>
          </a:prstGeom>
          <a:noFill/>
        </p:spPr>
        <p:txBody>
          <a:bodyPr/>
          <a:lstStyle/>
          <a:p>
            <a:pPr lvl="0" indent="0" marL="0" algn="ctr">
              <a:buNone/>
            </a:pPr>
            <a:r>
              <a:rPr/>
              <a:t>Research hypothesis formation step 3: Creating specific predictions based on the operationalized variables</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From concepts to research hypotheses (continued)</a:t>
            </a:r>
          </a:p>
        </p:txBody>
      </p:sp>
      <p:pic>
        <p:nvPicPr>
          <p:cNvPr descr="Final research hypothesis: The average height of actors who portrayed Superman from 1948 to present is 1.88 meters" id="0" name="Picture 1"/>
          <p:cNvPicPr>
            <a:picLocks noGrp="1" noChangeAspect="1"/>
          </p:cNvPicPr>
          <p:nvPr/>
        </p:nvPicPr>
        <p:blipFill>
          <a:blip r:embed="rId2"/>
          <a:stretch>
            <a:fillRect/>
          </a:stretch>
        </p:blipFill>
        <p:spPr bwMode="auto">
          <a:xfrm>
            <a:off x="4800600" y="2628900"/>
            <a:ext cx="2590800" cy="2590800"/>
          </a:xfrm>
          <a:prstGeom prst="rect">
            <a:avLst/>
          </a:prstGeom>
          <a:noFill/>
          <a:ln w="9525">
            <a:noFill/>
            <a:headEnd/>
            <a:tailEnd/>
          </a:ln>
        </p:spPr>
      </p:pic>
      <p:sp>
        <p:nvSpPr>
          <p:cNvPr id="1" name="TextBox 3"/>
          <p:cNvSpPr txBox="1"/>
          <p:nvPr>
            <p:ph idx="1"/>
          </p:nvPr>
        </p:nvSpPr>
        <p:spPr>
          <a:xfrm>
            <a:off x="1092200" y="5219700"/>
            <a:ext cx="9994900" cy="508000"/>
          </a:xfrm>
          <a:prstGeom prst="rect">
            <a:avLst/>
          </a:prstGeom>
          <a:noFill/>
        </p:spPr>
        <p:txBody>
          <a:bodyPr/>
          <a:lstStyle/>
          <a:p>
            <a:pPr lvl="0" indent="0" marL="0" algn="ctr">
              <a:buNone/>
            </a:pPr>
            <a:r>
              <a:rPr/>
              <a:t>Final research hypothesis: The average height of actors who portrayed Superman from 1948 to present is 1.88 meters</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097280" y="2386744"/>
            <a:ext cx="9997440" cy="1645920"/>
          </a:xfrm>
          <a:solidFill>
            <a:srgbClr val="FFFFFF"/>
          </a:solidFill>
          <a:ln w="38100">
            <a:solidFill>
              <a:srgbClr val="404040"/>
            </a:solidFill>
          </a:ln>
        </p:spPr>
        <p:txBody>
          <a:bodyPr/>
          <a:lstStyle/>
          <a:p>
            <a:pPr lvl="0" indent="0" marL="0">
              <a:buNone/>
            </a:pPr>
            <a:r>
              <a:rPr/>
              <a:t>From concepts to variables &amp; other useful terminology</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What is a Conceptual Definition?</a:t>
            </a:r>
          </a:p>
        </p:txBody>
      </p:sp>
      <p:sp>
        <p:nvSpPr>
          <p:cNvPr id="3" name="Content Placeholder 2"/>
          <p:cNvSpPr>
            <a:spLocks noGrp="1"/>
          </p:cNvSpPr>
          <p:nvPr>
            <p:ph idx="1"/>
          </p:nvPr>
        </p:nvSpPr>
        <p:spPr/>
        <p:txBody>
          <a:bodyPr/>
          <a:lstStyle/>
          <a:p>
            <a:pPr lvl="0" indent="0" marL="0">
              <a:buNone/>
            </a:pPr>
            <a:r>
              <a:rPr b="1"/>
              <a:t>Conceptual definition</a:t>
            </a:r>
          </a:p>
          <a:p>
            <a:pPr lvl="0" indent="0" marL="1270000">
              <a:buNone/>
            </a:pPr>
            <a:r>
              <a:rPr sz="2000"/>
              <a:t>A definition that describes the behaviors or internal processes that might make up a psychological construct, along with how it relates to other concepts</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What is Operationalization?</a:t>
            </a:r>
          </a:p>
        </p:txBody>
      </p:sp>
      <p:sp>
        <p:nvSpPr>
          <p:cNvPr id="3" name="Content Placeholder 2"/>
          <p:cNvSpPr>
            <a:spLocks noGrp="1"/>
          </p:cNvSpPr>
          <p:nvPr>
            <p:ph idx="1"/>
          </p:nvPr>
        </p:nvSpPr>
        <p:spPr/>
        <p:txBody>
          <a:bodyPr/>
          <a:lstStyle/>
          <a:p>
            <a:pPr lvl="0" indent="0" marL="0">
              <a:buNone/>
            </a:pPr>
            <a:r>
              <a:rPr b="1"/>
              <a:t>Operationalization</a:t>
            </a:r>
          </a:p>
          <a:p>
            <a:pPr lvl="0" indent="0" marL="1270000">
              <a:buNone/>
            </a:pPr>
            <a:r>
              <a:rPr sz="2000"/>
              <a:t>The process of turning abstract concepts into measurable variables</a:t>
            </a:r>
          </a:p>
          <a:p>
            <a:pPr lvl="0" indent="0" marL="0">
              <a:buNone/>
            </a:pPr>
            <a:r>
              <a:rPr b="1"/>
              <a:t>Operational definition</a:t>
            </a:r>
          </a:p>
          <a:p>
            <a:pPr lvl="0" indent="0" marL="1270000">
              <a:buNone/>
            </a:pPr>
            <a:r>
              <a:rPr sz="2000"/>
              <a:t>A definition of a variable in terms of precisely how it is to be measured in a particular context</a:t>
            </a:r>
          </a:p>
          <a:p>
            <a:pPr lvl="0"/>
            <a:r>
              <a:rPr/>
              <a:t>For any given construct, there will </a:t>
            </a:r>
            <a:r>
              <a:rPr b="1" i="1"/>
              <a:t>always</a:t>
            </a:r>
            <a:r>
              <a:rPr/>
              <a:t> be multiple possible operational definitions</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What is a Variable?</a:t>
            </a:r>
          </a:p>
        </p:txBody>
      </p:sp>
      <p:sp>
        <p:nvSpPr>
          <p:cNvPr id="3" name="Content Placeholder 2"/>
          <p:cNvSpPr>
            <a:spLocks noGrp="1"/>
          </p:cNvSpPr>
          <p:nvPr>
            <p:ph idx="1"/>
          </p:nvPr>
        </p:nvSpPr>
        <p:spPr/>
        <p:txBody>
          <a:bodyPr/>
          <a:lstStyle/>
          <a:p>
            <a:pPr lvl="0" indent="0" marL="0">
              <a:buNone/>
            </a:pPr>
            <a:r>
              <a:rPr b="1"/>
              <a:t>Variable</a:t>
            </a:r>
          </a:p>
          <a:p>
            <a:pPr lvl="0" indent="0" marL="1270000">
              <a:buNone/>
            </a:pPr>
            <a:r>
              <a:rPr sz="2000"/>
              <a:t>A quantity or quality that varies across people or situations</a:t>
            </a:r>
          </a:p>
          <a:p>
            <a:pPr lvl="0"/>
            <a:r>
              <a:rPr/>
              <a:t>For example, the height of the actors who have played Superman is a variable because it varies from actor to actor.</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What is Measurement?</a:t>
            </a:r>
          </a:p>
        </p:txBody>
      </p:sp>
      <p:sp>
        <p:nvSpPr>
          <p:cNvPr id="3" name="Content Placeholder 2"/>
          <p:cNvSpPr>
            <a:spLocks noGrp="1"/>
          </p:cNvSpPr>
          <p:nvPr>
            <p:ph idx="1"/>
          </p:nvPr>
        </p:nvSpPr>
        <p:spPr/>
        <p:txBody>
          <a:bodyPr/>
          <a:lstStyle/>
          <a:p>
            <a:pPr lvl="0" indent="0" marL="0">
              <a:buNone/>
            </a:pPr>
            <a:r>
              <a:rPr b="1"/>
              <a:t>Measurement</a:t>
            </a:r>
          </a:p>
          <a:p>
            <a:pPr lvl="0" indent="0" marL="1270000">
              <a:buNone/>
            </a:pPr>
            <a:r>
              <a:rPr sz="2000"/>
              <a:t>The assignment of scores to individuals so that the scores represent some characteristic of the individuals</a:t>
            </a:r>
          </a:p>
          <a:p>
            <a:pPr lvl="0"/>
            <a:r>
              <a:rPr/>
              <a:t>Requires some systemic procedure </a:t>
            </a:r>
            <a:r>
              <a:rPr b="1" i="1"/>
              <a:t>(operationalization)</a:t>
            </a:r>
            <a:r>
              <a:rPr/>
              <a:t> for assigning scores to individuals or objects so that scores represent a characteristic or concept of interest </a:t>
            </a:r>
            <a:r>
              <a:rPr b="1" i="1"/>
              <a:t>(variable)</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097280" y="2386744"/>
            <a:ext cx="9997440" cy="1645920"/>
          </a:xfrm>
          <a:solidFill>
            <a:srgbClr val="FFFFFF"/>
          </a:solidFill>
          <a:ln w="38100">
            <a:solidFill>
              <a:srgbClr val="404040"/>
            </a:solidFill>
          </a:ln>
        </p:spPr>
        <p:txBody>
          <a:bodyPr/>
          <a:lstStyle/>
          <a:p>
            <a:pPr lvl="0" indent="0" marL="0">
              <a:buNone/>
            </a:pPr>
            <a:r>
              <a:rPr/>
              <a:t>Measuring variables</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Types of Variables</a:t>
            </a:r>
          </a:p>
        </p:txBody>
      </p:sp>
      <p:pic>
        <p:nvPicPr>
          <p:cNvPr descr="Hierarchical flow chart showing how to categorize different variable types: top displays process of operationalizing a behavior or characteristic to a variable; then next level splits a variable through the measurement process into Qualitative and Quantitative; then Qualitative divides into Nominal and Ordinal; whereas Quantitative further divides into Discrete and Continuous" id="0" name="Picture 1"/>
          <p:cNvPicPr>
            <a:picLocks noGrp="1" noChangeAspect="1"/>
          </p:cNvPicPr>
          <p:nvPr/>
        </p:nvPicPr>
        <p:blipFill>
          <a:blip r:embed="rId2"/>
          <a:stretch>
            <a:fillRect/>
          </a:stretch>
        </p:blipFill>
        <p:spPr bwMode="auto">
          <a:xfrm>
            <a:off x="4800600" y="2628900"/>
            <a:ext cx="2590800" cy="2590800"/>
          </a:xfrm>
          <a:prstGeom prst="rect">
            <a:avLst/>
          </a:prstGeom>
          <a:noFill/>
          <a:ln w="9525">
            <a:noFill/>
            <a:headEnd/>
            <a:tailEnd/>
          </a:ln>
        </p:spPr>
      </p:pic>
      <p:sp>
        <p:nvSpPr>
          <p:cNvPr id="1" name="TextBox 3"/>
          <p:cNvSpPr txBox="1"/>
          <p:nvPr>
            <p:ph idx="1"/>
          </p:nvPr>
        </p:nvSpPr>
        <p:spPr>
          <a:xfrm>
            <a:off x="1092200" y="5219700"/>
            <a:ext cx="9994900" cy="508000"/>
          </a:xfrm>
          <a:prstGeom prst="rect">
            <a:avLst/>
          </a:prstGeom>
          <a:noFill/>
        </p:spPr>
        <p:txBody>
          <a:bodyPr/>
          <a:lstStyle/>
          <a:p>
            <a:pPr lvl="0" indent="0" marL="0" algn="ctr">
              <a:buNone/>
            </a:pPr>
            <a:r>
              <a:rPr/>
              <a:t>Hierarchical flow chart showing how to categorize different variable types: top displays process of operationalizing a behavior or characteristic to a variable; then next level splits a variable through the measurement process into Qualitative and Quantitative; then Qualitative divides into Nominal and Ordinal; whereas Quantitative further divides into Discrete and Continuous</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Qualitative vs Quantitative</a:t>
            </a:r>
          </a:p>
        </p:txBody>
      </p:sp>
      <p:sp>
        <p:nvSpPr>
          <p:cNvPr id="1008" name="box-post-it" descr="box: . All observations start as QUALITATIVEBoth are useful and legitimateCan choose based on topicOR Combine aspects of both"/>
          <p:cNvSpPr/>
          <p:nvPr/>
        </p:nvSpPr>
        <p:spPr>
          <a:xfrm>
            <a:off x="1097280" y="2633472"/>
            <a:ext cx="9994392" cy="548640"/>
          </a:xfrm>
          <a:prstGeom prst="roundRect">
            <a:avLst>
              <a:gd name="adj" fmla="val 6000"/>
            </a:avLst>
          </a:prstGeom>
          <a:solidFill>
            <a:srgbClr val="FFF9C4"/>
          </a:solidFill>
          <a:ln w="19050">
            <a:solidFill>
              <a:srgbClr val="CCCCCC"/>
            </a:solidFill>
          </a:ln>
        </p:spPr>
        <p:txBody>
          <a:bodyPr lIns="91440" tIns="68580" rIns="91440" bIns="68580" anchor="t" wrap="square">
            <a:normAutofit/>
          </a:bodyPr>
          <a:lstStyle/>
          <a:p>
            <a:pPr algn="l"/>
            <a:r>
              <a:rPr lang="en-US" sz="1200" b="0" dirty="0">
                <a:solidFill>
                  <a:srgbClr val="010B13"/>
                </a:solidFill>
              </a:rPr>
              <a:t>All observations start as QUALITATIVEBoth are useful and legitimateCan choose based on topicOR Combine aspects of both</a:t>
            </a:r>
          </a:p>
        </p:txBody>
      </p:sp>
      <p:sp>
        <p:nvSpPr>
          <p:cNvPr id="1009" name="prose" descr=""/>
          <p:cNvSpPr/>
          <p:nvPr/>
        </p:nvSpPr>
        <p:spPr>
          <a:xfrm>
            <a:off x="1097280" y="3273552"/>
            <a:ext cx="9994392" cy="182880"/>
          </a:xfrm>
          <a:prstGeom prst="roundRect">
            <a:avLst>
              <a:gd name="adj" fmla="val 6000"/>
            </a:avLst>
          </a:prstGeom>
          <a:noFill/>
          <a:ln>
            <a:noFill/>
          </a:ln>
        </p:spPr>
        <p:txBody>
          <a:bodyPr lIns="91440" tIns="68580" rIns="91440" bIns="68580" anchor="t" wrap="square">
            <a:normAutofit/>
          </a:bodyPr>
          <a:lstStyle/>
          <a:p>
            <a:pPr algn="l"/>
            <a:r>
              <a:rPr lang="en-US" sz="1200" b="0" dirty="0">
                <a:solidFill>
                  <a:srgbClr val="010B13"/>
                </a:solidFill>
              </a:rPr>
              <a:t>Qualitative Data Example</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Qualitative vs Quantitative (continued)</a:t>
            </a:r>
          </a:p>
        </p:txBody>
      </p:sp>
      <p:pic>
        <p:nvPicPr>
          <p:cNvPr descr="Brown and white dog wearing colorful knitted winter hat with pompom on top - example of qualitative observation" id="0" name="Picture 1"/>
          <p:cNvPicPr>
            <a:picLocks noGrp="1" noChangeAspect="1"/>
          </p:cNvPicPr>
          <p:nvPr/>
        </p:nvPicPr>
        <p:blipFill>
          <a:blip r:embed="rId2"/>
          <a:stretch>
            <a:fillRect/>
          </a:stretch>
        </p:blipFill>
        <p:spPr bwMode="auto">
          <a:xfrm>
            <a:off x="3759200" y="2628900"/>
            <a:ext cx="4660900" cy="2590800"/>
          </a:xfrm>
          <a:prstGeom prst="rect">
            <a:avLst/>
          </a:prstGeom>
          <a:noFill/>
          <a:ln w="9525">
            <a:noFill/>
            <a:headEnd/>
            <a:tailEnd/>
          </a:ln>
        </p:spPr>
      </p:pic>
      <p:sp>
        <p:nvSpPr>
          <p:cNvPr id="1" name="TextBox 3"/>
          <p:cNvSpPr txBox="1"/>
          <p:nvPr>
            <p:ph idx="1"/>
          </p:nvPr>
        </p:nvSpPr>
        <p:spPr>
          <a:xfrm>
            <a:off x="1092200" y="5219700"/>
            <a:ext cx="9994900" cy="508000"/>
          </a:xfrm>
          <a:prstGeom prst="rect">
            <a:avLst/>
          </a:prstGeom>
          <a:noFill/>
        </p:spPr>
        <p:txBody>
          <a:bodyPr/>
          <a:lstStyle/>
          <a:p>
            <a:pPr lvl="0" indent="0" marL="0" algn="ctr">
              <a:buNone/>
            </a:pPr>
            <a:r>
              <a:rPr b="1"/>
              <a:t>Quantitative Data Example</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Qualitative vs Quantitative (continued)</a:t>
            </a:r>
          </a:p>
        </p:txBody>
      </p:sp>
      <p:pic>
        <p:nvPicPr>
          <p:cNvPr descr="Bar chart showing frequency distribution of different colored hats worn by dogs - example of quantitative data" id="0" name="Picture 1"/>
          <p:cNvPicPr>
            <a:picLocks noGrp="1" noChangeAspect="1"/>
          </p:cNvPicPr>
          <p:nvPr/>
        </p:nvPicPr>
        <p:blipFill>
          <a:blip r:embed="rId2"/>
          <a:stretch>
            <a:fillRect/>
          </a:stretch>
        </p:blipFill>
        <p:spPr bwMode="auto">
          <a:xfrm>
            <a:off x="3683000" y="2628900"/>
            <a:ext cx="4826000" cy="2590800"/>
          </a:xfrm>
          <a:prstGeom prst="rect">
            <a:avLst/>
          </a:prstGeom>
          <a:noFill/>
          <a:ln w="9525">
            <a:noFill/>
            <a:headEnd/>
            <a:tailEnd/>
          </a:ln>
        </p:spPr>
      </p:pic>
      <p:sp>
        <p:nvSpPr>
          <p:cNvPr id="1" name="TextBox 3"/>
          <p:cNvSpPr txBox="1"/>
          <p:nvPr>
            <p:ph idx="1"/>
          </p:nvPr>
        </p:nvSpPr>
        <p:spPr>
          <a:xfrm>
            <a:off x="1092200" y="5219700"/>
            <a:ext cx="9994900" cy="508000"/>
          </a:xfrm>
          <a:prstGeom prst="rect">
            <a:avLst/>
          </a:prstGeom>
          <a:noFill/>
        </p:spPr>
        <p:txBody>
          <a:bodyPr/>
          <a:lstStyle/>
          <a:p>
            <a:pPr lvl="0" indent="0" marL="0" algn="ctr">
              <a:buNone/>
            </a:pPr>
            <a:r>
              <a:rPr/>
              <a:t>Bar chart showing frequency distribution of different colored hats worn by dogs - example of quantitative data</a:t>
            </a: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Quantitative Variables</a:t>
            </a:r>
          </a:p>
        </p:txBody>
      </p:sp>
      <p:sp>
        <p:nvSpPr>
          <p:cNvPr id="1010" name="box-post-it" descr="box: . You count discrete dataYou measure continuous data"/>
          <p:cNvSpPr/>
          <p:nvPr/>
        </p:nvSpPr>
        <p:spPr>
          <a:xfrm>
            <a:off x="1097280" y="2633472"/>
            <a:ext cx="9994392" cy="365760"/>
          </a:xfrm>
          <a:prstGeom prst="roundRect">
            <a:avLst>
              <a:gd name="adj" fmla="val 6000"/>
            </a:avLst>
          </a:prstGeom>
          <a:solidFill>
            <a:srgbClr val="FFF9C4"/>
          </a:solidFill>
          <a:ln w="19050">
            <a:solidFill>
              <a:srgbClr val="CCCCCC"/>
            </a:solidFill>
          </a:ln>
        </p:spPr>
        <p:txBody>
          <a:bodyPr lIns="91440" tIns="68580" rIns="91440" bIns="68580" anchor="t" wrap="square">
            <a:normAutofit/>
          </a:bodyPr>
          <a:lstStyle/>
          <a:p>
            <a:pPr algn="l"/>
            <a:r>
              <a:rPr lang="en-US" sz="1200" b="0" dirty="0">
                <a:solidFill>
                  <a:srgbClr val="010B13"/>
                </a:solidFill>
              </a:rPr>
              <a:t>You count discrete dataYou measure continuous data</a:t>
            </a:r>
          </a:p>
        </p:txBody>
      </p:sp>
      <p:sp>
        <p:nvSpPr>
          <p:cNvPr id="1011" name="prose" descr=""/>
          <p:cNvSpPr/>
          <p:nvPr/>
        </p:nvSpPr>
        <p:spPr>
          <a:xfrm>
            <a:off x="1097280" y="3090672"/>
            <a:ext cx="9994392" cy="182880"/>
          </a:xfrm>
          <a:prstGeom prst="roundRect">
            <a:avLst>
              <a:gd name="adj" fmla="val 6000"/>
            </a:avLst>
          </a:prstGeom>
          <a:noFill/>
          <a:ln>
            <a:noFill/>
          </a:ln>
        </p:spPr>
        <p:txBody>
          <a:bodyPr lIns="91440" tIns="68580" rIns="91440" bIns="68580" anchor="t" wrap="square">
            <a:normAutofit/>
          </a:bodyPr>
          <a:lstStyle/>
          <a:p>
            <a:pPr algn="l"/>
            <a:r>
              <a:rPr lang="en-US" sz="1200" b="0" dirty="0">
                <a:solidFill>
                  <a:srgbClr val="010B13"/>
                </a:solidFill>
              </a:rPr>
              <a:t>Discrete Data Example</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Quantitative Variables (continued)</a:t>
            </a:r>
          </a:p>
        </p:txBody>
      </p:sp>
      <p:pic>
        <p:nvPicPr>
          <p:cNvPr descr="Sign displying the total population of the fictional town of Smallville in a corn field" id="0" name="Picture 1"/>
          <p:cNvPicPr>
            <a:picLocks noGrp="1" noChangeAspect="1"/>
          </p:cNvPicPr>
          <p:nvPr/>
        </p:nvPicPr>
        <p:blipFill>
          <a:blip r:embed="rId2"/>
          <a:stretch>
            <a:fillRect/>
          </a:stretch>
        </p:blipFill>
        <p:spPr bwMode="auto">
          <a:xfrm>
            <a:off x="3962400" y="2628900"/>
            <a:ext cx="4241800" cy="2590800"/>
          </a:xfrm>
          <a:prstGeom prst="rect">
            <a:avLst/>
          </a:prstGeom>
          <a:noFill/>
          <a:ln w="9525">
            <a:noFill/>
            <a:headEnd/>
            <a:tailEnd/>
          </a:ln>
        </p:spPr>
      </p:pic>
      <p:sp>
        <p:nvSpPr>
          <p:cNvPr id="1" name="TextBox 3"/>
          <p:cNvSpPr txBox="1"/>
          <p:nvPr>
            <p:ph idx="1"/>
          </p:nvPr>
        </p:nvSpPr>
        <p:spPr>
          <a:xfrm>
            <a:off x="1092200" y="5219700"/>
            <a:ext cx="9994900" cy="508000"/>
          </a:xfrm>
          <a:prstGeom prst="rect">
            <a:avLst/>
          </a:prstGeom>
          <a:noFill/>
        </p:spPr>
        <p:txBody>
          <a:bodyPr/>
          <a:lstStyle/>
          <a:p>
            <a:pPr lvl="0" indent="0" marL="0" algn="ctr">
              <a:buNone/>
            </a:pPr>
            <a:r>
              <a:rPr b="1"/>
              <a:t>Continuous Data Example</a:t>
            </a:r>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Quantitative Variables (continued)</a:t>
            </a:r>
          </a:p>
        </p:txBody>
      </p:sp>
      <p:pic>
        <p:nvPicPr>
          <p:cNvPr descr="Cartoon of a Superman figure pointing as a blank bar chart" id="0" name="Picture 1"/>
          <p:cNvPicPr>
            <a:picLocks noGrp="1" noChangeAspect="1"/>
          </p:cNvPicPr>
          <p:nvPr/>
        </p:nvPicPr>
        <p:blipFill>
          <a:blip r:embed="rId2"/>
          <a:stretch>
            <a:fillRect/>
          </a:stretch>
        </p:blipFill>
        <p:spPr bwMode="auto">
          <a:xfrm>
            <a:off x="3822700" y="2628900"/>
            <a:ext cx="4533900" cy="2590800"/>
          </a:xfrm>
          <a:prstGeom prst="rect">
            <a:avLst/>
          </a:prstGeom>
          <a:noFill/>
          <a:ln w="9525">
            <a:noFill/>
            <a:headEnd/>
            <a:tailEnd/>
          </a:ln>
        </p:spPr>
      </p:pic>
      <p:sp>
        <p:nvSpPr>
          <p:cNvPr id="1" name="TextBox 3"/>
          <p:cNvSpPr txBox="1"/>
          <p:nvPr>
            <p:ph idx="1"/>
          </p:nvPr>
        </p:nvSpPr>
        <p:spPr>
          <a:xfrm>
            <a:off x="1092200" y="5219700"/>
            <a:ext cx="9994900" cy="508000"/>
          </a:xfrm>
          <a:prstGeom prst="rect">
            <a:avLst/>
          </a:prstGeom>
          <a:noFill/>
        </p:spPr>
        <p:txBody>
          <a:bodyPr/>
          <a:lstStyle/>
          <a:p>
            <a:pPr lvl="0" indent="0" marL="0" algn="ctr">
              <a:buNone/>
            </a:pPr>
            <a:r>
              <a:rPr/>
              <a:t>Cartoon of a Superman figure pointing as a blank bar chart</a:t>
            </a:r>
          </a:p>
        </p:txBody>
      </p:sp>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Quantitative Variables (continued)</a:t>
            </a:r>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097280" y="2386744"/>
            <a:ext cx="9997440" cy="1645920"/>
          </a:xfrm>
          <a:solidFill>
            <a:srgbClr val="FFFFFF"/>
          </a:solidFill>
          <a:ln w="38100">
            <a:solidFill>
              <a:srgbClr val="404040"/>
            </a:solidFill>
          </a:ln>
        </p:spPr>
        <p:txBody>
          <a:bodyPr/>
          <a:lstStyle/>
          <a:p>
            <a:pPr lvl="0" indent="0" marL="0">
              <a:buNone/>
            </a:pPr>
            <a:r>
              <a:rPr/>
              <a:t>Let’s Practice!!</a:t>
            </a:r>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Lab 02: Walk-through Section</a:t>
            </a:r>
          </a:p>
        </p:txBody>
      </p:sp>
      <p:sp>
        <p:nvSpPr>
          <p:cNvPr id="3" name="Content Placeholder 2"/>
          <p:cNvSpPr>
            <a:spLocks noGrp="1"/>
          </p:cNvSpPr>
          <p:nvPr>
            <p:ph idx="1"/>
          </p:nvPr>
        </p:nvSpPr>
        <p:spPr/>
        <p:txBody>
          <a:bodyPr/>
          <a:lstStyle/>
          <a:p>
            <a:pPr lvl="0" indent="0" marL="0">
              <a:buNone/>
            </a:pPr>
            <a:r>
              <a:rPr b="1"/>
              <a:t>Identify Types of Variables</a:t>
            </a:r>
          </a:p>
          <a:p>
            <a:pPr lvl="0" indent="0" marL="0">
              <a:buNone/>
            </a:pPr>
            <a:r>
              <a:rPr/>
              <a:t>For each of the variables, highlight (use yellow) whether it is quantitative (values reflect a count or measurement) or qualitative (values correspond to category membership).</a:t>
            </a:r>
          </a:p>
          <a:p>
            <a:pPr lvl="0" indent="0" marL="0">
              <a:buNone/>
            </a:pPr>
            <a:r>
              <a:rPr/>
              <a:t>For each quantitative, highlight (use yellow) whether it is continuous (can take on any value; e.g., decimal values) or discrete (integer or whole number values only).</a:t>
            </a:r>
          </a:p>
        </p:txBody>
      </p:sp>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Lab 02: Walk-through Section (continued)</a:t>
            </a:r>
          </a:p>
        </p:txBody>
      </p:sp>
      <p:pic>
        <p:nvPicPr>
          <p:cNvPr descr="Hierarchical flow chart showing how to categorize different variable types: top displays process of operationalizing a behavior or characteristic to a variable; then next level splits a variable through the measurement process into Qualitative and Quantitative; then Qualitative divides into Nominal and Ordinal; whereas Quantitative further divides into Discrete and Continuous" id="0" name="Picture 1"/>
          <p:cNvPicPr>
            <a:picLocks noGrp="1" noChangeAspect="1"/>
          </p:cNvPicPr>
          <p:nvPr/>
        </p:nvPicPr>
        <p:blipFill>
          <a:blip r:embed="rId2"/>
          <a:stretch>
            <a:fillRect/>
          </a:stretch>
        </p:blipFill>
        <p:spPr bwMode="auto">
          <a:xfrm>
            <a:off x="4800600" y="2628900"/>
            <a:ext cx="2590800" cy="2590800"/>
          </a:xfrm>
          <a:prstGeom prst="rect">
            <a:avLst/>
          </a:prstGeom>
          <a:noFill/>
          <a:ln w="9525">
            <a:noFill/>
            <a:headEnd/>
            <a:tailEnd/>
          </a:ln>
        </p:spPr>
      </p:pic>
      <p:sp>
        <p:nvSpPr>
          <p:cNvPr id="1" name="TextBox 3"/>
          <p:cNvSpPr txBox="1"/>
          <p:nvPr>
            <p:ph idx="1"/>
          </p:nvPr>
        </p:nvSpPr>
        <p:spPr>
          <a:xfrm>
            <a:off x="1092200" y="5219700"/>
            <a:ext cx="9994900" cy="508000"/>
          </a:xfrm>
          <a:prstGeom prst="rect">
            <a:avLst/>
          </a:prstGeom>
          <a:noFill/>
        </p:spPr>
        <p:txBody>
          <a:bodyPr/>
          <a:lstStyle/>
          <a:p>
            <a:pPr lvl="0" indent="0" marL="0" algn="ctr">
              <a:buNone/>
            </a:pPr>
            <a:r>
              <a:rPr/>
              <a:t>Hierarchical flow chart showing how to categorize different variable types: top displays process of operationalizing a behavior or characteristic to a variable; then next level splits a variable through the measurement process into Qualitative and Quantitative; then Qualitative divides into Nominal and Ordinal; whereas Quantitative further divides into Discrete and Continuous</a:t>
            </a:r>
          </a:p>
        </p:txBody>
      </p:sp>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Variable Name: </a:t>
            </a:r>
            <a:r>
              <a:rPr>
                <a:latin typeface="Courier"/>
              </a:rPr>
              <a:t>type</a:t>
            </a:r>
          </a:p>
        </p:txBody>
      </p:sp>
      <p:pic>
        <p:nvPicPr>
          <p:cNvPr descr="Movie clapperboard icon representing feature film productions and cinema media type" id="0" name="Picture 1"/>
          <p:cNvPicPr>
            <a:picLocks noGrp="1" noChangeAspect="1"/>
          </p:cNvPicPr>
          <p:nvPr/>
        </p:nvPicPr>
        <p:blipFill>
          <a:blip r:embed="rId2"/>
          <a:stretch>
            <a:fillRect/>
          </a:stretch>
        </p:blipFill>
        <p:spPr bwMode="auto">
          <a:xfrm>
            <a:off x="4800600" y="2628900"/>
            <a:ext cx="2590800" cy="2590800"/>
          </a:xfrm>
          <a:prstGeom prst="rect">
            <a:avLst/>
          </a:prstGeom>
          <a:noFill/>
          <a:ln w="9525">
            <a:noFill/>
            <a:headEnd/>
            <a:tailEnd/>
          </a:ln>
        </p:spPr>
      </p:pic>
      <p:sp>
        <p:nvSpPr>
          <p:cNvPr id="1" name="TextBox 3"/>
          <p:cNvSpPr txBox="1"/>
          <p:nvPr>
            <p:ph idx="1"/>
          </p:nvPr>
        </p:nvSpPr>
        <p:spPr>
          <a:xfrm>
            <a:off x="1092200" y="5219700"/>
            <a:ext cx="9994900" cy="508000"/>
          </a:xfrm>
          <a:prstGeom prst="rect">
            <a:avLst/>
          </a:prstGeom>
          <a:noFill/>
        </p:spPr>
        <p:txBody>
          <a:bodyPr/>
          <a:lstStyle/>
          <a:p>
            <a:pPr lvl="0" indent="0" marL="0" algn="ctr">
              <a:buNone/>
            </a:pPr>
            <a:r>
              <a:rPr/>
              <a:t>Movie clapperboard icon representing feature film productions and cinema media type</a:t>
            </a:r>
          </a:p>
        </p:txBody>
      </p:sp>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Variable Name: </a:t>
            </a:r>
            <a:r>
              <a:rPr>
                <a:latin typeface="Courier"/>
              </a:rPr>
              <a:t>first_appear</a:t>
            </a:r>
          </a:p>
        </p:txBody>
      </p:sp>
      <p:pic>
        <p:nvPicPr>
          <p:cNvPr descr="Timeline showing years from 1940s to 2020s with markers indicating when different Superman adaptations first appeared" id="0" name="Picture 1"/>
          <p:cNvPicPr>
            <a:picLocks noGrp="1" noChangeAspect="1"/>
          </p:cNvPicPr>
          <p:nvPr/>
        </p:nvPicPr>
        <p:blipFill>
          <a:blip r:embed="rId2"/>
          <a:stretch>
            <a:fillRect/>
          </a:stretch>
        </p:blipFill>
        <p:spPr bwMode="auto">
          <a:xfrm>
            <a:off x="4800600" y="2628900"/>
            <a:ext cx="2590800" cy="2590800"/>
          </a:xfrm>
          <a:prstGeom prst="rect">
            <a:avLst/>
          </a:prstGeom>
          <a:noFill/>
          <a:ln w="9525">
            <a:noFill/>
            <a:headEnd/>
            <a:tailEnd/>
          </a:ln>
        </p:spPr>
      </p:pic>
      <p:sp>
        <p:nvSpPr>
          <p:cNvPr id="1" name="TextBox 3"/>
          <p:cNvSpPr txBox="1"/>
          <p:nvPr>
            <p:ph idx="1"/>
          </p:nvPr>
        </p:nvSpPr>
        <p:spPr>
          <a:xfrm>
            <a:off x="1092200" y="5219700"/>
            <a:ext cx="9994900" cy="508000"/>
          </a:xfrm>
          <a:prstGeom prst="rect">
            <a:avLst/>
          </a:prstGeom>
          <a:noFill/>
        </p:spPr>
        <p:txBody>
          <a:bodyPr/>
          <a:lstStyle/>
          <a:p>
            <a:pPr lvl="0" indent="0" marL="0" algn="ctr">
              <a:buNone/>
            </a:pPr>
            <a:r>
              <a:rPr/>
              <a:t>Timeline showing years from 1940s to 2020s with markers indicating when different Superman adaptations first appeared</a:t>
            </a:r>
          </a:p>
        </p:txBody>
      </p:sp>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Variable Name: </a:t>
            </a:r>
            <a:r>
              <a:rPr>
                <a:latin typeface="Courier"/>
              </a:rPr>
              <a:t>clark_height</a:t>
            </a:r>
          </a:p>
        </p:txBody>
      </p:sp>
      <p:pic>
        <p:nvPicPr>
          <p:cNvPr descr="Diagram showing metric height measurements stacked vertically illustrating continuous measurement in meters with decimal precision" id="0" name="Picture 1"/>
          <p:cNvPicPr>
            <a:picLocks noGrp="1" noChangeAspect="1"/>
          </p:cNvPicPr>
          <p:nvPr/>
        </p:nvPicPr>
        <p:blipFill>
          <a:blip r:embed="rId2"/>
          <a:stretch>
            <a:fillRect/>
          </a:stretch>
        </p:blipFill>
        <p:spPr bwMode="auto">
          <a:xfrm>
            <a:off x="4800600" y="2628900"/>
            <a:ext cx="2590800" cy="2590800"/>
          </a:xfrm>
          <a:prstGeom prst="rect">
            <a:avLst/>
          </a:prstGeom>
          <a:noFill/>
          <a:ln w="9525">
            <a:noFill/>
            <a:headEnd/>
            <a:tailEnd/>
          </a:ln>
        </p:spPr>
      </p:pic>
      <p:sp>
        <p:nvSpPr>
          <p:cNvPr id="1" name="TextBox 3"/>
          <p:cNvSpPr txBox="1"/>
          <p:nvPr>
            <p:ph idx="1"/>
          </p:nvPr>
        </p:nvSpPr>
        <p:spPr>
          <a:xfrm>
            <a:off x="1092200" y="5219700"/>
            <a:ext cx="9994900" cy="508000"/>
          </a:xfrm>
          <a:prstGeom prst="rect">
            <a:avLst/>
          </a:prstGeom>
          <a:noFill/>
        </p:spPr>
        <p:txBody>
          <a:bodyPr/>
          <a:lstStyle/>
          <a:p>
            <a:pPr lvl="0" indent="0" marL="0" algn="ctr">
              <a:buNone/>
            </a:pPr>
            <a:r>
              <a:rPr/>
              <a:t>Diagram showing metric height measurements stacked vertically illustrating continuous measurement in meters with decimal precision</a:t>
            </a:r>
          </a:p>
        </p:txBody>
      </p:sp>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Variable Name: </a:t>
            </a:r>
            <a:r>
              <a:rPr>
                <a:latin typeface="Courier"/>
              </a:rPr>
              <a:t>height_grp</a:t>
            </a:r>
          </a:p>
        </p:txBody>
      </p:sp>
      <p:sp>
        <p:nvSpPr>
          <p:cNvPr id="3" name="Content Placeholder 2"/>
          <p:cNvSpPr>
            <a:spLocks noGrp="1"/>
          </p:cNvSpPr>
          <p:nvPr>
            <p:ph idx="1"/>
          </p:nvPr>
        </p:nvSpPr>
        <p:spPr/>
        <p:txBody>
          <a:bodyPr/>
          <a:lstStyle/>
          <a:p>
            <a:pPr lvl="0"/>
            <a:r>
              <a:rPr/>
              <a:t>Whether or not Superman actor is over 6ft tall: 1=Yes (≥1.83m/6’0”), 2=No (&lt;1.83m/6’0”)</a:t>
            </a:r>
          </a:p>
        </p:txBody>
      </p:sp>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Variable Name: </a:t>
            </a:r>
            <a:r>
              <a:rPr>
                <a:latin typeface="Courier"/>
              </a:rPr>
              <a:t>height_grp</a:t>
            </a:r>
            <a:r>
              <a:rPr/>
              <a:t> (continued)</a:t>
            </a:r>
          </a:p>
        </p:txBody>
      </p:sp>
      <p:pic>
        <p:nvPicPr>
          <p:cNvPr descr="Diagram showing binary categorization of height with actors classified as either over 6 feet tall or under 6 feet tall" id="0" name="Picture 1"/>
          <p:cNvPicPr>
            <a:picLocks noGrp="1" noChangeAspect="1"/>
          </p:cNvPicPr>
          <p:nvPr/>
        </p:nvPicPr>
        <p:blipFill>
          <a:blip r:embed="rId2"/>
          <a:stretch>
            <a:fillRect/>
          </a:stretch>
        </p:blipFill>
        <p:spPr bwMode="auto">
          <a:xfrm>
            <a:off x="4800600" y="2628900"/>
            <a:ext cx="2590800" cy="2590800"/>
          </a:xfrm>
          <a:prstGeom prst="rect">
            <a:avLst/>
          </a:prstGeom>
          <a:noFill/>
          <a:ln w="9525">
            <a:noFill/>
            <a:headEnd/>
            <a:tailEnd/>
          </a:ln>
        </p:spPr>
      </p:pic>
      <p:sp>
        <p:nvSpPr>
          <p:cNvPr id="1" name="TextBox 3"/>
          <p:cNvSpPr txBox="1"/>
          <p:nvPr>
            <p:ph idx="1"/>
          </p:nvPr>
        </p:nvSpPr>
        <p:spPr>
          <a:xfrm>
            <a:off x="1092200" y="5219700"/>
            <a:ext cx="9994900" cy="508000"/>
          </a:xfrm>
          <a:prstGeom prst="rect">
            <a:avLst/>
          </a:prstGeom>
          <a:noFill/>
        </p:spPr>
        <p:txBody>
          <a:bodyPr/>
          <a:lstStyle/>
          <a:p>
            <a:pPr lvl="0" indent="0" marL="0" algn="ctr">
              <a:buNone/>
            </a:pPr>
            <a:r>
              <a:rPr/>
              <a:t>Diagram showing binary categorization of height with actors classified as either over 6 feet tall or under 6 feet tall</a:t>
            </a:r>
          </a:p>
        </p:txBody>
      </p:sp>
    </p:spTree>
  </p:cSl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Variable Name: </a:t>
            </a:r>
            <a:r>
              <a:rPr>
                <a:latin typeface="Courier"/>
              </a:rPr>
              <a:t>lois_height</a:t>
            </a:r>
          </a:p>
        </p:txBody>
      </p:sp>
      <p:sp>
        <p:nvSpPr>
          <p:cNvPr id="3" name="Content Placeholder 2"/>
          <p:cNvSpPr>
            <a:spLocks noGrp="1"/>
          </p:cNvSpPr>
          <p:nvPr>
            <p:ph idx="1"/>
          </p:nvPr>
        </p:nvSpPr>
        <p:spPr/>
        <p:txBody>
          <a:bodyPr/>
          <a:lstStyle/>
          <a:p>
            <a:pPr lvl="0"/>
            <a:r>
              <a:rPr/>
              <a:t>Height of Lois Lane actor in inches (rounded up)</a:t>
            </a:r>
          </a:p>
        </p:txBody>
      </p:sp>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Variable Name: </a:t>
            </a:r>
            <a:r>
              <a:rPr>
                <a:latin typeface="Courier"/>
              </a:rPr>
              <a:t>lois_height</a:t>
            </a:r>
            <a:r>
              <a:rPr/>
              <a:t> (continued)</a:t>
            </a:r>
          </a:p>
        </p:txBody>
      </p:sp>
      <p:pic>
        <p:nvPicPr>
          <p:cNvPr descr="Chart showing Lois Lane actor heights measured in centimeters with values rounded up to nearest whole number" id="0" name="Picture 1"/>
          <p:cNvPicPr>
            <a:picLocks noGrp="1" noChangeAspect="1"/>
          </p:cNvPicPr>
          <p:nvPr/>
        </p:nvPicPr>
        <p:blipFill>
          <a:blip r:embed="rId2"/>
          <a:stretch>
            <a:fillRect/>
          </a:stretch>
        </p:blipFill>
        <p:spPr bwMode="auto">
          <a:xfrm>
            <a:off x="4800600" y="2628900"/>
            <a:ext cx="2590800" cy="2590800"/>
          </a:xfrm>
          <a:prstGeom prst="rect">
            <a:avLst/>
          </a:prstGeom>
          <a:noFill/>
          <a:ln w="9525">
            <a:noFill/>
            <a:headEnd/>
            <a:tailEnd/>
          </a:ln>
        </p:spPr>
      </p:pic>
      <p:sp>
        <p:nvSpPr>
          <p:cNvPr id="1" name="TextBox 3"/>
          <p:cNvSpPr txBox="1"/>
          <p:nvPr>
            <p:ph idx="1"/>
          </p:nvPr>
        </p:nvSpPr>
        <p:spPr>
          <a:xfrm>
            <a:off x="1092200" y="5219700"/>
            <a:ext cx="9994900" cy="508000"/>
          </a:xfrm>
          <a:prstGeom prst="rect">
            <a:avLst/>
          </a:prstGeom>
          <a:noFill/>
        </p:spPr>
        <p:txBody>
          <a:bodyPr/>
          <a:lstStyle/>
          <a:p>
            <a:pPr lvl="0" indent="0" marL="0" algn="ctr">
              <a:buNone/>
            </a:pPr>
            <a:r>
              <a:rPr/>
              <a:t>Chart showing Lois Lane actor heights measured in centimeters with values rounded up to nearest whole number</a:t>
            </a:r>
          </a:p>
        </p:txBody>
      </p:sp>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Variable Name: </a:t>
            </a:r>
            <a:r>
              <a:rPr>
                <a:latin typeface="Courier"/>
              </a:rPr>
              <a:t>height_diff</a:t>
            </a:r>
          </a:p>
        </p:txBody>
      </p:sp>
      <p:sp>
        <p:nvSpPr>
          <p:cNvPr id="3" name="Content Placeholder 2"/>
          <p:cNvSpPr>
            <a:spLocks noGrp="1"/>
          </p:cNvSpPr>
          <p:nvPr>
            <p:ph idx="1"/>
          </p:nvPr>
        </p:nvSpPr>
        <p:spPr/>
        <p:txBody>
          <a:bodyPr/>
          <a:lstStyle/>
          <a:p>
            <a:pPr lvl="0"/>
            <a:r>
              <a:rPr i="1"/>
              <a:t>Clark’s height - Lois’s height</a:t>
            </a:r>
            <a:r>
              <a:rPr/>
              <a:t> in meters (to 2 decimal places)</a:t>
            </a:r>
          </a:p>
        </p:txBody>
      </p:sp>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Variable Name: </a:t>
            </a:r>
            <a:r>
              <a:rPr>
                <a:latin typeface="Courier"/>
              </a:rPr>
              <a:t>height_diff</a:t>
            </a:r>
            <a:r>
              <a:rPr/>
              <a:t> (continued)</a:t>
            </a:r>
          </a:p>
        </p:txBody>
      </p:sp>
      <p:pic>
        <p:nvPicPr>
          <p:cNvPr descr="Visual representation of height difference calculation between Clark Kent and Lois Lane actors showing the gap in meters" id="0" name="Picture 1"/>
          <p:cNvPicPr>
            <a:picLocks noGrp="1" noChangeAspect="1"/>
          </p:cNvPicPr>
          <p:nvPr/>
        </p:nvPicPr>
        <p:blipFill>
          <a:blip r:embed="rId2"/>
          <a:stretch>
            <a:fillRect/>
          </a:stretch>
        </p:blipFill>
        <p:spPr bwMode="auto">
          <a:xfrm>
            <a:off x="4800600" y="2628900"/>
            <a:ext cx="2590800" cy="2590800"/>
          </a:xfrm>
          <a:prstGeom prst="rect">
            <a:avLst/>
          </a:prstGeom>
          <a:noFill/>
          <a:ln w="9525">
            <a:noFill/>
            <a:headEnd/>
            <a:tailEnd/>
          </a:ln>
        </p:spPr>
      </p:pic>
      <p:sp>
        <p:nvSpPr>
          <p:cNvPr id="1" name="TextBox 3"/>
          <p:cNvSpPr txBox="1"/>
          <p:nvPr>
            <p:ph idx="1"/>
          </p:nvPr>
        </p:nvSpPr>
        <p:spPr>
          <a:xfrm>
            <a:off x="1092200" y="5219700"/>
            <a:ext cx="9994900" cy="508000"/>
          </a:xfrm>
          <a:prstGeom prst="rect">
            <a:avLst/>
          </a:prstGeom>
          <a:noFill/>
        </p:spPr>
        <p:txBody>
          <a:bodyPr/>
          <a:lstStyle/>
          <a:p>
            <a:pPr lvl="0" indent="0" marL="0" algn="ctr">
              <a:buNone/>
            </a:pPr>
            <a:r>
              <a:rPr/>
              <a:t>Visual representation of height difference calculation between Clark Kent and Lois Lane actors showing the gap in meters</a:t>
            </a:r>
          </a:p>
        </p:txBody>
      </p:sp>
    </p:spTree>
  </p:cSl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Developing More Research Questions</a:t>
            </a:r>
          </a:p>
        </p:txBody>
      </p:sp>
      <p:sp>
        <p:nvSpPr>
          <p:cNvPr id="3" name="Content Placeholder 2"/>
          <p:cNvSpPr>
            <a:spLocks noGrp="1"/>
          </p:cNvSpPr>
          <p:nvPr>
            <p:ph idx="1"/>
          </p:nvPr>
        </p:nvSpPr>
        <p:spPr/>
        <p:txBody>
          <a:bodyPr/>
          <a:lstStyle/>
          <a:p>
            <a:pPr lvl="0"/>
            <a:r>
              <a:rPr/>
              <a:t>For any conceptual definition of a construct, there will be many different operational definitions or ways of measuring it.</a:t>
            </a:r>
          </a:p>
          <a:p>
            <a:pPr lvl="0"/>
            <a:r>
              <a:rPr/>
              <a:t>The use of multiple operational definitions, or converging operations, is a common strategy in psychological research.</a:t>
            </a:r>
          </a:p>
        </p:txBody>
      </p:sp>
    </p:spTree>
  </p:cSl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Bivariate Research Question?</a:t>
            </a:r>
          </a:p>
        </p:txBody>
      </p:sp>
      <p:pic>
        <p:nvPicPr>
          <p:cNvPr descr="Diagram showing research question about relationship between Superman and Lois Lane heights introducing bivariate analysis" id="0" name="Picture 1"/>
          <p:cNvPicPr>
            <a:picLocks noGrp="1" noChangeAspect="1"/>
          </p:cNvPicPr>
          <p:nvPr/>
        </p:nvPicPr>
        <p:blipFill>
          <a:blip r:embed="rId2"/>
          <a:stretch>
            <a:fillRect/>
          </a:stretch>
        </p:blipFill>
        <p:spPr bwMode="auto">
          <a:xfrm>
            <a:off x="4800600" y="2628900"/>
            <a:ext cx="2590800" cy="2590800"/>
          </a:xfrm>
          <a:prstGeom prst="rect">
            <a:avLst/>
          </a:prstGeom>
          <a:noFill/>
          <a:ln w="9525">
            <a:noFill/>
            <a:headEnd/>
            <a:tailEnd/>
          </a:ln>
        </p:spPr>
      </p:pic>
      <p:sp>
        <p:nvSpPr>
          <p:cNvPr id="1" name="TextBox 3"/>
          <p:cNvSpPr txBox="1"/>
          <p:nvPr>
            <p:ph idx="1"/>
          </p:nvPr>
        </p:nvSpPr>
        <p:spPr>
          <a:xfrm>
            <a:off x="1092200" y="5219700"/>
            <a:ext cx="9994900" cy="508000"/>
          </a:xfrm>
          <a:prstGeom prst="rect">
            <a:avLst/>
          </a:prstGeom>
          <a:noFill/>
        </p:spPr>
        <p:txBody>
          <a:bodyPr/>
          <a:lstStyle/>
          <a:p>
            <a:pPr lvl="0" indent="0" marL="0" algn="ctr">
              <a:buNone/>
            </a:pPr>
            <a:r>
              <a:rPr/>
              <a:t>Diagram showing research question about relationship between Superman and Lois Lane heights introducing bivariate analysis</a:t>
            </a:r>
          </a:p>
        </p:txBody>
      </p:sp>
    </p:spTree>
  </p:cSl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097280" y="2386744"/>
            <a:ext cx="9997440" cy="1645920"/>
          </a:xfrm>
          <a:solidFill>
            <a:srgbClr val="FFFFFF"/>
          </a:solidFill>
          <a:ln w="38100">
            <a:solidFill>
              <a:srgbClr val="404040"/>
            </a:solidFill>
          </a:ln>
        </p:spPr>
        <p:txBody>
          <a:bodyPr/>
          <a:lstStyle/>
          <a:p>
            <a:pPr lvl="0" indent="0" marL="0">
              <a:buNone/>
            </a:pPr>
            <a:r>
              <a:rPr b="1"/>
              <a:t>More Practice:</a:t>
            </a:r>
            <a:r>
              <a:rPr/>
              <a:t> Measuring “enjoy”</a:t>
            </a:r>
          </a:p>
        </p:txBody>
      </p:sp>
    </p:spTree>
  </p:cSl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Variable: </a:t>
            </a:r>
            <a:r>
              <a:rPr>
                <a:latin typeface="Courier"/>
              </a:rPr>
              <a:t>rt_critics_score</a:t>
            </a:r>
          </a:p>
        </p:txBody>
      </p:sp>
      <p:sp>
        <p:nvSpPr>
          <p:cNvPr id="3" name="Content Placeholder 2"/>
          <p:cNvSpPr>
            <a:spLocks noGrp="1"/>
          </p:cNvSpPr>
          <p:nvPr>
            <p:ph idx="1"/>
          </p:nvPr>
        </p:nvSpPr>
        <p:spPr/>
        <p:txBody>
          <a:bodyPr/>
          <a:lstStyle/>
          <a:p>
            <a:pPr lvl="0"/>
            <a:r>
              <a:rPr/>
              <a:t>Rotten Tomatoes critics score (0-100%)</a:t>
            </a:r>
          </a:p>
        </p:txBody>
      </p:sp>
    </p:spTree>
  </p:cSl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Variable: </a:t>
            </a:r>
            <a:r>
              <a:rPr>
                <a:latin typeface="Courier"/>
              </a:rPr>
              <a:t>rt_critics_score</a:t>
            </a:r>
            <a:r>
              <a:rPr/>
              <a:t> (continued)</a:t>
            </a:r>
          </a:p>
        </p:txBody>
      </p:sp>
      <p:pic>
        <p:nvPicPr>
          <p:cNvPr descr="Rotten Tomatoes Tomatometer showing critics ratings with fresh tomato icon for positive reviews and splat icon for negative reviews scored 0 to 100 percent" id="0" name="Picture 1"/>
          <p:cNvPicPr>
            <a:picLocks noGrp="1" noChangeAspect="1"/>
          </p:cNvPicPr>
          <p:nvPr/>
        </p:nvPicPr>
        <p:blipFill>
          <a:blip r:embed="rId2"/>
          <a:stretch>
            <a:fillRect/>
          </a:stretch>
        </p:blipFill>
        <p:spPr bwMode="auto">
          <a:xfrm>
            <a:off x="4800600" y="2628900"/>
            <a:ext cx="2590800" cy="2590800"/>
          </a:xfrm>
          <a:prstGeom prst="rect">
            <a:avLst/>
          </a:prstGeom>
          <a:noFill/>
          <a:ln w="9525">
            <a:noFill/>
            <a:headEnd/>
            <a:tailEnd/>
          </a:ln>
        </p:spPr>
      </p:pic>
      <p:sp>
        <p:nvSpPr>
          <p:cNvPr id="1" name="TextBox 3"/>
          <p:cNvSpPr txBox="1"/>
          <p:nvPr>
            <p:ph idx="1"/>
          </p:nvPr>
        </p:nvSpPr>
        <p:spPr>
          <a:xfrm>
            <a:off x="1092200" y="5219700"/>
            <a:ext cx="9994900" cy="508000"/>
          </a:xfrm>
          <a:prstGeom prst="rect">
            <a:avLst/>
          </a:prstGeom>
          <a:noFill/>
        </p:spPr>
        <p:txBody>
          <a:bodyPr/>
          <a:lstStyle/>
          <a:p>
            <a:pPr lvl="0" indent="0" marL="0" algn="ctr">
              <a:buNone/>
            </a:pPr>
            <a:r>
              <a:rPr>
                <a:hlinkClick r:id="rId3"/>
              </a:rPr>
              <a:t>For more details, visit Rotten Tomatoes</a:t>
            </a:r>
          </a:p>
        </p:txBody>
      </p:sp>
    </p:spTree>
  </p:cSl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Variable: </a:t>
            </a:r>
            <a:r>
              <a:rPr>
                <a:latin typeface="Courier"/>
              </a:rPr>
              <a:t>rt_status</a:t>
            </a:r>
          </a:p>
        </p:txBody>
      </p:sp>
      <p:sp>
        <p:nvSpPr>
          <p:cNvPr id="3" name="Content Placeholder 2"/>
          <p:cNvSpPr>
            <a:spLocks noGrp="1"/>
          </p:cNvSpPr>
          <p:nvPr>
            <p:ph idx="1"/>
          </p:nvPr>
        </p:nvSpPr>
        <p:spPr/>
        <p:txBody>
          <a:bodyPr/>
          <a:lstStyle/>
          <a:p>
            <a:pPr lvl="0"/>
            <a:r>
              <a:rPr/>
              <a:t>Rotten Tomatoes status (1=Fresh, 2=Certified Fresh, 3=Rotten)</a:t>
            </a:r>
          </a:p>
          <a:p>
            <a:pPr lvl="0" indent="0" marL="0">
              <a:buNone/>
            </a:pPr>
            <a:r>
              <a:rPr>
                <a:hlinkClick r:id="rId2"/>
              </a:rPr>
              <a:t>For more details, visit Rotten Tomatoes</a:t>
            </a:r>
          </a:p>
        </p:txBody>
      </p:sp>
    </p:spTree>
  </p:cSl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Variable: </a:t>
            </a:r>
            <a:r>
              <a:rPr>
                <a:latin typeface="Courier"/>
              </a:rPr>
              <a:t>rt_status</a:t>
            </a:r>
            <a:r>
              <a:rPr/>
              <a:t> (continued)</a:t>
            </a:r>
          </a:p>
        </p:txBody>
      </p:sp>
      <p:pic>
        <p:nvPicPr>
          <p:cNvPr descr="Rotten Tomatoes logo featuring red tomato icon and brand name" id="0" name="Picture 1"/>
          <p:cNvPicPr>
            <a:picLocks noGrp="1" noChangeAspect="1"/>
          </p:cNvPicPr>
          <p:nvPr/>
        </p:nvPicPr>
        <p:blipFill>
          <a:blip r:embed="rId2"/>
          <a:stretch>
            <a:fillRect/>
          </a:stretch>
        </p:blipFill>
        <p:spPr bwMode="auto">
          <a:xfrm>
            <a:off x="4800600" y="2628900"/>
            <a:ext cx="2590800" cy="2590800"/>
          </a:xfrm>
          <a:prstGeom prst="rect">
            <a:avLst/>
          </a:prstGeom>
          <a:noFill/>
          <a:ln w="9525">
            <a:noFill/>
            <a:headEnd/>
            <a:tailEnd/>
          </a:ln>
        </p:spPr>
      </p:pic>
      <p:sp>
        <p:nvSpPr>
          <p:cNvPr id="1" name="TextBox 3"/>
          <p:cNvSpPr txBox="1"/>
          <p:nvPr>
            <p:ph idx="1"/>
          </p:nvPr>
        </p:nvSpPr>
        <p:spPr>
          <a:xfrm>
            <a:off x="1092200" y="5219700"/>
            <a:ext cx="9994900" cy="508000"/>
          </a:xfrm>
          <a:prstGeom prst="rect">
            <a:avLst/>
          </a:prstGeom>
          <a:noFill/>
        </p:spPr>
        <p:txBody>
          <a:bodyPr/>
          <a:lstStyle/>
          <a:p>
            <a:pPr lvl="0" indent="0" marL="0" algn="ctr">
              <a:buNone/>
            </a:pPr>
            <a:r>
              <a:rPr/>
              <a:t>Rotten Tomatoes logo featuring red tomato icon and brand name</a:t>
            </a:r>
          </a:p>
        </p:txBody>
      </p:sp>
    </p:spTree>
  </p:cSl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Variable: </a:t>
            </a:r>
            <a:r>
              <a:rPr>
                <a:latin typeface="Courier"/>
              </a:rPr>
              <a:t>rt_audience_score</a:t>
            </a:r>
          </a:p>
        </p:txBody>
      </p:sp>
      <p:sp>
        <p:nvSpPr>
          <p:cNvPr id="3" name="Content Placeholder 2"/>
          <p:cNvSpPr>
            <a:spLocks noGrp="1"/>
          </p:cNvSpPr>
          <p:nvPr>
            <p:ph idx="1"/>
          </p:nvPr>
        </p:nvSpPr>
        <p:spPr/>
        <p:txBody>
          <a:bodyPr/>
          <a:lstStyle/>
          <a:p>
            <a:pPr lvl="0"/>
            <a:r>
              <a:rPr/>
              <a:t>Rotten Tomatoes audience score (0-100%)</a:t>
            </a:r>
          </a:p>
          <a:p>
            <a:pPr lvl="0" indent="0" marL="0">
              <a:buNone/>
            </a:pPr>
            <a:r>
              <a:rPr>
                <a:hlinkClick r:id="rId2"/>
              </a:rPr>
              <a:t>For more details, visit Rotten Tomatoes</a:t>
            </a:r>
          </a:p>
        </p:txBody>
      </p:sp>
    </p:spTree>
  </p:cSl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Variable: </a:t>
            </a:r>
            <a:r>
              <a:rPr>
                <a:latin typeface="Courier"/>
              </a:rPr>
              <a:t>rt_audience_score</a:t>
            </a:r>
            <a:r>
              <a:rPr/>
              <a:t> (continued)</a:t>
            </a:r>
          </a:p>
        </p:txBody>
      </p:sp>
      <p:pic>
        <p:nvPicPr>
          <p:cNvPr descr="Rotten Tomatoes Audience Score showing general viewer ratings with popcorn bucket icons full for positive and spilled for negative scored 0 to 100 percent" id="0" name="Picture 1"/>
          <p:cNvPicPr>
            <a:picLocks noGrp="1" noChangeAspect="1"/>
          </p:cNvPicPr>
          <p:nvPr/>
        </p:nvPicPr>
        <p:blipFill>
          <a:blip r:embed="rId2"/>
          <a:stretch>
            <a:fillRect/>
          </a:stretch>
        </p:blipFill>
        <p:spPr bwMode="auto">
          <a:xfrm>
            <a:off x="4800600" y="2628900"/>
            <a:ext cx="2590800" cy="2590800"/>
          </a:xfrm>
          <a:prstGeom prst="rect">
            <a:avLst/>
          </a:prstGeom>
          <a:noFill/>
          <a:ln w="9525">
            <a:noFill/>
            <a:headEnd/>
            <a:tailEnd/>
          </a:ln>
        </p:spPr>
      </p:pic>
      <p:sp>
        <p:nvSpPr>
          <p:cNvPr id="1" name="TextBox 3"/>
          <p:cNvSpPr txBox="1"/>
          <p:nvPr>
            <p:ph idx="1"/>
          </p:nvPr>
        </p:nvSpPr>
        <p:spPr>
          <a:xfrm>
            <a:off x="1092200" y="5219700"/>
            <a:ext cx="9994900" cy="508000"/>
          </a:xfrm>
          <a:prstGeom prst="rect">
            <a:avLst/>
          </a:prstGeom>
          <a:noFill/>
        </p:spPr>
        <p:txBody>
          <a:bodyPr/>
          <a:lstStyle/>
          <a:p>
            <a:pPr lvl="0" indent="0" marL="0" algn="ctr">
              <a:buNone/>
            </a:pPr>
            <a:r>
              <a:rPr/>
              <a:t>Rotten Tomatoes Audience Score showing general viewer ratings with popcorn bucket icons full for positive and spilled for negative scored 0 to 100 percent</a:t>
            </a:r>
          </a:p>
        </p:txBody>
      </p:sp>
    </p:spTree>
  </p:cSl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Variable Name: </a:t>
            </a:r>
            <a:r>
              <a:rPr>
                <a:latin typeface="Courier"/>
              </a:rPr>
              <a:t>lb_avg_stars</a:t>
            </a:r>
          </a:p>
        </p:txBody>
      </p:sp>
      <p:sp>
        <p:nvSpPr>
          <p:cNvPr id="3" name="Content Placeholder 2"/>
          <p:cNvSpPr>
            <a:spLocks noGrp="1"/>
          </p:cNvSpPr>
          <p:nvPr>
            <p:ph idx="1"/>
          </p:nvPr>
        </p:nvSpPr>
        <p:spPr/>
        <p:txBody>
          <a:bodyPr/>
          <a:lstStyle/>
          <a:p>
            <a:pPr lvl="0"/>
            <a:r>
              <a:rPr/>
              <a:t>Letterboxd average rating (1-5 stars)</a:t>
            </a:r>
          </a:p>
          <a:p>
            <a:pPr lvl="0" indent="0" marL="0">
              <a:buNone/>
            </a:pPr>
            <a:r>
              <a:rPr>
                <a:hlinkClick r:id="rId2"/>
              </a:rPr>
              <a:t>For more details, visit Letterboxd</a:t>
            </a:r>
          </a:p>
        </p:txBody>
      </p:sp>
    </p:spTree>
  </p:cSl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Variable Name: </a:t>
            </a:r>
            <a:r>
              <a:rPr>
                <a:latin typeface="Courier"/>
              </a:rPr>
              <a:t>lb_avg_stars</a:t>
            </a:r>
            <a:r>
              <a:rPr/>
              <a:t> (continued)</a:t>
            </a:r>
          </a:p>
        </p:txBody>
      </p:sp>
      <p:pic>
        <p:nvPicPr>
          <p:cNvPr descr="Screenshot of Letterboxd review interface showing star rating system from 1 to 5 stars with average rating display" id="0" name="Picture 1"/>
          <p:cNvPicPr>
            <a:picLocks noGrp="1" noChangeAspect="1"/>
          </p:cNvPicPr>
          <p:nvPr/>
        </p:nvPicPr>
        <p:blipFill>
          <a:blip r:embed="rId2"/>
          <a:stretch>
            <a:fillRect/>
          </a:stretch>
        </p:blipFill>
        <p:spPr bwMode="auto">
          <a:xfrm>
            <a:off x="4800600" y="2628900"/>
            <a:ext cx="2590800" cy="2590800"/>
          </a:xfrm>
          <a:prstGeom prst="rect">
            <a:avLst/>
          </a:prstGeom>
          <a:noFill/>
          <a:ln w="9525">
            <a:noFill/>
            <a:headEnd/>
            <a:tailEnd/>
          </a:ln>
        </p:spPr>
      </p:pic>
      <p:sp>
        <p:nvSpPr>
          <p:cNvPr id="1" name="TextBox 3"/>
          <p:cNvSpPr txBox="1"/>
          <p:nvPr>
            <p:ph idx="1"/>
          </p:nvPr>
        </p:nvSpPr>
        <p:spPr>
          <a:xfrm>
            <a:off x="1092200" y="5219700"/>
            <a:ext cx="9994900" cy="508000"/>
          </a:xfrm>
          <a:prstGeom prst="rect">
            <a:avLst/>
          </a:prstGeom>
          <a:noFill/>
        </p:spPr>
        <p:txBody>
          <a:bodyPr/>
          <a:lstStyle/>
          <a:p>
            <a:pPr lvl="0" indent="0" marL="0" algn="ctr">
              <a:buNone/>
            </a:pPr>
            <a:r>
              <a:rPr/>
              <a:t>Screenshot of Letterboxd review interface showing star rating system from 1 to 5 stars with average rating display</a:t>
            </a:r>
          </a:p>
        </p:txBody>
      </p:sp>
    </p:spTree>
  </p:cSl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Variable Name: </a:t>
            </a:r>
            <a:r>
              <a:rPr>
                <a:latin typeface="Courier"/>
              </a:rPr>
              <a:t>lb_reviews</a:t>
            </a:r>
          </a:p>
        </p:txBody>
      </p:sp>
      <p:sp>
        <p:nvSpPr>
          <p:cNvPr id="3" name="Content Placeholder 2"/>
          <p:cNvSpPr>
            <a:spLocks noGrp="1"/>
          </p:cNvSpPr>
          <p:nvPr>
            <p:ph idx="1"/>
          </p:nvPr>
        </p:nvSpPr>
        <p:spPr/>
        <p:txBody>
          <a:bodyPr/>
          <a:lstStyle/>
          <a:p>
            <a:pPr lvl="0"/>
            <a:r>
              <a:rPr/>
              <a:t>Letterboxd number of reviews</a:t>
            </a:r>
          </a:p>
          <a:p>
            <a:pPr lvl="0" indent="0" marL="0">
              <a:buNone/>
            </a:pPr>
            <a:r>
              <a:rPr>
                <a:hlinkClick r:id="rId2"/>
              </a:rPr>
              <a:t>For more details, visit Letterboxd</a:t>
            </a:r>
          </a:p>
        </p:txBody>
      </p:sp>
    </p:spTree>
  </p:cSl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Variable Name: </a:t>
            </a:r>
            <a:r>
              <a:rPr>
                <a:latin typeface="Courier"/>
              </a:rPr>
              <a:t>lb_reviews</a:t>
            </a:r>
            <a:r>
              <a:rPr/>
              <a:t> (continued)</a:t>
            </a:r>
          </a:p>
        </p:txBody>
      </p:sp>
      <p:pic>
        <p:nvPicPr>
          <p:cNvPr descr="Screenshot showing Letterboxd review count display with total number of user reviews for a film" id="0" name="Picture 1"/>
          <p:cNvPicPr>
            <a:picLocks noGrp="1" noChangeAspect="1"/>
          </p:cNvPicPr>
          <p:nvPr/>
        </p:nvPicPr>
        <p:blipFill>
          <a:blip r:embed="rId2"/>
          <a:stretch>
            <a:fillRect/>
          </a:stretch>
        </p:blipFill>
        <p:spPr bwMode="auto">
          <a:xfrm>
            <a:off x="4800600" y="2628900"/>
            <a:ext cx="2590800" cy="2590800"/>
          </a:xfrm>
          <a:prstGeom prst="rect">
            <a:avLst/>
          </a:prstGeom>
          <a:noFill/>
          <a:ln w="9525">
            <a:noFill/>
            <a:headEnd/>
            <a:tailEnd/>
          </a:ln>
        </p:spPr>
      </p:pic>
      <p:sp>
        <p:nvSpPr>
          <p:cNvPr id="1" name="TextBox 3"/>
          <p:cNvSpPr txBox="1"/>
          <p:nvPr>
            <p:ph idx="1"/>
          </p:nvPr>
        </p:nvSpPr>
        <p:spPr>
          <a:xfrm>
            <a:off x="1092200" y="5219700"/>
            <a:ext cx="9994900" cy="508000"/>
          </a:xfrm>
          <a:prstGeom prst="rect">
            <a:avLst/>
          </a:prstGeom>
          <a:noFill/>
        </p:spPr>
        <p:txBody>
          <a:bodyPr/>
          <a:lstStyle/>
          <a:p>
            <a:pPr lvl="0" indent="0" marL="0" algn="ctr">
              <a:buNone/>
            </a:pPr>
            <a:r>
              <a:rPr/>
              <a:t>Screenshot showing Letterboxd review count display with total number of user reviews for a film</a:t>
            </a:r>
          </a:p>
        </p:txBody>
      </p:sp>
    </p:spTree>
  </p:cSl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Variable Name: </a:t>
            </a:r>
            <a:r>
              <a:rPr>
                <a:latin typeface="Courier"/>
              </a:rPr>
              <a:t>metacritic_score</a:t>
            </a:r>
          </a:p>
        </p:txBody>
      </p:sp>
      <p:sp>
        <p:nvSpPr>
          <p:cNvPr id="3" name="Content Placeholder 2"/>
          <p:cNvSpPr>
            <a:spLocks noGrp="1"/>
          </p:cNvSpPr>
          <p:nvPr>
            <p:ph idx="1"/>
          </p:nvPr>
        </p:nvSpPr>
        <p:spPr/>
        <p:txBody>
          <a:bodyPr/>
          <a:lstStyle/>
          <a:p>
            <a:pPr lvl="0"/>
            <a:r>
              <a:rPr/>
              <a:t>Metacritic score (0-100)</a:t>
            </a:r>
          </a:p>
          <a:p>
            <a:pPr lvl="0" indent="0" marL="0">
              <a:buNone/>
            </a:pPr>
            <a:r>
              <a:rPr>
                <a:hlinkClick r:id="rId2"/>
              </a:rPr>
              <a:t>For more details, visit Metacritic</a:t>
            </a:r>
          </a:p>
        </p:txBody>
      </p:sp>
    </p:spTree>
  </p:cSl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Variable Name: </a:t>
            </a:r>
            <a:r>
              <a:rPr>
                <a:latin typeface="Courier"/>
              </a:rPr>
              <a:t>metacritic_score</a:t>
            </a:r>
            <a:r>
              <a:rPr/>
              <a:t> (continued)</a:t>
            </a:r>
          </a:p>
        </p:txBody>
      </p:sp>
      <p:pic>
        <p:nvPicPr>
          <p:cNvPr descr="Diagram of Metacritic score calculation. First, describes a Metascore as a single score that represents the critical consensus for games, movies, TV shows, and albums; Then it describes how that score is computed by first identifying a group of highly respected critics, and then second creating a weighted average of those scores to produce a single number" id="0" name="Picture 1"/>
          <p:cNvPicPr>
            <a:picLocks noGrp="1" noChangeAspect="1"/>
          </p:cNvPicPr>
          <p:nvPr/>
        </p:nvPicPr>
        <p:blipFill>
          <a:blip r:embed="rId2"/>
          <a:stretch>
            <a:fillRect/>
          </a:stretch>
        </p:blipFill>
        <p:spPr bwMode="auto">
          <a:xfrm>
            <a:off x="4800600" y="2628900"/>
            <a:ext cx="2590800" cy="2590800"/>
          </a:xfrm>
          <a:prstGeom prst="rect">
            <a:avLst/>
          </a:prstGeom>
          <a:noFill/>
          <a:ln w="9525">
            <a:noFill/>
            <a:headEnd/>
            <a:tailEnd/>
          </a:ln>
        </p:spPr>
      </p:pic>
      <p:sp>
        <p:nvSpPr>
          <p:cNvPr id="1" name="TextBox 3"/>
          <p:cNvSpPr txBox="1"/>
          <p:nvPr>
            <p:ph idx="1"/>
          </p:nvPr>
        </p:nvSpPr>
        <p:spPr>
          <a:xfrm>
            <a:off x="1092200" y="5219700"/>
            <a:ext cx="9994900" cy="508000"/>
          </a:xfrm>
          <a:prstGeom prst="rect">
            <a:avLst/>
          </a:prstGeom>
          <a:noFill/>
        </p:spPr>
        <p:txBody>
          <a:bodyPr/>
          <a:lstStyle/>
          <a:p>
            <a:pPr lvl="0" indent="0" marL="0" algn="ctr">
              <a:buNone/>
            </a:pPr>
            <a:r>
              <a:rPr/>
              <a:t>Diagram of Metacritic score calculation. First, describes a Metascore as a single score that represents the critical consensus for games, movies, TV shows, and albums; Then it describes how that score is computed by first identifying a group of highly respected critics, and then second creating a weighted average of those scores to produce a single number</a:t>
            </a:r>
          </a:p>
        </p:txBody>
      </p:sp>
    </p:spTree>
  </p:cSld>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Variable Name: </a:t>
            </a:r>
            <a:r>
              <a:rPr>
                <a:latin typeface="Courier"/>
              </a:rPr>
              <a:t>emotion</a:t>
            </a:r>
          </a:p>
        </p:txBody>
      </p:sp>
      <p:sp>
        <p:nvSpPr>
          <p:cNvPr id="3" name="Content Placeholder 2"/>
          <p:cNvSpPr>
            <a:spLocks noGrp="1"/>
          </p:cNvSpPr>
          <p:nvPr>
            <p:ph idx="1"/>
          </p:nvPr>
        </p:nvSpPr>
        <p:spPr/>
        <p:txBody>
          <a:bodyPr/>
          <a:lstStyle/>
          <a:p>
            <a:pPr lvl="0"/>
            <a:r>
              <a:rPr/>
              <a:t>Primary emotion while watching (1=fear, 2=joy, 3=sadness, 4=anger, 5=disgust, 6=anxiety)</a:t>
            </a:r>
          </a:p>
        </p:txBody>
      </p:sp>
    </p:spTree>
  </p:cSld>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Variable Name: </a:t>
            </a:r>
            <a:r>
              <a:rPr>
                <a:latin typeface="Courier"/>
              </a:rPr>
              <a:t>emotion</a:t>
            </a:r>
            <a:r>
              <a:rPr/>
              <a:t> (continued)</a:t>
            </a:r>
          </a:p>
        </p:txBody>
      </p:sp>
      <p:pic>
        <p:nvPicPr>
          <p:cNvPr descr="List of emotions from inside-out" id="0" name="Picture 1"/>
          <p:cNvPicPr>
            <a:picLocks noGrp="1" noChangeAspect="1"/>
          </p:cNvPicPr>
          <p:nvPr/>
        </p:nvPicPr>
        <p:blipFill>
          <a:blip r:embed="rId2"/>
          <a:stretch>
            <a:fillRect/>
          </a:stretch>
        </p:blipFill>
        <p:spPr bwMode="auto">
          <a:xfrm>
            <a:off x="4800600" y="2628900"/>
            <a:ext cx="2590800" cy="2590800"/>
          </a:xfrm>
          <a:prstGeom prst="rect">
            <a:avLst/>
          </a:prstGeom>
          <a:noFill/>
          <a:ln w="9525">
            <a:noFill/>
            <a:headEnd/>
            <a:tailEnd/>
          </a:ln>
        </p:spPr>
      </p:pic>
      <p:sp>
        <p:nvSpPr>
          <p:cNvPr id="1" name="TextBox 3"/>
          <p:cNvSpPr txBox="1"/>
          <p:nvPr>
            <p:ph idx="1"/>
          </p:nvPr>
        </p:nvSpPr>
        <p:spPr>
          <a:xfrm>
            <a:off x="1092200" y="5219700"/>
            <a:ext cx="9994900" cy="508000"/>
          </a:xfrm>
          <a:prstGeom prst="rect">
            <a:avLst/>
          </a:prstGeom>
          <a:noFill/>
        </p:spPr>
        <p:txBody>
          <a:bodyPr/>
          <a:lstStyle/>
          <a:p>
            <a:pPr lvl="0" indent="0" marL="0" algn="ctr">
              <a:buNone/>
            </a:pPr>
            <a:r>
              <a:rPr/>
              <a:t>List of emotions from inside-out</a:t>
            </a:r>
          </a:p>
        </p:txBody>
      </p:sp>
    </p:spTree>
  </p:cSld>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Understanding </a:t>
            </a:r>
            <a:r>
              <a:rPr i="1"/>
              <a:t>Scales</a:t>
            </a:r>
            <a:r>
              <a:rPr/>
              <a:t> &amp; </a:t>
            </a:r>
            <a:r>
              <a:rPr i="1"/>
              <a:t>Sub-scales</a:t>
            </a:r>
            <a:r>
              <a:rPr/>
              <a:t>!!</a:t>
            </a:r>
          </a:p>
        </p:txBody>
      </p:sp>
      <p:pic>
        <p:nvPicPr>
          <p:cNvPr descr="Overview of Subjective Movie Enjoyment Scale showing complete multi-item survey instrument with various subscales" id="0" name="Picture 1"/>
          <p:cNvPicPr>
            <a:picLocks noGrp="1" noChangeAspect="1"/>
          </p:cNvPicPr>
          <p:nvPr/>
        </p:nvPicPr>
        <p:blipFill>
          <a:blip r:embed="rId2"/>
          <a:stretch>
            <a:fillRect/>
          </a:stretch>
        </p:blipFill>
        <p:spPr bwMode="auto">
          <a:xfrm>
            <a:off x="4800600" y="2628900"/>
            <a:ext cx="2590800" cy="2590800"/>
          </a:xfrm>
          <a:prstGeom prst="rect">
            <a:avLst/>
          </a:prstGeom>
          <a:noFill/>
          <a:ln w="9525">
            <a:noFill/>
            <a:headEnd/>
            <a:tailEnd/>
          </a:ln>
        </p:spPr>
      </p:pic>
      <p:sp>
        <p:nvSpPr>
          <p:cNvPr id="1" name="TextBox 3"/>
          <p:cNvSpPr txBox="1"/>
          <p:nvPr>
            <p:ph idx="1"/>
          </p:nvPr>
        </p:nvSpPr>
        <p:spPr>
          <a:xfrm>
            <a:off x="1092200" y="5219700"/>
            <a:ext cx="9994900" cy="508000"/>
          </a:xfrm>
          <a:prstGeom prst="rect">
            <a:avLst/>
          </a:prstGeom>
          <a:noFill/>
        </p:spPr>
        <p:txBody>
          <a:bodyPr/>
          <a:lstStyle/>
          <a:p>
            <a:pPr lvl="0" indent="0" marL="0" algn="ctr">
              <a:buNone/>
            </a:pPr>
            <a:r>
              <a:rPr/>
              <a:t>Overview of Subjective Movie Enjoyment Scale showing complete multi-item survey instrument with various subscales</a:t>
            </a:r>
          </a:p>
        </p:txBody>
      </p:sp>
    </p:spTree>
  </p:cSld>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Understanding </a:t>
            </a:r>
            <a:r>
              <a:rPr i="1"/>
              <a:t>Scales</a:t>
            </a:r>
            <a:r>
              <a:rPr/>
              <a:t> &amp; </a:t>
            </a:r>
            <a:r>
              <a:rPr i="1"/>
              <a:t>Sub-scales</a:t>
            </a:r>
            <a:r>
              <a:rPr/>
              <a:t>!! (continued)</a:t>
            </a:r>
          </a:p>
        </p:txBody>
      </p:sp>
      <p:pic>
        <p:nvPicPr>
          <p:cNvPr descr="Detailed view of SMES subscales: Emotional Impact 4 items on 1 to 5 scale, Aesthetic Appeal 3 items on 1 to 5 scale, and Cognitive Engagement 4 items on 0 to 7 scale" id="0" name="Picture 1"/>
          <p:cNvPicPr>
            <a:picLocks noGrp="1" noChangeAspect="1"/>
          </p:cNvPicPr>
          <p:nvPr/>
        </p:nvPicPr>
        <p:blipFill>
          <a:blip r:embed="rId2"/>
          <a:stretch>
            <a:fillRect/>
          </a:stretch>
        </p:blipFill>
        <p:spPr bwMode="auto">
          <a:xfrm>
            <a:off x="4800600" y="2628900"/>
            <a:ext cx="2590800" cy="2590800"/>
          </a:xfrm>
          <a:prstGeom prst="rect">
            <a:avLst/>
          </a:prstGeom>
          <a:noFill/>
          <a:ln w="9525">
            <a:noFill/>
            <a:headEnd/>
            <a:tailEnd/>
          </a:ln>
        </p:spPr>
      </p:pic>
      <p:sp>
        <p:nvSpPr>
          <p:cNvPr id="1" name="TextBox 3"/>
          <p:cNvSpPr txBox="1"/>
          <p:nvPr>
            <p:ph idx="1"/>
          </p:nvPr>
        </p:nvSpPr>
        <p:spPr>
          <a:xfrm>
            <a:off x="1092200" y="5219700"/>
            <a:ext cx="9994900" cy="508000"/>
          </a:xfrm>
          <a:prstGeom prst="rect">
            <a:avLst/>
          </a:prstGeom>
          <a:noFill/>
        </p:spPr>
        <p:txBody>
          <a:bodyPr/>
          <a:lstStyle/>
          <a:p>
            <a:pPr lvl="0" indent="0" marL="0" algn="ctr">
              <a:buNone/>
            </a:pPr>
            <a:r>
              <a:rPr/>
              <a:t>Detailed view of SMES subscales: Emotional Impact 4 items on 1 to 5 scale, Aesthetic Appeal 3 items on 1 to 5 scale, and Cognitive Engagement 4 items on 0 to 7 scale</a:t>
            </a:r>
          </a:p>
        </p:txBody>
      </p:sp>
    </p:spTree>
  </p:cSld>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Variable Name: </a:t>
            </a:r>
            <a:r>
              <a:rPr>
                <a:latin typeface="Courier"/>
              </a:rPr>
              <a:t>emo</a:t>
            </a:r>
            <a:r>
              <a:rPr/>
              <a:t> (SMES Subscale)</a:t>
            </a:r>
          </a:p>
        </p:txBody>
      </p:sp>
      <p:pic>
        <p:nvPicPr>
          <p:cNvPr descr="Detailed view of SMES subscales: Emotional Impact 4 items on 1 to 5 scale" id="0" name="Picture 1"/>
          <p:cNvPicPr>
            <a:picLocks noGrp="1" noChangeAspect="1"/>
          </p:cNvPicPr>
          <p:nvPr/>
        </p:nvPicPr>
        <p:blipFill>
          <a:blip r:embed="rId2"/>
          <a:stretch>
            <a:fillRect/>
          </a:stretch>
        </p:blipFill>
        <p:spPr bwMode="auto">
          <a:xfrm>
            <a:off x="4800600" y="2628900"/>
            <a:ext cx="2590800" cy="2590800"/>
          </a:xfrm>
          <a:prstGeom prst="rect">
            <a:avLst/>
          </a:prstGeom>
          <a:noFill/>
          <a:ln w="9525">
            <a:noFill/>
            <a:headEnd/>
            <a:tailEnd/>
          </a:ln>
        </p:spPr>
      </p:pic>
      <p:sp>
        <p:nvSpPr>
          <p:cNvPr id="1" name="TextBox 3"/>
          <p:cNvSpPr txBox="1"/>
          <p:nvPr>
            <p:ph idx="1"/>
          </p:nvPr>
        </p:nvSpPr>
        <p:spPr>
          <a:xfrm>
            <a:off x="1092200" y="5219700"/>
            <a:ext cx="9994900" cy="508000"/>
          </a:xfrm>
          <a:prstGeom prst="rect">
            <a:avLst/>
          </a:prstGeom>
          <a:noFill/>
        </p:spPr>
        <p:txBody>
          <a:bodyPr/>
          <a:lstStyle/>
          <a:p>
            <a:pPr lvl="0" indent="0" marL="0" algn="ctr">
              <a:buNone/>
            </a:pPr>
            <a:r>
              <a:rPr/>
              <a:t>Detailed view of SMES subscales: Emotional Impact 4 items on 1 to 5 scale</a:t>
            </a:r>
          </a:p>
        </p:txBody>
      </p:sp>
    </p:spTree>
  </p:cSld>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Variable Name: </a:t>
            </a:r>
            <a:r>
              <a:rPr>
                <a:latin typeface="Courier"/>
              </a:rPr>
              <a:t>aes</a:t>
            </a:r>
            <a:r>
              <a:rPr/>
              <a:t> (SMES Subscale)</a:t>
            </a:r>
          </a:p>
        </p:txBody>
      </p:sp>
      <p:pic>
        <p:nvPicPr>
          <p:cNvPr descr="Detailed view of SMES subscale: Aesthetic Appeal 3 items on 1 to 5 scale" id="0" name="Picture 1"/>
          <p:cNvPicPr>
            <a:picLocks noGrp="1" noChangeAspect="1"/>
          </p:cNvPicPr>
          <p:nvPr/>
        </p:nvPicPr>
        <p:blipFill>
          <a:blip r:embed="rId2"/>
          <a:stretch>
            <a:fillRect/>
          </a:stretch>
        </p:blipFill>
        <p:spPr bwMode="auto">
          <a:xfrm>
            <a:off x="4800600" y="2628900"/>
            <a:ext cx="2590800" cy="2590800"/>
          </a:xfrm>
          <a:prstGeom prst="rect">
            <a:avLst/>
          </a:prstGeom>
          <a:noFill/>
          <a:ln w="9525">
            <a:noFill/>
            <a:headEnd/>
            <a:tailEnd/>
          </a:ln>
        </p:spPr>
      </p:pic>
      <p:sp>
        <p:nvSpPr>
          <p:cNvPr id="1" name="TextBox 3"/>
          <p:cNvSpPr txBox="1"/>
          <p:nvPr>
            <p:ph idx="1"/>
          </p:nvPr>
        </p:nvSpPr>
        <p:spPr>
          <a:xfrm>
            <a:off x="1092200" y="5219700"/>
            <a:ext cx="9994900" cy="508000"/>
          </a:xfrm>
          <a:prstGeom prst="rect">
            <a:avLst/>
          </a:prstGeom>
          <a:noFill/>
        </p:spPr>
        <p:txBody>
          <a:bodyPr/>
          <a:lstStyle/>
          <a:p>
            <a:pPr lvl="0" indent="0" marL="0" algn="ctr">
              <a:buNone/>
            </a:pPr>
            <a:r>
              <a:rPr/>
              <a:t>Detailed view of SMES subscale: Aesthetic Appeal 3 items on 1 to 5 scale</a:t>
            </a:r>
          </a:p>
        </p:txBody>
      </p:sp>
    </p:spTree>
  </p:cSld>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Variable Name: </a:t>
            </a:r>
            <a:r>
              <a:rPr>
                <a:latin typeface="Courier"/>
              </a:rPr>
              <a:t>cog</a:t>
            </a:r>
            <a:r>
              <a:rPr/>
              <a:t> (SMES Subscale)</a:t>
            </a:r>
          </a:p>
        </p:txBody>
      </p:sp>
      <p:pic>
        <p:nvPicPr>
          <p:cNvPr descr="Detailed view of SMES subscales: Cognitive Engagement 4 items on 0 to 7 scale" id="0" name="Picture 1"/>
          <p:cNvPicPr>
            <a:picLocks noGrp="1" noChangeAspect="1"/>
          </p:cNvPicPr>
          <p:nvPr/>
        </p:nvPicPr>
        <p:blipFill>
          <a:blip r:embed="rId2"/>
          <a:stretch>
            <a:fillRect/>
          </a:stretch>
        </p:blipFill>
        <p:spPr bwMode="auto">
          <a:xfrm>
            <a:off x="4800600" y="2628900"/>
            <a:ext cx="2590800" cy="2590800"/>
          </a:xfrm>
          <a:prstGeom prst="rect">
            <a:avLst/>
          </a:prstGeom>
          <a:noFill/>
          <a:ln w="9525">
            <a:noFill/>
            <a:headEnd/>
            <a:tailEnd/>
          </a:ln>
        </p:spPr>
      </p:pic>
      <p:sp>
        <p:nvSpPr>
          <p:cNvPr id="1" name="TextBox 3"/>
          <p:cNvSpPr txBox="1"/>
          <p:nvPr>
            <p:ph idx="1"/>
          </p:nvPr>
        </p:nvSpPr>
        <p:spPr>
          <a:xfrm>
            <a:off x="1092200" y="5219700"/>
            <a:ext cx="9994900" cy="508000"/>
          </a:xfrm>
          <a:prstGeom prst="rect">
            <a:avLst/>
          </a:prstGeom>
          <a:noFill/>
        </p:spPr>
        <p:txBody>
          <a:bodyPr/>
          <a:lstStyle/>
          <a:p>
            <a:pPr lvl="0" indent="0" marL="0" algn="ctr">
              <a:buNone/>
            </a:pPr>
            <a:r>
              <a:rPr/>
              <a:t>Detailed view of SMES subscales: Cognitive Engagement 4 items on 0 to 7 scale</a:t>
            </a:r>
          </a:p>
        </p:txBody>
      </p:sp>
    </p:spTree>
  </p:cSld>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097280" y="2386744"/>
            <a:ext cx="9997440" cy="1645920"/>
          </a:xfrm>
          <a:solidFill>
            <a:srgbClr val="FFFFFF"/>
          </a:solidFill>
          <a:ln w="38100">
            <a:solidFill>
              <a:srgbClr val="404040"/>
            </a:solidFill>
          </a:ln>
        </p:spPr>
        <p:txBody>
          <a:bodyPr/>
          <a:lstStyle/>
          <a:p>
            <a:pPr lvl="0" indent="0" marL="0">
              <a:buNone/>
            </a:pPr>
            <a:r>
              <a:rPr/>
              <a:t>Questions?</a:t>
            </a:r>
          </a:p>
        </p:txBody>
      </p:sp>
    </p:spTree>
  </p:cSld>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097280" y="2386744"/>
            <a:ext cx="9997440" cy="1645920"/>
          </a:xfrm>
          <a:solidFill>
            <a:srgbClr val="FFFFFF"/>
          </a:solidFill>
          <a:ln w="38100">
            <a:solidFill>
              <a:srgbClr val="404040"/>
            </a:solidFill>
          </a:ln>
        </p:spPr>
        <p:txBody>
          <a:bodyPr/>
          <a:lstStyle/>
          <a:p>
            <a:pPr lvl="0" indent="0" marL="0">
              <a:buNone/>
            </a:pPr>
            <a:r>
              <a:rPr/>
              <a:t>Partner Activity: Find a partner and work on the </a:t>
            </a:r>
            <a:r>
              <a:rPr b="1"/>
              <a:t>Part 2: In-class</a:t>
            </a:r>
            <a:r>
              <a:rPr/>
              <a:t> section!!</a:t>
            </a:r>
          </a:p>
        </p:txBody>
      </p:sp>
    </p:spTree>
  </p:cSld>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a:t>
            </a:r>
          </a:p>
        </p:txBody>
      </p:sp>
    </p:spTree>
  </p:cSld>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45-minute practice activity</a:t>
            </a:r>
          </a:p>
        </p:txBody>
      </p:sp>
    </p:spTree>
  </p:cSld>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Discussion Time</a:t>
            </a:r>
          </a:p>
        </p:txBody>
      </p:sp>
      <p:sp>
        <p:nvSpPr>
          <p:cNvPr id="3" name="Content Placeholder 2"/>
          <p:cNvSpPr>
            <a:spLocks noGrp="1"/>
          </p:cNvSpPr>
          <p:nvPr>
            <p:ph idx="1"/>
          </p:nvPr>
        </p:nvSpPr>
        <p:spPr/>
        <p:txBody>
          <a:bodyPr/>
          <a:lstStyle/>
          <a:p>
            <a:pPr lvl="0" indent="0" marL="0">
              <a:buNone/>
            </a:pPr>
            <a:r>
              <a:rPr/>
              <a:t>Share answers and discuss </a:t>
            </a:r>
            <a:r>
              <a:rPr b="1"/>
              <a:t>Part 2: In-class</a:t>
            </a:r>
            <a:r>
              <a:rPr/>
              <a:t> section!!</a:t>
            </a:r>
          </a:p>
        </p:txBody>
      </p:sp>
    </p:spTree>
  </p:cSld>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Take-Home Assignment</a:t>
            </a:r>
          </a:p>
        </p:txBody>
      </p:sp>
      <p:sp>
        <p:nvSpPr>
          <p:cNvPr id="3" name="Content Placeholder 2"/>
          <p:cNvSpPr>
            <a:spLocks noGrp="1"/>
          </p:cNvSpPr>
          <p:nvPr>
            <p:ph idx="1"/>
          </p:nvPr>
        </p:nvSpPr>
        <p:spPr/>
        <p:txBody>
          <a:bodyPr/>
          <a:lstStyle/>
          <a:p>
            <a:pPr lvl="0" indent="0" marL="0">
              <a:buNone/>
            </a:pPr>
            <a:r>
              <a:rPr/>
              <a:t>Complete the </a:t>
            </a:r>
            <a:r>
              <a:rPr>
                <a:latin typeface="Courier"/>
              </a:rPr>
              <a:t>Take-Home</a:t>
            </a:r>
            <a:r>
              <a:rPr/>
              <a:t> section and submit to canvas before Lab 03!</a:t>
            </a:r>
          </a:p>
        </p:txBody>
      </p:sp>
    </p:spTree>
  </p:cSld>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Assignments &amp; Reminders</a:t>
            </a:r>
          </a:p>
        </p:txBody>
      </p:sp>
      <p:sp>
        <p:nvSpPr>
          <p:cNvPr id="3" name="Content Placeholder 2"/>
          <p:cNvSpPr>
            <a:spLocks noGrp="1"/>
          </p:cNvSpPr>
          <p:nvPr>
            <p:ph idx="1"/>
          </p:nvPr>
        </p:nvSpPr>
        <p:spPr/>
        <p:txBody>
          <a:bodyPr/>
          <a:lstStyle/>
          <a:p>
            <a:pPr lvl="0" indent="0" marL="0">
              <a:buNone/>
            </a:pPr>
            <a:r>
              <a:rPr b="1"/>
              <a:t>Given this week:</a:t>
            </a:r>
          </a:p>
          <a:p>
            <a:pPr lvl="0"/>
            <a:r>
              <a:rPr/>
              <a:t>Submit to your lab section before week 3: Lab 2: Operationalization &amp; Measurement Worksheet</a:t>
            </a:r>
          </a:p>
          <a:p>
            <a:pPr lvl="0" indent="0" marL="0">
              <a:buNone/>
            </a:pPr>
            <a:r>
              <a:rPr b="1"/>
              <a:t>Due this week:</a:t>
            </a:r>
          </a:p>
          <a:p>
            <a:pPr lvl="0"/>
            <a:r>
              <a:rPr/>
              <a:t>Lab 01: APA References Zotero Worksheet</a:t>
            </a:r>
          </a:p>
          <a:p>
            <a:pPr lvl="0" indent="0" marL="0">
              <a:buNone/>
            </a:pPr>
            <a:r>
              <a:rPr/>
              <a:t>Submit to your lab section in Canvas by 11:59pm the day before your lab meets.</a:t>
            </a:r>
          </a:p>
        </p:txBody>
      </p:sp>
    </p:spTree>
  </p:cSld>
</p:sld>
</file>

<file path=ppt/theme/theme1.xml><?xml version="1.0" encoding="utf-8"?>
<a:theme xmlns:a="http://schemas.openxmlformats.org/drawingml/2006/main" name="Parcel">
  <a:themeElements>
    <a:clrScheme name="Custom 3">
      <a:dk1>
        <a:srgbClr val="000000"/>
      </a:dk1>
      <a:lt1>
        <a:srgbClr val="FFFFFF"/>
      </a:lt1>
      <a:dk2>
        <a:srgbClr val="4A5356"/>
      </a:dk2>
      <a:lt2>
        <a:srgbClr val="E8E3CE"/>
      </a:lt2>
      <a:accent1>
        <a:srgbClr val="F6A21D"/>
      </a:accent1>
      <a:accent2>
        <a:srgbClr val="5E5E5E"/>
      </a:accent2>
      <a:accent3>
        <a:srgbClr val="005392"/>
      </a:accent3>
      <a:accent4>
        <a:srgbClr val="FEFB00"/>
      </a:accent4>
      <a:accent5>
        <a:srgbClr val="87795D"/>
      </a:accent5>
      <a:accent6>
        <a:srgbClr val="A0988C"/>
      </a:accent6>
      <a:hlink>
        <a:srgbClr val="005392"/>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Parcel</Template>
  <TotalTime>4</TotalTime>
  <Words>0</Words>
  <Application>Microsoft Macintosh PowerPoint</Application>
  <PresentationFormat>Widescreen</PresentationFormat>
  <Paragraphs>0</Paragraphs>
  <Slides>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Gill Sans MT</vt:lpstr>
      <vt:lpstr>Parcel</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Operationalization &amp; Variables</dc:title>
  <dc:creator>PSYCH 350-Lab</dc:creator>
  <cp:keywords/>
  <dcterms:created xsi:type="dcterms:W3CDTF">2026-08-13T23:50:09Z</dcterms:created>
  <dcterms:modified xsi:type="dcterms:W3CDTF">2026-08-13T23:50:09Z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quarto-vars">
    <vt:lpwstr/>
  </property>
  <property fmtid="{D5CDD505-2E9C-101B-9397-08002B2CF9AE}" pid="3" name="authors">
    <vt:lpwstr/>
  </property>
  <property fmtid="{D5CDD505-2E9C-101B-9397-08002B2CF9AE}" pid="4" name="back-to-top-navigation">
    <vt:lpwstr>True</vt:lpwstr>
  </property>
  <property fmtid="{D5CDD505-2E9C-101B-9397-08002B2CF9AE}" pid="5" name="biblio-config">
    <vt:lpwstr>True</vt:lpwstr>
  </property>
  <property fmtid="{D5CDD505-2E9C-101B-9397-08002B2CF9AE}" pid="6" name="by-author">
    <vt:lpwstr/>
  </property>
  <property fmtid="{D5CDD505-2E9C-101B-9397-08002B2CF9AE}" pid="7" name="engines">
    <vt:lpwstr/>
  </property>
  <property fmtid="{D5CDD505-2E9C-101B-9397-08002B2CF9AE}" pid="8" name="execute">
    <vt:lpwstr/>
  </property>
  <property fmtid="{D5CDD505-2E9C-101B-9397-08002B2CF9AE}" pid="9" name="header-includes">
    <vt:lpwstr/>
  </property>
  <property fmtid="{D5CDD505-2E9C-101B-9397-08002B2CF9AE}" pid="10" name="include-after">
    <vt:lpwstr/>
  </property>
  <property fmtid="{D5CDD505-2E9C-101B-9397-08002B2CF9AE}" pid="11" name="include-back-link">
    <vt:lpwstr>False</vt:lpwstr>
  </property>
  <property fmtid="{D5CDD505-2E9C-101B-9397-08002B2CF9AE}" pid="12" name="include-before">
    <vt:lpwstr/>
  </property>
  <property fmtid="{D5CDD505-2E9C-101B-9397-08002B2CF9AE}" pid="13" name="knitr">
    <vt:lpwstr>True</vt:lpwstr>
  </property>
  <property fmtid="{D5CDD505-2E9C-101B-9397-08002B2CF9AE}" pid="14" name="labels">
    <vt:lpwstr/>
  </property>
  <property fmtid="{D5CDD505-2E9C-101B-9397-08002B2CF9AE}" pid="15" name="lightbox">
    <vt:lpwstr/>
  </property>
  <property fmtid="{D5CDD505-2E9C-101B-9397-08002B2CF9AE}" pid="16" name="nebraska-pptx">
    <vt:lpwstr/>
  </property>
  <property fmtid="{D5CDD505-2E9C-101B-9397-08002B2CF9AE}" pid="17" name="revealjs-plugins">
    <vt:lpwstr/>
  </property>
  <property fmtid="{D5CDD505-2E9C-101B-9397-08002B2CF9AE}" pid="18" name="subtitle">
    <vt:lpwstr>Lab 02</vt:lpwstr>
  </property>
  <property fmtid="{D5CDD505-2E9C-101B-9397-08002B2CF9AE}" pid="19" name="toc-title">
    <vt:lpwstr>Table of contents</vt:lpwstr>
  </property>
</Properties>
</file>