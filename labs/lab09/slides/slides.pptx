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notesMaster" Target="notesMasters/notesMaster1.xml" /><Relationship Id="rId1" Type="http://schemas.openxmlformats.org/officeDocument/2006/relationships/slideMaster" Target="slideMasters/slideMaster1.xml" /><Relationship Id="rId32" Type="http://schemas.openxmlformats.org/officeDocument/2006/relationships/presProps" Target="presProps.xml" /><Relationship Id="rId33" Type="http://schemas.openxmlformats.org/officeDocument/2006/relationships/viewProps" Target="viewProps.xml" /><Relationship Id="rId34" Type="http://schemas.openxmlformats.org/officeDocument/2006/relationships/theme" Target="theme/theme1.xml" /><Relationship Id="rId35"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Superman for the statistics-selection quiz, then return to the project dataset selected earlier. Keep your project’s codebook, the Lab 09 Analysis Proposal worksheet, and your Zotero collection open. The simple guides demonstrate the tests with other datasets; use your own project variables when planning an analysis.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construct and dataset chosen for the earlier preproposal. Each of the four hypotheses pairs the core variable with one other variable. Explain what each variable measures, using the codebook. The two bonus variables are optional.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duck image illustrates why a number needs a clear meaning; it is not a validated measure. Use the codebook and SPSS Variable View to check labels, category codes, and missing values. Complete the variable-type choices in the worksheet before planning a recode.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worksheet requires selecting or recoding qualitative variables with three or more groups into two groups. This is the assignment’s restriction, not a general rule for research. Explain why the grouping suits the hypothesis and literature. Pay attention to what is lost when categories are combined, especially demographic categories.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four choices in the worksheet. Variable type alone does not distinguish correlation from within-groups ANOVA: ask whether the hypothesis concerns an association or a difference between paired means. A paired mean comparison also needs scores on a meaningfully comparable scale. Confirm the choice with your 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same Superman file supplied in Lab 07, not the separate Superman SMES dataset. This activity asks students to identify variable types and choose analyses; it does not require running the tests. Numeric category codes do not make a variable quantitative. The quiz uses shorter labels such as Clark group and Clark height.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illustration comes from Lab 02. Both height variables in this quiz use inches. Use the values in the Superman download; do not round them to whole inches. Each row records a Superman portrayal entry, and blank SPSS cells are missing, not zero.</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image identifies the critics percentage. Its example values are retained from Lab 02 and are not a replacement for the supplied data. Keep the approval score distinct from the Tomatometer category in the earlier definition table.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Heights and approval scores are paired within each row. The critics and audience scores use the same 0–100 range. Choosing a test does not establish independence or satisfy its other assumptions; this quiz stops at choosing variables and comparisons.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Superman definitions on the preceding slides. Let students make their choices before checking. Discuss why the selected descriptive statistics fit the variable type.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Superman definitions on the preceding slides. Let students make their choices before checking. Discuss why the selected descriptive statistics fit the variable type.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all three analyses distinct. The checker rejects an incorrect variable type, pairing a variable with itself, and repeated pairs. Reversing a correlation, chi-square, or within-groups pair repeats the same analysis.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practice set has two binary variables, so it has one distinct chi-square pair. Reversing the variables gives the same analysis. This is a test-selection question; the small dataset does not establish that a chi-square approximation is suitable. Check expected cell counts before any inference.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all three analyses distinct. The checker rejects an incorrect variable type, pairing a variable with itself, and repeated pairs. Reversing a correlation, chi-square, or within-groups pair repeats the same analysis.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Students should pair the two actor heights and pair the two approval scores, in either order. The checker rejects a height paired with an approval score, as well as self-pairs and duplicate pairs. Ask what each mean difference would describe; scale compatibility alone does not establish a useful hypothesis or satisfy the test’s assumptions.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wording for the selected test in the handouts. State which mean should be higher, the direction of a correlation, or the categorical pattern expected. Base the prediction on prior work and a reasoned explanation before checking the inferential result. Students should write their own four hypotheses.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worksheet requires at least three peer-reviewed journal articles and one summary table for each. Include independent, dependent, or control variables as appropriate. Record the in-text citation in the field provided. Brief notes or bullets are sufficient for the relevance field; read the articles themselves before summarizing them.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source can support more than one hypothesis. Explain the connection in the worksheet’s relevance field rather than claiming an article supports a prediction simply because it mentions the same topic. Keep claims within the study’s design: an association alone does not show that one variable causes another.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sign-off requirement comes from the lab schedule. Review any grouping decisions and confirm that each test fits its hypothesis before proceeding. The quiz offers practice choosing statistics; it does not check an individual student’s project proposal. This worksheet does not request a checker screenshot.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26080"/>
            <a:ext cx="4907280" cy="31775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187440" y="2926080"/>
            <a:ext cx="4907280" cy="317754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18744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a:xfrm>
            <a:off x="1097280" y="964692"/>
            <a:ext cx="9997440" cy="1188720"/>
          </a:xfrm>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unlpsychstats.github.io/UNL-PSYC350-LAB/labs/lab09/slides/downloads/superman_data.sav" TargetMode="External"/>
  <Relationship Id="rId4" Type="http://schemas.openxmlformats.org/officeDocument/2006/relationships/hyperlink" Target="https://unlpsychstats.github.io/UNL-PSYC350-LAB/lab-materials/final-project/selfdescriptive_survey_materials/selfdescriptive_data.sav" TargetMode="External"/>
  <Relationship Id="rId5" Type="http://schemas.openxmlformats.org/officeDocument/2006/relationships/hyperlink" Target="https://unlpsychstats.github.io/UNL-PSYC350-LAB/lab-materials/final-project/interpersonal_survey_materials/interpersonal_data.sav" TargetMode="External"/>
  <Relationship Id="rId6" Type="http://schemas.openxmlformats.org/officeDocument/2006/relationships/hyperlink" Target="https://unlpsychstats.github.io/PSYC350-spss-handouts/A1.pearsons_correlation_spss_handout_simple.pdf" TargetMode="External"/>
  <Relationship Id="rId7" Type="http://schemas.openxmlformats.org/officeDocument/2006/relationships/hyperlink" Target="https://unlpsychstats.github.io/PSYC350-spss-handouts/A3.2x2_chisquare_spss_handout_simple.pdf" TargetMode="External"/>
  <Relationship Id="rId8" Type="http://schemas.openxmlformats.org/officeDocument/2006/relationships/hyperlink" Target="https://unlpsychstats.github.io/PSYC350-spss-handouts/A1.2bganova_spss_handout_simple.pdf" TargetMode="External"/>
  <Relationship Id="rId9" Type="http://schemas.openxmlformats.org/officeDocument/2006/relationships/hyperlink" Target="https://unlpsychstats.github.io/PSYC350-spss-handouts/A3.2wgf_spss_handout_simple.pdf"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 Id="rId3" Type="http://schemas.openxmlformats.org/officeDocument/2006/relationships/image" Target="../media/image2.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4.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Build the Analysis Proposal</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09 · Variables, Hypotheses, and Sources</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Open the project files</a:t>
            </a:r>
          </a:p>
        </p:txBody>
      </p:sp>
      <p:sp>
        <p:nvSpPr>
          <p:cNvPr id="1001" name="card-steel" descr="card: Data downloads. Superman practice Self-Descriptive Interpersonal"/>
          <p:cNvSpPr/>
          <p:nvPr/>
        </p:nvSpPr>
        <p:spPr>
          <a:xfrm>
            <a:off x="1097280" y="2633472"/>
            <a:ext cx="4924044" cy="16154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Data downloads</a:t>
            </a:r>
          </a:p>
          <a:p>
            <a:pPr algn="l"/>
            <a:r>
              <a:rPr lang="en-US" sz="2000" b="0" dirty="0">
                <a:solidFill>
                  <a:srgbClr val="010B13"/>
                </a:solidFill>
                <a:hlinkClick r:id="rId3"/>
              </a:rPr>
              <a:t>Superman practice</a:t>
            </a:r>
          </a:p>
          <a:p>
            <a:pPr algn="l"/>
            <a:r>
              <a:rPr lang="en-US" sz="2000" b="0" dirty="0">
                <a:solidFill>
                  <a:srgbClr val="010B13"/>
                </a:solidFill>
                <a:hlinkClick r:id="rId4"/>
              </a:rPr>
              <a:t>Self-Descriptive</a:t>
            </a:r>
          </a:p>
          <a:p>
            <a:pPr algn="l"/>
            <a:r>
              <a:rPr lang="en-US" sz="2000" b="0" dirty="0">
                <a:solidFill>
                  <a:srgbClr val="010B13"/>
                </a:solidFill>
                <a:hlinkClick r:id="rId5"/>
              </a:rPr>
              <a:t>Interpersonal</a:t>
            </a:r>
          </a:p>
        </p:txBody>
      </p:sp>
      <p:sp>
        <p:nvSpPr>
          <p:cNvPr id="1002" name="card-rail" descr="">
            <a:extLst>
              <a:ext uri="{C183D7F6-B498-43B3-948B-1728B52AA6E4}">
                <adec:decorative xmlns:adec="http://schemas.microsoft.com/office/drawing/2017/decorative" val="1"/>
              </a:ext>
            </a:extLst>
          </p:cNvPr>
          <p:cNvSpPr/>
          <p:nvPr/>
        </p:nvSpPr>
        <p:spPr>
          <a:xfrm>
            <a:off x="1097280" y="2633472"/>
            <a:ext cx="54864" cy="16154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Simple SPSS guides. Correlation PDF Chi-square PDF Between-groups PDF Within-groups PDF"/>
          <p:cNvSpPr/>
          <p:nvPr/>
        </p:nvSpPr>
        <p:spPr>
          <a:xfrm>
            <a:off x="6167628" y="2633472"/>
            <a:ext cx="4924044" cy="19202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Simple SPSS guides</a:t>
            </a:r>
          </a:p>
          <a:p>
            <a:pPr algn="l"/>
            <a:r>
              <a:rPr lang="en-US" sz="2000" b="0" dirty="0">
                <a:solidFill>
                  <a:srgbClr val="010B13"/>
                </a:solidFill>
                <a:hlinkClick r:id="rId6"/>
              </a:rPr>
              <a:t>Correlation PDF</a:t>
            </a:r>
          </a:p>
          <a:p>
            <a:pPr algn="l"/>
            <a:r>
              <a:rPr lang="en-US" sz="2000" b="0" dirty="0">
                <a:solidFill>
                  <a:srgbClr val="010B13"/>
                </a:solidFill>
                <a:hlinkClick r:id="rId7"/>
              </a:rPr>
              <a:t>Chi-square PDF</a:t>
            </a:r>
          </a:p>
          <a:p>
            <a:pPr algn="l"/>
            <a:r>
              <a:rPr lang="en-US" sz="2000" b="0" dirty="0">
                <a:solidFill>
                  <a:srgbClr val="010B13"/>
                </a:solidFill>
                <a:hlinkClick r:id="rId8"/>
              </a:rPr>
              <a:t>Between-groups PDF</a:t>
            </a:r>
          </a:p>
          <a:p>
            <a:pPr algn="l"/>
            <a:r>
              <a:rPr lang="en-US" sz="2000" b="0" dirty="0">
                <a:solidFill>
                  <a:srgbClr val="010B13"/>
                </a:solidFill>
                <a:hlinkClick r:id="rId9"/>
              </a:rPr>
              <a:t>Within-groups PDF</a:t>
            </a:r>
          </a:p>
        </p:txBody>
      </p:sp>
      <p:sp>
        <p:nvSpPr>
          <p:cNvPr id="1004" name="card-rail" descr="">
            <a:extLst>
              <a:ext uri="{C183D7F6-B498-43B3-948B-1728B52AA6E4}">
                <adec:decorative xmlns:adec="http://schemas.microsoft.com/office/drawing/2017/decorative" val="1"/>
              </a:ext>
            </a:extLst>
          </p:cNvPr>
          <p:cNvSpPr/>
          <p:nvPr/>
        </p:nvSpPr>
        <p:spPr>
          <a:xfrm>
            <a:off x="6167628" y="2633472"/>
            <a:ext cx="54864" cy="19202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Build around your core variable</a:t>
            </a:r>
          </a:p>
        </p:txBody>
      </p:sp>
      <p:sp>
        <p:nvSpPr>
          <p:cNvPr id="3" name="Content Placeholder 2"/>
          <p:cNvSpPr>
            <a:spLocks noGrp="1"/>
          </p:cNvSpPr>
          <p:nvPr>
            <p:ph idx="1"/>
          </p:nvPr>
        </p:nvSpPr>
        <p:spPr/>
        <p:txBody>
          <a:bodyPr/>
          <a:lstStyle/>
          <a:p>
            <a:pPr lvl="0" indent="0" marL="0">
              <a:buNone/>
            </a:pPr>
            <a:r>
              <a:rPr/>
              <a:t>[Variable selection]</a:t>
            </a:r>
          </a:p>
          <a:p>
            <a:pPr lvl="0" indent="0" marL="0">
              <a:buNone/>
            </a:pPr>
            <a:r>
              <a:rPr b="1"/>
              <a:t>What does your core variable measure?</a:t>
            </a:r>
          </a:p>
          <a:p>
            <a:pPr lvl="0"/>
            <a:r>
              <a:rPr/>
              <a:t>Name the dataset and core variable</a:t>
            </a:r>
          </a:p>
          <a:p>
            <a:pPr lvl="0"/>
            <a:r>
              <a:rPr/>
              <a:t>Identify four other variables to examine with it</a:t>
            </a:r>
          </a:p>
          <a:p>
            <a:pPr lvl="0"/>
            <a:r>
              <a:rPr/>
              <a:t>Enter their exact names in the worksheet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Check what each code means</a:t>
            </a:r>
          </a:p>
        </p:txBody>
      </p:sp>
      <p:pic>
        <p:nvPicPr>
          <p:cNvPr descr="A joking 1-to-9 rubber duck scale asks how things are today. Nine numbered photographs show a giant yellow duck upright, leaning, and deflating, without defining what the numbers measure." id="0" name="Picture 1"/>
          <p:cNvPicPr>
            <a:picLocks noGrp="1" noChangeAspect="1"/>
          </p:cNvPicPr>
          <p:nvPr/>
        </p:nvPicPr>
        <p:blipFill>
          <a:blip r:embed="rId3"/>
          <a:stretch>
            <a:fillRect/>
          </a:stretch>
        </p:blipFill>
        <p:spPr bwMode="auto">
          <a:xfrm>
            <a:off x="1955800" y="2628900"/>
            <a:ext cx="31750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Check each selected variable:</a:t>
            </a:r>
          </a:p>
          <a:p>
            <a:pPr lvl="0"/>
            <a:r>
              <a:rPr/>
              <a:t>What do its values mean?</a:t>
            </a:r>
          </a:p>
          <a:p>
            <a:pPr lvl="0"/>
            <a:r>
              <a:rPr/>
              <a:t>Is it quantitative or qualitative?</a:t>
            </a:r>
          </a:p>
          <a:p>
            <a:pPr lvl="0"/>
            <a:r>
              <a:rPr/>
              <a:t>Are missing codes declared?</a:t>
            </a:r>
          </a:p>
          <a:p>
            <a:pPr lvl="0"/>
            <a:r>
              <a:rPr/>
              <a:t>Does its range make sense?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Recode with a reason</a:t>
            </a:r>
          </a:p>
        </p:txBody>
      </p:sp>
      <p:sp>
        <p:nvSpPr>
          <p:cNvPr id="3" name="Content Placeholder 2"/>
          <p:cNvSpPr>
            <a:spLocks noGrp="1"/>
          </p:cNvSpPr>
          <p:nvPr>
            <p:ph idx="1"/>
          </p:nvPr>
        </p:nvSpPr>
        <p:spPr/>
        <p:txBody>
          <a:bodyPr/>
          <a:lstStyle/>
          <a:p>
            <a:pPr lvl="0" indent="0" marL="0">
              <a:buNone/>
            </a:pPr>
            <a:r>
              <a:rPr/>
              <a:t>[Variable selection and recoding]</a:t>
            </a:r>
          </a:p>
          <a:p>
            <a:pPr lvl="0" indent="0" marL="0">
              <a:buNone/>
            </a:pPr>
            <a:r>
              <a:rPr b="1"/>
              <a:t>For this project, qualitative variables need two groups</a:t>
            </a:r>
          </a:p>
          <a:p>
            <a:pPr lvl="0"/>
            <a:r>
              <a:rPr/>
              <a:t>Discuss any selection or grouping with your TA</a:t>
            </a:r>
          </a:p>
          <a:p>
            <a:pPr lvl="0"/>
            <a:r>
              <a:rPr/>
              <a:t>Recode into a new variable and keep the original</a:t>
            </a:r>
          </a:p>
          <a:p>
            <a:pPr lvl="0"/>
            <a:r>
              <a:rPr/>
              <a:t>Label the groups, check frequencies, and save the syntax</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Choose the test for the question</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5003800"/>
                <a:gridCol w="5003800"/>
              </a:tblGrid>
              <a:tr h="0">
                <a:tc>
                  <a:txBody>
                    <a:bodyPr/>
                    <a:lstStyle/>
                    <a:p>
                      <a:pPr lvl="0" indent="0" marL="0">
                        <a:buNone/>
                      </a:pPr>
                      <a:r>
                        <a:rPr/>
                        <a:t>What are you asking about?</a:t>
                      </a:r>
                    </a:p>
                  </a:txBody>
                  <a:tcPr/>
                </a:tc>
                <a:tc>
                  <a:txBody>
                    <a:bodyPr/>
                    <a:lstStyle/>
                    <a:p>
                      <a:pPr lvl="0" indent="0" marL="0">
                        <a:buNone/>
                      </a:pPr>
                      <a:r>
                        <a:rPr/>
                        <a:t>Test</a:t>
                      </a:r>
                    </a:p>
                  </a:txBody>
                  <a:tcPr/>
                </a:tc>
              </a:tr>
              <a:tr h="0">
                <a:tc>
                  <a:txBody>
                    <a:bodyPr/>
                    <a:lstStyle/>
                    <a:p>
                      <a:pPr lvl="0" indent="0" marL="0">
                        <a:buNone/>
                      </a:pPr>
                      <a:r>
                        <a:rPr/>
                        <a:t>Linear association between two quantitative variables</a:t>
                      </a:r>
                    </a:p>
                  </a:txBody>
                </a:tc>
                <a:tc>
                  <a:txBody>
                    <a:bodyPr/>
                    <a:lstStyle/>
                    <a:p>
                      <a:pPr lvl="0" indent="0" marL="0">
                        <a:buNone/>
                      </a:pPr>
                      <a:r>
                        <a:rPr/>
                        <a:t>Pearson’s </a:t>
                      </a:r>
                      <a:r>
                        <a:rPr i="1"/>
                        <a:t>r</a:t>
                      </a:r>
                    </a:p>
                  </a:txBody>
                </a:tc>
              </a:tr>
              <a:tr h="0">
                <a:tc>
                  <a:txBody>
                    <a:bodyPr/>
                    <a:lstStyle/>
                    <a:p>
                      <a:pPr lvl="0" indent="0" marL="0">
                        <a:buNone/>
                      </a:pPr>
                      <a:r>
                        <a:rPr/>
                        <a:t>Association between two binary variables</a:t>
                      </a:r>
                    </a:p>
                  </a:txBody>
                </a:tc>
                <a:tc>
                  <a:txBody>
                    <a:bodyPr/>
                    <a:lstStyle/>
                    <a:p>
                      <a:pPr lvl="0" indent="0" marL="0">
                        <a:buNone/>
                      </a:pPr>
                      <a:r>
                        <a:rPr/>
                        <a:t>2 × 2 χ²</a:t>
                      </a:r>
                    </a:p>
                  </a:txBody>
                </a:tc>
              </a:tr>
              <a:tr h="0">
                <a:tc>
                  <a:txBody>
                    <a:bodyPr/>
                    <a:lstStyle/>
                    <a:p>
                      <a:pPr lvl="0" indent="0" marL="0">
                        <a:buNone/>
                      </a:pPr>
                      <a:r>
                        <a:rPr/>
                        <a:t>A quantitative mean across two independent groups</a:t>
                      </a:r>
                    </a:p>
                  </a:txBody>
                </a:tc>
                <a:tc>
                  <a:txBody>
                    <a:bodyPr/>
                    <a:lstStyle/>
                    <a:p>
                      <a:pPr lvl="0" indent="0" marL="0">
                        <a:buNone/>
                      </a:pPr>
                      <a:r>
                        <a:rPr/>
                        <a:t>2BG ANOVA</a:t>
                      </a:r>
                    </a:p>
                  </a:txBody>
                </a:tc>
              </a:tr>
              <a:tr h="0">
                <a:tc>
                  <a:txBody>
                    <a:bodyPr/>
                    <a:lstStyle/>
                    <a:p>
                      <a:pPr lvl="0" indent="0" marL="0">
                        <a:buNone/>
                      </a:pPr>
                      <a:r>
                        <a:rPr/>
                        <a:t>Two comparable quantitative means from the same participants</a:t>
                      </a:r>
                    </a:p>
                  </a:txBody>
                </a:tc>
                <a:tc>
                  <a:txBody>
                    <a:bodyPr/>
                    <a:lstStyle/>
                    <a:p>
                      <a:pPr lvl="0" indent="0" marL="0">
                        <a:buNone/>
                      </a:pPr>
                      <a:r>
                        <a:rPr/>
                        <a:t>2WG ANOVA</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Open the Superman practice data</a:t>
            </a:r>
          </a:p>
        </p:txBody>
      </p:sp>
      <p:sp>
        <p:nvSpPr>
          <p:cNvPr id="3" name="Content Placeholder 2"/>
          <p:cNvSpPr>
            <a:spLocks noGrp="1"/>
          </p:cNvSpPr>
          <p:nvPr>
            <p:ph idx="1"/>
          </p:nvPr>
        </p:nvSpPr>
        <p:spPr/>
        <p:txBody>
          <a:bodyPr/>
          <a:lstStyle/>
          <a:p>
            <a:pPr lvl="0" indent="0" marL="0">
              <a:buNone/>
            </a:pPr>
            <a:r>
              <a:rPr/>
              <a:t>Use these names in SPSS Variable View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Open the Superman practice data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4991100"/>
                <a:gridCol w="4991100"/>
              </a:tblGrid>
              <a:tr h="0">
                <a:tc>
                  <a:txBody>
                    <a:bodyPr/>
                    <a:lstStyle/>
                    <a:p>
                      <a:pPr lvl="0" indent="0" marL="0">
                        <a:buNone/>
                      </a:pPr>
                      <a:r>
                        <a:rPr/>
                        <a:t>Variable in SPSS</a:t>
                      </a:r>
                    </a:p>
                  </a:txBody>
                  <a:tcPr/>
                </a:tc>
                <a:tc>
                  <a:txBody>
                    <a:bodyPr/>
                    <a:lstStyle/>
                    <a:p>
                      <a:pPr lvl="0" indent="0" marL="0">
                        <a:buNone/>
                      </a:pPr>
                      <a:r>
                        <a:rPr/>
                        <a:t>Description</a:t>
                      </a:r>
                    </a:p>
                  </a:txBody>
                  <a:tcPr/>
                </a:tc>
              </a:tr>
              <a:tr h="0">
                <a:tc>
                  <a:txBody>
                    <a:bodyPr/>
                    <a:lstStyle/>
                    <a:p>
                      <a:pPr lvl="0" indent="0" marL="0">
                        <a:buNone/>
                      </a:pPr>
                      <a:r>
                        <a:rPr>
                          <a:latin typeface="Courier"/>
                        </a:rPr>
                        <a:t>clark_grp</a:t>
                      </a:r>
                    </a:p>
                  </a:txBody>
                </a:tc>
                <a:tc>
                  <a:txBody>
                    <a:bodyPr/>
                    <a:lstStyle/>
                    <a:p>
                      <a:pPr lvl="0" indent="0" marL="0">
                        <a:buNone/>
                      </a:pPr>
                      <a:r>
                        <a:rPr/>
                        <a:t>Clark actor: below 6 ft (1); 6 ft or taller (2)</a:t>
                      </a:r>
                    </a:p>
                  </a:txBody>
                </a:tc>
              </a:tr>
              <a:tr h="0">
                <a:tc>
                  <a:txBody>
                    <a:bodyPr/>
                    <a:lstStyle/>
                    <a:p>
                      <a:pPr lvl="0" indent="0" marL="0">
                        <a:buNone/>
                      </a:pPr>
                      <a:r>
                        <a:rPr>
                          <a:latin typeface="Courier"/>
                        </a:rPr>
                        <a:t>tomatometer</a:t>
                      </a:r>
                    </a:p>
                  </a:txBody>
                </a:tc>
                <a:tc>
                  <a:txBody>
                    <a:bodyPr/>
                    <a:lstStyle/>
                    <a:p>
                      <a:pPr lvl="0" indent="0" marL="0">
                        <a:buNone/>
                      </a:pPr>
                      <a:r>
                        <a:rPr/>
                        <a:t>Rotten Tomatoes category: Rotten (1); Fresh (2)</a:t>
                      </a:r>
                    </a:p>
                  </a:txBody>
                </a:tc>
              </a:tr>
              <a:tr h="0">
                <a:tc>
                  <a:txBody>
                    <a:bodyPr/>
                    <a:lstStyle/>
                    <a:p>
                      <a:pPr lvl="0" indent="0" marL="0">
                        <a:buNone/>
                      </a:pPr>
                      <a:r>
                        <a:rPr>
                          <a:latin typeface="Courier"/>
                        </a:rPr>
                        <a:t>clark_height_in</a:t>
                      </a:r>
                    </a:p>
                  </a:txBody>
                </a:tc>
                <a:tc>
                  <a:txBody>
                    <a:bodyPr/>
                    <a:lstStyle/>
                    <a:p>
                      <a:pPr lvl="0" indent="0" marL="0">
                        <a:buNone/>
                      </a:pPr>
                      <a:r>
                        <a:rPr/>
                        <a:t>Clark Kent/Superman actor height, in inches</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Read the Lois height variable</a:t>
            </a:r>
          </a:p>
        </p:txBody>
      </p:sp>
      <p:pic>
        <p:nvPicPr>
          <p:cNvPr descr="Lab 02 illustration of Lois Lane beside a height scale, labeled Lois height in inches" id="0" name="Picture 1"/>
          <p:cNvPicPr>
            <a:picLocks noGrp="1" noChangeAspect="1"/>
          </p:cNvPicPr>
          <p:nvPr/>
        </p:nvPicPr>
        <p:blipFill>
          <a:blip r:embed="rId3"/>
          <a:stretch>
            <a:fillRect/>
          </a:stretch>
        </p:blipFill>
        <p:spPr bwMode="auto">
          <a:xfrm>
            <a:off x="1993900" y="2628900"/>
            <a:ext cx="30988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latin typeface="Courier"/>
              </a:rPr>
              <a:t>lois_height_in</a:t>
            </a:r>
          </a:p>
          <a:p>
            <a:pPr lvl="0" indent="0" marL="0">
              <a:buNone/>
            </a:pPr>
            <a:r>
              <a:rPr b="1"/>
              <a:t>Description</a:t>
            </a:r>
          </a:p>
          <a:p>
            <a:pPr lvl="0" indent="0" marL="0">
              <a:buNone/>
            </a:pPr>
            <a:r>
              <a:rPr/>
              <a:t>Lois Lane actor height, in inches</a:t>
            </a:r>
          </a:p>
          <a:p>
            <a:pPr lvl="0" indent="0" marL="0">
              <a:buNone/>
            </a:pPr>
            <a:r>
              <a:rPr/>
              <a:t>[Quiz label: Lois height]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Read the critics score</a:t>
            </a:r>
          </a:p>
        </p:txBody>
      </p:sp>
      <p:pic>
        <p:nvPicPr>
          <p:cNvPr descr="Lab 02 filmstrip illustration highlighting Rotten Tomatoes critics percentages with yellow circles, distinct from the audience percentages beside them" id="0" name="Picture 1"/>
          <p:cNvPicPr>
            <a:picLocks noGrp="1" noChangeAspect="1"/>
          </p:cNvPicPr>
          <p:nvPr/>
        </p:nvPicPr>
        <p:blipFill>
          <a:blip r:embed="rId3"/>
          <a:stretch>
            <a:fillRect/>
          </a:stretch>
        </p:blipFill>
        <p:spPr bwMode="auto">
          <a:xfrm>
            <a:off x="1993900" y="2628900"/>
            <a:ext cx="30988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latin typeface="Courier"/>
              </a:rPr>
              <a:t>rt_critics_score</a:t>
            </a:r>
          </a:p>
          <a:p>
            <a:pPr lvl="0" indent="0" marL="0">
              <a:buNone/>
            </a:pPr>
            <a:r>
              <a:rPr b="1"/>
              <a:t>Description</a:t>
            </a:r>
          </a:p>
          <a:p>
            <a:pPr lvl="0" indent="0" marL="0">
              <a:buNone/>
            </a:pPr>
            <a:r>
              <a:rPr/>
              <a:t>Rotten Tomatoes critics approval score, 0–100</a:t>
            </a:r>
          </a:p>
          <a:p>
            <a:pPr lvl="0" indent="0" marL="0">
              <a:buNone/>
            </a:pPr>
            <a:r>
              <a:rPr/>
              <a:t>[Quiz label: Critics score]</a:t>
            </a:r>
          </a:p>
          <a:p>
            <a:pPr lvl="0" indent="0" marL="0">
              <a:buNone/>
            </a:pPr>
            <a:r>
              <a:rPr/>
              <a:t>Lab 02 illustration; use the download for data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Read the audience score</a:t>
            </a:r>
          </a:p>
        </p:txBody>
      </p:sp>
      <p:pic>
        <p:nvPicPr>
          <p:cNvPr descr="Lab 02 filmstrip illustration highlighting Rotten Tomatoes audience percentages beside popcorn symbols, distinct from the critics percentages beside them" id="0" name="Picture 1"/>
          <p:cNvPicPr>
            <a:picLocks noGrp="1" noChangeAspect="1"/>
          </p:cNvPicPr>
          <p:nvPr/>
        </p:nvPicPr>
        <p:blipFill>
          <a:blip r:embed="rId3"/>
          <a:stretch>
            <a:fillRect/>
          </a:stretch>
        </p:blipFill>
        <p:spPr bwMode="auto">
          <a:xfrm>
            <a:off x="1993900" y="2628900"/>
            <a:ext cx="30988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latin typeface="Courier"/>
              </a:rPr>
              <a:t>rt_audience_score</a:t>
            </a:r>
          </a:p>
          <a:p>
            <a:pPr lvl="0" indent="0" marL="0">
              <a:buNone/>
            </a:pPr>
            <a:r>
              <a:rPr b="1"/>
              <a:t>Description</a:t>
            </a:r>
          </a:p>
          <a:p>
            <a:pPr lvl="0" indent="0" marL="0">
              <a:buNone/>
            </a:pPr>
            <a:r>
              <a:rPr/>
              <a:t>Rotten Tomatoes audience approval score, 0–100</a:t>
            </a:r>
          </a:p>
          <a:p>
            <a:pPr lvl="0" indent="0" marL="0">
              <a:buNone/>
            </a:pPr>
            <a:r>
              <a:rPr/>
              <a:t>[Quiz label: Audience score]</a:t>
            </a:r>
          </a:p>
          <a:p>
            <a:pPr lvl="0" indent="0" marL="0">
              <a:buNone/>
            </a:pPr>
            <a:r>
              <a:rPr/>
              <a:t>Lab 02 illustration; use the download for data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Classify the practice variables</a:t>
            </a:r>
          </a:p>
        </p:txBody>
      </p:sp>
      <p:sp>
        <p:nvSpPr>
          <p:cNvPr id="3" name="Content Placeholder 2"/>
          <p:cNvSpPr>
            <a:spLocks noGrp="1"/>
          </p:cNvSpPr>
          <p:nvPr>
            <p:ph idx="1"/>
          </p:nvPr>
        </p:nvSpPr>
        <p:spPr/>
        <p:txBody>
          <a:bodyPr/>
          <a:lstStyle/>
          <a:p>
            <a:pPr lvl="0" indent="0" marL="0">
              <a:buNone/>
            </a:pPr>
            <a:r>
              <a:rPr/>
              <a:t>For each variable, choose its type and descriptive statistics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Classify the practice variables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pPr lvl="0" indent="0" marL="0">
                        <a:buNone/>
                      </a:pPr>
                      <a:r>
                        <a:rPr/>
                        <a:t>Variable</a:t>
                      </a:r>
                    </a:p>
                  </a:txBody>
                  <a:tcPr/>
                </a:tc>
                <a:tc>
                  <a:txBody>
                    <a:bodyPr/>
                    <a:lstStyle/>
                    <a:p>
                      <a:pPr lvl="0" indent="0" marL="0">
                        <a:buNone/>
                      </a:pPr>
                      <a:r>
                        <a:rPr/>
                        <a:t>Type</a:t>
                      </a:r>
                    </a:p>
                  </a:txBody>
                  <a:tcPr/>
                </a:tc>
                <a:tc>
                  <a:txBody>
                    <a:bodyPr/>
                    <a:lstStyle/>
                    <a:p>
                      <a:pPr lvl="0" indent="0" marL="0">
                        <a:buNone/>
                      </a:pPr>
                      <a:r>
                        <a:rPr/>
                        <a:t>Descriptive statistics</a:t>
                      </a:r>
                    </a:p>
                  </a:txBody>
                  <a:tcPr/>
                </a:tc>
              </a:tr>
              <a:tr h="0">
                <a:tc>
                  <a:txBody>
                    <a:bodyPr/>
                    <a:lstStyle/>
                    <a:p>
                      <a:pPr lvl="0" indent="0" marL="0">
                        <a:buNone/>
                      </a:pPr>
                      <a:r>
                        <a:rPr/>
                        <a:t>clark_grp</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tomatometer</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clark_height_in</a:t>
                      </a:r>
                    </a:p>
                  </a:txBody>
                </a:tc>
                <a:tc>
                  <a:txBody>
                    <a:bodyPr/>
                    <a:lstStyle/>
                    <a:p>
                      <a:pPr lvl="0" indent="0" marL="0">
                        <a:buNone/>
                      </a:pPr>
                      <a:r>
                        <a:rPr/>
                        <a:t>______</a:t>
                      </a:r>
                    </a:p>
                  </a:txBody>
                </a:tc>
                <a:tc>
                  <a:txBody>
                    <a:bodyPr/>
                    <a:lstStyle/>
                    <a:p>
                      <a:pPr lvl="0" indent="0" marL="0">
                        <a:buNone/>
                      </a:pPr>
                      <a:r>
                        <a:rPr/>
                        <a:t>______</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Classify the practice variables (continued 2)</a:t>
            </a:r>
          </a:p>
        </p:txBody>
      </p:sp>
      <p:sp>
        <p:nvSpPr>
          <p:cNvPr id="3" name="Content Placeholder 2"/>
          <p:cNvSpPr>
            <a:spLocks noGrp="1"/>
          </p:cNvSpPr>
          <p:nvPr>
            <p:ph idx="1"/>
          </p:nvPr>
        </p:nvSpPr>
        <p:spPr/>
        <p:txBody>
          <a:bodyPr/>
          <a:lstStyle/>
          <a:p>
            <a:pPr lvl="0" indent="0" marL="0">
              <a:buNone/>
            </a:pPr>
            <a:r>
              <a:rPr/>
              <a:t>Choose qualitative or quantitative, then mean (SD) or mode (number of categories).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Classify the next three variables</a:t>
            </a:r>
          </a:p>
        </p:txBody>
      </p:sp>
      <p:sp>
        <p:nvSpPr>
          <p:cNvPr id="3" name="Content Placeholder 2"/>
          <p:cNvSpPr>
            <a:spLocks noGrp="1"/>
          </p:cNvSpPr>
          <p:nvPr>
            <p:ph idx="1"/>
          </p:nvPr>
        </p:nvSpPr>
        <p:spPr/>
        <p:txBody>
          <a:bodyPr/>
          <a:lstStyle/>
          <a:p>
            <a:pPr lvl="0" indent="0" marL="0">
              <a:buNone/>
            </a:pPr>
            <a:r>
              <a:rPr/>
              <a:t>Use the same choices for type and descriptive statistics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Classify the next three variables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pPr lvl="0" indent="0" marL="0">
                        <a:buNone/>
                      </a:pPr>
                      <a:r>
                        <a:rPr/>
                        <a:t>Variable</a:t>
                      </a:r>
                    </a:p>
                  </a:txBody>
                  <a:tcPr/>
                </a:tc>
                <a:tc>
                  <a:txBody>
                    <a:bodyPr/>
                    <a:lstStyle/>
                    <a:p>
                      <a:pPr lvl="0" indent="0" marL="0">
                        <a:buNone/>
                      </a:pPr>
                      <a:r>
                        <a:rPr/>
                        <a:t>Type</a:t>
                      </a:r>
                    </a:p>
                  </a:txBody>
                  <a:tcPr/>
                </a:tc>
                <a:tc>
                  <a:txBody>
                    <a:bodyPr/>
                    <a:lstStyle/>
                    <a:p>
                      <a:pPr lvl="0" indent="0" marL="0">
                        <a:buNone/>
                      </a:pPr>
                      <a:r>
                        <a:rPr/>
                        <a:t>Descriptive statistics</a:t>
                      </a:r>
                    </a:p>
                  </a:txBody>
                  <a:tcPr/>
                </a:tc>
              </a:tr>
              <a:tr h="0">
                <a:tc>
                  <a:txBody>
                    <a:bodyPr/>
                    <a:lstStyle/>
                    <a:p>
                      <a:pPr lvl="0" indent="0" marL="0">
                        <a:buNone/>
                      </a:pPr>
                      <a:r>
                        <a:rPr/>
                        <a:t>lois_height_in</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rt_critics_score</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rt_audience_score</a:t>
                      </a:r>
                    </a:p>
                  </a:txBody>
                </a:tc>
                <a:tc>
                  <a:txBody>
                    <a:bodyPr/>
                    <a:lstStyle/>
                    <a:p>
                      <a:pPr lvl="0" indent="0" marL="0">
                        <a:buNone/>
                      </a:pPr>
                      <a:r>
                        <a:rPr/>
                        <a:t>______</a:t>
                      </a:r>
                    </a:p>
                  </a:txBody>
                </a:tc>
                <a:tc>
                  <a:txBody>
                    <a:bodyPr/>
                    <a:lstStyle/>
                    <a:p>
                      <a:pPr lvl="0" indent="0" marL="0">
                        <a:buNone/>
                      </a:pPr>
                      <a:r>
                        <a:rPr/>
                        <a:t>______</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Classify the next three variables (continued 2)</a:t>
            </a:r>
          </a:p>
        </p:txBody>
      </p:sp>
      <p:sp>
        <p:nvSpPr>
          <p:cNvPr id="3" name="Content Placeholder 2"/>
          <p:cNvSpPr>
            <a:spLocks noGrp="1"/>
          </p:cNvSpPr>
          <p:nvPr>
            <p:ph idx="1"/>
          </p:nvPr>
        </p:nvSpPr>
        <p:spPr/>
        <p:txBody>
          <a:bodyPr/>
          <a:lstStyle/>
          <a:p>
            <a:pPr lvl="0" indent="0" marL="0">
              <a:buNone/>
            </a:pPr>
            <a:r>
              <a:rPr/>
              <a:t>Choose qualitative or quantitative, then mean (SD) or mode (number of categories).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Choose three correlation pairs</a:t>
            </a:r>
          </a:p>
        </p:txBody>
      </p:sp>
      <p:sp>
        <p:nvSpPr>
          <p:cNvPr id="3" name="Content Placeholder 2"/>
          <p:cNvSpPr>
            <a:spLocks noGrp="1"/>
          </p:cNvSpPr>
          <p:nvPr>
            <p:ph idx="1"/>
          </p:nvPr>
        </p:nvSpPr>
        <p:spPr/>
        <p:txBody>
          <a:bodyPr/>
          <a:lstStyle/>
          <a:p>
            <a:pPr lvl="0" indent="0" marL="0">
              <a:buNone/>
            </a:pPr>
            <a:r>
              <a:rPr/>
              <a:t>Select three distinct pairs for Pearson’s r</a:t>
            </a:r>
          </a:p>
          <a:p>
            <a:pPr lvl="0" indent="0" marL="0">
              <a:buNone/>
            </a:pPr>
            <a:r>
              <a:rPr/>
              <a:t>Choose 3 distinct pair(s) from: clark_grp, tomatometer, clark_height_in, lois_height_in, rt_critics_score, rt_audience_score.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Choose three correlation pairs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pPr lvl="0" indent="0" marL="0">
                        <a:buNone/>
                      </a:pPr>
                      <a:r>
                        <a:rPr/>
                        <a:t>Pair</a:t>
                      </a:r>
                    </a:p>
                  </a:txBody>
                  <a:tcPr/>
                </a:tc>
                <a:tc>
                  <a:txBody>
                    <a:bodyPr/>
                    <a:lstStyle/>
                    <a:p>
                      <a:pPr lvl="0" indent="0" marL="0">
                        <a:buNone/>
                      </a:pPr>
                      <a:r>
                        <a:rPr/>
                        <a:t>Variable 1</a:t>
                      </a:r>
                    </a:p>
                  </a:txBody>
                  <a:tcPr/>
                </a:tc>
                <a:tc>
                  <a:txBody>
                    <a:bodyPr/>
                    <a:lstStyle/>
                    <a:p>
                      <a:pPr lvl="0" indent="0" marL="0">
                        <a:buNone/>
                      </a:pPr>
                      <a:r>
                        <a:rPr/>
                        <a:t>Variable 2</a:t>
                      </a:r>
                    </a:p>
                  </a:txBody>
                  <a:tcPr/>
                </a:tc>
              </a:tr>
              <a:tr h="0">
                <a:tc>
                  <a:txBody>
                    <a:bodyPr/>
                    <a:lstStyle/>
                    <a:p>
                      <a:pPr lvl="0" indent="0" marL="0">
                        <a:buNone/>
                      </a:pPr>
                      <a:r>
                        <a:rPr/>
                        <a:t>1</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2</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3</a:t>
                      </a:r>
                    </a:p>
                  </a:txBody>
                </a:tc>
                <a:tc>
                  <a:txBody>
                    <a:bodyPr/>
                    <a:lstStyle/>
                    <a:p>
                      <a:pPr lvl="0" indent="0" marL="0">
                        <a:buNone/>
                      </a:pPr>
                      <a:r>
                        <a:rPr/>
                        <a:t>______</a:t>
                      </a:r>
                    </a:p>
                  </a:txBody>
                </a:tc>
                <a:tc>
                  <a:txBody>
                    <a:bodyPr/>
                    <a:lstStyle/>
                    <a:p>
                      <a:pPr lvl="0" indent="0" marL="0">
                        <a:buNone/>
                      </a:pPr>
                      <a:r>
                        <a:rPr/>
                        <a:t>______</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13 Choose a chi-square pair</a:t>
            </a:r>
          </a:p>
        </p:txBody>
      </p:sp>
      <p:sp>
        <p:nvSpPr>
          <p:cNvPr id="3" name="Content Placeholder 2"/>
          <p:cNvSpPr>
            <a:spLocks noGrp="1"/>
          </p:cNvSpPr>
          <p:nvPr>
            <p:ph idx="1"/>
          </p:nvPr>
        </p:nvSpPr>
        <p:spPr/>
        <p:txBody>
          <a:bodyPr/>
          <a:lstStyle/>
          <a:p>
            <a:pPr lvl="0" indent="0" marL="0">
              <a:buNone/>
            </a:pPr>
            <a:r>
              <a:rPr/>
              <a:t>Select one pair for a 2 × 2 chi-square test</a:t>
            </a:r>
          </a:p>
          <a:p>
            <a:pPr lvl="0" indent="0" marL="0">
              <a:buNone/>
            </a:pPr>
            <a:r>
              <a:rPr/>
              <a:t>Choose 1 distinct pair(s) from: clark_grp, tomatometer, clark_height_in, lois_height_in, rt_critics_score, rt_audience_score.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13 Choose a chi-square pair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pPr lvl="0" indent="0" marL="0">
                        <a:buNone/>
                      </a:pPr>
                      <a:r>
                        <a:rPr/>
                        <a:t>Pair</a:t>
                      </a:r>
                    </a:p>
                  </a:txBody>
                  <a:tcPr/>
                </a:tc>
                <a:tc>
                  <a:txBody>
                    <a:bodyPr/>
                    <a:lstStyle/>
                    <a:p>
                      <a:pPr lvl="0" indent="0" marL="0">
                        <a:buNone/>
                      </a:pPr>
                      <a:r>
                        <a:rPr/>
                        <a:t>Variable 1</a:t>
                      </a:r>
                    </a:p>
                  </a:txBody>
                  <a:tcPr/>
                </a:tc>
                <a:tc>
                  <a:txBody>
                    <a:bodyPr/>
                    <a:lstStyle/>
                    <a:p>
                      <a:pPr lvl="0" indent="0" marL="0">
                        <a:buNone/>
                      </a:pPr>
                      <a:r>
                        <a:rPr/>
                        <a:t>Variable 2</a:t>
                      </a:r>
                    </a:p>
                  </a:txBody>
                  <a:tcPr/>
                </a:tc>
              </a:tr>
              <a:tr h="0">
                <a:tc>
                  <a:txBody>
                    <a:bodyPr/>
                    <a:lstStyle/>
                    <a:p>
                      <a:pPr lvl="0" indent="0" marL="0">
                        <a:buNone/>
                      </a:pPr>
                      <a:r>
                        <a:rPr/>
                        <a:t>1</a:t>
                      </a:r>
                    </a:p>
                  </a:txBody>
                </a:tc>
                <a:tc>
                  <a:txBody>
                    <a:bodyPr/>
                    <a:lstStyle/>
                    <a:p>
                      <a:pPr lvl="0" indent="0" marL="0">
                        <a:buNone/>
                      </a:pPr>
                      <a:r>
                        <a:rPr/>
                        <a:t>______</a:t>
                      </a:r>
                    </a:p>
                  </a:txBody>
                </a:tc>
                <a:tc>
                  <a:txBody>
                    <a:bodyPr/>
                    <a:lstStyle/>
                    <a:p>
                      <a:pPr lvl="0" indent="0" marL="0">
                        <a:buNone/>
                      </a:pPr>
                      <a:r>
                        <a:rPr/>
                        <a:t>______</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14 Choose three between-groups pairs</a:t>
            </a:r>
          </a:p>
        </p:txBody>
      </p:sp>
      <p:sp>
        <p:nvSpPr>
          <p:cNvPr id="3" name="Content Placeholder 2"/>
          <p:cNvSpPr>
            <a:spLocks noGrp="1"/>
          </p:cNvSpPr>
          <p:nvPr>
            <p:ph idx="1"/>
          </p:nvPr>
        </p:nvSpPr>
        <p:spPr/>
        <p:txBody>
          <a:bodyPr/>
          <a:lstStyle/>
          <a:p>
            <a:pPr lvl="0" indent="0" marL="0">
              <a:buNone/>
            </a:pPr>
            <a:r>
              <a:rPr/>
              <a:t>Select the group variable first, then the score variable</a:t>
            </a:r>
          </a:p>
          <a:p>
            <a:pPr lvl="0" indent="0" marL="0">
              <a:buNone/>
            </a:pPr>
            <a:r>
              <a:rPr/>
              <a:t>Choose 3 distinct pair(s) from: clark_grp, tomatometer, clark_height_in, lois_height_in, rt_critics_score, rt_audience_score.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14 Choose three between-groups pairs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pPr lvl="0" indent="0" marL="0">
                        <a:buNone/>
                      </a:pPr>
                      <a:r>
                        <a:rPr/>
                        <a:t>Pair</a:t>
                      </a:r>
                    </a:p>
                  </a:txBody>
                  <a:tcPr/>
                </a:tc>
                <a:tc>
                  <a:txBody>
                    <a:bodyPr/>
                    <a:lstStyle/>
                    <a:p>
                      <a:pPr lvl="0" indent="0" marL="0">
                        <a:buNone/>
                      </a:pPr>
                      <a:r>
                        <a:rPr/>
                        <a:t>Variable 1</a:t>
                      </a:r>
                    </a:p>
                  </a:txBody>
                  <a:tcPr/>
                </a:tc>
                <a:tc>
                  <a:txBody>
                    <a:bodyPr/>
                    <a:lstStyle/>
                    <a:p>
                      <a:pPr lvl="0" indent="0" marL="0">
                        <a:buNone/>
                      </a:pPr>
                      <a:r>
                        <a:rPr/>
                        <a:t>Variable 2</a:t>
                      </a:r>
                    </a:p>
                  </a:txBody>
                  <a:tcPr/>
                </a:tc>
              </a:tr>
              <a:tr h="0">
                <a:tc>
                  <a:txBody>
                    <a:bodyPr/>
                    <a:lstStyle/>
                    <a:p>
                      <a:pPr lvl="0" indent="0" marL="0">
                        <a:buNone/>
                      </a:pPr>
                      <a:r>
                        <a:rPr/>
                        <a:t>1</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2</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3</a:t>
                      </a:r>
                    </a:p>
                  </a:txBody>
                </a:tc>
                <a:tc>
                  <a:txBody>
                    <a:bodyPr/>
                    <a:lstStyle/>
                    <a:p>
                      <a:pPr lvl="0" indent="0" marL="0">
                        <a:buNone/>
                      </a:pPr>
                      <a:r>
                        <a:rPr/>
                        <a:t>______</a:t>
                      </a:r>
                    </a:p>
                  </a:txBody>
                </a:tc>
                <a:tc>
                  <a:txBody>
                    <a:bodyPr/>
                    <a:lstStyle/>
                    <a:p>
                      <a:pPr lvl="0" indent="0" marL="0">
                        <a:buNone/>
                      </a:pPr>
                      <a:r>
                        <a:rPr/>
                        <a:t>______</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15 Choose two within-groups pairs</a:t>
            </a:r>
          </a:p>
        </p:txBody>
      </p:sp>
      <p:sp>
        <p:nvSpPr>
          <p:cNvPr id="3" name="Content Placeholder 2"/>
          <p:cNvSpPr>
            <a:spLocks noGrp="1"/>
          </p:cNvSpPr>
          <p:nvPr>
            <p:ph idx="1"/>
          </p:nvPr>
        </p:nvSpPr>
        <p:spPr/>
        <p:txBody>
          <a:bodyPr/>
          <a:lstStyle/>
          <a:p>
            <a:pPr lvl="0" indent="0" marL="0">
              <a:buNone/>
            </a:pPr>
            <a:r>
              <a:rPr/>
              <a:t>Select two distinct pairs with comparable scales</a:t>
            </a:r>
          </a:p>
          <a:p>
            <a:pPr lvl="0" indent="0" marL="0">
              <a:buNone/>
            </a:pPr>
            <a:r>
              <a:rPr/>
              <a:t>Choose 2 distinct pair(s) from: clark_grp, tomatometer, clark_height_in, lois_height_in, rt_critics_score, rt_audience_score.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15 Choose two within-groups pairs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pPr lvl="0" indent="0" marL="0">
                        <a:buNone/>
                      </a:pPr>
                      <a:r>
                        <a:rPr/>
                        <a:t>Pair</a:t>
                      </a:r>
                    </a:p>
                  </a:txBody>
                  <a:tcPr/>
                </a:tc>
                <a:tc>
                  <a:txBody>
                    <a:bodyPr/>
                    <a:lstStyle/>
                    <a:p>
                      <a:pPr lvl="0" indent="0" marL="0">
                        <a:buNone/>
                      </a:pPr>
                      <a:r>
                        <a:rPr/>
                        <a:t>Variable 1</a:t>
                      </a:r>
                    </a:p>
                  </a:txBody>
                  <a:tcPr/>
                </a:tc>
                <a:tc>
                  <a:txBody>
                    <a:bodyPr/>
                    <a:lstStyle/>
                    <a:p>
                      <a:pPr lvl="0" indent="0" marL="0">
                        <a:buNone/>
                      </a:pPr>
                      <a:r>
                        <a:rPr/>
                        <a:t>Variable 2</a:t>
                      </a:r>
                    </a:p>
                  </a:txBody>
                  <a:tcPr/>
                </a:tc>
              </a:tr>
              <a:tr h="0">
                <a:tc>
                  <a:txBody>
                    <a:bodyPr/>
                    <a:lstStyle/>
                    <a:p>
                      <a:pPr lvl="0" indent="0" marL="0">
                        <a:buNone/>
                      </a:pPr>
                      <a:r>
                        <a:rPr/>
                        <a:t>1</a:t>
                      </a:r>
                    </a:p>
                  </a:txBody>
                </a:tc>
                <a:tc>
                  <a:txBody>
                    <a:bodyPr/>
                    <a:lstStyle/>
                    <a:p>
                      <a:pPr lvl="0" indent="0" marL="0">
                        <a:buNone/>
                      </a:pPr>
                      <a:r>
                        <a:rPr/>
                        <a:t>______</a:t>
                      </a:r>
                    </a:p>
                  </a:txBody>
                </a:tc>
                <a:tc>
                  <a:txBody>
                    <a:bodyPr/>
                    <a:lstStyle/>
                    <a:p>
                      <a:pPr lvl="0" indent="0" marL="0">
                        <a:buNone/>
                      </a:pPr>
                      <a:r>
                        <a:rPr/>
                        <a:t>______</a:t>
                      </a:r>
                    </a:p>
                  </a:txBody>
                </a:tc>
              </a:tr>
              <a:tr h="0">
                <a:tc>
                  <a:txBody>
                    <a:bodyPr/>
                    <a:lstStyle/>
                    <a:p>
                      <a:pPr lvl="0" indent="0" marL="0">
                        <a:buNone/>
                      </a:pPr>
                      <a:r>
                        <a:rPr/>
                        <a:t>2</a:t>
                      </a:r>
                    </a:p>
                  </a:txBody>
                </a:tc>
                <a:tc>
                  <a:txBody>
                    <a:bodyPr/>
                    <a:lstStyle/>
                    <a:p>
                      <a:pPr lvl="0" indent="0" marL="0">
                        <a:buNone/>
                      </a:pPr>
                      <a:r>
                        <a:rPr/>
                        <a:t>______</a:t>
                      </a:r>
                    </a:p>
                  </a:txBody>
                </a:tc>
                <a:tc>
                  <a:txBody>
                    <a:bodyPr/>
                    <a:lstStyle/>
                    <a:p>
                      <a:pPr lvl="0" indent="0" marL="0">
                        <a:buNone/>
                      </a:pPr>
                      <a:r>
                        <a:rPr/>
                        <a:t>______</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16 Write the four hypotheses</a:t>
            </a:r>
          </a:p>
        </p:txBody>
      </p:sp>
      <p:sp>
        <p:nvSpPr>
          <p:cNvPr id="3" name="Content Placeholder 2"/>
          <p:cNvSpPr>
            <a:spLocks noGrp="1"/>
          </p:cNvSpPr>
          <p:nvPr>
            <p:ph idx="1"/>
          </p:nvPr>
        </p:nvSpPr>
        <p:spPr/>
        <p:txBody>
          <a:bodyPr/>
          <a:lstStyle/>
          <a:p>
            <a:pPr lvl="0" indent="0" marL="0">
              <a:buNone/>
            </a:pPr>
            <a:r>
              <a:rPr/>
              <a:t>[RH1–RH4]</a:t>
            </a:r>
          </a:p>
          <a:p>
            <a:pPr lvl="0" indent="0" marL="0">
              <a:buNone/>
            </a:pPr>
            <a:r>
              <a:rPr/>
              <a:t>For each core-variable pair, identify:</a:t>
            </a:r>
          </a:p>
          <a:p>
            <a:pPr lvl="0"/>
            <a:r>
              <a:rPr/>
              <a:t>The two variable types</a:t>
            </a:r>
          </a:p>
          <a:p>
            <a:pPr lvl="0"/>
            <a:r>
              <a:rPr/>
              <a:t>The statistic you will use</a:t>
            </a:r>
          </a:p>
          <a:p>
            <a:pPr lvl="0"/>
            <a:r>
              <a:rPr/>
              <a:t>The direction you predict</a:t>
            </a:r>
          </a:p>
          <a:p>
            <a:pPr lvl="0" indent="0" marL="0">
              <a:buNone/>
            </a:pPr>
            <a:r>
              <a:rPr b="1"/>
              <a:t>Name the variables and say what you expect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17 Read three articles for your project</a:t>
            </a:r>
          </a:p>
        </p:txBody>
      </p:sp>
      <p:sp>
        <p:nvSpPr>
          <p:cNvPr id="1005" name="prose" descr=""/>
          <p:cNvSpPr/>
          <p:nvPr/>
        </p:nvSpPr>
        <p:spPr>
          <a:xfrm>
            <a:off x="1097280" y="2633472"/>
            <a:ext cx="9994392" cy="304800"/>
          </a:xfrm>
          <a:prstGeom prst="roundRect">
            <a:avLst>
              <a:gd name="adj" fmla="val 6000"/>
            </a:avLst>
          </a:prstGeom>
          <a:noFill/>
          <a:ln>
            <a:noFill/>
          </a:ln>
        </p:spPr>
        <p:txBody>
          <a:bodyPr lIns="182880" tIns="0" rIns="182880" bIns="0" anchor="t" wrap="square">
            <a:normAutofit/>
          </a:bodyPr>
          <a:lstStyle/>
          <a:p>
            <a:pPr algn="l"/>
            <a:r>
              <a:rPr lang="en-US" sz="2000" b="0" dirty="0">
                <a:solidFill>
                  <a:srgbClr val="010B13"/>
                </a:solidFill>
              </a:rPr>
              <a:t>[References 1–3]</a:t>
            </a:r>
          </a:p>
        </p:txBody>
      </p:sp>
      <p:sp>
        <p:nvSpPr>
          <p:cNvPr id="1006" name="card-steel" descr="card: What was studied?. • In-text citation and research question • Target population and sample • Design, procedures, and variables"/>
          <p:cNvSpPr/>
          <p:nvPr/>
        </p:nvSpPr>
        <p:spPr>
          <a:xfrm>
            <a:off x="1097280" y="3084576"/>
            <a:ext cx="4924044" cy="2529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What was studied?</a:t>
            </a:r>
          </a:p>
          <a:p>
            <a:pPr algn="l"/>
            <a:r>
              <a:rPr lang="en-US" sz="2000" b="0" dirty="0">
                <a:solidFill>
                  <a:srgbClr val="010B13"/>
                </a:solidFill>
              </a:rPr>
              <a:t>• In-text citation and research question</a:t>
            </a:r>
          </a:p>
          <a:p>
            <a:pPr algn="l"/>
            <a:r>
              <a:rPr lang="en-US" sz="2000" b="0" dirty="0">
                <a:solidFill>
                  <a:srgbClr val="010B13"/>
                </a:solidFill>
              </a:rPr>
              <a:t>• Target population and sample</a:t>
            </a:r>
          </a:p>
          <a:p>
            <a:pPr algn="l"/>
            <a:r>
              <a:rPr lang="en-US" sz="2000" b="0" dirty="0">
                <a:solidFill>
                  <a:srgbClr val="010B13"/>
                </a:solidFill>
              </a:rPr>
              <a:t>• Design, procedures, and variables</a:t>
            </a:r>
          </a:p>
        </p:txBody>
      </p:sp>
      <p:sp>
        <p:nvSpPr>
          <p:cNvPr id="1007" name="card-rail" descr="">
            <a:extLst>
              <a:ext uri="{C183D7F6-B498-43B3-948B-1728B52AA6E4}">
                <adec:decorative xmlns:adec="http://schemas.microsoft.com/office/drawing/2017/decorative" val="1"/>
              </a:ext>
            </a:extLst>
          </p:cNvPr>
          <p:cNvSpPr/>
          <p:nvPr/>
        </p:nvSpPr>
        <p:spPr>
          <a:xfrm>
            <a:off x="1097280" y="3084576"/>
            <a:ext cx="54864" cy="25298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8" name="card-steel" descr="card: What did it show?. • Major findings • Relevance to your project variables"/>
          <p:cNvSpPr/>
          <p:nvPr/>
        </p:nvSpPr>
        <p:spPr>
          <a:xfrm>
            <a:off x="6167628" y="3084576"/>
            <a:ext cx="4924044" cy="16154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What did it show?</a:t>
            </a:r>
          </a:p>
          <a:p>
            <a:pPr algn="l"/>
            <a:r>
              <a:rPr lang="en-US" sz="2000" b="0" dirty="0">
                <a:solidFill>
                  <a:srgbClr val="010B13"/>
                </a:solidFill>
              </a:rPr>
              <a:t>• Major findings</a:t>
            </a:r>
          </a:p>
          <a:p>
            <a:pPr algn="l"/>
            <a:r>
              <a:rPr lang="en-US" sz="2000" b="0" dirty="0">
                <a:solidFill>
                  <a:srgbClr val="010B13"/>
                </a:solidFill>
              </a:rPr>
              <a:t>• Relevance to your project variables</a:t>
            </a:r>
          </a:p>
        </p:txBody>
      </p:sp>
      <p:sp>
        <p:nvSpPr>
          <p:cNvPr id="1009" name="card-rail" descr="">
            <a:extLst>
              <a:ext uri="{C183D7F6-B498-43B3-948B-1728B52AA6E4}">
                <adec:decorative xmlns:adec="http://schemas.microsoft.com/office/drawing/2017/decorative" val="1"/>
              </a:ext>
            </a:extLst>
          </p:cNvPr>
          <p:cNvSpPr/>
          <p:nvPr/>
        </p:nvSpPr>
        <p:spPr>
          <a:xfrm>
            <a:off x="6167628" y="3084576"/>
            <a:ext cx="54864" cy="16154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18 Explain how the findings support your RHs</a:t>
            </a:r>
          </a:p>
        </p:txBody>
      </p:sp>
      <p:sp>
        <p:nvSpPr>
          <p:cNvPr id="3" name="Content Placeholder 2"/>
          <p:cNvSpPr>
            <a:spLocks noGrp="1"/>
          </p:cNvSpPr>
          <p:nvPr>
            <p:ph idx="1"/>
          </p:nvPr>
        </p:nvSpPr>
        <p:spPr/>
        <p:txBody>
          <a:bodyPr/>
          <a:lstStyle/>
          <a:p>
            <a:pPr lvl="0" indent="0" marL="0">
              <a:buNone/>
            </a:pPr>
            <a:r>
              <a:rPr/>
              <a:t>For each proposed relationship, ask:</a:t>
            </a:r>
          </a:p>
          <a:p>
            <a:pPr lvl="0"/>
            <a:r>
              <a:rPr/>
              <a:t>Which finding helps explain your prediction?</a:t>
            </a:r>
          </a:p>
          <a:p>
            <a:pPr lvl="0"/>
            <a:r>
              <a:rPr/>
              <a:t>Is the construct measured in a similar way?</a:t>
            </a:r>
          </a:p>
          <a:p>
            <a:pPr lvl="0"/>
            <a:r>
              <a:rPr/>
              <a:t>What differs in the sample or design?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19 Finish the analysis proposal</a:t>
            </a:r>
          </a:p>
        </p:txBody>
      </p:sp>
      <p:sp>
        <p:nvSpPr>
          <p:cNvPr id="3" name="Content Placeholder 2"/>
          <p:cNvSpPr>
            <a:spLocks noGrp="1"/>
          </p:cNvSpPr>
          <p:nvPr>
            <p:ph idx="1"/>
          </p:nvPr>
        </p:nvSpPr>
        <p:spPr/>
        <p:txBody>
          <a:bodyPr/>
          <a:lstStyle/>
          <a:p>
            <a:pPr lvl="0"/>
            <a:r>
              <a:rPr/>
              <a:t>Complete the variable selection and recoding table</a:t>
            </a:r>
          </a:p>
          <a:p>
            <a:pPr lvl="0"/>
            <a:r>
              <a:rPr/>
              <a:t>State four RHs with their variable types and tests</a:t>
            </a:r>
          </a:p>
          <a:p>
            <a:pPr lvl="0"/>
            <a:r>
              <a:rPr/>
              <a:t>Complete the three article summaries</a:t>
            </a:r>
          </a:p>
          <a:p>
            <a:pPr lvl="0" indent="0" marL="0">
              <a:buNone/>
            </a:pPr>
            <a:r>
              <a:rPr b="1"/>
              <a:t>Have your lab instructor sign off on the analysis plan</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the Analysis Proposal</dc:title>
  <dc:creator>PSYC 350 Laboratory</dc:creator>
  <cp:keywords/>
  <dcterms:created xsi:type="dcterms:W3CDTF">2026-09-10T18:12:13Z</dcterms:created>
  <dcterms:modified xsi:type="dcterms:W3CDTF">2026-09-10T18:12:13Z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09 · Variables, Hypotheses, and Sources</vt:lpwstr>
  </property>
  <property fmtid="{D5CDD505-2E9C-101B-9397-08002B2CF9AE}" pid="20" name="toc-title">
    <vt:lpwstr>Table of contents</vt:lpwstr>
  </property>
</Properties>
</file>