
<file path=[Content_Types].xml><?xml version="1.0" encoding="utf-8"?>
<Types xmlns="http://schemas.openxmlformats.org/package/2006/content-types">
  <Default Extension="xml" ContentType="application/xml"/>
  <Default Extension="rels" ContentType="application/vnd.openxmlformats-package.relationships+xml"/>
  <Default Extension="jpg" ContentType="image/jpeg"/>
  <Default Extension="png" ContentType="image/pn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p:sldMasterIdLst>
    <p:sldMasterId id="2147483696"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sz="17524"/>
    <p:restoredTop sz="94694"/>
  </p:normalViewPr>
  <p:slideViewPr>
    <p:cSldViewPr snapToGrid="0">
      <p:cViewPr varScale="1">
        <p:scale>
          <a:sx d="100" n="119"/>
          <a:sy d="100" n="119"/>
        </p:scale>
        <p:origin x="232" y="232"/>
      </p:cViewPr>
      <p:guideLst/>
    </p:cSldViewPr>
  </p:slideViewPr>
  <p:notesTextViewPr>
    <p:cViewPr>
      <p:scale>
        <a:sx d="1" n="1"/>
        <a:sy d="1" n="1"/>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notesMaster" Target="notesMasters/notesMaster1.xml" /><Relationship Id="rId1" Type="http://schemas.openxmlformats.org/officeDocument/2006/relationships/slideMaster" Target="slideMasters/slideMaster1.xml" /><Relationship Id="rId18" Type="http://schemas.openxmlformats.org/officeDocument/2006/relationships/presProps" Target="presProps.xml" /><Relationship Id="rId19" Type="http://schemas.openxmlformats.org/officeDocument/2006/relationships/viewProps" Target="viewProps.xml" /><Relationship Id="rId20" Type="http://schemas.openxmlformats.org/officeDocument/2006/relationships/theme" Target="theme/theme1.xml" /><Relationship Id="rId21" Type="http://schemas.openxmlformats.org/officeDocument/2006/relationships/tableStyles" Target="tableStyles.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5.xml.rels><?xml version="1.0" encoding="UTF-8"?><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6.xml.rels><?xml version="1.0" encoding="UTF-8"?><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7.xml.rels><?xml version="1.0" encoding="UTF-8"?><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8.xml.rels><?xml version="1.0" encoding="UTF-8"?><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9.xml.rels><?xml version="1.0" encoding="UTF-8"?><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10.xml.rels><?xml version="1.0" encoding="UTF-8"?><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11.xml.rels><?xml version="1.0" encoding="UTF-8"?><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12.xml.rels><?xml version="1.0" encoding="UTF-8"?><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13.xml.rels><?xml version="1.0" encoding="UTF-8"?><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_rels/notesSlide14.xml.rels><?xml version="1.0" encoding="UTF-8"?><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lab turns earlier search and data work into a coherent project plan. Ask students to keep the worksheet, codebook, dataset, and Zotero collection open.</a:t>
            </a:r>
          </a:p>
        </p:txBody>
      </p:sp>
      <p:sp>
        <p:nvSpPr>
          <p:cNvPr id="4" name="Slide Number Placeholder 3"/>
          <p:cNvSpPr>
            <a:spLocks noGrp="1"/>
          </p:cNvSpPr>
          <p:nvPr>
            <p:ph type="sldNum" sz="quarter" idx="10"/>
          </p:nvPr>
        </p:nvSpPr>
        <p:spPr/>
        <p:txBody>
          <a:bodyPr/>
          <a:lstStyle/>
          <a:p>
            <a:fld id="{18BDFEC3-8487-43E8-A154-7C12CBC1FFF2}" type="slidenum">
              <a:rPr lang="en-US"/>
              <a:t>2</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worksheet is not a list of interesting variables. The variables, hypotheses, and references should form one connected argument.</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image is an example of moving from a recognizable behavior or context to a measurable construct. Students’ own projects may use a different dataset.</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Do this before recoding or writing hypotheses. A project built on mislabeled categories or undeclared missing codes will produce misleading results later.</a:t>
            </a:r>
          </a:p>
        </p:txBody>
      </p:sp>
      <p:sp>
        <p:nvSpPr>
          <p:cNvPr id="4" name="Slide Number Placeholder 3"/>
          <p:cNvSpPr>
            <a:spLocks noGrp="1"/>
          </p:cNvSpPr>
          <p:nvPr>
            <p:ph type="sldNum" sz="quarter" idx="10"/>
          </p:nvPr>
        </p:nvSpPr>
        <p:spPr/>
        <p:txBody>
          <a:bodyPr/>
          <a:lstStyle/>
          <a:p>
            <a:fld id="{18BDFEC3-8487-43E8-A154-7C12CBC1FFF2}" type="slidenum">
              <a:rPr lang="en-US"/>
              <a:t>5</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Students should preserve the source variable and save syntax. Each transformation must serve a stated project decision, not merely simplify the output.</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worksheet requires four core-variable relationships, with optional bonus hypotheses. Avoid vague wording such as “will be related.”</a:t>
            </a:r>
          </a:p>
        </p:txBody>
      </p:sp>
      <p:sp>
        <p:nvSpPr>
          <p:cNvPr id="4" name="Slide Number Placeholder 3"/>
          <p:cNvSpPr>
            <a:spLocks noGrp="1"/>
          </p:cNvSpPr>
          <p:nvPr>
            <p:ph type="sldNum" sz="quarter" idx="10"/>
          </p:nvPr>
        </p:nvSpPr>
        <p:spPr/>
        <p:txBody>
          <a:bodyPr/>
          <a:lstStyle/>
          <a:p>
            <a:fld id="{18BDFEC3-8487-43E8-A154-7C12CBC1FFF2}" type="slidenum">
              <a:rPr lang="en-US"/>
              <a:t>7</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wording should reveal the planned analysis. Students should be able to infer variable types from the hypothesis sentence. Any qualitative variable with three or more groups must be selected or recoded into two groups.</a:t>
            </a:r>
          </a:p>
        </p:txBody>
      </p:sp>
      <p:sp>
        <p:nvSpPr>
          <p:cNvPr id="4" name="Slide Number Placeholder 3"/>
          <p:cNvSpPr>
            <a:spLocks noGrp="1"/>
          </p:cNvSpPr>
          <p:nvPr>
            <p:ph type="sldNum" sz="quarter" idx="10"/>
          </p:nvPr>
        </p:nvSpPr>
        <p:spPr/>
        <p:txBody>
          <a:bodyPr/>
          <a:lstStyle/>
          <a:p>
            <a:fld id="{18BDFEC3-8487-43E8-A154-7C12CBC1FFF2}" type="slidenum">
              <a:rPr lang="en-US"/>
              <a:t>8</a:t>
            </a:fld>
            <a:endParaRPr lang="en-US"/>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Students may inspect distributions to verify data quality, but the substantive direction should be justified independently of the observed inferential result.</a:t>
            </a:r>
          </a:p>
        </p:txBody>
      </p:sp>
      <p:sp>
        <p:nvSpPr>
          <p:cNvPr id="4" name="Slide Number Placeholder 3"/>
          <p:cNvSpPr>
            <a:spLocks noGrp="1"/>
          </p:cNvSpPr>
          <p:nvPr>
            <p:ph type="sldNum" sz="quarter" idx="10"/>
          </p:nvPr>
        </p:nvSpPr>
        <p:spPr/>
        <p:txBody>
          <a:bodyPr/>
          <a:lstStyle/>
          <a:p>
            <a:fld id="{18BDFEC3-8487-43E8-A154-7C12CBC1FFF2}" type="slidenum">
              <a:rPr lang="en-US"/>
              <a:t>9</a:t>
            </a:fld>
            <a:endParaRPr lang="en-US"/>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One source may support more than one hypothesis, but each citation must have a clear role. Encourage precise claims rather than broad “research shows” statements.</a:t>
            </a:r>
          </a:p>
        </p:txBody>
      </p:sp>
      <p:sp>
        <p:nvSpPr>
          <p:cNvPr id="4" name="Slide Number Placeholder 3"/>
          <p:cNvSpPr>
            <a:spLocks noGrp="1"/>
          </p:cNvSpPr>
          <p:nvPr>
            <p:ph type="sldNum" sz="quarter" idx="10"/>
          </p:nvPr>
        </p:nvSpPr>
        <p:spPr/>
        <p:txBody>
          <a:bodyPr/>
          <a:lstStyle/>
          <a:p>
            <a:fld id="{18BDFEC3-8487-43E8-A154-7C12CBC1FFF2}" type="slidenum">
              <a:rPr lang="en-US"/>
              <a:t>10</a:t>
            </a:fld>
            <a:endParaRPr lang="en-US"/>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worksheet’s source sections are meant to support the rationale, not merely prove that three PDFs were located.</a:t>
            </a:r>
          </a:p>
        </p:txBody>
      </p:sp>
      <p:sp>
        <p:nvSpPr>
          <p:cNvPr id="4" name="Slide Number Placeholder 3"/>
          <p:cNvSpPr>
            <a:spLocks noGrp="1"/>
          </p:cNvSpPr>
          <p:nvPr>
            <p:ph type="sldNum" sz="quarter" idx="10"/>
          </p:nvPr>
        </p:nvSpPr>
        <p:spPr/>
        <p:txBody>
          <a:bodyPr/>
          <a:lstStyle/>
          <a:p>
            <a:fld id="{18BDFEC3-8487-43E8-A154-7C12CBC1FFF2}" type="slidenum">
              <a:rPr lang="en-US"/>
              <a:t>11</a:t>
            </a:fld>
            <a:endParaRPr lang="en-US"/>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Carry forward the validity distinctions from Labs 3 and 4. Students should not turn an association in a cited article into a causal project prediction.</a:t>
            </a:r>
          </a:p>
        </p:txBody>
      </p:sp>
      <p:sp>
        <p:nvSpPr>
          <p:cNvPr id="4" name="Slide Number Placeholder 3"/>
          <p:cNvSpPr>
            <a:spLocks noGrp="1"/>
          </p:cNvSpPr>
          <p:nvPr>
            <p:ph type="sldNum" sz="quarter" idx="10"/>
          </p:nvPr>
        </p:nvSpPr>
        <p:spPr/>
        <p:txBody>
          <a:bodyPr/>
          <a:lstStyle/>
          <a:p>
            <a:fld id="{18BDFEC3-8487-43E8-A154-7C12CBC1FFF2}" type="slidenum">
              <a:rPr lang="en-US"/>
              <a:t>12</a:t>
            </a:fld>
            <a:endParaRPr lang="en-US"/>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If several hypotheses are minor variations of the same analysis, revise the set. The project should test a coherent but informative set of relationships.</a:t>
            </a:r>
          </a:p>
        </p:txBody>
      </p:sp>
      <p:sp>
        <p:nvSpPr>
          <p:cNvPr id="4" name="Slide Number Placeholder 3"/>
          <p:cNvSpPr>
            <a:spLocks noGrp="1"/>
          </p:cNvSpPr>
          <p:nvPr>
            <p:ph type="sldNum" sz="quarter" idx="10"/>
          </p:nvPr>
        </p:nvSpPr>
        <p:spPr/>
        <p:txBody>
          <a:bodyPr/>
          <a:lstStyle/>
          <a:p>
            <a:fld id="{18BDFEC3-8487-43E8-A154-7C12CBC1FFF2}" type="slidenum">
              <a:rPr lang="en-US"/>
              <a:t>13</a:t>
            </a:fld>
            <a:endParaRPr lang="en-US"/>
          </a:p>
        </p:txBody>
      </p:sp>
    </p:spTree>
  </p:cSld>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TA should not need to open the codebook to understand a hypothesis. At the same time, exact field names prevent ambiguity when the analysis begins.</a:t>
            </a:r>
          </a:p>
        </p:txBody>
      </p:sp>
      <p:sp>
        <p:nvSpPr>
          <p:cNvPr id="4" name="Slide Number Placeholder 3"/>
          <p:cNvSpPr>
            <a:spLocks noGrp="1"/>
          </p:cNvSpPr>
          <p:nvPr>
            <p:ph type="sldNum" sz="quarter" idx="10"/>
          </p:nvPr>
        </p:nvSpPr>
        <p:spPr/>
        <p:txBody>
          <a:bodyPr/>
          <a:lstStyle/>
          <a:p>
            <a:fld id="{18BDFEC3-8487-43E8-A154-7C12CBC1FFF2}" type="slidenum">
              <a:rPr lang="en-US"/>
              <a:t>14</a:t>
            </a:fld>
            <a:endParaRPr lang="en-US"/>
          </a:p>
        </p:txBody>
      </p:sp>
    </p:spTree>
  </p:cSld>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Use the worksheet point values as the final checklist. Ask whether another researcher could understand the plan without opening the dataset. This completed preproposal becomes the plan for later analysis and writing labs.</a:t>
            </a:r>
          </a:p>
        </p:txBody>
      </p:sp>
      <p:sp>
        <p:nvSpPr>
          <p:cNvPr id="4" name="Slide Number Placeholder 3"/>
          <p:cNvSpPr>
            <a:spLocks noGrp="1"/>
          </p:cNvSpPr>
          <p:nvPr>
            <p:ph type="sldNum" sz="quarter" idx="10"/>
          </p:nvPr>
        </p:nvSpPr>
        <p:spPr/>
        <p:txBody>
          <a:bodyPr/>
          <a:lstStyle/>
          <a:p>
            <a:fld id="{18BDFEC3-8487-43E8-A154-7C12CBC1FFF2}" type="slidenum">
              <a:rPr lang="en-US"/>
              <a:t>15</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097280" y="2386744"/>
            <a:ext cx="9997440" cy="1645920"/>
          </a:xfrm>
          <a:solidFill>
            <a:srgbClr val="FFFFFF"/>
          </a:solidFill>
          <a:ln w="38100">
            <a:solidFill>
              <a:srgbClr val="404040"/>
            </a:solidFill>
          </a:ln>
        </p:spPr>
        <p:txBody>
          <a:bodyPr lIns="274320" rIns="274320" anchor="ctr" anchorCtr="1">
            <a:normAutofit/>
          </a:bodyPr>
          <a:lstStyle>
            <a:lvl1pPr algn="ctr">
              <a:defRPr sz="3800">
                <a:solidFill>
                  <a:srgbClr val="262626"/>
                </a:solidFill>
              </a:defRPr>
            </a:lvl1pPr>
          </a:lstStyle>
          <a:p>
            <a:r>
              <a:rPr lang="en-US"/>
              <a:t>Click to edit Master title style</a:t>
            </a:r>
            <a:endParaRPr lang="en-US" dirty="0"/>
          </a:p>
        </p:txBody>
      </p:sp>
      <p:sp>
        <p:nvSpPr>
          <p:cNvPr id="3" name="Subtitle 2"/>
          <p:cNvSpPr>
            <a:spLocks noGrp="1"/>
          </p:cNvSpPr>
          <p:nvPr>
            <p:ph type="subTitle" idx="1"/>
          </p:nvPr>
        </p:nvSpPr>
        <p:spPr>
          <a:xfrm>
            <a:off x="1097280" y="4352544"/>
            <a:ext cx="9997440" cy="1239894"/>
          </a:xfrm>
          <a:noFill/>
        </p:spPr>
        <p:txBody>
          <a:bodyPr>
            <a:normAutofit/>
          </a:bodyPr>
          <a:lstStyle>
            <a:lvl1pPr marL="0" indent="0" algn="ctr">
              <a:buNone/>
              <a:defRPr sz="2000">
                <a:solidFill>
                  <a:srgbClr val="FFFFFF"/>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1160EA64-D806-43AC-9DF2-F8C432F32B4C}" type="datetimeFigureOut">
              <a:rPr lang="en-US" dirty="0"/>
              <a:t>1/22/26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097280" y="964692"/>
            <a:ext cx="9997440" cy="1188720"/>
          </a:xfrm>
        </p:spPr>
        <p:txBody>
          <a:bodyPr/>
          <a:lstStyle/>
          <a:p>
            <a:r>
              <a:rPr lang="en-US"/>
              <a:t>Click to edit Master title style</a:t>
            </a:r>
            <a:endParaRPr lang="en-US" dirty="0"/>
          </a:p>
        </p:txBody>
      </p:sp>
      <p:sp>
        <p:nvSpPr>
          <p:cNvPr id="3" name="Content Placeholder 2"/>
          <p:cNvSpPr>
            <a:spLocks noGrp="1"/>
          </p:cNvSpPr>
          <p:nvPr>
            <p:ph idx="1"/>
          </p:nvPr>
        </p:nvSpPr>
        <p:spPr>
          <a:xfrm>
            <a:off x="1097280" y="2638044"/>
            <a:ext cx="9997440" cy="31019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070A7B3-6521-4DCA-87E5-044747A908C1}" type="datetimeFigureOut">
              <a:rPr lang="en-US" dirty="0"/>
              <a:t>1/22/26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097280" y="2386744"/>
            <a:ext cx="9997440" cy="1645920"/>
          </a:xfrm>
          <a:solidFill>
            <a:srgbClr val="FFFFFF"/>
          </a:solidFill>
          <a:ln w="38100">
            <a:solidFill>
              <a:srgbClr val="404040"/>
            </a:solidFill>
          </a:ln>
        </p:spPr>
        <p:txBody>
          <a:bodyPr lIns="274320" rIns="274320" anchor="ctr" anchorCtr="1">
            <a:normAutofit/>
          </a:bodyPr>
          <a:lstStyle>
            <a:lvl1pPr>
              <a:defRPr sz="3800">
                <a:solidFill>
                  <a:srgbClr val="262626"/>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352465"/>
            <a:ext cx="9997440" cy="1265082"/>
          </a:xfrm>
        </p:spPr>
        <p:txBody>
          <a:bodyPr anchor="t" anchorCtr="1">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Date Placeholder 6"/>
          <p:cNvSpPr>
            <a:spLocks noGrp="1"/>
          </p:cNvSpPr>
          <p:nvPr>
            <p:ph type="dt" sz="half" idx="10"/>
          </p:nvPr>
        </p:nvSpPr>
        <p:spPr/>
        <p:txBody>
          <a:bodyPr/>
          <a:lstStyle/>
          <a:p>
            <a:fld id="{1160EA64-D806-43AC-9DF2-F8C432F32B4C}" type="datetimeFigureOut">
              <a:rPr lang="en-US" dirty="0"/>
              <a:t>1/22/26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97280" y="964692"/>
            <a:ext cx="9997440" cy="1188720"/>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2638044"/>
            <a:ext cx="4907280"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7440" y="2638044"/>
            <a:ext cx="4907280"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AB134690-1557-4C89-A502-4959FE7FAD70}" type="datetimeFigureOut">
              <a:rPr lang="en-US" dirty="0"/>
              <a:t>1/22/26</a:t>
            </a:fld>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8343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83436" y="3143250"/>
            <a:ext cx="4270248" cy="25967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p:cNvSpPr>
            <a:spLocks noGrp="1"/>
          </p:cNvSpPr>
          <p:nvPr>
            <p:ph sz="quarter" idx="4"/>
          </p:nvPr>
        </p:nvSpPr>
        <p:spPr>
          <a:xfrm>
            <a:off x="6338316" y="3143250"/>
            <a:ext cx="4253484" cy="2596776"/>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4"/>
          <p:cNvSpPr>
            <a:spLocks noGrp="1"/>
          </p:cNvSpPr>
          <p:nvPr>
            <p:ph type="body" sz="quarter" idx="13"/>
          </p:nvPr>
        </p:nvSpPr>
        <p:spPr>
          <a:xfrm>
            <a:off x="633831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Date Placeholder 6"/>
          <p:cNvSpPr>
            <a:spLocks noGrp="1"/>
          </p:cNvSpPr>
          <p:nvPr>
            <p:ph type="dt" sz="half" idx="10"/>
          </p:nvPr>
        </p:nvSpPr>
        <p:spPr/>
        <p:txBody>
          <a:bodyPr/>
          <a:lstStyle/>
          <a:p>
            <a:fld id="{4F7D4976-E339-4826-83B7-FBD03F55ECF8}" type="datetimeFigureOut">
              <a:rPr lang="en-US" dirty="0"/>
              <a:t>1/22/26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t>‹#›</a:t>
            </a:fld>
            <a:endParaRPr lang="en-US" dirty="0"/>
          </a:p>
        </p:txBody>
      </p:sp>
      <p:sp>
        <p:nvSpPr>
          <p:cNvPr id="10" name="Title 9"/>
          <p:cNvSpPr>
            <a:spLocks noGrp="1"/>
          </p:cNvSpPr>
          <p:nvPr>
            <p:ph type="title"/>
          </p:nvPr>
        </p:nvSpPr>
        <p:spPr/>
        <p:txBody>
          <a:bodyPr/>
          <a:lstStyle/>
          <a:p>
            <a:r>
              <a:rPr lang="en-US"/>
              <a:t>Click to edit Master title style</a:t>
            </a: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097280" y="964692"/>
            <a:ext cx="9997440" cy="118872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1037C31-9E7A-4F99-8774-A0E530DE1A42}" type="datetimeFigureOut">
              <a:rPr lang="en-US" dirty="0"/>
              <a:t>1/22/26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278504F-A551-4DE0-9316-4DCD1D8CC752}" type="datetimeFigureOut">
              <a:rPr lang="en-US" dirty="0"/>
              <a:t>1/22/26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6" name="Rectangle 25"/>
          <p:cNvSpPr/>
          <p:nvPr/>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4672" y="2243828"/>
            <a:ext cx="4486656" cy="1141497"/>
          </a:xfrm>
          <a:solidFill>
            <a:srgbClr val="FFFFFF"/>
          </a:solidFill>
          <a:ln>
            <a:solidFill>
              <a:srgbClr val="404040"/>
            </a:solidFill>
          </a:ln>
        </p:spPr>
        <p:txBody>
          <a:bodyPr anchor="ctr" anchorCtr="1">
            <a:normAutofit/>
          </a:bodyPr>
          <a:lstStyle>
            <a:lvl1pPr>
              <a:defRPr sz="2200">
                <a:solidFill>
                  <a:srgbClr val="262626"/>
                </a:solidFill>
              </a:defRPr>
            </a:lvl1pPr>
          </a:lstStyle>
          <a:p>
            <a:r>
              <a:rPr lang="en-US"/>
              <a:t>Click to edit Master title style</a:t>
            </a:r>
            <a:endParaRPr lang="en-US" dirty="0"/>
          </a:p>
        </p:txBody>
      </p:sp>
      <p:sp>
        <p:nvSpPr>
          <p:cNvPr id="3" name="Content Placeholder 2"/>
          <p:cNvSpPr>
            <a:spLocks noGrp="1"/>
          </p:cNvSpPr>
          <p:nvPr>
            <p:ph idx="1"/>
          </p:nvPr>
        </p:nvSpPr>
        <p:spPr>
          <a:xfrm>
            <a:off x="6736080" y="804672"/>
            <a:ext cx="481584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15568" y="3549918"/>
            <a:ext cx="3794760" cy="2194036"/>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Date Placeholder 8"/>
          <p:cNvSpPr>
            <a:spLocks noGrp="1"/>
          </p:cNvSpPr>
          <p:nvPr>
            <p:ph type="dt" sz="half" idx="10"/>
          </p:nvPr>
        </p:nvSpPr>
        <p:spPr/>
        <p:txBody>
          <a:bodyPr/>
          <a:lstStyle/>
          <a:p>
            <a:fld id="{D1BE4249-C0D0-4B06-8692-E8BB871AF643}" type="datetimeFigureOut">
              <a:rPr lang="en-US" dirty="0"/>
              <a:t>1/22/26</a:t>
            </a:fld>
            <a:endParaRPr lang="en-US" dirty="0"/>
          </a:p>
        </p:txBody>
      </p:sp>
      <p:sp>
        <p:nvSpPr>
          <p:cNvPr id="10" name="Footer Placeholder 9"/>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dirty="0"/>
          </a:p>
        </p:txBody>
      </p:sp>
      <p:sp>
        <p:nvSpPr>
          <p:cNvPr id="11" name="Slide Number Placeholder 10"/>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8" name="Rectangle 17"/>
          <p:cNvSpPr/>
          <p:nvPr/>
        </p:nvSpPr>
        <p:spPr>
          <a:xfrm>
            <a:off x="0" y="0"/>
            <a:ext cx="60959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8523" y="2243828"/>
            <a:ext cx="4494998" cy="1134640"/>
          </a:xfrm>
          <a:solidFill>
            <a:srgbClr val="FFFFFF"/>
          </a:solidFill>
          <a:ln>
            <a:solidFill>
              <a:srgbClr val="404040"/>
            </a:solidFill>
          </a:ln>
        </p:spPr>
        <p:txBody>
          <a:bodyPr anchor="ctr" anchorCtr="1">
            <a:noAutofit/>
          </a:bodyPr>
          <a:lstStyle>
            <a:lvl1pPr>
              <a:defRPr sz="2200">
                <a:solidFill>
                  <a:srgbClr val="262626"/>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9" y="0"/>
            <a:ext cx="6102097" cy="6858000"/>
          </a:xfrm>
          <a:solidFill>
            <a:schemeClr val="bg1">
              <a:lumMod val="75000"/>
            </a:schemeClr>
          </a:solidFill>
        </p:spPr>
        <p:txBody>
          <a:bodyPr anchor="t"/>
          <a:lstStyle>
            <a:lvl1pPr marL="0" indent="0">
              <a:buNone/>
              <a:defRPr sz="3200">
                <a:solidFill>
                  <a:schemeClr val="bg1">
                    <a:lumMod val="85000"/>
                    <a:lumOff val="1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15568" y="3549918"/>
            <a:ext cx="3794760" cy="2194037"/>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042B0DB6-F5C7-45FB-8CF3-31B45F9C2DAC}" type="datetimeFigureOut">
              <a:rPr lang="en-US" dirty="0"/>
              <a:t>1/22/26</a:t>
            </a:fld>
            <a:endParaRPr lang="en-US" dirty="0"/>
          </a:p>
        </p:txBody>
      </p:sp>
      <p:sp>
        <p:nvSpPr>
          <p:cNvPr id="9" name="Footer Placeholder 8"/>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dirty="0"/>
          </a:p>
        </p:txBody>
      </p:sp>
      <p:sp>
        <p:nvSpPr>
          <p:cNvPr id="10" name="Slide Number Placeholder 9"/>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9F9C37B-1D36-470B-8223-D6C91242EC14}" type="datetimeFigureOut">
              <a:rPr lang="en-US" dirty="0"/>
              <a:t>1/22/26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53112" y="937260"/>
            <a:ext cx="1298608" cy="498348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231136" y="937260"/>
            <a:ext cx="6198489" cy="498348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7C6F52A-A82B-47A2-A83A-8C4C91F2D59F}" type="datetimeFigureOut">
              <a:rPr lang="en-US" dirty="0"/>
              <a:t>1/22/26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Masters/_rels/slideMaster1.xml.rels><?xml version="1.0" encoding="UTF-8"?><Relationships xmlns="http://schemas.openxmlformats.org/package/2006/relationships"><Relationship Id="rId1" Target="../slideLayouts/slideLayout1.xml" Type="http://schemas.openxmlformats.org/officeDocument/2006/relationships/slideLayout" /><Relationship Id="rId2" Target="../slideLayouts/slideLayout2.xml" Type="http://schemas.openxmlformats.org/officeDocument/2006/relationships/slideLayout" /><Relationship Id="rId3" Target="../slideLayouts/slideLayout3.xml" Type="http://schemas.openxmlformats.org/officeDocument/2006/relationships/slideLayout" /><Relationship Id="rId4" Target="../slideLayouts/slideLayout4.xml" Type="http://schemas.openxmlformats.org/officeDocument/2006/relationships/slideLayout" /><Relationship Id="rId5" Target="../slideLayouts/slideLayout5.xml" Type="http://schemas.openxmlformats.org/officeDocument/2006/relationships/slideLayout" /><Relationship Id="rId6" Target="../slideLayouts/slideLayout6.xml" Type="http://schemas.openxmlformats.org/officeDocument/2006/relationships/slideLayout" /><Relationship Id="rId7" Target="../slideLayouts/slideLayout7.xml" Type="http://schemas.openxmlformats.org/officeDocument/2006/relationships/slideLayout" /><Relationship Id="rId8" Target="../slideLayouts/slideLayout8.xml" Type="http://schemas.openxmlformats.org/officeDocument/2006/relationships/slideLayout" /><Relationship Id="rId9" Target="../slideLayouts/slideLayout9.xml" Type="http://schemas.openxmlformats.org/officeDocument/2006/relationships/slideLayout" /><Relationship Id="rId10" Target="../slideLayouts/slideLayout10.xml" Type="http://schemas.openxmlformats.org/officeDocument/2006/relationships/slideLayout" /><Relationship Id="rId11" Target="../slideLayouts/slideLayout11.xml" Type="http://schemas.openxmlformats.org/officeDocument/2006/relationships/slideLayout" /><Relationship Id="rId12" Target="../theme/theme1.xml" Type="http://schemas.openxmlformats.org/officeDocument/2006/relationships/theme"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2231136" y="964692"/>
            <a:ext cx="7729728" cy="1188720"/>
          </a:xfrm>
          <a:prstGeom prst="rect">
            <a:avLst/>
          </a:prstGeom>
          <a:solidFill>
            <a:srgbClr val="FFFFFF"/>
          </a:solidFill>
          <a:ln cap="sq" w="31750">
            <a:solidFill>
              <a:srgbClr val="404040"/>
            </a:solidFill>
            <a:miter lim="800000"/>
          </a:ln>
        </p:spPr>
        <p:txBody>
          <a:bodyPr anchor="ctr" bIns="182880" lIns="182880" rIns="182880" rtlCol="0" tIns="182880" vert="horz">
            <a:normAutofit/>
          </a:bodyPr>
          <a:lstStyle/>
          <a:p>
            <a:r>
              <a:rPr lang="en-US"/>
              <a:t>Click to edit Master title style</a:t>
            </a:r>
            <a:endParaRPr dirty="0" lang="en-US"/>
          </a:p>
        </p:txBody>
      </p:sp>
      <p:sp>
        <p:nvSpPr>
          <p:cNvPr id="3" name="Text Placeholder 2"/>
          <p:cNvSpPr>
            <a:spLocks noGrp="1"/>
          </p:cNvSpPr>
          <p:nvPr>
            <p:ph idx="1" type="body"/>
          </p:nvPr>
        </p:nvSpPr>
        <p:spPr>
          <a:xfrm>
            <a:off x="2231136" y="2638044"/>
            <a:ext cx="7729728" cy="3101983"/>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lang="en-US"/>
          </a:p>
        </p:txBody>
      </p:sp>
      <p:sp>
        <p:nvSpPr>
          <p:cNvPr id="4" name="Date Placeholder 3"/>
          <p:cNvSpPr>
            <a:spLocks noGrp="1"/>
          </p:cNvSpPr>
          <p:nvPr>
            <p:ph idx="2" sz="half" type="dt"/>
          </p:nvPr>
        </p:nvSpPr>
        <p:spPr>
          <a:xfrm>
            <a:off x="7821429" y="6238816"/>
            <a:ext cx="2753746" cy="323968"/>
          </a:xfrm>
          <a:prstGeom prst="rect">
            <a:avLst/>
          </a:prstGeom>
        </p:spPr>
        <p:txBody>
          <a:bodyPr anchor="ctr" bIns="45720" lIns="91440" rIns="91440" rtlCol="0" tIns="45720" vert="horz"/>
          <a:lstStyle>
            <a:lvl1pPr algn="r">
              <a:defRPr sz="1050">
                <a:solidFill>
                  <a:schemeClr val="tx1">
                    <a:alpha val="70000"/>
                  </a:schemeClr>
                </a:solidFill>
              </a:defRPr>
            </a:lvl1pPr>
          </a:lstStyle>
          <a:p>
            <a:fld id="{1160EA64-D806-43AC-9DF2-F8C432F32B4C}" type="datetimeFigureOut">
              <a:rPr dirty="0" lang="en-US"/>
              <a:t>1/22/26</a:t>
            </a:fld>
            <a:endParaRPr dirty="0" lang="en-US"/>
          </a:p>
        </p:txBody>
      </p:sp>
      <p:sp>
        <p:nvSpPr>
          <p:cNvPr id="5" name="Footer Placeholder 4"/>
          <p:cNvSpPr>
            <a:spLocks noGrp="1"/>
          </p:cNvSpPr>
          <p:nvPr>
            <p:ph idx="3" sz="quarter" type="ftr"/>
          </p:nvPr>
        </p:nvSpPr>
        <p:spPr>
          <a:xfrm>
            <a:off x="1600200" y="6236208"/>
            <a:ext cx="5901189" cy="320040"/>
          </a:xfrm>
          <a:prstGeom prst="rect">
            <a:avLst/>
          </a:prstGeom>
        </p:spPr>
        <p:txBody>
          <a:bodyPr anchor="ctr" bIns="45720" lIns="91440" rIns="91440" rtlCol="0" tIns="45720" vert="horz"/>
          <a:lstStyle>
            <a:lvl1pPr algn="l">
              <a:defRPr sz="1050">
                <a:solidFill>
                  <a:schemeClr val="tx1">
                    <a:alpha val="70000"/>
                  </a:schemeClr>
                </a:solidFill>
              </a:defRPr>
            </a:lvl1pPr>
          </a:lstStyle>
          <a:p>
            <a:endParaRPr dirty="0" lang="en-US"/>
          </a:p>
        </p:txBody>
      </p:sp>
      <p:sp>
        <p:nvSpPr>
          <p:cNvPr id="6" name="Slide Number Placeholder 5"/>
          <p:cNvSpPr>
            <a:spLocks noGrp="1"/>
          </p:cNvSpPr>
          <p:nvPr>
            <p:ph idx="4" sz="quarter" type="sldNum"/>
          </p:nvPr>
        </p:nvSpPr>
        <p:spPr>
          <a:xfrm>
            <a:off x="10758922" y="6217920"/>
            <a:ext cx="365760" cy="365760"/>
          </a:xfrm>
          <a:prstGeom prst="ellipse">
            <a:avLst/>
          </a:prstGeom>
          <a:solidFill>
            <a:srgbClr val="1D1D1D">
              <a:alpha val="70000"/>
            </a:srgbClr>
          </a:solidFill>
        </p:spPr>
        <p:txBody>
          <a:bodyPr anchor="ctr" bIns="45720" lIns="18288" rIns="18288" rtlCol="0" tIns="45720" vert="horz">
            <a:noAutofit/>
          </a:bodyPr>
          <a:lstStyle>
            <a:lvl1pPr algn="ctr">
              <a:defRPr baseline="0" spc="0" sz="1100">
                <a:solidFill>
                  <a:srgbClr val="FFFFFF"/>
                </a:solidFill>
              </a:defRPr>
            </a:lvl1pPr>
          </a:lstStyle>
          <a:p>
            <a:fld id="{8A7A6979-0714-4377-B894-6BE4C2D6E202}" type="slidenum">
              <a:rPr dirty="0" lang="en-US"/>
              <a:pPr/>
              <a:t>‹#›</a:t>
            </a:fld>
            <a:endParaRPr dirty="0" lang="en-US"/>
          </a:p>
        </p:txBody>
      </p:sp>
    </p:spTree>
  </p:cSld>
  <p:clrMap accent1="accent1" accent2="accent2" accent3="accent3" accent4="accent4" accent5="accent5" accent6="accent6" bg1="lt1" bg2="lt2" folHlink="folHlink" hlink="hlink" tx1="dk1" tx2="dk2"/>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hf dt="0" ftr="0" hdr="0" sldNum="0"/>
  <p:txStyles>
    <p:titleStyle>
      <a:lvl1pPr algn="ctr" defTabSz="914400" eaLnBrk="1" hangingPunct="1" latinLnBrk="0" rtl="0">
        <a:lnSpc>
          <a:spcPct val="90000"/>
        </a:lnSpc>
        <a:spcBef>
          <a:spcPct val="0"/>
        </a:spcBef>
        <a:buNone/>
        <a:defRPr baseline="0" cap="all" kern="1200" spc="200" sz="2800">
          <a:solidFill>
            <a:srgbClr val="262626"/>
          </a:solidFill>
          <a:latin typeface="+mj-lt"/>
          <a:ea typeface="+mj-ea"/>
          <a:cs typeface="+mj-cs"/>
        </a:defRPr>
      </a:lvl1pPr>
    </p:titleStyle>
    <p:bodyStyle>
      <a:lvl1pPr algn="l" defTabSz="914400" eaLnBrk="1" hangingPunct="1" indent="-228600" latinLnBrk="0" marL="228600" rtl="0">
        <a:lnSpc>
          <a:spcPct val="100000"/>
        </a:lnSpc>
        <a:spcBef>
          <a:spcPts val="1000"/>
        </a:spcBef>
        <a:buClr>
          <a:schemeClr val="accent2"/>
        </a:buClr>
        <a:buFont charset="0" panose="020B0604020202020204" pitchFamily="34" typeface="Arial"/>
        <a:buChar char="•"/>
        <a:defRPr kern="1200" sz="2000">
          <a:solidFill>
            <a:schemeClr val="tx1">
              <a:lumMod val="85000"/>
              <a:lumOff val="15000"/>
            </a:schemeClr>
          </a:solidFill>
          <a:latin typeface="+mn-lt"/>
          <a:ea typeface="+mn-ea"/>
          <a:cs typeface="+mn-cs"/>
        </a:defRPr>
      </a:lvl1pPr>
      <a:lvl2pPr algn="l" defTabSz="914400" eaLnBrk="1" hangingPunct="1" indent="-228600" latinLnBrk="0" marL="457200" rtl="0">
        <a:lnSpc>
          <a:spcPct val="100000"/>
        </a:lnSpc>
        <a:spcBef>
          <a:spcPts val="1000"/>
        </a:spcBef>
        <a:buClr>
          <a:schemeClr val="accent2"/>
        </a:buClr>
        <a:buFont charset="0" panose="020B0604020202020204" pitchFamily="34" typeface="Arial"/>
        <a:buChar char="•"/>
        <a:defRPr kern="1200" sz="2000">
          <a:solidFill>
            <a:schemeClr val="tx1">
              <a:lumMod val="85000"/>
              <a:lumOff val="15000"/>
            </a:schemeClr>
          </a:solidFill>
          <a:latin typeface="+mn-lt"/>
          <a:ea typeface="+mn-ea"/>
          <a:cs typeface="+mn-cs"/>
        </a:defRPr>
      </a:lvl2pPr>
      <a:lvl3pPr algn="l" defTabSz="914400" eaLnBrk="1" hangingPunct="1" indent="-228600" latinLnBrk="0" marL="685800" rtl="0">
        <a:lnSpc>
          <a:spcPct val="100000"/>
        </a:lnSpc>
        <a:spcBef>
          <a:spcPts val="1000"/>
        </a:spcBef>
        <a:buClr>
          <a:schemeClr val="accent2"/>
        </a:buClr>
        <a:buFont charset="0" panose="020B0604020202020204" pitchFamily="34" typeface="Arial"/>
        <a:buChar char="•"/>
        <a:defRPr kern="1200" sz="2000">
          <a:solidFill>
            <a:schemeClr val="tx1">
              <a:lumMod val="85000"/>
              <a:lumOff val="15000"/>
            </a:schemeClr>
          </a:solidFill>
          <a:latin typeface="+mn-lt"/>
          <a:ea typeface="+mn-ea"/>
          <a:cs typeface="+mn-cs"/>
        </a:defRPr>
      </a:lvl3pPr>
      <a:lvl4pPr algn="l" defTabSz="914400" eaLnBrk="1" hangingPunct="1" indent="-228600" latinLnBrk="0" marL="914400" rtl="0">
        <a:lnSpc>
          <a:spcPct val="100000"/>
        </a:lnSpc>
        <a:spcBef>
          <a:spcPts val="1000"/>
        </a:spcBef>
        <a:buClr>
          <a:schemeClr val="accent2"/>
        </a:buClr>
        <a:buFont charset="0" panose="020B0604020202020204" pitchFamily="34" typeface="Arial"/>
        <a:buChar char="•"/>
        <a:defRPr kern="1200" sz="2000">
          <a:solidFill>
            <a:schemeClr val="tx1">
              <a:lumMod val="85000"/>
              <a:lumOff val="15000"/>
            </a:schemeClr>
          </a:solidFill>
          <a:latin typeface="+mn-lt"/>
          <a:ea typeface="+mn-ea"/>
          <a:cs typeface="+mn-cs"/>
        </a:defRPr>
      </a:lvl4pPr>
      <a:lvl5pPr algn="l" defTabSz="914400" eaLnBrk="1" hangingPunct="1" indent="-228600" latinLnBrk="0" marL="1143000" rtl="0">
        <a:lnSpc>
          <a:spcPct val="100000"/>
        </a:lnSpc>
        <a:spcBef>
          <a:spcPts val="1000"/>
        </a:spcBef>
        <a:buClr>
          <a:schemeClr val="accent2"/>
        </a:buClr>
        <a:buFont charset="0" panose="020B0604020202020204" pitchFamily="34" typeface="Arial"/>
        <a:buChar char="•"/>
        <a:defRPr kern="1200" sz="2000">
          <a:solidFill>
            <a:schemeClr val="tx1">
              <a:lumMod val="85000"/>
              <a:lumOff val="15000"/>
            </a:schemeClr>
          </a:solidFill>
          <a:latin typeface="+mn-lt"/>
          <a:ea typeface="+mn-ea"/>
          <a:cs typeface="+mn-cs"/>
        </a:defRPr>
      </a:lvl5pPr>
      <a:lvl6pPr algn="l" defTabSz="914400" eaLnBrk="1" hangingPunct="1" indent="-228600" latinLnBrk="0" marL="1312863" rtl="0">
        <a:lnSpc>
          <a:spcPct val="100000"/>
        </a:lnSpc>
        <a:spcBef>
          <a:spcPts val="1000"/>
        </a:spcBef>
        <a:buClr>
          <a:schemeClr val="accent2"/>
        </a:buClr>
        <a:buFont charset="0" panose="020B0604020202020204" pitchFamily="34" typeface="Arial"/>
        <a:buChar char="•"/>
        <a:defRPr kern="1200" sz="2000">
          <a:solidFill>
            <a:schemeClr val="tx1"/>
          </a:solidFill>
          <a:latin typeface="+mn-lt"/>
          <a:ea typeface="+mn-ea"/>
          <a:cs typeface="+mn-cs"/>
        </a:defRPr>
      </a:lvl6pPr>
      <a:lvl7pPr algn="l" defTabSz="914400" eaLnBrk="1" hangingPunct="1" indent="-228600" latinLnBrk="0" marL="1484313" rtl="0">
        <a:lnSpc>
          <a:spcPct val="100000"/>
        </a:lnSpc>
        <a:spcBef>
          <a:spcPts val="1000"/>
        </a:spcBef>
        <a:buClr>
          <a:schemeClr val="accent2"/>
        </a:buClr>
        <a:buFont charset="0" panose="020B0604020202020204" pitchFamily="34" typeface="Arial"/>
        <a:buChar char="•"/>
        <a:defRPr kern="1200" sz="2000">
          <a:solidFill>
            <a:schemeClr val="tx1"/>
          </a:solidFill>
          <a:latin typeface="+mn-lt"/>
          <a:ea typeface="+mn-ea"/>
          <a:cs typeface="+mn-cs"/>
        </a:defRPr>
      </a:lvl7pPr>
      <a:lvl8pPr algn="l" defTabSz="914400" eaLnBrk="1" hangingPunct="1" indent="-228600" latinLnBrk="0" marL="1657350" rtl="0">
        <a:lnSpc>
          <a:spcPct val="100000"/>
        </a:lnSpc>
        <a:spcBef>
          <a:spcPts val="1000"/>
        </a:spcBef>
        <a:buClr>
          <a:schemeClr val="accent2"/>
        </a:buClr>
        <a:buFont charset="0" panose="020B0604020202020204" pitchFamily="34" typeface="Arial"/>
        <a:buChar char="•"/>
        <a:defRPr baseline="0" kern="1200" sz="2000">
          <a:solidFill>
            <a:schemeClr val="tx1"/>
          </a:solidFill>
          <a:latin typeface="+mn-lt"/>
          <a:ea typeface="+mn-ea"/>
          <a:cs typeface="+mn-cs"/>
        </a:defRPr>
      </a:lvl8pPr>
      <a:lvl9pPr algn="l" defTabSz="914400" eaLnBrk="1" hangingPunct="1" indent="-228600" latinLnBrk="0" marL="1882775" rtl="0">
        <a:lnSpc>
          <a:spcPct val="100000"/>
        </a:lnSpc>
        <a:spcBef>
          <a:spcPts val="1000"/>
        </a:spcBef>
        <a:buClr>
          <a:schemeClr val="accent2"/>
        </a:buClr>
        <a:buFont charset="0" panose="020B0604020202020204" pitchFamily="34" typeface="Arial"/>
        <a:buChar char="•"/>
        <a:defRPr baseline="0" kern="1200" sz="2000">
          <a:solidFill>
            <a:schemeClr val="tx1"/>
          </a:solidFill>
          <a:latin typeface="+mn-lt"/>
          <a:ea typeface="+mn-ea"/>
          <a:cs typeface="+mn-cs"/>
        </a:defRPr>
      </a:lvl9pPr>
    </p:bodyStyle>
    <p:otherStyle>
      <a:defPPr>
        <a:defRPr lang="en-US"/>
      </a:defPPr>
      <a:lvl1pPr algn="l" defTabSz="914400" eaLnBrk="1" hangingPunct="1" latinLnBrk="0" marL="0" rtl="0">
        <a:defRPr kern="1200" sz="2000">
          <a:solidFill>
            <a:schemeClr val="tx1"/>
          </a:solidFill>
          <a:latin typeface="+mn-lt"/>
          <a:ea typeface="+mn-ea"/>
          <a:cs typeface="+mn-cs"/>
        </a:defRPr>
      </a:lvl1pPr>
      <a:lvl2pPr algn="l" defTabSz="914400" eaLnBrk="1" hangingPunct="1" latinLnBrk="0" marL="457200" rtl="0">
        <a:defRPr kern="1200" sz="2000">
          <a:solidFill>
            <a:schemeClr val="tx1"/>
          </a:solidFill>
          <a:latin typeface="+mn-lt"/>
          <a:ea typeface="+mn-ea"/>
          <a:cs typeface="+mn-cs"/>
        </a:defRPr>
      </a:lvl2pPr>
      <a:lvl3pPr algn="l" defTabSz="914400" eaLnBrk="1" hangingPunct="1" latinLnBrk="0" marL="914400" rtl="0">
        <a:defRPr kern="1200" sz="2000">
          <a:solidFill>
            <a:schemeClr val="tx1"/>
          </a:solidFill>
          <a:latin typeface="+mn-lt"/>
          <a:ea typeface="+mn-ea"/>
          <a:cs typeface="+mn-cs"/>
        </a:defRPr>
      </a:lvl3pPr>
      <a:lvl4pPr algn="l" defTabSz="914400" eaLnBrk="1" hangingPunct="1" latinLnBrk="0" marL="1371600" rtl="0">
        <a:defRPr kern="1200" sz="2000">
          <a:solidFill>
            <a:schemeClr val="tx1"/>
          </a:solidFill>
          <a:latin typeface="+mn-lt"/>
          <a:ea typeface="+mn-ea"/>
          <a:cs typeface="+mn-cs"/>
        </a:defRPr>
      </a:lvl4pPr>
      <a:lvl5pPr algn="l" defTabSz="914400" eaLnBrk="1" hangingPunct="1" latinLnBrk="0" marL="1828800" rtl="0">
        <a:defRPr kern="1200" sz="2000">
          <a:solidFill>
            <a:schemeClr val="tx1"/>
          </a:solidFill>
          <a:latin typeface="+mn-lt"/>
          <a:ea typeface="+mn-ea"/>
          <a:cs typeface="+mn-cs"/>
        </a:defRPr>
      </a:lvl5pPr>
      <a:lvl6pPr algn="l" defTabSz="914400" eaLnBrk="1" hangingPunct="1" latinLnBrk="0" marL="2286000" rtl="0">
        <a:defRPr kern="1200" sz="2000">
          <a:solidFill>
            <a:schemeClr val="tx1"/>
          </a:solidFill>
          <a:latin typeface="+mn-lt"/>
          <a:ea typeface="+mn-ea"/>
          <a:cs typeface="+mn-cs"/>
        </a:defRPr>
      </a:lvl6pPr>
      <a:lvl7pPr algn="l" defTabSz="914400" eaLnBrk="1" hangingPunct="1" latinLnBrk="0" marL="2743200" rtl="0">
        <a:defRPr kern="1200" sz="2000">
          <a:solidFill>
            <a:schemeClr val="tx1"/>
          </a:solidFill>
          <a:latin typeface="+mn-lt"/>
          <a:ea typeface="+mn-ea"/>
          <a:cs typeface="+mn-cs"/>
        </a:defRPr>
      </a:lvl7pPr>
      <a:lvl8pPr algn="l" defTabSz="914400" eaLnBrk="1" hangingPunct="1" latinLnBrk="0" marL="3200400" rtl="0">
        <a:defRPr kern="1200" sz="2000">
          <a:solidFill>
            <a:schemeClr val="tx1"/>
          </a:solidFill>
          <a:latin typeface="+mn-lt"/>
          <a:ea typeface="+mn-ea"/>
          <a:cs typeface="+mn-cs"/>
        </a:defRPr>
      </a:lvl8pPr>
      <a:lvl9pPr algn="l" defTabSz="914400" eaLnBrk="1" hangingPunct="1" latinLnBrk="0" marL="3657600" rtl="0">
        <a:defRPr kern="1200" sz="20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1.xml" /><Relationship Id="rId3" Type="http://schemas.openxmlformats.org/officeDocument/2006/relationships/image" Target="../media/image1.jpg"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3.xml" /><Relationship Id="rId3" Type="http://schemas.openxmlformats.org/officeDocument/2006/relationships/image" Target="../media/image2.png" /></Relationships>
</file>

<file path=ppt/slides/_rels/slide5.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4.xml" /><Relationship Id="rId3" Type="http://schemas.openxmlformats.org/officeDocument/2006/relationships/image" Target="../media/image3.jpg" /></Relationships>
</file>

<file path=ppt/slides/_rels/slide6.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5.xml" /><Relationship Id="rId3" Type="http://schemas.openxmlformats.org/officeDocument/2006/relationships/image" Target="../media/image4.jpg" /></Relationships>
</file>

<file path=ppt/slides/_rels/slide7.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6.xml" /><Relationship Id="rId3" Type="http://schemas.openxmlformats.org/officeDocument/2006/relationships/image" Target="../media/image5.jpg"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8.xml" /><Relationship Id="rId3" Type="http://schemas.openxmlformats.org/officeDocument/2006/relationships/image" Target="../media/image6.jpg" /></Relationships>
</file>

<file path=ppt/slides/_rels/slide10.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9.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10.xml" /><Relationship Id="rId3" Type="http://schemas.openxmlformats.org/officeDocument/2006/relationships/image" Target="../media/image7.jpg"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1.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12.xml" /><Relationship Id="rId3" Type="http://schemas.openxmlformats.org/officeDocument/2006/relationships/image" Target="../media/image5.jpg"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3.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4.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097280" y="2386744"/>
            <a:ext cx="9997440" cy="1645920"/>
          </a:xfrm>
          <a:solidFill>
            <a:srgbClr val="FFFFFF"/>
          </a:solidFill>
          <a:ln w="38100">
            <a:solidFill>
              <a:srgbClr val="404040"/>
            </a:solidFill>
          </a:ln>
        </p:spPr>
        <p:txBody>
          <a:bodyPr/>
          <a:lstStyle/>
          <a:p>
            <a:pPr lvl="0" indent="0" marL="0">
              <a:buNone/>
            </a:pPr>
            <a:r>
              <a:rPr/>
              <a:t>Build the Preproposal</a:t>
            </a:r>
          </a:p>
        </p:txBody>
      </p:sp>
      <p:sp>
        <p:nvSpPr>
          <p:cNvPr id="3" name="Subtitle 2"/>
          <p:cNvSpPr>
            <a:spLocks noGrp="1"/>
          </p:cNvSpPr>
          <p:nvPr>
            <p:ph idx="1" type="subTitle"/>
          </p:nvPr>
        </p:nvSpPr>
        <p:spPr>
          <a:xfrm>
            <a:off x="1097280" y="4352544"/>
            <a:ext cx="9997440" cy="1239894"/>
          </a:xfrm>
          <a:noFill/>
        </p:spPr>
        <p:txBody>
          <a:bodyPr/>
          <a:lstStyle/>
          <a:p>
            <a:pPr lvl="0" indent="0" marL="0">
              <a:buNone/>
            </a:pPr>
            <a:r>
              <a:rPr/>
              <a:t>Lab 09 · Variables, Hypotheses, and Sources</a:t>
            </a:r>
            <a:br/>
            <a:br/>
            <a:r>
              <a:rPr/>
              <a:t>PSYC 350 Laboratory</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964692"/>
            <a:ext cx="9997440" cy="1188720"/>
          </a:xfrm>
        </p:spPr>
        <p:txBody>
          <a:bodyPr/>
          <a:lstStyle/>
          <a:p>
            <a:pPr lvl="0" indent="0" marL="0">
              <a:buNone/>
            </a:pPr>
            <a:r>
              <a:rPr/>
              <a:t>1 Prepare the project materials</a:t>
            </a:r>
          </a:p>
        </p:txBody>
      </p:sp>
      <p:sp>
        <p:nvSpPr>
          <p:cNvPr id="3" name="Content Placeholder 2"/>
          <p:cNvSpPr>
            <a:spLocks noGrp="1"/>
          </p:cNvSpPr>
          <p:nvPr>
            <p:ph idx="1" sz="half"/>
          </p:nvPr>
        </p:nvSpPr>
        <p:spPr/>
        <p:txBody>
          <a:bodyPr/>
          <a:lstStyle/>
          <a:p>
            <a:pPr lvl="0"/>
            <a:r>
              <a:rPr b="1"/>
              <a:t>Worksheet:</a:t>
            </a:r>
            <a:r>
              <a:rPr/>
              <a:t> Lab 09 Project RH Proposal</a:t>
            </a:r>
          </a:p>
          <a:p>
            <a:pPr lvl="0"/>
            <a:r>
              <a:rPr b="1"/>
              <a:t>Project data:</a:t>
            </a:r>
            <a:r>
              <a:rPr/>
              <a:t> selected course dataset</a:t>
            </a:r>
          </a:p>
          <a:p>
            <a:pPr lvl="0"/>
            <a:r>
              <a:rPr b="1"/>
              <a:t>Sources:</a:t>
            </a:r>
            <a:r>
              <a:rPr/>
              <a:t> three or more empirical articles</a:t>
            </a:r>
          </a:p>
          <a:p>
            <a:pPr lvl="0"/>
            <a:r>
              <a:rPr b="1"/>
              <a:t>Earlier work:</a:t>
            </a:r>
            <a:r>
              <a:rPr/>
              <a:t> search collection and variable notes</a:t>
            </a:r>
          </a:p>
          <a:p>
            <a:pPr lvl="0" indent="0" marL="0">
              <a:buNone/>
            </a:pPr>
            <a:r>
              <a:rPr/>
              <a:t>Today’s path: </a:t>
            </a:r>
            <a:r>
              <a:rPr b="1"/>
              <a:t>select → prepare → predict → justify → document</a:t>
            </a:r>
          </a:p>
        </p:txBody>
      </p:sp>
      <p:pic>
        <p:nvPicPr>
          <p:cNvPr descr="A humorous film still about reading documents, used to introduce the evidence-building work in the project preproposal" id="0" name="Picture 1"/>
          <p:cNvPicPr>
            <a:picLocks noGrp="1" noChangeAspect="1"/>
          </p:cNvPicPr>
          <p:nvPr/>
        </p:nvPicPr>
        <p:blipFill>
          <a:blip r:embed="rId3"/>
          <a:stretch>
            <a:fillRect/>
          </a:stretch>
        </p:blipFill>
        <p:spPr bwMode="auto">
          <a:xfrm>
            <a:off x="7073900" y="2628900"/>
            <a:ext cx="3111500" cy="3098800"/>
          </a:xfrm>
          <a:prstGeom prst="rect">
            <a:avLst/>
          </a:prstGeom>
          <a:noFill/>
          <a:ln w="9525">
            <a:noFill/>
            <a:headEnd/>
            <a:tailEnd/>
          </a:ln>
        </p:spPr>
      </p:pic>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964692"/>
            <a:ext cx="9997440" cy="1188720"/>
          </a:xfrm>
        </p:spPr>
        <p:txBody>
          <a:bodyPr/>
          <a:lstStyle/>
          <a:p>
            <a:pPr lvl="0" indent="0" marL="0">
              <a:buNone/>
            </a:pPr>
            <a:r>
              <a:rPr/>
              <a:t>2 The preproposal is a blueprint</a:t>
            </a:r>
          </a:p>
        </p:txBody>
      </p:sp>
      <p:sp>
        <p:nvSpPr>
          <p:cNvPr id="3" name="Content Placeholder 2"/>
          <p:cNvSpPr>
            <a:spLocks noGrp="1"/>
          </p:cNvSpPr>
          <p:nvPr>
            <p:ph idx="1"/>
          </p:nvPr>
        </p:nvSpPr>
        <p:spPr/>
        <p:txBody>
          <a:bodyPr/>
          <a:lstStyle/>
          <a:p>
            <a:pPr lvl="0" indent="-457200" marL="457200">
              <a:buAutoNum type="arabicPeriod"/>
            </a:pPr>
            <a:r>
              <a:rPr/>
              <a:t>Name the core </a:t>
            </a:r>
            <a:r>
              <a:rPr b="1"/>
              <a:t>construct</a:t>
            </a:r>
            <a:r>
              <a:rPr/>
              <a:t>.</a:t>
            </a:r>
          </a:p>
          <a:p>
            <a:pPr lvl="0" indent="-457200" marL="457200">
              <a:buAutoNum type="arabicPeriod"/>
            </a:pPr>
            <a:r>
              <a:rPr/>
              <a:t>Define each </a:t>
            </a:r>
            <a:r>
              <a:rPr b="1"/>
              <a:t>measure</a:t>
            </a:r>
            <a:r>
              <a:rPr/>
              <a:t>.</a:t>
            </a:r>
          </a:p>
          <a:p>
            <a:pPr lvl="0" indent="-457200" marL="457200">
              <a:buAutoNum type="arabicPeriod"/>
            </a:pPr>
            <a:r>
              <a:rPr/>
              <a:t>State four </a:t>
            </a:r>
            <a:r>
              <a:rPr b="1"/>
              <a:t>predictions</a:t>
            </a:r>
            <a:r>
              <a:rPr/>
              <a:t>.</a:t>
            </a:r>
          </a:p>
          <a:p>
            <a:pPr lvl="0" indent="-457200" marL="457200">
              <a:buAutoNum type="arabicPeriod"/>
            </a:pPr>
            <a:r>
              <a:rPr/>
              <a:t>Connect the </a:t>
            </a:r>
            <a:r>
              <a:rPr b="1"/>
              <a:t>evidence</a:t>
            </a:r>
            <a:r>
              <a:rPr/>
              <a:t>.</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964692"/>
            <a:ext cx="9997440" cy="1188720"/>
          </a:xfrm>
        </p:spPr>
        <p:txBody>
          <a:bodyPr/>
          <a:lstStyle/>
          <a:p>
            <a:pPr lvl="0" indent="0" marL="0">
              <a:buNone/>
            </a:pPr>
            <a:r>
              <a:rPr/>
              <a:t>3 Anchor the project in one variable</a:t>
            </a:r>
          </a:p>
        </p:txBody>
      </p:sp>
      <p:pic>
        <p:nvPicPr>
          <p:cNvPr descr="Participant speaking directly to the camera in a reality-television confessional, illustrating a measurable core project construct" id="0" name="Picture 1"/>
          <p:cNvPicPr>
            <a:picLocks noGrp="1" noChangeAspect="1"/>
          </p:cNvPicPr>
          <p:nvPr/>
        </p:nvPicPr>
        <p:blipFill>
          <a:blip r:embed="rId3"/>
          <a:stretch>
            <a:fillRect/>
          </a:stretch>
        </p:blipFill>
        <p:spPr bwMode="auto">
          <a:xfrm>
            <a:off x="2095500" y="2628900"/>
            <a:ext cx="2882900" cy="3098800"/>
          </a:xfrm>
          <a:prstGeom prst="rect">
            <a:avLst/>
          </a:prstGeom>
          <a:noFill/>
          <a:ln w="9525">
            <a:noFill/>
            <a:headEnd/>
            <a:tailEnd/>
          </a:ln>
        </p:spPr>
      </p:pic>
      <p:sp>
        <p:nvSpPr>
          <p:cNvPr id="4" name="Content Placeholder 3"/>
          <p:cNvSpPr>
            <a:spLocks noGrp="1"/>
          </p:cNvSpPr>
          <p:nvPr>
            <p:ph idx="2" sz="half"/>
          </p:nvPr>
        </p:nvSpPr>
        <p:spPr/>
        <p:txBody>
          <a:bodyPr/>
          <a:lstStyle/>
          <a:p>
            <a:pPr lvl="0"/>
            <a:r>
              <a:rPr/>
              <a:t>Choose one </a:t>
            </a:r>
            <a:r>
              <a:rPr b="1"/>
              <a:t>core variable</a:t>
            </a:r>
            <a:r>
              <a:rPr/>
              <a:t>.</a:t>
            </a:r>
          </a:p>
          <a:p>
            <a:pPr lvl="0"/>
            <a:r>
              <a:rPr/>
              <a:t>Name the psychological construct.</a:t>
            </a:r>
          </a:p>
          <a:p>
            <a:pPr lvl="0"/>
            <a:r>
              <a:rPr/>
              <a:t>Explain how the dataset measures it.</a:t>
            </a:r>
          </a:p>
          <a:p>
            <a:pPr lvl="0"/>
            <a:r>
              <a:rPr/>
              <a:t>Keep the construct distinct from its scale name.</a:t>
            </a:r>
          </a:p>
          <a:p>
            <a:pPr lvl="0" indent="0" marL="0">
              <a:buNone/>
            </a:pPr>
            <a:r>
              <a:rPr/>
              <a:t>Construct ≠ column name</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964692"/>
            <a:ext cx="9997440" cy="1188720"/>
          </a:xfrm>
        </p:spPr>
        <p:txBody>
          <a:bodyPr/>
          <a:lstStyle/>
          <a:p>
            <a:pPr lvl="0" indent="0" marL="0">
              <a:buNone/>
            </a:pPr>
            <a:r>
              <a:rPr/>
              <a:t>4 Audit every selected variable</a:t>
            </a:r>
          </a:p>
        </p:txBody>
      </p:sp>
      <p:pic>
        <p:nvPicPr>
          <p:cNvPr descr="A playful one-to-nine duck mood scale illustrating why response values need clear and interpretable labels" id="0" name="Picture 1"/>
          <p:cNvPicPr>
            <a:picLocks noGrp="1" noChangeAspect="1"/>
          </p:cNvPicPr>
          <p:nvPr/>
        </p:nvPicPr>
        <p:blipFill>
          <a:blip r:embed="rId3"/>
          <a:stretch>
            <a:fillRect/>
          </a:stretch>
        </p:blipFill>
        <p:spPr bwMode="auto">
          <a:xfrm>
            <a:off x="1955800" y="2628900"/>
            <a:ext cx="3175000" cy="3098800"/>
          </a:xfrm>
          <a:prstGeom prst="rect">
            <a:avLst/>
          </a:prstGeom>
          <a:noFill/>
          <a:ln w="9525">
            <a:noFill/>
            <a:headEnd/>
            <a:tailEnd/>
          </a:ln>
        </p:spPr>
      </p:pic>
      <p:sp>
        <p:nvSpPr>
          <p:cNvPr id="4" name="Content Placeholder 3"/>
          <p:cNvSpPr>
            <a:spLocks noGrp="1"/>
          </p:cNvSpPr>
          <p:nvPr>
            <p:ph idx="2" sz="half"/>
          </p:nvPr>
        </p:nvSpPr>
        <p:spPr/>
        <p:txBody>
          <a:bodyPr/>
          <a:lstStyle/>
          <a:p>
            <a:pPr lvl="0" indent="0" marL="0">
              <a:buNone/>
            </a:pPr>
            <a:r>
              <a:rPr/>
              <a:t>For the core variable and every partner variable, verify:</a:t>
            </a:r>
          </a:p>
          <a:p>
            <a:pPr lvl="0"/>
            <a:r>
              <a:rPr/>
              <a:t>readable label</a:t>
            </a:r>
          </a:p>
          <a:p>
            <a:pPr lvl="0"/>
            <a:r>
              <a:rPr/>
              <a:t>correct type</a:t>
            </a:r>
          </a:p>
          <a:p>
            <a:pPr lvl="0"/>
            <a:r>
              <a:rPr/>
              <a:t>category value labels</a:t>
            </a:r>
          </a:p>
          <a:p>
            <a:pPr lvl="0"/>
            <a:r>
              <a:rPr/>
              <a:t>declared missing values</a:t>
            </a:r>
          </a:p>
          <a:p>
            <a:pPr lvl="0"/>
            <a:r>
              <a:rPr/>
              <a:t>interpretable range</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964692"/>
            <a:ext cx="9997440" cy="1188720"/>
          </a:xfrm>
        </p:spPr>
        <p:txBody>
          <a:bodyPr/>
          <a:lstStyle/>
          <a:p>
            <a:pPr lvl="0" indent="0" marL="0">
              <a:buNone/>
            </a:pPr>
            <a:r>
              <a:rPr/>
              <a:t>5 Transform only with a reason</a:t>
            </a:r>
          </a:p>
        </p:txBody>
      </p:sp>
      <p:pic>
        <p:nvPicPr>
          <p:cNvPr descr="Three versions of the same Volkswagen Beetle illustrating that a transformed variable should retain a clear relationship to its source" id="0" name="Picture 1"/>
          <p:cNvPicPr>
            <a:picLocks noGrp="1" noChangeAspect="1"/>
          </p:cNvPicPr>
          <p:nvPr/>
        </p:nvPicPr>
        <p:blipFill>
          <a:blip r:embed="rId3"/>
          <a:stretch>
            <a:fillRect/>
          </a:stretch>
        </p:blipFill>
        <p:spPr bwMode="auto">
          <a:xfrm>
            <a:off x="1092200" y="2717800"/>
            <a:ext cx="4902200" cy="2933700"/>
          </a:xfrm>
          <a:prstGeom prst="rect">
            <a:avLst/>
          </a:prstGeom>
          <a:noFill/>
          <a:ln w="9525">
            <a:noFill/>
            <a:headEnd/>
            <a:tailEnd/>
          </a:ln>
        </p:spPr>
      </p:pic>
      <p:sp>
        <p:nvSpPr>
          <p:cNvPr id="4" name="Content Placeholder 3"/>
          <p:cNvSpPr>
            <a:spLocks noGrp="1"/>
          </p:cNvSpPr>
          <p:nvPr>
            <p:ph idx="2" sz="half"/>
          </p:nvPr>
        </p:nvSpPr>
        <p:spPr/>
        <p:txBody>
          <a:bodyPr/>
          <a:lstStyle/>
          <a:p>
            <a:pPr lvl="0" indent="-457200" marL="457200">
              <a:buAutoNum type="arabicPeriod"/>
            </a:pPr>
            <a:r>
              <a:rPr/>
              <a:t>Define what the new variable represents.</a:t>
            </a:r>
          </a:p>
          <a:p>
            <a:pPr lvl="0" indent="-457200" marL="457200">
              <a:buAutoNum type="arabicPeriod"/>
            </a:pPr>
            <a:r>
              <a:rPr/>
              <a:t>Compute or recode into a </a:t>
            </a:r>
            <a:r>
              <a:rPr b="1"/>
              <a:t>new</a:t>
            </a:r>
            <a:r>
              <a:rPr/>
              <a:t> variable.</a:t>
            </a:r>
          </a:p>
          <a:p>
            <a:pPr lvl="0" indent="-457200" marL="457200">
              <a:buAutoNum type="arabicPeriod"/>
            </a:pPr>
            <a:r>
              <a:rPr/>
              <a:t>Add labels.</a:t>
            </a:r>
          </a:p>
          <a:p>
            <a:pPr lvl="0" indent="-457200" marL="457200">
              <a:buAutoNum type="arabicPeriod"/>
            </a:pPr>
            <a:r>
              <a:rPr/>
              <a:t>Run frequencies.</a:t>
            </a:r>
          </a:p>
          <a:p>
            <a:pPr lvl="0" indent="-457200" marL="457200">
              <a:buAutoNum type="arabicPeriod"/>
            </a:pPr>
            <a:r>
              <a:rPr/>
              <a:t>Confirm the result.</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964692"/>
            <a:ext cx="9997440" cy="1188720"/>
          </a:xfrm>
        </p:spPr>
        <p:txBody>
          <a:bodyPr/>
          <a:lstStyle/>
          <a:p>
            <a:pPr lvl="0" indent="0" marL="0">
              <a:buNone/>
            </a:pPr>
            <a:r>
              <a:rPr/>
              <a:t>6 Write four testable hypotheses</a:t>
            </a:r>
          </a:p>
        </p:txBody>
      </p:sp>
      <p:pic>
        <p:nvPicPr>
          <p:cNvPr descr="A grid of contestants with different attributes, illustrating a coherent set of distinct comparisons around one central outcome" id="0" name="Picture 1"/>
          <p:cNvPicPr>
            <a:picLocks noGrp="1" noChangeAspect="1"/>
          </p:cNvPicPr>
          <p:nvPr/>
        </p:nvPicPr>
        <p:blipFill>
          <a:blip r:embed="rId3"/>
          <a:stretch>
            <a:fillRect/>
          </a:stretch>
        </p:blipFill>
        <p:spPr bwMode="auto">
          <a:xfrm>
            <a:off x="1282700" y="2628900"/>
            <a:ext cx="4521200" cy="3098800"/>
          </a:xfrm>
          <a:prstGeom prst="rect">
            <a:avLst/>
          </a:prstGeom>
          <a:noFill/>
          <a:ln w="9525">
            <a:noFill/>
            <a:headEnd/>
            <a:tailEnd/>
          </a:ln>
        </p:spPr>
      </p:pic>
      <p:sp>
        <p:nvSpPr>
          <p:cNvPr id="4" name="Content Placeholder 3"/>
          <p:cNvSpPr>
            <a:spLocks noGrp="1"/>
          </p:cNvSpPr>
          <p:nvPr>
            <p:ph idx="2" sz="half"/>
          </p:nvPr>
        </p:nvSpPr>
        <p:spPr/>
        <p:txBody>
          <a:bodyPr/>
          <a:lstStyle/>
          <a:p>
            <a:pPr lvl="0" indent="0" marL="0">
              <a:buNone/>
            </a:pPr>
            <a:r>
              <a:rPr/>
              <a:t>Each hypothesis needs:</a:t>
            </a:r>
          </a:p>
          <a:p>
            <a:pPr lvl="0"/>
            <a:r>
              <a:rPr/>
              <a:t>the </a:t>
            </a:r>
            <a:r>
              <a:rPr b="1"/>
              <a:t>core variable</a:t>
            </a:r>
          </a:p>
          <a:p>
            <a:pPr lvl="0"/>
            <a:r>
              <a:rPr/>
              <a:t>one comparison or predictor</a:t>
            </a:r>
          </a:p>
          <a:p>
            <a:pPr lvl="0"/>
            <a:r>
              <a:rPr/>
              <a:t>an expected </a:t>
            </a:r>
            <a:r>
              <a:rPr b="1"/>
              <a:t>direction</a:t>
            </a:r>
          </a:p>
          <a:p>
            <a:pPr lvl="0"/>
            <a:r>
              <a:rPr/>
              <a:t>relevant population or context</a:t>
            </a:r>
          </a:p>
          <a:p>
            <a:pPr lvl="0" indent="0" marL="0">
              <a:buNone/>
            </a:pPr>
            <a:r>
              <a:rPr/>
              <a:t>One variable. Four relationships.</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964692"/>
            <a:ext cx="9997440" cy="1188720"/>
          </a:xfrm>
        </p:spPr>
        <p:txBody>
          <a:bodyPr/>
          <a:lstStyle/>
          <a:p>
            <a:pPr lvl="0" indent="0" marL="0">
              <a:buNone/>
            </a:pPr>
            <a:r>
              <a:rPr/>
              <a:t>7 Match language to variables</a:t>
            </a:r>
          </a:p>
        </p:txBody>
      </p:sp>
      <p:graphicFrame>
        <p:nvGraphicFramePr>
          <p:cNvPr id="6" name="Content Placeholder 5"/>
          <p:cNvGraphicFramePr>
            <a:graphicFrameLocks noGrp="1"/>
          </p:cNvGraphicFramePr>
          <p:nvPr>
            <p:ph idx="1"/>
          </p:nvPr>
        </p:nvGraphicFramePr>
        <p:xfrm>
          <a:off x="1092200" y="2628900"/>
          <a:ext cx="9994900" cy="3098800"/>
        </p:xfrm>
        <a:graphic>
          <a:graphicData uri="http://schemas.openxmlformats.org/drawingml/2006/table">
            <a:tbl>
              <a:tblPr firstRow="1" bandRow="1">
                <a:tableStyleId>{5C22544A-7EE6-4342-B048-85BDC9FD1C3A}</a:tableStyleId>
              </a:tblPr>
              <a:tblGrid>
                <a:gridCol w="5003800"/>
                <a:gridCol w="5003800"/>
              </a:tblGrid>
              <a:tr h="0">
                <a:tc>
                  <a:txBody>
                    <a:bodyPr/>
                    <a:lstStyle/>
                    <a:p>
                      <a:pPr lvl="0" indent="0" marL="0">
                        <a:buNone/>
                      </a:pPr>
                      <a:r>
                        <a:rPr/>
                        <a:t>Variable pattern</a:t>
                      </a:r>
                    </a:p>
                  </a:txBody>
                  <a:tcPr/>
                </a:tc>
                <a:tc>
                  <a:txBody>
                    <a:bodyPr/>
                    <a:lstStyle/>
                    <a:p>
                      <a:pPr lvl="0" indent="0" marL="0">
                        <a:buNone/>
                      </a:pPr>
                      <a:r>
                        <a:rPr/>
                        <a:t>Say what should happen</a:t>
                      </a:r>
                    </a:p>
                  </a:txBody>
                  <a:tcPr/>
                </a:tc>
              </a:tr>
              <a:tr h="0">
                <a:tc>
                  <a:txBody>
                    <a:bodyPr/>
                    <a:lstStyle/>
                    <a:p>
                      <a:pPr lvl="0" indent="0" marL="0">
                        <a:buNone/>
                      </a:pPr>
                      <a:r>
                        <a:rPr/>
                        <a:t>Two quantitative</a:t>
                      </a:r>
                    </a:p>
                  </a:txBody>
                </a:tc>
                <a:tc>
                  <a:txBody>
                    <a:bodyPr/>
                    <a:lstStyle/>
                    <a:p>
                      <a:pPr lvl="0" indent="0" marL="0">
                        <a:buNone/>
                      </a:pPr>
                      <a:r>
                        <a:rPr/>
                        <a:t>Higher values relate to higher or lower values.</a:t>
                      </a:r>
                    </a:p>
                  </a:txBody>
                </a:tc>
              </a:tr>
              <a:tr h="0">
                <a:tc>
                  <a:txBody>
                    <a:bodyPr/>
                    <a:lstStyle/>
                    <a:p>
                      <a:pPr lvl="0" indent="0" marL="0">
                        <a:buNone/>
                      </a:pPr>
                      <a:r>
                        <a:rPr/>
                        <a:t>Quantitative + binary</a:t>
                      </a:r>
                    </a:p>
                  </a:txBody>
                </a:tc>
                <a:tc>
                  <a:txBody>
                    <a:bodyPr/>
                    <a:lstStyle/>
                    <a:p>
                      <a:pPr lvl="0" indent="0" marL="0">
                        <a:buNone/>
                      </a:pPr>
                      <a:r>
                        <a:rPr/>
                        <a:t>One group has a higher or lower mean.</a:t>
                      </a:r>
                    </a:p>
                  </a:txBody>
                </a:tc>
              </a:tr>
              <a:tr h="0">
                <a:tc>
                  <a:txBody>
                    <a:bodyPr/>
                    <a:lstStyle/>
                    <a:p>
                      <a:pPr lvl="0" indent="0" marL="0">
                        <a:buNone/>
                      </a:pPr>
                      <a:r>
                        <a:rPr/>
                        <a:t>Two categorical</a:t>
                      </a:r>
                    </a:p>
                  </a:txBody>
                </a:tc>
                <a:tc>
                  <a:txBody>
                    <a:bodyPr/>
                    <a:lstStyle/>
                    <a:p>
                      <a:pPr lvl="0" indent="0" marL="0">
                        <a:buNone/>
                      </a:pPr>
                      <a:r>
                        <a:rPr/>
                        <a:t>One category is more or less likely.</a:t>
                      </a:r>
                    </a:p>
                  </a:txBody>
                </a:tc>
              </a:tr>
              <a:tr h="0">
                <a:tc>
                  <a:txBody>
                    <a:bodyPr/>
                    <a:lstStyle/>
                    <a:p>
                      <a:pPr lvl="0" indent="0" marL="0">
                        <a:buNone/>
                      </a:pPr>
                      <a:r>
                        <a:rPr/>
                        <a:t>Qualitative variable with 3+ groups</a:t>
                      </a:r>
                    </a:p>
                  </a:txBody>
                </a:tc>
                <a:tc>
                  <a:txBody>
                    <a:bodyPr/>
                    <a:lstStyle/>
                    <a:p>
                      <a:pPr lvl="0" indent="0" marL="0">
                        <a:buNone/>
                      </a:pPr>
                      <a:r>
                        <a:rPr/>
                        <a:t>Select or recode it into two defensible groups before writing the RH.</a:t>
                      </a:r>
                    </a:p>
                  </a:txBody>
                </a:tc>
              </a:tr>
            </a:tbl>
          </a:graphicData>
        </a:graphic>
      </p:graphicFrame>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964692"/>
            <a:ext cx="9997440" cy="1188720"/>
          </a:xfrm>
        </p:spPr>
        <p:txBody>
          <a:bodyPr/>
          <a:lstStyle/>
          <a:p>
            <a:pPr lvl="0" indent="0" marL="0">
              <a:buNone/>
            </a:pPr>
            <a:r>
              <a:rPr/>
              <a:t>8 Predict before checking the data</a:t>
            </a:r>
          </a:p>
        </p:txBody>
      </p:sp>
      <p:sp>
        <p:nvSpPr>
          <p:cNvPr id="3" name="Content Placeholder 2"/>
          <p:cNvSpPr>
            <a:spLocks noGrp="1"/>
          </p:cNvSpPr>
          <p:nvPr>
            <p:ph idx="1" sz="half"/>
          </p:nvPr>
        </p:nvSpPr>
        <p:spPr/>
        <p:txBody>
          <a:bodyPr/>
          <a:lstStyle/>
          <a:p>
            <a:pPr lvl="0" indent="0" marL="0">
              <a:buNone/>
            </a:pPr>
            <a:r>
              <a:rPr/>
              <a:t>The RH should come from:</a:t>
            </a:r>
          </a:p>
          <a:p>
            <a:pPr lvl="0" indent="-457200" marL="457200">
              <a:buAutoNum type="arabicPeriod"/>
            </a:pPr>
            <a:r>
              <a:rPr/>
              <a:t>theory</a:t>
            </a:r>
          </a:p>
          <a:p>
            <a:pPr lvl="0" indent="-457200" marL="457200">
              <a:buAutoNum type="arabicPeriod"/>
            </a:pPr>
            <a:r>
              <a:rPr/>
              <a:t>prior research</a:t>
            </a:r>
          </a:p>
          <a:p>
            <a:pPr lvl="0" indent="-457200" marL="457200">
              <a:buAutoNum type="arabicPeriod"/>
            </a:pPr>
            <a:r>
              <a:rPr/>
              <a:t>a defensible conceptual rationale</a:t>
            </a:r>
          </a:p>
          <a:p>
            <a:pPr lvl="0" indent="0" marL="0">
              <a:buNone/>
            </a:pPr>
            <a:r>
              <a:rPr/>
              <a:t>Write the prediction before looking for a favorable p value.</a:t>
            </a:r>
          </a:p>
        </p:txBody>
      </p:sp>
      <p:pic>
        <p:nvPicPr>
          <p:cNvPr descr="A statistics meme about not understanding a p value, reinforcing that an observed p value is not a substitute for a justified prediction" id="0" name="Picture 1"/>
          <p:cNvPicPr>
            <a:picLocks noGrp="1" noChangeAspect="1"/>
          </p:cNvPicPr>
          <p:nvPr/>
        </p:nvPicPr>
        <p:blipFill>
          <a:blip r:embed="rId3"/>
          <a:stretch>
            <a:fillRect/>
          </a:stretch>
        </p:blipFill>
        <p:spPr bwMode="auto">
          <a:xfrm>
            <a:off x="7061200" y="2628900"/>
            <a:ext cx="3162300" cy="3098800"/>
          </a:xfrm>
          <a:prstGeom prst="rect">
            <a:avLst/>
          </a:prstGeom>
          <a:noFill/>
          <a:ln w="9525">
            <a:noFill/>
            <a:headEnd/>
            <a:tailEnd/>
          </a:ln>
        </p:spPr>
      </p:pic>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964692"/>
            <a:ext cx="9997440" cy="1188720"/>
          </a:xfrm>
        </p:spPr>
        <p:txBody>
          <a:bodyPr/>
          <a:lstStyle/>
          <a:p>
            <a:pPr lvl="0" indent="0" marL="0">
              <a:buNone/>
            </a:pPr>
            <a:r>
              <a:rPr/>
              <a:t>9 Link each RH to evidence</a:t>
            </a:r>
          </a:p>
        </p:txBody>
      </p:sp>
      <p:sp>
        <p:nvSpPr>
          <p:cNvPr id="3" name="Content Placeholder 2"/>
          <p:cNvSpPr>
            <a:spLocks noGrp="1"/>
          </p:cNvSpPr>
          <p:nvPr>
            <p:ph idx="1" sz="half"/>
          </p:nvPr>
        </p:nvSpPr>
        <p:spPr/>
        <p:txBody>
          <a:bodyPr/>
          <a:lstStyle/>
          <a:p>
            <a:pPr lvl="0" indent="0" marL="0">
              <a:buNone/>
            </a:pPr>
            <a:r>
              <a:rPr/>
              <a:t>For every hypothesis, ask:</a:t>
            </a:r>
          </a:p>
          <a:p>
            <a:pPr lvl="0"/>
            <a:r>
              <a:rPr/>
              <a:t>Which article supports the direction?</a:t>
            </a:r>
          </a:p>
          <a:p>
            <a:pPr lvl="0"/>
            <a:r>
              <a:rPr/>
              <a:t>Does it study the same construct?</a:t>
            </a:r>
          </a:p>
          <a:p>
            <a:pPr lvl="0"/>
            <a:r>
              <a:rPr/>
              <a:t>What differs in sample, setting, or measure?</a:t>
            </a:r>
          </a:p>
          <a:p>
            <a:pPr lvl="0"/>
            <a:r>
              <a:rPr/>
              <a:t>What inference can it actually support?</a:t>
            </a:r>
          </a:p>
        </p:txBody>
      </p:sp>
      <p:sp>
        <p:nvSpPr>
          <p:cNvPr id="4" name="Content Placeholder 3"/>
          <p:cNvSpPr>
            <a:spLocks noGrp="1"/>
          </p:cNvSpPr>
          <p:nvPr>
            <p:ph idx="2" sz="half"/>
          </p:nvPr>
        </p:nvSpPr>
        <p:spPr/>
        <p:txBody>
          <a:bodyPr/>
          <a:lstStyle/>
          <a:p>
            <a:pPr lvl="0" indent="0" marL="0">
              <a:buNone/>
            </a:pPr>
            <a:r>
              <a:rPr b="1"/>
              <a:t>Evidence chain</a:t>
            </a:r>
          </a:p>
          <a:p>
            <a:pPr lvl="0" indent="0" marL="0">
              <a:buNone/>
            </a:pPr>
            <a:r>
              <a:rPr/>
              <a:t>Article finding ↓ Conceptual rationale ↓ Directional RH</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964692"/>
            <a:ext cx="9997440" cy="1188720"/>
          </a:xfrm>
        </p:spPr>
        <p:txBody>
          <a:bodyPr/>
          <a:lstStyle/>
          <a:p>
            <a:pPr lvl="0" indent="0" marL="0">
              <a:buNone/>
            </a:pPr>
            <a:r>
              <a:rPr/>
              <a:t>10 Use three empirical sources well</a:t>
            </a:r>
          </a:p>
        </p:txBody>
      </p:sp>
      <p:pic>
        <p:nvPicPr>
          <p:cNvPr descr="A poll asking researchers to choose standard response wording, illustrating that measurement decisions must be documented precisely" id="0" name="Picture 1"/>
          <p:cNvPicPr>
            <a:picLocks noGrp="1" noChangeAspect="1"/>
          </p:cNvPicPr>
          <p:nvPr/>
        </p:nvPicPr>
        <p:blipFill>
          <a:blip r:embed="rId3"/>
          <a:stretch>
            <a:fillRect/>
          </a:stretch>
        </p:blipFill>
        <p:spPr bwMode="auto">
          <a:xfrm>
            <a:off x="1447800" y="2628900"/>
            <a:ext cx="4178300" cy="3098800"/>
          </a:xfrm>
          <a:prstGeom prst="rect">
            <a:avLst/>
          </a:prstGeom>
          <a:noFill/>
          <a:ln w="9525">
            <a:noFill/>
            <a:headEnd/>
            <a:tailEnd/>
          </a:ln>
        </p:spPr>
      </p:pic>
      <p:sp>
        <p:nvSpPr>
          <p:cNvPr id="4" name="Content Placeholder 3"/>
          <p:cNvSpPr>
            <a:spLocks noGrp="1"/>
          </p:cNvSpPr>
          <p:nvPr>
            <p:ph idx="2" sz="half"/>
          </p:nvPr>
        </p:nvSpPr>
        <p:spPr/>
        <p:txBody>
          <a:bodyPr/>
          <a:lstStyle/>
          <a:p>
            <a:pPr lvl="0" indent="0" marL="0">
              <a:buNone/>
            </a:pPr>
            <a:r>
              <a:rPr/>
              <a:t>For each reference, record:</a:t>
            </a:r>
          </a:p>
          <a:p>
            <a:pPr lvl="0" indent="-457200" marL="457200">
              <a:buAutoNum type="arabicPeriod"/>
            </a:pPr>
            <a:r>
              <a:rPr/>
              <a:t>full APA citation</a:t>
            </a:r>
          </a:p>
          <a:p>
            <a:pPr lvl="0" indent="-457200" marL="457200">
              <a:buAutoNum type="arabicPeriod"/>
            </a:pPr>
            <a:r>
              <a:rPr/>
              <a:t>research question or hypothesis</a:t>
            </a:r>
          </a:p>
          <a:p>
            <a:pPr lvl="0" indent="-457200" marL="457200">
              <a:buAutoNum type="arabicPeriod"/>
            </a:pPr>
            <a:r>
              <a:rPr/>
              <a:t>sample and design</a:t>
            </a:r>
          </a:p>
          <a:p>
            <a:pPr lvl="0" indent="-457200" marL="457200">
              <a:buAutoNum type="arabicPeriod"/>
            </a:pPr>
            <a:r>
              <a:rPr/>
              <a:t>key finding</a:t>
            </a:r>
          </a:p>
          <a:p>
            <a:pPr lvl="0" indent="-457200" marL="457200">
              <a:buAutoNum type="arabicPeriod"/>
            </a:pPr>
            <a:r>
              <a:rPr/>
              <a:t>connection to the project</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964692"/>
            <a:ext cx="9997440" cy="1188720"/>
          </a:xfrm>
        </p:spPr>
        <p:txBody>
          <a:bodyPr/>
          <a:lstStyle/>
          <a:p>
            <a:pPr lvl="0" indent="0" marL="0">
              <a:buNone/>
            </a:pPr>
            <a:r>
              <a:rPr/>
              <a:t>11 Keep claims within the design</a:t>
            </a:r>
          </a:p>
        </p:txBody>
      </p:sp>
      <p:sp>
        <p:nvSpPr>
          <p:cNvPr id="1001" name="box-box" descr="box: . Cause requires adequate assignment and control."/>
          <p:cNvSpPr/>
          <p:nvPr/>
        </p:nvSpPr>
        <p:spPr>
          <a:xfrm>
            <a:off x="1097280" y="2633472"/>
            <a:ext cx="9994392" cy="670560"/>
          </a:xfrm>
          <a:prstGeom prst="roundRect">
            <a:avLst>
              <a:gd name="adj" fmla="val 6000"/>
            </a:avLst>
          </a:prstGeom>
          <a:solidFill>
            <a:srgbClr val="E6E6E6"/>
          </a:solidFill>
          <a:ln w="19050">
            <a:solidFill>
              <a:srgbClr val="CCCCCC"/>
            </a:solidFill>
          </a:ln>
        </p:spPr>
        <p:txBody>
          <a:bodyPr lIns="182880" tIns="182880" rIns="182880" bIns="182880" anchor="t" wrap="square">
            <a:normAutofit/>
          </a:bodyPr>
          <a:lstStyle/>
          <a:p>
            <a:pPr algn="l"/>
            <a:r>
              <a:rPr lang="en-US" sz="2000" b="0" dirty="0">
                <a:solidFill>
                  <a:srgbClr val="010B13"/>
                </a:solidFill>
              </a:rPr>
              <a:t>Cause requires adequate assignment and control.</a:t>
            </a:r>
          </a:p>
        </p:txBody>
      </p:sp>
      <p:sp>
        <p:nvSpPr>
          <p:cNvPr id="1002" name="box-cream-box" descr="box: . Association matches observational evidence."/>
          <p:cNvSpPr/>
          <p:nvPr/>
        </p:nvSpPr>
        <p:spPr>
          <a:xfrm>
            <a:off x="1097280" y="3450336"/>
            <a:ext cx="9994392" cy="670560"/>
          </a:xfrm>
          <a:prstGeom prst="roundRect">
            <a:avLst>
              <a:gd name="adj" fmla="val 6000"/>
            </a:avLst>
          </a:prstGeom>
          <a:solidFill>
            <a:srgbClr val="F5F1E7"/>
          </a:solidFill>
          <a:ln w="19050">
            <a:solidFill>
              <a:srgbClr val="CCCCCC"/>
            </a:solidFill>
          </a:ln>
        </p:spPr>
        <p:txBody>
          <a:bodyPr lIns="182880" tIns="182880" rIns="182880" bIns="182880" anchor="t" wrap="square">
            <a:normAutofit/>
          </a:bodyPr>
          <a:lstStyle/>
          <a:p>
            <a:pPr algn="l"/>
            <a:r>
              <a:rPr lang="en-US" sz="2000" b="0" dirty="0">
                <a:solidFill>
                  <a:srgbClr val="010B13"/>
                </a:solidFill>
              </a:rPr>
              <a:t>Association matches observational evidence.</a:t>
            </a:r>
          </a:p>
        </p:txBody>
      </p:sp>
      <p:sp>
        <p:nvSpPr>
          <p:cNvPr id="1003" name="box-yellow-box" descr="box: . Generalization must match the sample and setting."/>
          <p:cNvSpPr/>
          <p:nvPr/>
        </p:nvSpPr>
        <p:spPr>
          <a:xfrm>
            <a:off x="1097280" y="4267200"/>
            <a:ext cx="9994392" cy="670560"/>
          </a:xfrm>
          <a:prstGeom prst="roundRect">
            <a:avLst>
              <a:gd name="adj" fmla="val 6000"/>
            </a:avLst>
          </a:prstGeom>
          <a:solidFill>
            <a:srgbClr val="FFD74F"/>
          </a:solidFill>
          <a:ln w="19050">
            <a:solidFill>
              <a:srgbClr val="CCCCCC"/>
            </a:solidFill>
          </a:ln>
        </p:spPr>
        <p:txBody>
          <a:bodyPr lIns="182880" tIns="182880" rIns="182880" bIns="182880" anchor="t" wrap="square">
            <a:normAutofit/>
          </a:bodyPr>
          <a:lstStyle/>
          <a:p>
            <a:pPr algn="l"/>
            <a:r>
              <a:rPr lang="en-US" sz="2000" b="0" dirty="0">
                <a:solidFill>
                  <a:srgbClr val="010B13"/>
                </a:solidFill>
              </a:rPr>
              <a:t>Generalization must match the sample and setting.</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964692"/>
            <a:ext cx="9997440" cy="1188720"/>
          </a:xfrm>
        </p:spPr>
        <p:txBody>
          <a:bodyPr/>
          <a:lstStyle/>
          <a:p>
            <a:pPr lvl="0" indent="0" marL="0">
              <a:buNone/>
            </a:pPr>
            <a:r>
              <a:rPr/>
              <a:t>12 Check the four-RH set</a:t>
            </a:r>
          </a:p>
        </p:txBody>
      </p:sp>
      <p:pic>
        <p:nvPicPr>
          <p:cNvPr descr="A grid of contestants with different attributes, illustrating a coherent set of distinct comparisons around one central outcome" id="0" name="Picture 1"/>
          <p:cNvPicPr>
            <a:picLocks noGrp="1" noChangeAspect="1"/>
          </p:cNvPicPr>
          <p:nvPr/>
        </p:nvPicPr>
        <p:blipFill>
          <a:blip r:embed="rId3"/>
          <a:stretch>
            <a:fillRect/>
          </a:stretch>
        </p:blipFill>
        <p:spPr bwMode="auto">
          <a:xfrm>
            <a:off x="1282700" y="2628900"/>
            <a:ext cx="4521200" cy="3098800"/>
          </a:xfrm>
          <a:prstGeom prst="rect">
            <a:avLst/>
          </a:prstGeom>
          <a:noFill/>
          <a:ln w="9525">
            <a:noFill/>
            <a:headEnd/>
            <a:tailEnd/>
          </a:ln>
        </p:spPr>
      </p:pic>
      <p:sp>
        <p:nvSpPr>
          <p:cNvPr id="4" name="Content Placeholder 3"/>
          <p:cNvSpPr>
            <a:spLocks noGrp="1"/>
          </p:cNvSpPr>
          <p:nvPr>
            <p:ph idx="2" sz="half"/>
          </p:nvPr>
        </p:nvSpPr>
        <p:spPr/>
        <p:txBody>
          <a:bodyPr/>
          <a:lstStyle/>
          <a:p>
            <a:pPr lvl="0" indent="0" marL="0">
              <a:buNone/>
            </a:pPr>
            <a:r>
              <a:rPr/>
              <a:t>Together, the hypotheses should be:</a:t>
            </a:r>
          </a:p>
          <a:p>
            <a:pPr lvl="0"/>
            <a:r>
              <a:rPr b="1"/>
              <a:t>distinct</a:t>
            </a:r>
            <a:r>
              <a:rPr/>
              <a:t>, not repetitive</a:t>
            </a:r>
          </a:p>
          <a:p>
            <a:pPr lvl="0"/>
            <a:r>
              <a:rPr/>
              <a:t>feasible with available variables</a:t>
            </a:r>
          </a:p>
          <a:p>
            <a:pPr lvl="0"/>
            <a:r>
              <a:rPr/>
              <a:t>interpretable with the planned coding</a:t>
            </a:r>
          </a:p>
          <a:p>
            <a:pPr lvl="0"/>
            <a:r>
              <a:rPr/>
              <a:t>supported by the selected literature</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964692"/>
            <a:ext cx="9997440" cy="1188720"/>
          </a:xfrm>
        </p:spPr>
        <p:txBody>
          <a:bodyPr/>
          <a:lstStyle/>
          <a:p>
            <a:pPr lvl="0" indent="0" marL="0">
              <a:buNone/>
            </a:pPr>
            <a:r>
              <a:rPr/>
              <a:t>13 Make the worksheet self-contained</a:t>
            </a:r>
          </a:p>
        </p:txBody>
      </p:sp>
      <p:sp>
        <p:nvSpPr>
          <p:cNvPr id="1004" name="prose" descr=""/>
          <p:cNvSpPr/>
          <p:nvPr/>
        </p:nvSpPr>
        <p:spPr>
          <a:xfrm>
            <a:off x="1097280" y="2633472"/>
            <a:ext cx="9994392" cy="609600"/>
          </a:xfrm>
          <a:prstGeom prst="roundRect">
            <a:avLst>
              <a:gd name="adj" fmla="val 6000"/>
            </a:avLst>
          </a:prstGeom>
          <a:noFill/>
          <a:ln>
            <a:noFill/>
          </a:ln>
        </p:spPr>
        <p:txBody>
          <a:bodyPr lIns="182880" tIns="182880" rIns="182880" bIns="182880" anchor="t" wrap="square">
            <a:normAutofit/>
          </a:bodyPr>
          <a:lstStyle/>
          <a:p>
            <a:pPr algn="l"/>
            <a:r>
              <a:rPr lang="en-US" sz="2000" b="0" dirty="0">
                <a:solidFill>
                  <a:srgbClr val="010B13"/>
                </a:solidFill>
              </a:rPr>
              <a:t>Use exact variable names where requested, but explain them in ordinary language.</a:t>
            </a:r>
          </a:p>
        </p:txBody>
      </p:sp>
      <p:sp>
        <p:nvSpPr>
          <p:cNvPr id="1005" name="box-box" descr="box: . Dataset field: var_name Meaning: What does one value represent?"/>
          <p:cNvSpPr/>
          <p:nvPr/>
        </p:nvSpPr>
        <p:spPr>
          <a:xfrm>
            <a:off x="1097280" y="3389376"/>
            <a:ext cx="9994392" cy="670560"/>
          </a:xfrm>
          <a:prstGeom prst="roundRect">
            <a:avLst>
              <a:gd name="adj" fmla="val 6000"/>
            </a:avLst>
          </a:prstGeom>
          <a:solidFill>
            <a:srgbClr val="E6E6E6"/>
          </a:solidFill>
          <a:ln w="19050">
            <a:solidFill>
              <a:srgbClr val="CCCCCC"/>
            </a:solidFill>
          </a:ln>
        </p:spPr>
        <p:txBody>
          <a:bodyPr lIns="182880" tIns="182880" rIns="182880" bIns="182880" anchor="t" wrap="square">
            <a:normAutofit/>
          </a:bodyPr>
          <a:lstStyle/>
          <a:p>
            <a:pPr algn="l"/>
            <a:r>
              <a:rPr lang="en-US" sz="2000" b="0" dirty="0">
                <a:solidFill>
                  <a:srgbClr val="010B13"/>
                </a:solidFill>
              </a:rPr>
              <a:t>Dataset field: var_name Meaning: What does one value represent?</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964692"/>
            <a:ext cx="9997440" cy="1188720"/>
          </a:xfrm>
        </p:spPr>
        <p:txBody>
          <a:bodyPr/>
          <a:lstStyle/>
          <a:p>
            <a:pPr lvl="0" indent="0" marL="0">
              <a:buNone/>
            </a:pPr>
            <a:r>
              <a:rPr/>
              <a:t>14 Check before submitting</a:t>
            </a:r>
          </a:p>
        </p:txBody>
      </p:sp>
      <p:sp>
        <p:nvSpPr>
          <p:cNvPr id="3" name="Content Placeholder 2"/>
          <p:cNvSpPr>
            <a:spLocks noGrp="1"/>
          </p:cNvSpPr>
          <p:nvPr>
            <p:ph idx="1"/>
          </p:nvPr>
        </p:nvSpPr>
        <p:spPr/>
        <p:txBody>
          <a:bodyPr/>
          <a:lstStyle/>
          <a:p>
            <a:pPr lvl="0" indent="-457200" marL="457200">
              <a:buAutoNum type="arabicPeriod"/>
            </a:pPr>
            <a:r>
              <a:rPr/>
              <a:t>Name the dataset and core variable.</a:t>
            </a:r>
          </a:p>
          <a:p>
            <a:pPr lvl="0" indent="-457200" marL="457200">
              <a:buAutoNum type="arabicPeriod"/>
            </a:pPr>
            <a:r>
              <a:rPr/>
              <a:t>Confirm each qualitative variable has exactly two groups.</a:t>
            </a:r>
          </a:p>
          <a:p>
            <a:pPr lvl="0" indent="-457200" marL="457200">
              <a:buAutoNum type="arabicPeriod"/>
            </a:pPr>
            <a:r>
              <a:rPr/>
              <a:t>Verify every transformation in saved syntax.</a:t>
            </a:r>
          </a:p>
          <a:p>
            <a:pPr lvl="0" indent="-457200" marL="457200">
              <a:buAutoNum type="arabicPeriod"/>
            </a:pPr>
            <a:r>
              <a:rPr/>
              <a:t>Complete four directional RHs and support their rationales with three sources.</a:t>
            </a:r>
          </a:p>
        </p:txBody>
      </p:sp>
    </p:spTree>
  </p:cSld>
</p:sld>
</file>

<file path=ppt/theme/theme1.xml><?xml version="1.0" encoding="utf-8"?>
<a:theme xmlns:a="http://schemas.openxmlformats.org/drawingml/2006/main" name="Parcel">
  <a:themeElements>
    <a:clrScheme name="Custom 3">
      <a:dk1>
        <a:srgbClr val="000000"/>
      </a:dk1>
      <a:lt1>
        <a:srgbClr val="FFFFFF"/>
      </a:lt1>
      <a:dk2>
        <a:srgbClr val="4A5356"/>
      </a:dk2>
      <a:lt2>
        <a:srgbClr val="E8E3CE"/>
      </a:lt2>
      <a:accent1>
        <a:srgbClr val="B65B00"/>
      </a:accent1>
      <a:accent2>
        <a:srgbClr val="5E5E5E"/>
      </a:accent2>
      <a:accent3>
        <a:srgbClr val="005392"/>
      </a:accent3>
      <a:accent4>
        <a:srgbClr val="FEFB00"/>
      </a:accent4>
      <a:accent5>
        <a:srgbClr val="87795D"/>
      </a:accent5>
      <a:accent6>
        <a:srgbClr val="A0988C"/>
      </a:accent6>
      <a:hlink>
        <a:srgbClr val="005392"/>
      </a:hlink>
      <a:folHlink>
        <a:srgbClr val="738F97"/>
      </a:folHlink>
    </a:clrScheme>
    <a:fontScheme name="Parcel">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4DB32801-28C0-48B0-8C1D-A9A58613615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Parcel</Template>
  <TotalTime>4</TotalTime>
  <Words>0</Words>
  <Application>Microsoft Macintosh PowerPoint</Application>
  <PresentationFormat>Widescreen</PresentationFormat>
  <Paragraphs>0</Paragraphs>
  <Slides>1</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Gill Sans MT</vt:lpstr>
      <vt:lpstr>Parcel</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Build the Preproposal</dc:title>
  <dc:creator>PSYC 350 Laboratory</dc:creator>
  <cp:keywords/>
  <dcterms:created xsi:type="dcterms:W3CDTF">2026-09-02T01:11:49Z</dcterms:created>
  <dcterms:modified xsi:type="dcterms:W3CDTF">2026-09-02T01:11:49Z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quarto-vars">
    <vt:lpwstr/>
  </property>
  <property fmtid="{D5CDD505-2E9C-101B-9397-08002B2CF9AE}" pid="3" name="affiliations">
    <vt:lpwstr/>
  </property>
  <property fmtid="{D5CDD505-2E9C-101B-9397-08002B2CF9AE}" pid="4" name="authors">
    <vt:lpwstr/>
  </property>
  <property fmtid="{D5CDD505-2E9C-101B-9397-08002B2CF9AE}" pid="5" name="back-to-top-navigation">
    <vt:lpwstr>True</vt:lpwstr>
  </property>
  <property fmtid="{D5CDD505-2E9C-101B-9397-08002B2CF9AE}" pid="6" name="biblio-config">
    <vt:lpwstr>True</vt:lpwstr>
  </property>
  <property fmtid="{D5CDD505-2E9C-101B-9397-08002B2CF9AE}" pid="7" name="by-affiliation">
    <vt:lpwstr/>
  </property>
  <property fmtid="{D5CDD505-2E9C-101B-9397-08002B2CF9AE}" pid="8" name="by-author">
    <vt:lpwstr/>
  </property>
  <property fmtid="{D5CDD505-2E9C-101B-9397-08002B2CF9AE}" pid="9" name="execute">
    <vt:lpwstr/>
  </property>
  <property fmtid="{D5CDD505-2E9C-101B-9397-08002B2CF9AE}" pid="10" name="header-includes">
    <vt:lpwstr/>
  </property>
  <property fmtid="{D5CDD505-2E9C-101B-9397-08002B2CF9AE}" pid="11" name="include-after">
    <vt:lpwstr/>
  </property>
  <property fmtid="{D5CDD505-2E9C-101B-9397-08002B2CF9AE}" pid="12" name="include-back-link">
    <vt:lpwstr>False</vt:lpwstr>
  </property>
  <property fmtid="{D5CDD505-2E9C-101B-9397-08002B2CF9AE}" pid="13" name="include-before">
    <vt:lpwstr/>
  </property>
  <property fmtid="{D5CDD505-2E9C-101B-9397-08002B2CF9AE}" pid="14" name="institute">
    <vt:lpwstr>University of Nebraska–Lincoln</vt:lpwstr>
  </property>
  <property fmtid="{D5CDD505-2E9C-101B-9397-08002B2CF9AE}" pid="15" name="institutes">
    <vt:lpwstr/>
  </property>
  <property fmtid="{D5CDD505-2E9C-101B-9397-08002B2CF9AE}" pid="16" name="labels">
    <vt:lpwstr/>
  </property>
  <property fmtid="{D5CDD505-2E9C-101B-9397-08002B2CF9AE}" pid="17" name="nebraska-pptx">
    <vt:lpwstr/>
  </property>
  <property fmtid="{D5CDD505-2E9C-101B-9397-08002B2CF9AE}" pid="18" name="revealjs-plugins">
    <vt:lpwstr/>
  </property>
  <property fmtid="{D5CDD505-2E9C-101B-9397-08002B2CF9AE}" pid="19" name="subtitle">
    <vt:lpwstr>Lab 09 · Variables, Hypotheses, and Sources</vt:lpwstr>
  </property>
  <property fmtid="{D5CDD505-2E9C-101B-9397-08002B2CF9AE}" pid="20" name="toc-title">
    <vt:lpwstr>Table of contents</vt:lpwstr>
  </property>
</Properties>
</file>