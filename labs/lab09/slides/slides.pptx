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notesSlides/notesSlide1.xml" ContentType="application/vnd.openxmlformats-officedocument.presentationml.notesSlide+xml"/>
</Type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>
  <p:sldMasterIdLst>
    <p:sldMasterId id="2147483696" r:id="rId1"/>
  </p:sldMasterIdLst>
  <p:notesMasterIdLst>
    <p:notesMasterId r:id="rId39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sldSz cx="12192000" cy="6858000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sz="17524"/>
    <p:restoredTop sz="94694"/>
  </p:normalViewPr>
  <p:slideViewPr>
    <p:cSldViewPr snapToGrid="0">
      <p:cViewPr varScale="1">
        <p:scale>
          <a:sx d="100" n="119"/>
          <a:sy d="100" n="119"/>
        </p:scale>
        <p:origin x="232" y="232"/>
      </p:cViewPr>
      <p:guideLst/>
    </p:cSldViewPr>
  </p:slideViewPr>
  <p:notesTextViewPr>
    <p:cViewPr>
      <p:scale>
        <a:sx d="1" n="1"/>
        <a:sy d="1" n="1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notesMaster" Target="notesMasters/notesMaster1.xml" /><Relationship Id="rId1" Type="http://schemas.openxmlformats.org/officeDocument/2006/relationships/slideMaster" Target="slideMasters/slideMaster1.xml" /><Relationship Id="rId40" Type="http://schemas.openxmlformats.org/officeDocument/2006/relationships/presProps" Target="presProps.xml" /><Relationship Id="rId41" Type="http://schemas.openxmlformats.org/officeDocument/2006/relationships/viewProps" Target="viewProps.xml" /><Relationship Id="rId42" Type="http://schemas.openxmlformats.org/officeDocument/2006/relationships/theme" Target="theme/theme1.xml" /><Relationship Id="rId43" Type="http://schemas.openxmlformats.org/officeDocument/2006/relationships/tableStyles" Target="tableStyles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0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Walk through each translation slowly. Emphasize that the </a:t>
            </a:r>
            <a:r>
              <a:rPr i="1"/>
              <a:t>wording</a:t>
            </a:r>
            <a:r>
              <a:rPr/>
              <a:t> of the RH almost always reveals the design: “related to” → correlation, “differ/change” → group comparison.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20</a:t>
            </a:fld>
            <a:endParaRPr lang="en-US"/>
          </a:p>
        </p:txBody>
      </p:sp>
    </p:spTree>
  </p:cSld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 bwMode="blackWhite">
          <a:xfrm>
            <a:off x="1097280" y="2386744"/>
            <a:ext cx="9997440" cy="1645920"/>
          </a:xfrm>
          <a:solidFill>
            <a:srgbClr val="FFFFFF"/>
          </a:solidFill>
          <a:ln w="38100">
            <a:solidFill>
              <a:srgbClr val="404040"/>
            </a:solidFill>
          </a:ln>
        </p:spPr>
        <p:txBody>
          <a:bodyPr lIns="274320" rIns="274320" anchor="ctr" anchorCtr="1">
            <a:normAutofit/>
          </a:bodyPr>
          <a:lstStyle>
            <a:lvl1pPr algn="ctr">
              <a:defRPr sz="3800">
                <a:solidFill>
                  <a:srgbClr val="262626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097280" y="4352544"/>
            <a:ext cx="9997440" cy="1239894"/>
          </a:xfrm>
          <a:noFill/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60EA64-D806-43AC-9DF2-F8C432F32B4C}" type="datetimeFigureOut">
              <a:rPr lang="en-US" dirty="0"/>
              <a:t>1/22/26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A6979-0714-4377-B894-6BE4C2D6E202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964692"/>
            <a:ext cx="9997440" cy="118872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097280" y="2638044"/>
            <a:ext cx="9997440" cy="310198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70A7B3-6521-4DCA-87E5-044747A908C1}" type="datetimeFigureOut">
              <a:rPr lang="en-US" dirty="0"/>
              <a:t>1/22/26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A6979-0714-4377-B894-6BE4C2D6E202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 bwMode="blackWhite">
          <a:xfrm>
            <a:off x="1097280" y="2386744"/>
            <a:ext cx="9997440" cy="1645920"/>
          </a:xfrm>
          <a:solidFill>
            <a:srgbClr val="FFFFFF"/>
          </a:solidFill>
          <a:ln w="38100">
            <a:solidFill>
              <a:srgbClr val="404040"/>
            </a:solidFill>
          </a:ln>
        </p:spPr>
        <p:txBody>
          <a:bodyPr lIns="274320" rIns="274320" anchor="ctr" anchorCtr="1">
            <a:normAutofit/>
          </a:bodyPr>
          <a:lstStyle>
            <a:lvl1pPr>
              <a:defRPr sz="3800">
                <a:solidFill>
                  <a:srgbClr val="262626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4352465"/>
            <a:ext cx="9997440" cy="1265082"/>
          </a:xfrm>
        </p:spPr>
        <p:txBody>
          <a:bodyPr anchor="t" anchorCtr="1">
            <a:normAutofit/>
          </a:bodyPr>
          <a:lstStyle>
            <a:lvl1pPr marL="0" indent="0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60EA64-D806-43AC-9DF2-F8C432F32B4C}" type="datetimeFigureOut">
              <a:rPr lang="en-US" dirty="0"/>
              <a:t>1/22/26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A6979-0714-4377-B894-6BE4C2D6E202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964692"/>
            <a:ext cx="9997440" cy="118872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097280" y="2638044"/>
            <a:ext cx="4907280" cy="310198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87440" y="2638044"/>
            <a:ext cx="4907280" cy="310198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8" name="Date Placeholder 7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134690-1557-4C89-A502-4959FE7FAD70}" type="datetimeFigureOut">
              <a:rPr lang="en-US" dirty="0"/>
              <a:t>1/22/26</a:t>
            </a:fld>
            <a:endParaRPr lang="en-US" dirty="0"/>
          </a:p>
        </p:txBody>
      </p:sp>
      <p:sp>
        <p:nvSpPr>
          <p:cNvPr id="9" name="Footer Placeholder 8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A6979-0714-4377-B894-6BE4C2D6E202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583436" y="2313433"/>
            <a:ext cx="4270248" cy="704087"/>
          </a:xfrm>
        </p:spPr>
        <p:txBody>
          <a:bodyPr anchor="b" anchorCtr="1">
            <a:normAutofit/>
          </a:bodyPr>
          <a:lstStyle>
            <a:lvl1pPr marL="0" indent="0" algn="ctr">
              <a:buNone/>
              <a:defRPr sz="1900" b="0" cap="all" spc="100" baseline="0">
                <a:solidFill>
                  <a:schemeClr val="accent2">
                    <a:lumMod val="75000"/>
                  </a:schemeClr>
                </a:solidFill>
              </a:defRPr>
            </a:lvl1pPr>
            <a:lvl2pPr marL="457200" indent="0">
              <a:buNone/>
              <a:defRPr sz="19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583436" y="3143250"/>
            <a:ext cx="4270248" cy="259677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338316" y="3143250"/>
            <a:ext cx="4253484" cy="2596776"/>
          </a:xfrm>
        </p:spPr>
        <p:txBody>
          <a:bodyPr/>
          <a:lstStyle>
            <a:lvl5pP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6338316" y="2313433"/>
            <a:ext cx="4270248" cy="704087"/>
          </a:xfrm>
        </p:spPr>
        <p:txBody>
          <a:bodyPr anchor="b" anchorCtr="1">
            <a:normAutofit/>
          </a:bodyPr>
          <a:lstStyle>
            <a:lvl1pPr marL="0" indent="0" algn="ctr">
              <a:buNone/>
              <a:defRPr sz="1900" b="0" cap="all" spc="100" baseline="0">
                <a:solidFill>
                  <a:schemeClr val="accent2">
                    <a:lumMod val="75000"/>
                  </a:schemeClr>
                </a:solidFill>
              </a:defRPr>
            </a:lvl1pPr>
            <a:lvl2pPr marL="457200" indent="0">
              <a:buNone/>
              <a:defRPr sz="19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7D4976-E339-4826-83B7-FBD03F55ECF8}" type="datetimeFigureOut">
              <a:rPr lang="en-US" dirty="0"/>
              <a:t>1/22/26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A6979-0714-4377-B894-6BE4C2D6E202}" type="slidenum">
              <a:rPr lang="en-US" dirty="0"/>
              <a:t>‹#›</a:t>
            </a:fld>
            <a:endParaRPr lang="en-US" dirty="0"/>
          </a:p>
        </p:txBody>
      </p:sp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964692"/>
            <a:ext cx="9997440" cy="118872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037C31-9E7A-4F99-8774-A0E530DE1A42}" type="datetimeFigureOut">
              <a:rPr lang="en-US" dirty="0"/>
              <a:t>1/22/26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A6979-0714-4377-B894-6BE4C2D6E202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78504F-A551-4DE0-9316-4DCD1D8CC752}" type="datetimeFigureOut">
              <a:rPr lang="en-US" dirty="0"/>
              <a:t>1/22/26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A6979-0714-4377-B894-6BE4C2D6E202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Rectangle 25"/>
          <p:cNvSpPr/>
          <p:nvPr/>
        </p:nvSpPr>
        <p:spPr>
          <a:xfrm>
            <a:off x="0" y="0"/>
            <a:ext cx="6096000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 bwMode="blackWhite">
          <a:xfrm>
            <a:off x="804672" y="2243828"/>
            <a:ext cx="4486656" cy="1141497"/>
          </a:xfrm>
          <a:solidFill>
            <a:srgbClr val="FFFFFF"/>
          </a:solidFill>
          <a:ln>
            <a:solidFill>
              <a:srgbClr val="404040"/>
            </a:solidFill>
          </a:ln>
        </p:spPr>
        <p:txBody>
          <a:bodyPr anchor="ctr" anchorCtr="1">
            <a:normAutofit/>
          </a:bodyPr>
          <a:lstStyle>
            <a:lvl1pPr>
              <a:defRPr sz="2200">
                <a:solidFill>
                  <a:srgbClr val="262626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736080" y="804672"/>
            <a:ext cx="4815840" cy="5248656"/>
          </a:xfrm>
        </p:spPr>
        <p:txBody>
          <a:bodyPr>
            <a:normAutofit/>
          </a:bodyPr>
          <a:lstStyle>
            <a:lvl1pPr>
              <a:defRPr sz="1900">
                <a:solidFill>
                  <a:schemeClr val="tx1"/>
                </a:solidFill>
              </a:defRPr>
            </a:lvl1pPr>
            <a:lvl2pPr>
              <a:defRPr sz="1600">
                <a:solidFill>
                  <a:schemeClr val="tx1"/>
                </a:solidFill>
              </a:defRPr>
            </a:lvl2pPr>
            <a:lvl3pPr>
              <a:defRPr sz="1600">
                <a:solidFill>
                  <a:schemeClr val="tx1"/>
                </a:solidFill>
              </a:defRPr>
            </a:lvl3pPr>
            <a:lvl4pPr>
              <a:defRPr sz="1600">
                <a:solidFill>
                  <a:schemeClr val="tx1"/>
                </a:solidFill>
              </a:defRPr>
            </a:lvl4pPr>
            <a:lvl5pPr>
              <a:defRPr sz="1600">
                <a:solidFill>
                  <a:schemeClr val="tx1"/>
                </a:solidFill>
              </a:defRPr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15568" y="3549918"/>
            <a:ext cx="3794760" cy="2194036"/>
          </a:xfrm>
        </p:spPr>
        <p:txBody>
          <a:bodyPr anchor="t" anchorCtr="1">
            <a:normAutofit/>
          </a:bodyPr>
          <a:lstStyle>
            <a:lvl1pPr marL="0" indent="0" algn="ctr"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Date Placeholder 8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BE4249-C0D0-4B06-8692-E8BB871AF643}" type="datetimeFigureOut">
              <a:rPr lang="en-US" dirty="0"/>
              <a:t>1/22/26</a:t>
            </a:fld>
            <a:endParaRPr lang="en-US" dirty="0"/>
          </a:p>
        </p:txBody>
      </p:sp>
      <p:sp>
        <p:nvSpPr>
          <p:cNvPr id="10" name="Footer Placeholder 9"/>
          <p:cNvSpPr>
            <a:spLocks noGrp="1"/>
          </p:cNvSpPr>
          <p:nvPr>
            <p:ph type="ftr" sz="quarter" idx="11"/>
          </p:nvPr>
        </p:nvSpPr>
        <p:spPr>
          <a:xfrm>
            <a:off x="804672" y="6236208"/>
            <a:ext cx="5124797" cy="320040"/>
          </a:xfrm>
        </p:spPr>
        <p:txBody>
          <a:bodyPr/>
          <a:lstStyle>
            <a:lvl1pPr>
              <a:defRPr>
                <a:solidFill>
                  <a:srgbClr val="FFFFFF">
                    <a:alpha val="70000"/>
                  </a:srgb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11" name="Slide Number Placeholder 10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A6979-0714-4377-B894-6BE4C2D6E202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Rectangle 17"/>
          <p:cNvSpPr/>
          <p:nvPr/>
        </p:nvSpPr>
        <p:spPr>
          <a:xfrm>
            <a:off x="0" y="0"/>
            <a:ext cx="6095999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 bwMode="blackWhite">
          <a:xfrm>
            <a:off x="808523" y="2243828"/>
            <a:ext cx="4494998" cy="1134640"/>
          </a:xfrm>
          <a:solidFill>
            <a:srgbClr val="FFFFFF"/>
          </a:solidFill>
          <a:ln>
            <a:solidFill>
              <a:srgbClr val="404040"/>
            </a:solidFill>
          </a:ln>
        </p:spPr>
        <p:txBody>
          <a:bodyPr anchor="ctr" anchorCtr="1">
            <a:noAutofit/>
          </a:bodyPr>
          <a:lstStyle>
            <a:lvl1pPr>
              <a:defRPr sz="2200">
                <a:solidFill>
                  <a:srgbClr val="262626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095999" y="0"/>
            <a:ext cx="6102097" cy="6858000"/>
          </a:xfrm>
          <a:solidFill>
            <a:schemeClr val="bg1">
              <a:lumMod val="75000"/>
            </a:schemeClr>
          </a:solidFill>
        </p:spPr>
        <p:txBody>
          <a:bodyPr anchor="t"/>
          <a:lstStyle>
            <a:lvl1pPr marL="0" indent="0">
              <a:buNone/>
              <a:defRPr sz="3200">
                <a:solidFill>
                  <a:schemeClr val="bg1">
                    <a:lumMod val="85000"/>
                    <a:lumOff val="15000"/>
                  </a:schemeClr>
                </a:solidFill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15568" y="3549918"/>
            <a:ext cx="3794760" cy="2194037"/>
          </a:xfrm>
        </p:spPr>
        <p:txBody>
          <a:bodyPr anchor="t" anchorCtr="1">
            <a:normAutofit/>
          </a:bodyPr>
          <a:lstStyle>
            <a:lvl1pPr marL="0" indent="0" algn="ctr"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Date Placeholder 7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  <a:effectLst>
                  <a:outerShdw blurRad="50800" dist="38100" dir="2700000" algn="tl" rotWithShape="0">
                    <a:prstClr val="black">
                      <a:alpha val="43000"/>
                    </a:prstClr>
                  </a:outerShdw>
                </a:effectLst>
              </a:defRPr>
            </a:lvl1pPr>
          </a:lstStyle>
          <a:p>
            <a:fld id="{042B0DB6-F5C7-45FB-8CF3-31B45F9C2DAC}" type="datetimeFigureOut">
              <a:rPr lang="en-US" dirty="0"/>
              <a:t>1/22/26</a:t>
            </a:fld>
            <a:endParaRPr lang="en-US" dirty="0"/>
          </a:p>
        </p:txBody>
      </p:sp>
      <p:sp>
        <p:nvSpPr>
          <p:cNvPr id="9" name="Footer Placeholder 8"/>
          <p:cNvSpPr>
            <a:spLocks noGrp="1"/>
          </p:cNvSpPr>
          <p:nvPr>
            <p:ph type="ftr" sz="quarter" idx="11"/>
          </p:nvPr>
        </p:nvSpPr>
        <p:spPr>
          <a:xfrm>
            <a:off x="804672" y="6236208"/>
            <a:ext cx="5124797" cy="320040"/>
          </a:xfrm>
        </p:spPr>
        <p:txBody>
          <a:bodyPr/>
          <a:lstStyle>
            <a:lvl1pPr>
              <a:defRPr>
                <a:solidFill>
                  <a:srgbClr val="FFFFFF">
                    <a:alpha val="70000"/>
                  </a:srgb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A6979-0714-4377-B894-6BE4C2D6E202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F9C37B-1D36-470B-8223-D6C91242EC14}" type="datetimeFigureOut">
              <a:rPr lang="en-US" dirty="0"/>
              <a:t>1/22/26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A6979-0714-4377-B894-6BE4C2D6E202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653112" y="937260"/>
            <a:ext cx="1298608" cy="4983480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2231136" y="937260"/>
            <a:ext cx="6198489" cy="4983480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C6F52A-A82B-47A2-A83A-8C4C91F2D59F}" type="datetimeFigureOut">
              <a:rPr lang="en-US" dirty="0"/>
              <a:t>1/22/26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A6979-0714-4377-B894-6BE4C2D6E202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1" Target="../slideLayouts/slideLayout1.xml" Type="http://schemas.openxmlformats.org/officeDocument/2006/relationships/slideLayout" /><Relationship Id="rId2" Target="../slideLayouts/slideLayout2.xml" Type="http://schemas.openxmlformats.org/officeDocument/2006/relationships/slideLayout" /><Relationship Id="rId3" Target="../slideLayouts/slideLayout3.xml" Type="http://schemas.openxmlformats.org/officeDocument/2006/relationships/slideLayout" /><Relationship Id="rId4" Target="../slideLayouts/slideLayout4.xml" Type="http://schemas.openxmlformats.org/officeDocument/2006/relationships/slideLayout" /><Relationship Id="rId5" Target="../slideLayouts/slideLayout5.xml" Type="http://schemas.openxmlformats.org/officeDocument/2006/relationships/slideLayout" /><Relationship Id="rId6" Target="../slideLayouts/slideLayout6.xml" Type="http://schemas.openxmlformats.org/officeDocument/2006/relationships/slideLayout" /><Relationship Id="rId7" Target="../slideLayouts/slideLayout7.xml" Type="http://schemas.openxmlformats.org/officeDocument/2006/relationships/slideLayout" /><Relationship Id="rId8" Target="../slideLayouts/slideLayout8.xml" Type="http://schemas.openxmlformats.org/officeDocument/2006/relationships/slideLayout" /><Relationship Id="rId9" Target="../slideLayouts/slideLayout9.xml" Type="http://schemas.openxmlformats.org/officeDocument/2006/relationships/slideLayout" /><Relationship Id="rId10" Target="../slideLayouts/slideLayout10.xml" Type="http://schemas.openxmlformats.org/officeDocument/2006/relationships/slideLayout" /><Relationship Id="rId11" Target="../slideLayouts/slideLayout11.xml" Type="http://schemas.openxmlformats.org/officeDocument/2006/relationships/slideLayout" /><Relationship Id="rId12" Target="../theme/theme1.xml" Type="http://schemas.openxmlformats.org/officeDocument/2006/relationships/theme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black">
          <a:xfrm>
            <a:off x="2231136" y="964692"/>
            <a:ext cx="7729728" cy="1188720"/>
          </a:xfrm>
          <a:prstGeom prst="rect">
            <a:avLst/>
          </a:prstGeom>
          <a:solidFill>
            <a:srgbClr val="FFFFFF"/>
          </a:solidFill>
          <a:ln cap="sq" w="31750">
            <a:solidFill>
              <a:srgbClr val="404040"/>
            </a:solidFill>
            <a:miter lim="800000"/>
          </a:ln>
        </p:spPr>
        <p:txBody>
          <a:bodyPr anchor="ctr" bIns="182880" lIns="182880" rIns="182880" rtlCol="0" tIns="182880" vert="horz">
            <a:normAutofit/>
          </a:bodyPr>
          <a:lstStyle/>
          <a:p>
            <a:r>
              <a:rPr lang="en-US"/>
              <a:t>Click to edit Master title style</a:t>
            </a:r>
            <a:endParaRPr dirty="0" lang="en-US"/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2231136" y="2638044"/>
            <a:ext cx="7729728" cy="3101983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dirty="0" lang="en-US"/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7821429" y="6238816"/>
            <a:ext cx="2753746" cy="323968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050">
                <a:solidFill>
                  <a:schemeClr val="tx1">
                    <a:alpha val="70000"/>
                  </a:schemeClr>
                </a:solidFill>
              </a:defRPr>
            </a:lvl1pPr>
          </a:lstStyle>
          <a:p>
            <a:fld id="{1160EA64-D806-43AC-9DF2-F8C432F32B4C}" type="datetimeFigureOut">
              <a:rPr dirty="0" lang="en-US"/>
              <a:t>1/22/26</a:t>
            </a:fld>
            <a:endParaRPr dirty="0"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1600200" y="6236208"/>
            <a:ext cx="5901189" cy="320040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1050">
                <a:solidFill>
                  <a:schemeClr val="tx1">
                    <a:alpha val="70000"/>
                  </a:schemeClr>
                </a:solidFill>
              </a:defRPr>
            </a:lvl1pPr>
          </a:lstStyle>
          <a:p>
            <a:endParaRPr dirty="0"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10758922" y="6217920"/>
            <a:ext cx="365760" cy="365760"/>
          </a:xfrm>
          <a:prstGeom prst="ellipse">
            <a:avLst/>
          </a:prstGeom>
          <a:solidFill>
            <a:srgbClr val="1D1D1D">
              <a:alpha val="70000"/>
            </a:srgbClr>
          </a:solidFill>
        </p:spPr>
        <p:txBody>
          <a:bodyPr anchor="ctr" bIns="45720" lIns="18288" rIns="18288" rtlCol="0" tIns="45720" vert="horz">
            <a:noAutofit/>
          </a:bodyPr>
          <a:lstStyle>
            <a:lvl1pPr algn="ctr">
              <a:defRPr baseline="0" spc="0" sz="1100">
                <a:solidFill>
                  <a:srgbClr val="FFFFFF"/>
                </a:solidFill>
              </a:defRPr>
            </a:lvl1pPr>
          </a:lstStyle>
          <a:p>
            <a:fld id="{8A7A6979-0714-4377-B894-6BE4C2D6E202}" type="slidenum">
              <a:rPr dirty="0" lang="en-US"/>
              <a:pPr/>
              <a:t>‹#›</a:t>
            </a:fld>
            <a:endParaRPr dirty="0" lang="en-US"/>
          </a:p>
        </p:txBody>
      </p:sp>
    </p:spTree>
  </p:cSld>
  <p:clrMap accent1="accent1" accent2="accent2" accent3="accent3" accent4="accent4" accent5="accent5" accent6="accent6" bg1="lt1" bg2="lt2" folHlink="folHlink" hlink="hlink" tx1="dk1" tx2="dk2"/>
  <p:sldLayoutIdLst>
    <p:sldLayoutId id="2147483697" r:id="rId1"/>
    <p:sldLayoutId id="2147483698" r:id="rId2"/>
    <p:sldLayoutId id="2147483699" r:id="rId3"/>
    <p:sldLayoutId id="2147483700" r:id="rId4"/>
    <p:sldLayoutId id="2147483701" r:id="rId5"/>
    <p:sldLayoutId id="2147483702" r:id="rId6"/>
    <p:sldLayoutId id="2147483703" r:id="rId7"/>
    <p:sldLayoutId id="2147483704" r:id="rId8"/>
    <p:sldLayoutId id="2147483705" r:id="rId9"/>
    <p:sldLayoutId id="2147483706" r:id="rId10"/>
    <p:sldLayoutId id="2147483707" r:id="rId11"/>
  </p:sldLayoutIdLst>
  <p:hf dt="0" ftr="0" hdr="0" sldNum="0"/>
  <p:txStyles>
    <p:titleStyle>
      <a:lvl1pPr algn="ctr" defTabSz="914400" eaLnBrk="1" hangingPunct="1" latinLnBrk="0" rtl="0">
        <a:lnSpc>
          <a:spcPct val="90000"/>
        </a:lnSpc>
        <a:spcBef>
          <a:spcPct val="0"/>
        </a:spcBef>
        <a:buNone/>
        <a:defRPr baseline="0" cap="all" kern="1200" spc="200" sz="2800">
          <a:solidFill>
            <a:srgbClr val="262626"/>
          </a:solidFill>
          <a:latin typeface="+mj-lt"/>
          <a:ea typeface="+mj-ea"/>
          <a:cs typeface="+mj-cs"/>
        </a:defRPr>
      </a:lvl1pPr>
    </p:titleStyle>
    <p:bodyStyle>
      <a:lvl1pPr algn="l" defTabSz="914400" eaLnBrk="1" hangingPunct="1" indent="-228600" latinLnBrk="0" marL="228600" rtl="0">
        <a:lnSpc>
          <a:spcPct val="100000"/>
        </a:lnSpc>
        <a:spcBef>
          <a:spcPts val="1000"/>
        </a:spcBef>
        <a:buClr>
          <a:schemeClr val="accent2"/>
        </a:buClr>
        <a:buFont charset="0" panose="020B0604020202020204" pitchFamily="34" typeface="Arial"/>
        <a:buChar char="•"/>
        <a:defRPr kern="1200" sz="18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1pPr>
      <a:lvl2pPr algn="l" defTabSz="914400" eaLnBrk="1" hangingPunct="1" indent="-228600" latinLnBrk="0" marL="457200" rtl="0">
        <a:lnSpc>
          <a:spcPct val="100000"/>
        </a:lnSpc>
        <a:spcBef>
          <a:spcPts val="1000"/>
        </a:spcBef>
        <a:buClr>
          <a:schemeClr val="accent2"/>
        </a:buClr>
        <a:buFont charset="0" panose="020B0604020202020204" pitchFamily="34" typeface="Arial"/>
        <a:buChar char="•"/>
        <a:defRPr kern="1200" sz="16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2pPr>
      <a:lvl3pPr algn="l" defTabSz="914400" eaLnBrk="1" hangingPunct="1" indent="-228600" latinLnBrk="0" marL="685800" rtl="0">
        <a:lnSpc>
          <a:spcPct val="100000"/>
        </a:lnSpc>
        <a:spcBef>
          <a:spcPts val="1000"/>
        </a:spcBef>
        <a:buClr>
          <a:schemeClr val="accent2"/>
        </a:buClr>
        <a:buFont charset="0" panose="020B0604020202020204" pitchFamily="34" typeface="Arial"/>
        <a:buChar char="•"/>
        <a:defRPr kern="1200" sz="16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3pPr>
      <a:lvl4pPr algn="l" defTabSz="914400" eaLnBrk="1" hangingPunct="1" indent="-228600" latinLnBrk="0" marL="914400" rtl="0">
        <a:lnSpc>
          <a:spcPct val="100000"/>
        </a:lnSpc>
        <a:spcBef>
          <a:spcPts val="1000"/>
        </a:spcBef>
        <a:buClr>
          <a:schemeClr val="accent2"/>
        </a:buClr>
        <a:buFont charset="0" panose="020B0604020202020204" pitchFamily="34" typeface="Arial"/>
        <a:buChar char="•"/>
        <a:defRPr kern="1200" sz="16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4pPr>
      <a:lvl5pPr algn="l" defTabSz="914400" eaLnBrk="1" hangingPunct="1" indent="-228600" latinLnBrk="0" marL="1143000" rtl="0">
        <a:lnSpc>
          <a:spcPct val="100000"/>
        </a:lnSpc>
        <a:spcBef>
          <a:spcPts val="1000"/>
        </a:spcBef>
        <a:buClr>
          <a:schemeClr val="accent2"/>
        </a:buClr>
        <a:buFont charset="0" panose="020B0604020202020204" pitchFamily="34" typeface="Arial"/>
        <a:buChar char="•"/>
        <a:defRPr kern="1200" sz="16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5pPr>
      <a:lvl6pPr algn="l" defTabSz="914400" eaLnBrk="1" hangingPunct="1" indent="-228600" latinLnBrk="0" marL="1312863" rtl="0">
        <a:lnSpc>
          <a:spcPct val="100000"/>
        </a:lnSpc>
        <a:spcBef>
          <a:spcPts val="1000"/>
        </a:spcBef>
        <a:buClr>
          <a:schemeClr val="accent2"/>
        </a:buClr>
        <a:buFont charset="0" panose="020B0604020202020204" pitchFamily="34"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indent="-228600" latinLnBrk="0" marL="1484313" rtl="0">
        <a:lnSpc>
          <a:spcPct val="100000"/>
        </a:lnSpc>
        <a:spcBef>
          <a:spcPts val="1000"/>
        </a:spcBef>
        <a:buClr>
          <a:schemeClr val="accent2"/>
        </a:buClr>
        <a:buFont charset="0" panose="020B0604020202020204" pitchFamily="34"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indent="-228600" latinLnBrk="0" marL="1657350" rtl="0">
        <a:lnSpc>
          <a:spcPct val="100000"/>
        </a:lnSpc>
        <a:spcBef>
          <a:spcPts val="1000"/>
        </a:spcBef>
        <a:buClr>
          <a:schemeClr val="accent2"/>
        </a:buClr>
        <a:buFont charset="0" panose="020B0604020202020204" pitchFamily="34" typeface="Arial"/>
        <a:buChar char="•"/>
        <a:defRPr baseline="0" kern="1200" sz="16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indent="-228600" latinLnBrk="0" marL="1882775" rtl="0">
        <a:lnSpc>
          <a:spcPct val="100000"/>
        </a:lnSpc>
        <a:spcBef>
          <a:spcPts val="1000"/>
        </a:spcBef>
        <a:buClr>
          <a:schemeClr val="accent2"/>
        </a:buClr>
        <a:buFont charset="0" panose="020B0604020202020204" pitchFamily="34" typeface="Arial"/>
        <a:buChar char="•"/>
        <a:defRPr baseline="0" kern="1200" sz="16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9144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 bwMode="blackWhite">
          <a:xfrm>
            <a:off x="1097280" y="2386744"/>
            <a:ext cx="9997440" cy="1645920"/>
          </a:xfrm>
          <a:solidFill>
            <a:srgbClr val="FFFFFF"/>
          </a:solidFill>
          <a:ln w="38100">
            <a:solidFill>
              <a:srgbClr val="404040"/>
            </a:solidFill>
          </a:ln>
        </p:spPr>
        <p:txBody>
          <a:bodyPr/>
          <a:lstStyle/>
          <a:p>
            <a:pPr lvl="0" indent="0" marL="0">
              <a:buNone/>
            </a:pPr>
            <a:r>
              <a:rPr/>
              <a:t>Project Analyses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097280" y="4352544"/>
            <a:ext cx="9997440" cy="1239894"/>
          </a:xfrm>
          <a:noFill/>
        </p:spPr>
        <p:txBody>
          <a:bodyPr/>
          <a:lstStyle/>
          <a:p>
            <a:pPr lvl="0" indent="0" marL="0">
              <a:buNone/>
            </a:pPr>
            <a:r>
              <a:rPr/>
              <a:t>Lab 09</a:t>
            </a:r>
            <a:br/>
            <a:br/>
            <a:r>
              <a:rPr/>
              <a:t>PSYCH 350-Lab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964692"/>
            <a:ext cx="9997440" cy="118872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Today’s Tasks</a:t>
            </a:r>
          </a:p>
        </p:txBody>
      </p:sp>
      <p:sp>
        <p:nvSpPr>
          <p:cNvPr id="1001" name="box-post-it" descr="box: . The analysis decision: which statistic answers which question?Step 1: Classify your variablesStep 2: Pick your univariate descriptivesStep 3: Match each RH to a bivariate testRunning each test in SPSS (quick recap)APA write-ups for r, X², and FLab 09 worksheet walk-through"/>
          <p:cNvSpPr/>
          <p:nvPr/>
        </p:nvSpPr>
        <p:spPr>
          <a:xfrm>
            <a:off x="1097280" y="2633472"/>
            <a:ext cx="9994392" cy="731520"/>
          </a:xfrm>
          <a:prstGeom prst="roundRect">
            <a:avLst>
              <a:gd name="adj" fmla="val 6000"/>
            </a:avLst>
          </a:prstGeom>
          <a:solidFill>
            <a:srgbClr val="FFF9C4"/>
          </a:solidFill>
          <a:ln w="19050">
            <a:solidFill>
              <a:srgbClr val="CCCCCC"/>
            </a:solidFill>
          </a:ln>
        </p:spPr>
        <p:txBody>
          <a:bodyPr lIns="91440" tIns="68580" rIns="91440" bIns="68580" anchor="t" wrap="square">
            <a:normAutofit/>
          </a:bodyPr>
          <a:lstStyle/>
          <a:p>
            <a:pPr algn="l"/>
            <a:r>
              <a:rPr lang="en-US" sz="1200" b="0" dirty="0">
                <a:solidFill>
                  <a:srgbClr val="010B13"/>
                </a:solidFill>
              </a:rPr>
              <a:t>The analysis decision: which statistic answers which question?Step 1: Classify your variablesStep 2: Pick your univariate descriptivesStep 3: Match each RH to a bivariate testRunning each test in SPSS (quick recap)APA write-ups for r, X², and FLab 09 worksheet walk-through</a:t>
            </a:r>
          </a:p>
        </p:txBody>
      </p:sp>
      <p:sp>
        <p:nvSpPr>
          <p:cNvPr id="1002" name="prose" descr=""/>
          <p:cNvSpPr/>
          <p:nvPr/>
        </p:nvSpPr>
        <p:spPr>
          <a:xfrm>
            <a:off x="1097280" y="3456432"/>
            <a:ext cx="9994392" cy="548640"/>
          </a:xfrm>
          <a:prstGeom prst="roundRect">
            <a:avLst>
              <a:gd name="adj" fmla="val 6000"/>
            </a:avLst>
          </a:prstGeom>
          <a:noFill/>
          <a:ln>
            <a:noFill/>
          </a:ln>
        </p:spPr>
        <p:txBody>
          <a:bodyPr lIns="91440" tIns="68580" rIns="91440" bIns="68580" anchor="t" wrap="square">
            <a:normAutofit/>
          </a:bodyPr>
          <a:lstStyle/>
          <a:p>
            <a:pPr algn="l"/>
            <a:r>
              <a:rPr lang="en-US" sz="1200" b="0" dirty="0">
                <a:solidFill>
                  <a:srgbClr val="010B13"/>
                </a:solidFill>
              </a:rPr>
              <a:t>Today is the payoff lab: students take the variables from their pre-proposal and decide, for each research hypothesis, which statistical test answers it. Everything today is review synthesis — nothing here is a brand-new test.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964692"/>
            <a:ext cx="9997440" cy="118872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What You Need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Everything for this week is linked on the next slides – and always on the lab page under </a:t>
            </a:r>
            <a:r>
              <a:rPr b="1"/>
              <a:t>Handouts &amp; References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Open these </a:t>
            </a:r>
            <a:r>
              <a:rPr b="1"/>
              <a:t>before we start</a:t>
            </a:r>
            <a:r>
              <a:rPr/>
              <a:t> so you can follow along.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964692"/>
            <a:ext cx="9997440" cy="118872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Preparation to Complete Research Project Report</a:t>
            </a:r>
          </a:p>
        </p:txBody>
      </p:sp>
      <p:sp>
        <p:nvSpPr>
          <p:cNvPr id="1003" name="card-blue" descr="card: [book icon]. Research Project Analysis Proposal [Word document]"/>
          <p:cNvSpPr/>
          <p:nvPr/>
        </p:nvSpPr>
        <p:spPr>
          <a:xfrm>
            <a:off x="1097280" y="2633472"/>
            <a:ext cx="3270504" cy="762000"/>
          </a:xfrm>
          <a:prstGeom prst="roundRect">
            <a:avLst>
              <a:gd name="adj" fmla="val 6000"/>
            </a:avLst>
          </a:prstGeom>
          <a:solidFill>
            <a:srgbClr val="FEFDFA"/>
          </a:solidFill>
          <a:ln w="19050">
            <a:solidFill>
              <a:srgbClr val="CCCCCC"/>
            </a:solidFill>
          </a:ln>
        </p:spPr>
        <p:txBody>
          <a:bodyPr lIns="91440" tIns="68580" rIns="91440" bIns="68580" anchor="t" wrap="square">
            <a:normAutofit/>
          </a:bodyPr>
          <a:lstStyle/>
          <a:p>
            <a:pPr algn="l"/>
            <a:r>
              <a:rPr lang="en-US" sz="1400" b="1" dirty="0">
                <a:solidFill>
                  <a:srgbClr val="005D84"/>
                </a:solidFill>
              </a:rPr>
              <a:t>[book icon]</a:t>
            </a:r>
          </a:p>
          <a:p>
            <a:pPr algn="l"/>
            <a:r>
              <a:rPr lang="en-US" sz="1200" b="0" dirty="0">
                <a:solidFill>
                  <a:srgbClr val="010B13"/>
                </a:solidFill>
              </a:rPr>
              <a:t>Research Project Analysis Proposal</a:t>
            </a:r>
          </a:p>
          <a:p>
            <a:pPr algn="l"/>
            <a:r>
              <a:rPr lang="en-US" sz="1200" b="0" dirty="0">
                <a:solidFill>
                  <a:srgbClr val="010B13"/>
                </a:solidFill>
              </a:rPr>
              <a:t>[Word document]</a:t>
            </a:r>
          </a:p>
        </p:txBody>
      </p:sp>
      <p:sp>
        <p:nvSpPr>
          <p:cNvPr id="1004" name="card-rail" descr=""/>
          <p:cNvSpPr/>
          <p:nvPr/>
        </p:nvSpPr>
        <p:spPr>
          <a:xfrm>
            <a:off x="1097280" y="2633472"/>
            <a:ext cx="54864" cy="762000"/>
          </a:xfrm>
          <a:prstGeom prst="roundRect">
            <a:avLst>
              <a:gd name="adj" fmla="val 20000"/>
            </a:avLst>
          </a:prstGeom>
          <a:solidFill>
            <a:srgbClr val="005D84"/>
          </a:solidFill>
          <a:ln>
            <a:noFill/>
          </a:ln>
        </p:spPr>
        <p:txBody>
          <a:bodyPr lIns="91440" tIns="68580" rIns="91440" bIns="68580" anchor="t" wrap="square">
            <a:normAutofit/>
          </a:bodyPr>
          <a:lstStyle/>
          <a:p/>
        </p:txBody>
      </p:sp>
      <p:sp>
        <p:nvSpPr>
          <p:cNvPr id="1005" name="card-blue" descr="card: [book icon]. Preparation to Complete Research Project Report"/>
          <p:cNvSpPr/>
          <p:nvPr/>
        </p:nvSpPr>
        <p:spPr>
          <a:xfrm>
            <a:off x="4459224" y="2633472"/>
            <a:ext cx="3270504" cy="762000"/>
          </a:xfrm>
          <a:prstGeom prst="roundRect">
            <a:avLst>
              <a:gd name="adj" fmla="val 6000"/>
            </a:avLst>
          </a:prstGeom>
          <a:solidFill>
            <a:srgbClr val="FEFDFA"/>
          </a:solidFill>
          <a:ln w="19050">
            <a:solidFill>
              <a:srgbClr val="CCCCCC"/>
            </a:solidFill>
          </a:ln>
        </p:spPr>
        <p:txBody>
          <a:bodyPr lIns="91440" tIns="68580" rIns="91440" bIns="68580" anchor="t" wrap="square">
            <a:normAutofit/>
          </a:bodyPr>
          <a:lstStyle/>
          <a:p>
            <a:pPr algn="l"/>
            <a:r>
              <a:rPr lang="en-US" sz="1400" b="1" dirty="0">
                <a:solidFill>
                  <a:srgbClr val="005D84"/>
                </a:solidFill>
              </a:rPr>
              <a:t>[book icon]</a:t>
            </a:r>
          </a:p>
          <a:p>
            <a:pPr algn="l"/>
            <a:r>
              <a:rPr lang="en-US" sz="1200" b="0" dirty="0">
                <a:solidFill>
                  <a:srgbClr val="010B13"/>
                </a:solidFill>
              </a:rPr>
              <a:t>Preparation to Complete Research Project Report</a:t>
            </a:r>
          </a:p>
        </p:txBody>
      </p:sp>
      <p:sp>
        <p:nvSpPr>
          <p:cNvPr id="1006" name="card-rail" descr=""/>
          <p:cNvSpPr/>
          <p:nvPr/>
        </p:nvSpPr>
        <p:spPr>
          <a:xfrm>
            <a:off x="4459224" y="2633472"/>
            <a:ext cx="54864" cy="762000"/>
          </a:xfrm>
          <a:prstGeom prst="roundRect">
            <a:avLst>
              <a:gd name="adj" fmla="val 20000"/>
            </a:avLst>
          </a:prstGeom>
          <a:solidFill>
            <a:srgbClr val="005D84"/>
          </a:solidFill>
          <a:ln>
            <a:noFill/>
          </a:ln>
        </p:spPr>
        <p:txBody>
          <a:bodyPr lIns="91440" tIns="68580" rIns="91440" bIns="68580" anchor="t" wrap="square">
            <a:normAutofit/>
          </a:bodyPr>
          <a:lstStyle/>
          <a:p/>
        </p:txBody>
      </p:sp>
      <p:sp>
        <p:nvSpPr>
          <p:cNvPr id="1007" name="card-blue" descr="card: [book icon]. Research Project Analysis Proposal Worksheet [Word document]"/>
          <p:cNvSpPr/>
          <p:nvPr/>
        </p:nvSpPr>
        <p:spPr>
          <a:xfrm>
            <a:off x="7821168" y="2633472"/>
            <a:ext cx="3270504" cy="944880"/>
          </a:xfrm>
          <a:prstGeom prst="roundRect">
            <a:avLst>
              <a:gd name="adj" fmla="val 6000"/>
            </a:avLst>
          </a:prstGeom>
          <a:solidFill>
            <a:srgbClr val="FEFDFA"/>
          </a:solidFill>
          <a:ln w="19050">
            <a:solidFill>
              <a:srgbClr val="CCCCCC"/>
            </a:solidFill>
          </a:ln>
        </p:spPr>
        <p:txBody>
          <a:bodyPr lIns="91440" tIns="68580" rIns="91440" bIns="68580" anchor="t" wrap="square">
            <a:normAutofit/>
          </a:bodyPr>
          <a:lstStyle/>
          <a:p>
            <a:pPr algn="l"/>
            <a:r>
              <a:rPr lang="en-US" sz="1400" b="1" dirty="0">
                <a:solidFill>
                  <a:srgbClr val="005D84"/>
                </a:solidFill>
              </a:rPr>
              <a:t>[book icon]</a:t>
            </a:r>
          </a:p>
          <a:p>
            <a:pPr algn="l"/>
            <a:r>
              <a:rPr lang="en-US" sz="1200" b="0" dirty="0">
                <a:solidFill>
                  <a:srgbClr val="010B13"/>
                </a:solidFill>
              </a:rPr>
              <a:t>Research Project Analysis Proposal Worksheet</a:t>
            </a:r>
          </a:p>
          <a:p>
            <a:pPr algn="l"/>
            <a:r>
              <a:rPr lang="en-US" sz="1200" b="0" dirty="0">
                <a:solidFill>
                  <a:srgbClr val="010B13"/>
                </a:solidFill>
              </a:rPr>
              <a:t>[Word document]</a:t>
            </a:r>
          </a:p>
        </p:txBody>
      </p:sp>
      <p:sp>
        <p:nvSpPr>
          <p:cNvPr id="1008" name="card-rail" descr=""/>
          <p:cNvSpPr/>
          <p:nvPr/>
        </p:nvSpPr>
        <p:spPr>
          <a:xfrm>
            <a:off x="7821168" y="2633472"/>
            <a:ext cx="54864" cy="944880"/>
          </a:xfrm>
          <a:prstGeom prst="roundRect">
            <a:avLst>
              <a:gd name="adj" fmla="val 20000"/>
            </a:avLst>
          </a:prstGeom>
          <a:solidFill>
            <a:srgbClr val="005D84"/>
          </a:solidFill>
          <a:ln>
            <a:noFill/>
          </a:ln>
        </p:spPr>
        <p:txBody>
          <a:bodyPr lIns="91440" tIns="68580" rIns="91440" bIns="68580" anchor="t" wrap="square">
            <a:normAutofit/>
          </a:bodyPr>
          <a:lstStyle/>
          <a:p/>
        </p:txBody>
      </p:sp>
      <p:sp>
        <p:nvSpPr>
          <p:cNvPr id="1009" name="card-blue" descr="card: [book icon]. Research Project Analysis must be signed off by your lab instructor"/>
          <p:cNvSpPr/>
          <p:nvPr/>
        </p:nvSpPr>
        <p:spPr>
          <a:xfrm>
            <a:off x="1097280" y="3669792"/>
            <a:ext cx="3270504" cy="762000"/>
          </a:xfrm>
          <a:prstGeom prst="roundRect">
            <a:avLst>
              <a:gd name="adj" fmla="val 6000"/>
            </a:avLst>
          </a:prstGeom>
          <a:solidFill>
            <a:srgbClr val="FEFDFA"/>
          </a:solidFill>
          <a:ln w="19050">
            <a:solidFill>
              <a:srgbClr val="CCCCCC"/>
            </a:solidFill>
          </a:ln>
        </p:spPr>
        <p:txBody>
          <a:bodyPr lIns="91440" tIns="68580" rIns="91440" bIns="68580" anchor="t" wrap="square">
            <a:normAutofit/>
          </a:bodyPr>
          <a:lstStyle/>
          <a:p>
            <a:pPr algn="l"/>
            <a:r>
              <a:rPr lang="en-US" sz="1400" b="1" dirty="0">
                <a:solidFill>
                  <a:srgbClr val="005D84"/>
                </a:solidFill>
              </a:rPr>
              <a:t>[book icon]</a:t>
            </a:r>
          </a:p>
          <a:p>
            <a:pPr algn="l"/>
            <a:r>
              <a:rPr lang="en-US" sz="1200" b="0" dirty="0">
                <a:solidFill>
                  <a:srgbClr val="010B13"/>
                </a:solidFill>
              </a:rPr>
              <a:t>Research Project Analysis must be signed off by your lab instructor</a:t>
            </a:r>
          </a:p>
        </p:txBody>
      </p:sp>
      <p:sp>
        <p:nvSpPr>
          <p:cNvPr id="1010" name="card-rail" descr=""/>
          <p:cNvSpPr/>
          <p:nvPr/>
        </p:nvSpPr>
        <p:spPr>
          <a:xfrm>
            <a:off x="1097280" y="3669792"/>
            <a:ext cx="54864" cy="762000"/>
          </a:xfrm>
          <a:prstGeom prst="roundRect">
            <a:avLst>
              <a:gd name="adj" fmla="val 20000"/>
            </a:avLst>
          </a:prstGeom>
          <a:solidFill>
            <a:srgbClr val="005D84"/>
          </a:solidFill>
          <a:ln>
            <a:noFill/>
          </a:ln>
        </p:spPr>
        <p:txBody>
          <a:bodyPr lIns="91440" tIns="68580" rIns="91440" bIns="68580" anchor="t" wrap="square">
            <a:normAutofit/>
          </a:bodyPr>
          <a:lstStyle/>
          <a:p/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964692"/>
            <a:ext cx="9997440" cy="118872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Work on Research Project Report (Resources) (1/2)</a:t>
            </a:r>
          </a:p>
        </p:txBody>
      </p:sp>
      <p:sp>
        <p:nvSpPr>
          <p:cNvPr id="1011" name="card-blue" descr="card: [book icon]. Research Project Suggestions &amp; FAQ (READ THIS) [PDF]"/>
          <p:cNvSpPr/>
          <p:nvPr/>
        </p:nvSpPr>
        <p:spPr>
          <a:xfrm>
            <a:off x="1097280" y="2633472"/>
            <a:ext cx="3270504" cy="944880"/>
          </a:xfrm>
          <a:prstGeom prst="roundRect">
            <a:avLst>
              <a:gd name="adj" fmla="val 6000"/>
            </a:avLst>
          </a:prstGeom>
          <a:solidFill>
            <a:srgbClr val="FEFDFA"/>
          </a:solidFill>
          <a:ln w="19050">
            <a:solidFill>
              <a:srgbClr val="CCCCCC"/>
            </a:solidFill>
          </a:ln>
        </p:spPr>
        <p:txBody>
          <a:bodyPr lIns="91440" tIns="68580" rIns="91440" bIns="68580" anchor="t" wrap="square">
            <a:normAutofit/>
          </a:bodyPr>
          <a:lstStyle/>
          <a:p>
            <a:pPr algn="l"/>
            <a:r>
              <a:rPr lang="en-US" sz="1400" b="1" dirty="0">
                <a:solidFill>
                  <a:srgbClr val="005D84"/>
                </a:solidFill>
              </a:rPr>
              <a:t>[book icon]</a:t>
            </a:r>
          </a:p>
          <a:p>
            <a:pPr algn="l"/>
            <a:r>
              <a:rPr lang="en-US" sz="1200" b="0" dirty="0">
                <a:solidFill>
                  <a:srgbClr val="010B13"/>
                </a:solidFill>
              </a:rPr>
              <a:t>Research Project Suggestions &amp; FAQ (READ THIS)</a:t>
            </a:r>
          </a:p>
          <a:p>
            <a:pPr algn="l"/>
            <a:r>
              <a:rPr lang="en-US" sz="1200" b="0" dirty="0">
                <a:solidFill>
                  <a:srgbClr val="010B13"/>
                </a:solidFill>
              </a:rPr>
              <a:t>[PDF]</a:t>
            </a:r>
          </a:p>
        </p:txBody>
      </p:sp>
      <p:sp>
        <p:nvSpPr>
          <p:cNvPr id="1012" name="card-rail" descr=""/>
          <p:cNvSpPr/>
          <p:nvPr/>
        </p:nvSpPr>
        <p:spPr>
          <a:xfrm>
            <a:off x="1097280" y="2633472"/>
            <a:ext cx="54864" cy="944880"/>
          </a:xfrm>
          <a:prstGeom prst="roundRect">
            <a:avLst>
              <a:gd name="adj" fmla="val 20000"/>
            </a:avLst>
          </a:prstGeom>
          <a:solidFill>
            <a:srgbClr val="005D84"/>
          </a:solidFill>
          <a:ln>
            <a:noFill/>
          </a:ln>
        </p:spPr>
        <p:txBody>
          <a:bodyPr lIns="91440" tIns="68580" rIns="91440" bIns="68580" anchor="t" wrap="square">
            <a:normAutofit/>
          </a:bodyPr>
          <a:lstStyle/>
          <a:p/>
        </p:txBody>
      </p:sp>
      <p:sp>
        <p:nvSpPr>
          <p:cNvPr id="1013" name="card-blue" descr="card: [book icon]. Example Project Report [Word document]"/>
          <p:cNvSpPr/>
          <p:nvPr/>
        </p:nvSpPr>
        <p:spPr>
          <a:xfrm>
            <a:off x="4459224" y="2633472"/>
            <a:ext cx="3270504" cy="762000"/>
          </a:xfrm>
          <a:prstGeom prst="roundRect">
            <a:avLst>
              <a:gd name="adj" fmla="val 6000"/>
            </a:avLst>
          </a:prstGeom>
          <a:solidFill>
            <a:srgbClr val="FEFDFA"/>
          </a:solidFill>
          <a:ln w="19050">
            <a:solidFill>
              <a:srgbClr val="CCCCCC"/>
            </a:solidFill>
          </a:ln>
        </p:spPr>
        <p:txBody>
          <a:bodyPr lIns="91440" tIns="68580" rIns="91440" bIns="68580" anchor="t" wrap="square">
            <a:normAutofit/>
          </a:bodyPr>
          <a:lstStyle/>
          <a:p>
            <a:pPr algn="l"/>
            <a:r>
              <a:rPr lang="en-US" sz="1400" b="1" dirty="0">
                <a:solidFill>
                  <a:srgbClr val="005D84"/>
                </a:solidFill>
              </a:rPr>
              <a:t>[book icon]</a:t>
            </a:r>
          </a:p>
          <a:p>
            <a:pPr algn="l"/>
            <a:r>
              <a:rPr lang="en-US" sz="1200" b="0" dirty="0">
                <a:solidFill>
                  <a:srgbClr val="010B13"/>
                </a:solidFill>
              </a:rPr>
              <a:t>Example Project Report</a:t>
            </a:r>
          </a:p>
          <a:p>
            <a:pPr algn="l"/>
            <a:r>
              <a:rPr lang="en-US" sz="1200" b="0" dirty="0">
                <a:solidFill>
                  <a:srgbClr val="010B13"/>
                </a:solidFill>
              </a:rPr>
              <a:t>[Word document]</a:t>
            </a:r>
          </a:p>
        </p:txBody>
      </p:sp>
      <p:sp>
        <p:nvSpPr>
          <p:cNvPr id="1014" name="card-rail" descr=""/>
          <p:cNvSpPr/>
          <p:nvPr/>
        </p:nvSpPr>
        <p:spPr>
          <a:xfrm>
            <a:off x="4459224" y="2633472"/>
            <a:ext cx="54864" cy="762000"/>
          </a:xfrm>
          <a:prstGeom prst="roundRect">
            <a:avLst>
              <a:gd name="adj" fmla="val 20000"/>
            </a:avLst>
          </a:prstGeom>
          <a:solidFill>
            <a:srgbClr val="005D84"/>
          </a:solidFill>
          <a:ln>
            <a:noFill/>
          </a:ln>
        </p:spPr>
        <p:txBody>
          <a:bodyPr lIns="91440" tIns="68580" rIns="91440" bIns="68580" anchor="t" wrap="square">
            <a:normAutofit/>
          </a:bodyPr>
          <a:lstStyle/>
          <a:p/>
        </p:txBody>
      </p:sp>
      <p:sp>
        <p:nvSpPr>
          <p:cNvPr id="1015" name="card-blue" descr="card: [book icon]. APA Student Paper Guide [PDF]"/>
          <p:cNvSpPr/>
          <p:nvPr/>
        </p:nvSpPr>
        <p:spPr>
          <a:xfrm>
            <a:off x="7821168" y="2633472"/>
            <a:ext cx="3270504" cy="762000"/>
          </a:xfrm>
          <a:prstGeom prst="roundRect">
            <a:avLst>
              <a:gd name="adj" fmla="val 6000"/>
            </a:avLst>
          </a:prstGeom>
          <a:solidFill>
            <a:srgbClr val="FEFDFA"/>
          </a:solidFill>
          <a:ln w="19050">
            <a:solidFill>
              <a:srgbClr val="CCCCCC"/>
            </a:solidFill>
          </a:ln>
        </p:spPr>
        <p:txBody>
          <a:bodyPr lIns="91440" tIns="68580" rIns="91440" bIns="68580" anchor="t" wrap="square">
            <a:normAutofit/>
          </a:bodyPr>
          <a:lstStyle/>
          <a:p>
            <a:pPr algn="l"/>
            <a:r>
              <a:rPr lang="en-US" sz="1400" b="1" dirty="0">
                <a:solidFill>
                  <a:srgbClr val="005D84"/>
                </a:solidFill>
              </a:rPr>
              <a:t>[book icon]</a:t>
            </a:r>
          </a:p>
          <a:p>
            <a:pPr algn="l"/>
            <a:r>
              <a:rPr lang="en-US" sz="1200" b="0" dirty="0">
                <a:solidFill>
                  <a:srgbClr val="010B13"/>
                </a:solidFill>
              </a:rPr>
              <a:t>APA Student Paper Guide</a:t>
            </a:r>
          </a:p>
          <a:p>
            <a:pPr algn="l"/>
            <a:r>
              <a:rPr lang="en-US" sz="1200" b="0" dirty="0">
                <a:solidFill>
                  <a:srgbClr val="010B13"/>
                </a:solidFill>
              </a:rPr>
              <a:t>[PDF]</a:t>
            </a:r>
          </a:p>
        </p:txBody>
      </p:sp>
      <p:sp>
        <p:nvSpPr>
          <p:cNvPr id="1016" name="card-rail" descr=""/>
          <p:cNvSpPr/>
          <p:nvPr/>
        </p:nvSpPr>
        <p:spPr>
          <a:xfrm>
            <a:off x="7821168" y="2633472"/>
            <a:ext cx="54864" cy="762000"/>
          </a:xfrm>
          <a:prstGeom prst="roundRect">
            <a:avLst>
              <a:gd name="adj" fmla="val 20000"/>
            </a:avLst>
          </a:prstGeom>
          <a:solidFill>
            <a:srgbClr val="005D84"/>
          </a:solidFill>
          <a:ln>
            <a:noFill/>
          </a:ln>
        </p:spPr>
        <p:txBody>
          <a:bodyPr lIns="91440" tIns="68580" rIns="91440" bIns="68580" anchor="t" wrap="square">
            <a:normAutofit/>
          </a:bodyPr>
          <a:lstStyle/>
          <a:p/>
        </p:txBody>
      </p:sp>
      <p:sp>
        <p:nvSpPr>
          <p:cNvPr id="1017" name="card-blue" descr="card: [book icon]. APA Avoiding Plagiarism Guide [PDF]"/>
          <p:cNvSpPr/>
          <p:nvPr/>
        </p:nvSpPr>
        <p:spPr>
          <a:xfrm>
            <a:off x="1097280" y="3669792"/>
            <a:ext cx="3270504" cy="762000"/>
          </a:xfrm>
          <a:prstGeom prst="roundRect">
            <a:avLst>
              <a:gd name="adj" fmla="val 6000"/>
            </a:avLst>
          </a:prstGeom>
          <a:solidFill>
            <a:srgbClr val="FEFDFA"/>
          </a:solidFill>
          <a:ln w="19050">
            <a:solidFill>
              <a:srgbClr val="CCCCCC"/>
            </a:solidFill>
          </a:ln>
        </p:spPr>
        <p:txBody>
          <a:bodyPr lIns="91440" tIns="68580" rIns="91440" bIns="68580" anchor="t" wrap="square">
            <a:normAutofit/>
          </a:bodyPr>
          <a:lstStyle/>
          <a:p>
            <a:pPr algn="l"/>
            <a:r>
              <a:rPr lang="en-US" sz="1400" b="1" dirty="0">
                <a:solidFill>
                  <a:srgbClr val="005D84"/>
                </a:solidFill>
              </a:rPr>
              <a:t>[book icon]</a:t>
            </a:r>
          </a:p>
          <a:p>
            <a:pPr algn="l"/>
            <a:r>
              <a:rPr lang="en-US" sz="1200" b="0" dirty="0">
                <a:solidFill>
                  <a:srgbClr val="010B13"/>
                </a:solidFill>
              </a:rPr>
              <a:t>APA Avoiding Plagiarism Guide</a:t>
            </a:r>
          </a:p>
          <a:p>
            <a:pPr algn="l"/>
            <a:r>
              <a:rPr lang="en-US" sz="1200" b="0" dirty="0">
                <a:solidFill>
                  <a:srgbClr val="010B13"/>
                </a:solidFill>
              </a:rPr>
              <a:t>[PDF]</a:t>
            </a:r>
          </a:p>
        </p:txBody>
      </p:sp>
      <p:sp>
        <p:nvSpPr>
          <p:cNvPr id="1018" name="card-rail" descr=""/>
          <p:cNvSpPr/>
          <p:nvPr/>
        </p:nvSpPr>
        <p:spPr>
          <a:xfrm>
            <a:off x="1097280" y="3669792"/>
            <a:ext cx="54864" cy="762000"/>
          </a:xfrm>
          <a:prstGeom prst="roundRect">
            <a:avLst>
              <a:gd name="adj" fmla="val 20000"/>
            </a:avLst>
          </a:prstGeom>
          <a:solidFill>
            <a:srgbClr val="005D84"/>
          </a:solidFill>
          <a:ln>
            <a:noFill/>
          </a:ln>
        </p:spPr>
        <p:txBody>
          <a:bodyPr lIns="91440" tIns="68580" rIns="91440" bIns="68580" anchor="t" wrap="square">
            <a:normAutofit/>
          </a:bodyPr>
          <a:lstStyle/>
          <a:p/>
        </p:txBody>
      </p:sp>
      <p:sp>
        <p:nvSpPr>
          <p:cNvPr id="1019" name="card-blue" descr="card: [book icon]. APA Student Paper Checklist [PDF]"/>
          <p:cNvSpPr/>
          <p:nvPr/>
        </p:nvSpPr>
        <p:spPr>
          <a:xfrm>
            <a:off x="4459224" y="3669792"/>
            <a:ext cx="3270504" cy="762000"/>
          </a:xfrm>
          <a:prstGeom prst="roundRect">
            <a:avLst>
              <a:gd name="adj" fmla="val 6000"/>
            </a:avLst>
          </a:prstGeom>
          <a:solidFill>
            <a:srgbClr val="FEFDFA"/>
          </a:solidFill>
          <a:ln w="19050">
            <a:solidFill>
              <a:srgbClr val="CCCCCC"/>
            </a:solidFill>
          </a:ln>
        </p:spPr>
        <p:txBody>
          <a:bodyPr lIns="91440" tIns="68580" rIns="91440" bIns="68580" anchor="t" wrap="square">
            <a:normAutofit/>
          </a:bodyPr>
          <a:lstStyle/>
          <a:p>
            <a:pPr algn="l"/>
            <a:r>
              <a:rPr lang="en-US" sz="1400" b="1" dirty="0">
                <a:solidFill>
                  <a:srgbClr val="005D84"/>
                </a:solidFill>
              </a:rPr>
              <a:t>[book icon]</a:t>
            </a:r>
          </a:p>
          <a:p>
            <a:pPr algn="l"/>
            <a:r>
              <a:rPr lang="en-US" sz="1200" b="0" dirty="0">
                <a:solidFill>
                  <a:srgbClr val="010B13"/>
                </a:solidFill>
              </a:rPr>
              <a:t>APA Student Paper Checklist</a:t>
            </a:r>
          </a:p>
          <a:p>
            <a:pPr algn="l"/>
            <a:r>
              <a:rPr lang="en-US" sz="1200" b="0" dirty="0">
                <a:solidFill>
                  <a:srgbClr val="010B13"/>
                </a:solidFill>
              </a:rPr>
              <a:t>[PDF]</a:t>
            </a:r>
          </a:p>
        </p:txBody>
      </p:sp>
      <p:sp>
        <p:nvSpPr>
          <p:cNvPr id="1020" name="card-rail" descr=""/>
          <p:cNvSpPr/>
          <p:nvPr/>
        </p:nvSpPr>
        <p:spPr>
          <a:xfrm>
            <a:off x="4459224" y="3669792"/>
            <a:ext cx="54864" cy="762000"/>
          </a:xfrm>
          <a:prstGeom prst="roundRect">
            <a:avLst>
              <a:gd name="adj" fmla="val 20000"/>
            </a:avLst>
          </a:prstGeom>
          <a:solidFill>
            <a:srgbClr val="005D84"/>
          </a:solidFill>
          <a:ln>
            <a:noFill/>
          </a:ln>
        </p:spPr>
        <p:txBody>
          <a:bodyPr lIns="91440" tIns="68580" rIns="91440" bIns="68580" anchor="t" wrap="square">
            <a:normAutofit/>
          </a:bodyPr>
          <a:lstStyle/>
          <a:p/>
        </p:txBody>
      </p:sp>
      <p:sp>
        <p:nvSpPr>
          <p:cNvPr id="1021" name="card-blue" descr="card: [book icon]. Example Project Poster"/>
          <p:cNvSpPr/>
          <p:nvPr/>
        </p:nvSpPr>
        <p:spPr>
          <a:xfrm>
            <a:off x="7821168" y="3669792"/>
            <a:ext cx="3270504" cy="579120"/>
          </a:xfrm>
          <a:prstGeom prst="roundRect">
            <a:avLst>
              <a:gd name="adj" fmla="val 6000"/>
            </a:avLst>
          </a:prstGeom>
          <a:solidFill>
            <a:srgbClr val="FEFDFA"/>
          </a:solidFill>
          <a:ln w="19050">
            <a:solidFill>
              <a:srgbClr val="CCCCCC"/>
            </a:solidFill>
          </a:ln>
        </p:spPr>
        <p:txBody>
          <a:bodyPr lIns="91440" tIns="68580" rIns="91440" bIns="68580" anchor="t" wrap="square">
            <a:normAutofit/>
          </a:bodyPr>
          <a:lstStyle/>
          <a:p>
            <a:pPr algn="l"/>
            <a:r>
              <a:rPr lang="en-US" sz="1400" b="1" dirty="0">
                <a:solidFill>
                  <a:srgbClr val="005D84"/>
                </a:solidFill>
              </a:rPr>
              <a:t>[book icon]</a:t>
            </a:r>
          </a:p>
          <a:p>
            <a:pPr algn="l"/>
            <a:r>
              <a:rPr lang="en-US" sz="1200" b="0" dirty="0">
                <a:solidFill>
                  <a:srgbClr val="010B13"/>
                </a:solidFill>
              </a:rPr>
              <a:t>Example Project Poster</a:t>
            </a:r>
          </a:p>
        </p:txBody>
      </p:sp>
      <p:sp>
        <p:nvSpPr>
          <p:cNvPr id="1022" name="card-rail" descr=""/>
          <p:cNvSpPr/>
          <p:nvPr/>
        </p:nvSpPr>
        <p:spPr>
          <a:xfrm>
            <a:off x="7821168" y="3669792"/>
            <a:ext cx="54864" cy="579120"/>
          </a:xfrm>
          <a:prstGeom prst="roundRect">
            <a:avLst>
              <a:gd name="adj" fmla="val 20000"/>
            </a:avLst>
          </a:prstGeom>
          <a:solidFill>
            <a:srgbClr val="005D84"/>
          </a:solidFill>
          <a:ln>
            <a:noFill/>
          </a:ln>
        </p:spPr>
        <p:txBody>
          <a:bodyPr lIns="91440" tIns="68580" rIns="91440" bIns="68580" anchor="t" wrap="square">
            <a:normAutofit/>
          </a:bodyPr>
          <a:lstStyle/>
          <a:p/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964692"/>
            <a:ext cx="9997440" cy="118872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Work on Research Project Report (Resources) (2/2)</a:t>
            </a:r>
          </a:p>
        </p:txBody>
      </p:sp>
      <p:sp>
        <p:nvSpPr>
          <p:cNvPr id="1023" name="card-blue" descr="card: [arrow icon]. How to Make a Poster Slides [Web page]"/>
          <p:cNvSpPr/>
          <p:nvPr/>
        </p:nvSpPr>
        <p:spPr>
          <a:xfrm>
            <a:off x="1097280" y="2633472"/>
            <a:ext cx="3270504" cy="762000"/>
          </a:xfrm>
          <a:prstGeom prst="roundRect">
            <a:avLst>
              <a:gd name="adj" fmla="val 6000"/>
            </a:avLst>
          </a:prstGeom>
          <a:solidFill>
            <a:srgbClr val="FEFDFA"/>
          </a:solidFill>
          <a:ln w="19050">
            <a:solidFill>
              <a:srgbClr val="CCCCCC"/>
            </a:solidFill>
          </a:ln>
        </p:spPr>
        <p:txBody>
          <a:bodyPr lIns="91440" tIns="68580" rIns="91440" bIns="68580" anchor="t" wrap="square">
            <a:normAutofit/>
          </a:bodyPr>
          <a:lstStyle/>
          <a:p>
            <a:pPr algn="l"/>
            <a:r>
              <a:rPr lang="en-US" sz="1400" b="1" dirty="0">
                <a:solidFill>
                  <a:srgbClr val="005D84"/>
                </a:solidFill>
              </a:rPr>
              <a:t>[arrow icon]</a:t>
            </a:r>
          </a:p>
          <a:p>
            <a:pPr algn="l"/>
            <a:r>
              <a:rPr lang="en-US" sz="1200" b="0" dirty="0">
                <a:solidFill>
                  <a:srgbClr val="010B13"/>
                </a:solidFill>
              </a:rPr>
              <a:t>How to Make a Poster Slides</a:t>
            </a:r>
          </a:p>
          <a:p>
            <a:pPr algn="l"/>
            <a:r>
              <a:rPr lang="en-US" sz="1200" b="0" dirty="0">
                <a:solidFill>
                  <a:srgbClr val="010B13"/>
                </a:solidFill>
              </a:rPr>
              <a:t>[Web page]</a:t>
            </a:r>
          </a:p>
        </p:txBody>
      </p:sp>
      <p:sp>
        <p:nvSpPr>
          <p:cNvPr id="1024" name="card-rail" descr=""/>
          <p:cNvSpPr/>
          <p:nvPr/>
        </p:nvSpPr>
        <p:spPr>
          <a:xfrm>
            <a:off x="1097280" y="2633472"/>
            <a:ext cx="54864" cy="762000"/>
          </a:xfrm>
          <a:prstGeom prst="roundRect">
            <a:avLst>
              <a:gd name="adj" fmla="val 20000"/>
            </a:avLst>
          </a:prstGeom>
          <a:solidFill>
            <a:srgbClr val="005D84"/>
          </a:solidFill>
          <a:ln>
            <a:noFill/>
          </a:ln>
        </p:spPr>
        <p:txBody>
          <a:bodyPr lIns="91440" tIns="68580" rIns="91440" bIns="68580" anchor="t" wrap="square">
            <a:normAutofit/>
          </a:bodyPr>
          <a:lstStyle/>
          <a:p/>
        </p:txBody>
      </p:sp>
      <p:sp>
        <p:nvSpPr>
          <p:cNvPr id="1025" name="card-blue" descr="card: [book icon]. APA Table Templates"/>
          <p:cNvSpPr/>
          <p:nvPr/>
        </p:nvSpPr>
        <p:spPr>
          <a:xfrm>
            <a:off x="4459224" y="2633472"/>
            <a:ext cx="3270504" cy="579120"/>
          </a:xfrm>
          <a:prstGeom prst="roundRect">
            <a:avLst>
              <a:gd name="adj" fmla="val 6000"/>
            </a:avLst>
          </a:prstGeom>
          <a:solidFill>
            <a:srgbClr val="FEFDFA"/>
          </a:solidFill>
          <a:ln w="19050">
            <a:solidFill>
              <a:srgbClr val="CCCCCC"/>
            </a:solidFill>
          </a:ln>
        </p:spPr>
        <p:txBody>
          <a:bodyPr lIns="91440" tIns="68580" rIns="91440" bIns="68580" anchor="t" wrap="square">
            <a:normAutofit/>
          </a:bodyPr>
          <a:lstStyle/>
          <a:p>
            <a:pPr algn="l"/>
            <a:r>
              <a:rPr lang="en-US" sz="1400" b="1" dirty="0">
                <a:solidFill>
                  <a:srgbClr val="005D84"/>
                </a:solidFill>
              </a:rPr>
              <a:t>[book icon]</a:t>
            </a:r>
          </a:p>
          <a:p>
            <a:pPr algn="l"/>
            <a:r>
              <a:rPr lang="en-US" sz="1200" b="0" dirty="0">
                <a:solidFill>
                  <a:srgbClr val="010B13"/>
                </a:solidFill>
              </a:rPr>
              <a:t>APA Table Templates</a:t>
            </a:r>
          </a:p>
        </p:txBody>
      </p:sp>
      <p:sp>
        <p:nvSpPr>
          <p:cNvPr id="1026" name="card-rail" descr=""/>
          <p:cNvSpPr/>
          <p:nvPr/>
        </p:nvSpPr>
        <p:spPr>
          <a:xfrm>
            <a:off x="4459224" y="2633472"/>
            <a:ext cx="54864" cy="579120"/>
          </a:xfrm>
          <a:prstGeom prst="roundRect">
            <a:avLst>
              <a:gd name="adj" fmla="val 20000"/>
            </a:avLst>
          </a:prstGeom>
          <a:solidFill>
            <a:srgbClr val="005D84"/>
          </a:solidFill>
          <a:ln>
            <a:noFill/>
          </a:ln>
        </p:spPr>
        <p:txBody>
          <a:bodyPr lIns="91440" tIns="68580" rIns="91440" bIns="68580" anchor="t" wrap="square">
            <a:normAutofit/>
          </a:bodyPr>
          <a:lstStyle/>
          <a:p/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 bwMode="blackWhite">
          <a:xfrm>
            <a:off x="1097280" y="2386744"/>
            <a:ext cx="9997440" cy="1645920"/>
          </a:xfrm>
          <a:solidFill>
            <a:srgbClr val="FFFFFF"/>
          </a:solidFill>
          <a:ln w="38100">
            <a:solidFill>
              <a:srgbClr val="404040"/>
            </a:solidFill>
          </a:ln>
        </p:spPr>
        <p:txBody>
          <a:bodyPr/>
          <a:lstStyle/>
          <a:p>
            <a:pPr lvl="0" indent="0" marL="0">
              <a:buNone/>
            </a:pPr>
            <a:r>
              <a:rPr/>
              <a:t>The Big Picture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964692"/>
            <a:ext cx="9997440" cy="118872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Where We Are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Lab 05</a:t>
            </a:r>
            <a:r>
              <a:rPr/>
              <a:t> — you planned the project: core variable + RHs</a:t>
            </a:r>
          </a:p>
          <a:p>
            <a:pPr lvl="0"/>
            <a:r>
              <a:rPr b="1"/>
              <a:t>Lab 06</a:t>
            </a:r>
            <a:r>
              <a:rPr/>
              <a:t> — univariate descriptives for each variable</a:t>
            </a:r>
          </a:p>
          <a:p>
            <a:pPr lvl="0"/>
            <a:r>
              <a:rPr b="1"/>
              <a:t>Lab 07</a:t>
            </a:r>
            <a:r>
              <a:rPr/>
              <a:t> — bivariate relationships: </a:t>
            </a:r>
            <a:r>
              <a:rPr i="1"/>
              <a:t>r</a:t>
            </a:r>
            <a:r>
              <a:rPr/>
              <a:t> and X²</a:t>
            </a:r>
          </a:p>
          <a:p>
            <a:pPr lvl="0"/>
            <a:r>
              <a:rPr b="1"/>
              <a:t>Lab 08</a:t>
            </a:r>
            <a:r>
              <a:rPr/>
              <a:t> — comparing groups: one-way ANOVAs (BG &amp; WG)</a:t>
            </a:r>
          </a:p>
          <a:p>
            <a:pPr lvl="0" indent="0" marL="0">
              <a:buNone/>
            </a:pPr>
            <a:r>
              <a:rPr b="1"/>
              <a:t>Today:</a:t>
            </a:r>
            <a:r>
              <a:rPr/>
              <a:t> put it all together — choose and run the right analysis for </a:t>
            </a:r>
            <a:r>
              <a:rPr b="1"/>
              <a:t>each hypothesis in your project</a:t>
            </a:r>
            <a:r>
              <a:rPr/>
              <a:t>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964692"/>
            <a:ext cx="9997440" cy="1188720"/>
          </a:xfrm>
        </p:spPr>
        <p:txBody>
          <a:bodyPr/>
          <a:lstStyle/>
          <a:p>
            <a:pPr lvl="0" indent="0" marL="0">
              <a:buNone/>
            </a:pPr>
            <a:r>
              <a:rPr/>
              <a:t>One Question Rules Everything</a:t>
            </a:r>
          </a:p>
        </p:txBody>
      </p:sp>
      <p:sp>
        <p:nvSpPr>
          <p:cNvPr id="1027" name="box-post-it" descr="box: . What type are my variables, and what question am I asking?"/>
          <p:cNvSpPr/>
          <p:nvPr/>
        </p:nvSpPr>
        <p:spPr>
          <a:xfrm>
            <a:off x="1097280" y="2633472"/>
            <a:ext cx="9994392" cy="365760"/>
          </a:xfrm>
          <a:prstGeom prst="roundRect">
            <a:avLst>
              <a:gd name="adj" fmla="val 6000"/>
            </a:avLst>
          </a:prstGeom>
          <a:solidFill>
            <a:srgbClr val="FFF9C4"/>
          </a:solidFill>
          <a:ln w="19050">
            <a:solidFill>
              <a:srgbClr val="CCCCCC"/>
            </a:solidFill>
          </a:ln>
        </p:spPr>
        <p:txBody>
          <a:bodyPr lIns="91440" tIns="68580" rIns="91440" bIns="68580" anchor="t" wrap="square">
            <a:normAutofit/>
          </a:bodyPr>
          <a:lstStyle/>
          <a:p>
            <a:pPr algn="l"/>
            <a:r>
              <a:rPr lang="en-US" sz="1200" b="0" dirty="0">
                <a:solidFill>
                  <a:srgbClr val="010B13"/>
                </a:solidFill>
              </a:rPr>
              <a:t>What type are my variables, and what question am I asking?</a:t>
            </a:r>
          </a:p>
        </p:txBody>
      </p:sp>
      <p:sp>
        <p:nvSpPr>
          <p:cNvPr id="1028" name="prose" descr=""/>
          <p:cNvSpPr/>
          <p:nvPr/>
        </p:nvSpPr>
        <p:spPr>
          <a:xfrm>
            <a:off x="1097280" y="3090672"/>
            <a:ext cx="9994392" cy="182880"/>
          </a:xfrm>
          <a:prstGeom prst="roundRect">
            <a:avLst>
              <a:gd name="adj" fmla="val 6000"/>
            </a:avLst>
          </a:prstGeom>
          <a:noFill/>
          <a:ln>
            <a:noFill/>
          </a:ln>
        </p:spPr>
        <p:txBody>
          <a:bodyPr lIns="91440" tIns="68580" rIns="91440" bIns="68580" anchor="t" wrap="square">
            <a:normAutofit/>
          </a:bodyPr>
          <a:lstStyle/>
          <a:p>
            <a:pPr algn="l"/>
            <a:r>
              <a:rPr lang="en-US" sz="1200" b="0" dirty="0">
                <a:solidFill>
                  <a:srgbClr val="010B13"/>
                </a:solidFill>
              </a:rPr>
              <a:t>Every analysis decision you’ll make today comes from two pieces of information:</a:t>
            </a:r>
          </a:p>
        </p:txBody>
      </p:sp>
      <p:sp>
        <p:nvSpPr>
          <p:cNvPr id="1029" name="prose" descr=""/>
          <p:cNvSpPr/>
          <p:nvPr/>
        </p:nvSpPr>
        <p:spPr>
          <a:xfrm>
            <a:off x="1097280" y="3364992"/>
            <a:ext cx="9994392" cy="182880"/>
          </a:xfrm>
          <a:prstGeom prst="roundRect">
            <a:avLst>
              <a:gd name="adj" fmla="val 6000"/>
            </a:avLst>
          </a:prstGeom>
          <a:noFill/>
          <a:ln>
            <a:noFill/>
          </a:ln>
        </p:spPr>
        <p:txBody>
          <a:bodyPr lIns="91440" tIns="68580" rIns="91440" bIns="68580" anchor="t" wrap="square">
            <a:normAutofit/>
          </a:bodyPr>
          <a:lstStyle/>
          <a:p>
            <a:pPr algn="l"/>
            <a:r>
              <a:rPr lang="en-US" sz="1200" b="0" dirty="0">
                <a:solidFill>
                  <a:srgbClr val="010B13"/>
                </a:solidFill>
              </a:rPr>
              <a:t>Is each variable qualitative or quantitative?Am I describing one variable or relating two variables?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 bwMode="blackWhite">
          <a:xfrm>
            <a:off x="1097280" y="2386744"/>
            <a:ext cx="9997440" cy="1645920"/>
          </a:xfrm>
          <a:solidFill>
            <a:srgbClr val="FFFFFF"/>
          </a:solidFill>
          <a:ln w="38100">
            <a:solidFill>
              <a:srgbClr val="404040"/>
            </a:solidFill>
          </a:ln>
        </p:spPr>
        <p:txBody>
          <a:bodyPr/>
          <a:lstStyle/>
          <a:p>
            <a:pPr lvl="0" indent="0" marL="0">
              <a:buNone/>
            </a:pPr>
            <a:r>
              <a:rPr/>
              <a:t>Step 1: Classify Your Variables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964692"/>
            <a:ext cx="9997440" cy="1188720"/>
          </a:xfrm>
        </p:spPr>
        <p:txBody>
          <a:bodyPr/>
          <a:lstStyle/>
          <a:p>
            <a:pPr lvl="0" indent="0" marL="0">
              <a:buNone/>
            </a:pPr>
            <a:r>
              <a:rPr/>
              <a:t>Qualitative vs. Quantitative</a:t>
            </a:r>
          </a:p>
        </p:txBody>
      </p:sp>
      <p:sp>
        <p:nvSpPr>
          <p:cNvPr id="1030" name="callout-tip" descr="tip callout: Qualitative (categorical). Values are labels, not amountsIncludes binary variables (only 2 categories)Examples: class standing, pet owned (dog/cat/none), voted (yes/no)"/>
          <p:cNvSpPr/>
          <p:nvPr/>
        </p:nvSpPr>
        <p:spPr>
          <a:xfrm>
            <a:off x="1097280" y="2633472"/>
            <a:ext cx="9994392" cy="1082040"/>
          </a:xfrm>
          <a:prstGeom prst="roundRect">
            <a:avLst>
              <a:gd name="adj" fmla="val 6000"/>
            </a:avLst>
          </a:prstGeom>
          <a:solidFill>
            <a:srgbClr val="FEFDFA"/>
          </a:solidFill>
          <a:ln w="19050">
            <a:solidFill>
              <a:srgbClr val="009955"/>
            </a:solidFill>
          </a:ln>
        </p:spPr>
        <p:txBody>
          <a:bodyPr lIns="91440" tIns="68580" rIns="91440" bIns="68580" anchor="t" wrap="square">
            <a:normAutofit/>
          </a:bodyPr>
          <a:lstStyle/>
          <a:p/>
        </p:txBody>
      </p:sp>
      <p:sp>
        <p:nvSpPr>
          <p:cNvPr id="1031" name="callout-title" descr=""/>
          <p:cNvSpPr/>
          <p:nvPr/>
        </p:nvSpPr>
        <p:spPr>
          <a:xfrm>
            <a:off x="1097280" y="2633472"/>
            <a:ext cx="9994392" cy="320040"/>
          </a:xfrm>
          <a:prstGeom prst="roundRect">
            <a:avLst>
              <a:gd name="adj" fmla="val 6000"/>
            </a:avLst>
          </a:prstGeom>
          <a:solidFill>
            <a:srgbClr val="009955"/>
          </a:solidFill>
          <a:ln>
            <a:noFill/>
          </a:ln>
        </p:spPr>
        <p:txBody>
          <a:bodyPr lIns="91440" tIns="68580" rIns="91440" bIns="68580" anchor="t" wrap="square">
            <a:normAutofit/>
          </a:bodyPr>
          <a:lstStyle/>
          <a:p>
            <a:pPr algn="l"/>
            <a:r>
              <a:rPr lang="en-US" sz="1400" b="1" dirty="0">
                <a:solidFill>
                  <a:srgbClr val="FEFDFA"/>
                </a:solidFill>
              </a:rPr>
              <a:t>Qualitative (categorical)</a:t>
            </a:r>
          </a:p>
        </p:txBody>
      </p:sp>
      <p:sp>
        <p:nvSpPr>
          <p:cNvPr id="1032" name="callout-body" descr=""/>
          <p:cNvSpPr/>
          <p:nvPr/>
        </p:nvSpPr>
        <p:spPr>
          <a:xfrm>
            <a:off x="1097280" y="2953512"/>
            <a:ext cx="9994392" cy="762000"/>
          </a:xfrm>
          <a:prstGeom prst="roundRect">
            <a:avLst>
              <a:gd name="adj" fmla="val 6000"/>
            </a:avLst>
          </a:prstGeom>
          <a:solidFill>
            <a:srgbClr val="FEFDFA"/>
          </a:solidFill>
          <a:ln>
            <a:noFill/>
          </a:ln>
        </p:spPr>
        <p:txBody>
          <a:bodyPr lIns="91440" tIns="68580" rIns="91440" bIns="68580" anchor="t" wrap="square">
            <a:normAutofit/>
          </a:bodyPr>
          <a:lstStyle/>
          <a:p>
            <a:pPr algn="l"/>
            <a:r>
              <a:rPr lang="en-US" sz="1200" b="0" dirty="0">
                <a:solidFill>
                  <a:srgbClr val="010B13"/>
                </a:solidFill>
              </a:rPr>
              <a:t>Values are labels, not amountsIncludes binary variables (only 2 categories)Examples: class standing, pet owned (dog/cat/none), voted (yes/no)</a:t>
            </a:r>
          </a:p>
        </p:txBody>
      </p:sp>
      <p:sp>
        <p:nvSpPr>
          <p:cNvPr id="1033" name="callout-note" descr="note callout: Quantitative. Values are amounts where differences &amp; averages are meaningfulExamples: confidence (0–100), number of classes skipped, reaction time"/>
          <p:cNvSpPr/>
          <p:nvPr/>
        </p:nvSpPr>
        <p:spPr>
          <a:xfrm>
            <a:off x="1097280" y="3806952"/>
            <a:ext cx="9994392" cy="1082040"/>
          </a:xfrm>
          <a:prstGeom prst="roundRect">
            <a:avLst>
              <a:gd name="adj" fmla="val 6000"/>
            </a:avLst>
          </a:prstGeom>
          <a:solidFill>
            <a:srgbClr val="FEFDFA"/>
          </a:solidFill>
          <a:ln w="19050">
            <a:solidFill>
              <a:srgbClr val="0066CC"/>
            </a:solidFill>
          </a:ln>
        </p:spPr>
        <p:txBody>
          <a:bodyPr lIns="91440" tIns="68580" rIns="91440" bIns="68580" anchor="t" wrap="square">
            <a:normAutofit/>
          </a:bodyPr>
          <a:lstStyle/>
          <a:p/>
        </p:txBody>
      </p:sp>
      <p:sp>
        <p:nvSpPr>
          <p:cNvPr id="1034" name="callout-title" descr=""/>
          <p:cNvSpPr/>
          <p:nvPr/>
        </p:nvSpPr>
        <p:spPr>
          <a:xfrm>
            <a:off x="1097280" y="3806952"/>
            <a:ext cx="9994392" cy="320040"/>
          </a:xfrm>
          <a:prstGeom prst="roundRect">
            <a:avLst>
              <a:gd name="adj" fmla="val 6000"/>
            </a:avLst>
          </a:prstGeom>
          <a:solidFill>
            <a:srgbClr val="0066CC"/>
          </a:solidFill>
          <a:ln>
            <a:noFill/>
          </a:ln>
        </p:spPr>
        <p:txBody>
          <a:bodyPr lIns="91440" tIns="68580" rIns="91440" bIns="68580" anchor="t" wrap="square">
            <a:normAutofit/>
          </a:bodyPr>
          <a:lstStyle/>
          <a:p>
            <a:pPr algn="l"/>
            <a:r>
              <a:rPr lang="en-US" sz="1400" b="1" dirty="0">
                <a:solidFill>
                  <a:srgbClr val="FEFDFA"/>
                </a:solidFill>
              </a:rPr>
              <a:t>Quantitative</a:t>
            </a:r>
          </a:p>
        </p:txBody>
      </p:sp>
      <p:sp>
        <p:nvSpPr>
          <p:cNvPr id="1035" name="callout-body" descr=""/>
          <p:cNvSpPr/>
          <p:nvPr/>
        </p:nvSpPr>
        <p:spPr>
          <a:xfrm>
            <a:off x="1097280" y="4126992"/>
            <a:ext cx="9994392" cy="762000"/>
          </a:xfrm>
          <a:prstGeom prst="roundRect">
            <a:avLst>
              <a:gd name="adj" fmla="val 6000"/>
            </a:avLst>
          </a:prstGeom>
          <a:solidFill>
            <a:srgbClr val="FEFDFA"/>
          </a:solidFill>
          <a:ln>
            <a:noFill/>
          </a:ln>
        </p:spPr>
        <p:txBody>
          <a:bodyPr lIns="91440" tIns="68580" rIns="91440" bIns="68580" anchor="t" wrap="square">
            <a:normAutofit/>
          </a:bodyPr>
          <a:lstStyle/>
          <a:p>
            <a:pPr algn="l"/>
            <a:r>
              <a:rPr lang="en-US" sz="1200" b="0" dirty="0">
                <a:solidFill>
                  <a:srgbClr val="010B13"/>
                </a:solidFill>
              </a:rPr>
              <a:t>Values are amounts where differences &amp; averages are meaningfulExamples: confidence (0–100), number of classes skipped, reaction time</a:t>
            </a:r>
          </a:p>
        </p:txBody>
      </p:sp>
      <p:sp>
        <p:nvSpPr>
          <p:cNvPr id="1036" name="prose" descr=""/>
          <p:cNvSpPr/>
          <p:nvPr/>
        </p:nvSpPr>
        <p:spPr>
          <a:xfrm>
            <a:off x="1097280" y="4980432"/>
            <a:ext cx="9994392" cy="365760"/>
          </a:xfrm>
          <a:prstGeom prst="roundRect">
            <a:avLst>
              <a:gd name="adj" fmla="val 6000"/>
            </a:avLst>
          </a:prstGeom>
          <a:noFill/>
          <a:ln>
            <a:noFill/>
          </a:ln>
        </p:spPr>
        <p:txBody>
          <a:bodyPr lIns="91440" tIns="68580" rIns="91440" bIns="68580" anchor="t" wrap="square">
            <a:normAutofit/>
          </a:bodyPr>
          <a:lstStyle/>
          <a:p>
            <a:pPr algn="l"/>
            <a:r>
              <a:rPr lang="en-US" sz="1200" b="0" dirty="0">
                <a:solidFill>
                  <a:srgbClr val="010B13"/>
                </a:solidFill>
              </a:rPr>
              <a:t>Classification decides which descriptives make sense and which tests are available. Get this wrong and everything downstream is wrong.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964692"/>
            <a:ext cx="9997440" cy="118872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Practice: Classify These</a:t>
            </a:r>
          </a:p>
        </p:txBody>
      </p:sp>
      <p:pic>
        <p:nvPicPr>
          <p:cNvPr descr="Screenshot of the Survivor Confessionals data table listing castaways with their season, gender, POC label, episodes, and confessional counts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89500" y="2628900"/>
            <a:ext cx="2413000" cy="2590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1092200" y="5219700"/>
            <a:ext cx="99949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Screenshot of the Survivor Confessionals data table listing castaways with their season, gender, POC label, episodes, and confessional counts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964692"/>
            <a:ext cx="9997440" cy="118872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Practice: Classify These (continued)</a:t>
            </a:r>
          </a:p>
        </p:txBody>
      </p:sp>
      <p:sp>
        <p:nvSpPr>
          <p:cNvPr id="1037" name="prose" descr=""/>
          <p:cNvSpPr/>
          <p:nvPr/>
        </p:nvSpPr>
        <p:spPr>
          <a:xfrm>
            <a:off x="1097280" y="2633472"/>
            <a:ext cx="9994392" cy="182880"/>
          </a:xfrm>
          <a:prstGeom prst="roundRect">
            <a:avLst>
              <a:gd name="adj" fmla="val 6000"/>
            </a:avLst>
          </a:prstGeom>
          <a:noFill/>
          <a:ln>
            <a:noFill/>
          </a:ln>
        </p:spPr>
        <p:txBody>
          <a:bodyPr lIns="91440" tIns="68580" rIns="91440" bIns="68580" anchor="t" wrap="square">
            <a:normAutofit/>
          </a:bodyPr>
          <a:lstStyle/>
          <a:p>
            <a:pPr algn="l"/>
            <a:r>
              <a:rPr lang="en-US" sz="1200" b="0" dirty="0">
                <a:solidFill>
                  <a:srgbClr val="010B13"/>
                </a:solidFill>
              </a:rPr>
              <a:t>A dataset of Survivor contestants. Qualitative or quantitative?</a:t>
            </a:r>
          </a:p>
        </p:txBody>
      </p:sp>
      <p:sp>
        <p:nvSpPr>
          <p:cNvPr id="1038" name="prose" descr=""/>
          <p:cNvSpPr/>
          <p:nvPr/>
        </p:nvSpPr>
        <p:spPr>
          <a:xfrm>
            <a:off x="1097280" y="2907792"/>
            <a:ext cx="9994392" cy="182880"/>
          </a:xfrm>
          <a:prstGeom prst="roundRect">
            <a:avLst>
              <a:gd name="adj" fmla="val 6000"/>
            </a:avLst>
          </a:prstGeom>
          <a:noFill/>
          <a:ln>
            <a:noFill/>
          </a:ln>
        </p:spPr>
        <p:txBody>
          <a:bodyPr lIns="91440" tIns="68580" rIns="91440" bIns="68580" anchor="t" wrap="square">
            <a:normAutofit/>
          </a:bodyPr>
          <a:lstStyle/>
          <a:p>
            <a:pPr algn="l"/>
            <a:r>
              <a:rPr lang="en-US" sz="1200" b="0" dirty="0">
                <a:solidFill>
                  <a:srgbClr val="010B13"/>
                </a:solidFill>
              </a:rPr>
              <a:t>[Gender · M/F] [POC · POC/White] [# Episodes] [Total confessionals] [Edit %]</a:t>
            </a:r>
          </a:p>
        </p:txBody>
      </p:sp>
      <p:sp>
        <p:nvSpPr>
          <p:cNvPr id="1039" name="prose" descr=""/>
          <p:cNvSpPr/>
          <p:nvPr/>
        </p:nvSpPr>
        <p:spPr>
          <a:xfrm>
            <a:off x="1097280" y="3182112"/>
            <a:ext cx="9994392" cy="182880"/>
          </a:xfrm>
          <a:prstGeom prst="roundRect">
            <a:avLst>
              <a:gd name="adj" fmla="val 6000"/>
            </a:avLst>
          </a:prstGeom>
          <a:noFill/>
          <a:ln>
            <a:noFill/>
          </a:ln>
        </p:spPr>
        <p:txBody>
          <a:bodyPr lIns="91440" tIns="68580" rIns="91440" bIns="68580" anchor="t" wrap="square">
            <a:normAutofit/>
          </a:bodyPr>
          <a:lstStyle/>
          <a:p>
            <a:pPr algn="l"/>
            <a:r>
              <a:rPr lang="en-US" sz="1200" b="0" dirty="0">
                <a:solidFill>
                  <a:srgbClr val="010B13"/>
                </a:solidFill>
              </a:rPr>
              <a:t>Edit % = over- vs. under-edit relative to screen time.</a:t>
            </a:r>
          </a:p>
        </p:txBody>
      </p:sp>
      <p:sp>
        <p:nvSpPr>
          <p:cNvPr id="1040" name="callout-tip" descr="tip callout: Tip. Answers: Gender → qualitative (binary); POC → qualitative (binary); # Episodes → quantitative; Total → quantitative; Edit % → quantitative."/>
          <p:cNvSpPr/>
          <p:nvPr/>
        </p:nvSpPr>
        <p:spPr>
          <a:xfrm>
            <a:off x="1097280" y="3456432"/>
            <a:ext cx="9994392" cy="1082040"/>
          </a:xfrm>
          <a:prstGeom prst="roundRect">
            <a:avLst>
              <a:gd name="adj" fmla="val 6000"/>
            </a:avLst>
          </a:prstGeom>
          <a:solidFill>
            <a:srgbClr val="FEFDFA"/>
          </a:solidFill>
          <a:ln w="19050">
            <a:solidFill>
              <a:srgbClr val="009955"/>
            </a:solidFill>
          </a:ln>
        </p:spPr>
        <p:txBody>
          <a:bodyPr lIns="91440" tIns="68580" rIns="91440" bIns="68580" anchor="t" wrap="square">
            <a:normAutofit/>
          </a:bodyPr>
          <a:lstStyle/>
          <a:p/>
        </p:txBody>
      </p:sp>
      <p:sp>
        <p:nvSpPr>
          <p:cNvPr id="1041" name="callout-title" descr=""/>
          <p:cNvSpPr/>
          <p:nvPr/>
        </p:nvSpPr>
        <p:spPr>
          <a:xfrm>
            <a:off x="1097280" y="3456432"/>
            <a:ext cx="9994392" cy="320040"/>
          </a:xfrm>
          <a:prstGeom prst="roundRect">
            <a:avLst>
              <a:gd name="adj" fmla="val 6000"/>
            </a:avLst>
          </a:prstGeom>
          <a:solidFill>
            <a:srgbClr val="009955"/>
          </a:solidFill>
          <a:ln>
            <a:noFill/>
          </a:ln>
        </p:spPr>
        <p:txBody>
          <a:bodyPr lIns="91440" tIns="68580" rIns="91440" bIns="68580" anchor="t" wrap="square">
            <a:normAutofit/>
          </a:bodyPr>
          <a:lstStyle/>
          <a:p>
            <a:pPr algn="l"/>
            <a:r>
              <a:rPr lang="en-US" sz="1400" b="1" dirty="0">
                <a:solidFill>
                  <a:srgbClr val="FEFDFA"/>
                </a:solidFill>
              </a:rPr>
              <a:t>Tip</a:t>
            </a:r>
          </a:p>
        </p:txBody>
      </p:sp>
      <p:sp>
        <p:nvSpPr>
          <p:cNvPr id="1042" name="callout-body" descr=""/>
          <p:cNvSpPr/>
          <p:nvPr/>
        </p:nvSpPr>
        <p:spPr>
          <a:xfrm>
            <a:off x="1097280" y="3776472"/>
            <a:ext cx="9994392" cy="762000"/>
          </a:xfrm>
          <a:prstGeom prst="roundRect">
            <a:avLst>
              <a:gd name="adj" fmla="val 6000"/>
            </a:avLst>
          </a:prstGeom>
          <a:solidFill>
            <a:srgbClr val="FEFDFA"/>
          </a:solidFill>
          <a:ln>
            <a:noFill/>
          </a:ln>
        </p:spPr>
        <p:txBody>
          <a:bodyPr lIns="91440" tIns="68580" rIns="91440" bIns="68580" anchor="t" wrap="square">
            <a:normAutofit/>
          </a:bodyPr>
          <a:lstStyle/>
          <a:p>
            <a:pPr algn="l"/>
            <a:r>
              <a:rPr lang="en-US" sz="1200" b="0" dirty="0">
                <a:solidFill>
                  <a:srgbClr val="010B13"/>
                </a:solidFill>
              </a:rPr>
              <a:t>Answers: Gender → qualitative (binary); POC → qualitative (binary); # Episodes → quantitative; Total → quantitative; Edit % → quantitative.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964692"/>
            <a:ext cx="9997440" cy="1188720"/>
          </a:xfrm>
        </p:spPr>
        <p:txBody>
          <a:bodyPr/>
          <a:lstStyle/>
          <a:p>
            <a:pPr lvl="0" indent="0" marL="0">
              <a:buNone/>
            </a:pPr>
            <a:r>
              <a:rPr/>
              <a:t>Your Project Variables</a:t>
            </a:r>
          </a:p>
        </p:txBody>
      </p:sp>
      <p:sp>
        <p:nvSpPr>
          <p:cNvPr id="1043" name="prose" descr=""/>
          <p:cNvSpPr/>
          <p:nvPr/>
        </p:nvSpPr>
        <p:spPr>
          <a:xfrm>
            <a:off x="1097280" y="2633472"/>
            <a:ext cx="9994392" cy="182880"/>
          </a:xfrm>
          <a:prstGeom prst="roundRect">
            <a:avLst>
              <a:gd name="adj" fmla="val 6000"/>
            </a:avLst>
          </a:prstGeom>
          <a:noFill/>
          <a:ln>
            <a:noFill/>
          </a:ln>
        </p:spPr>
        <p:txBody>
          <a:bodyPr lIns="91440" tIns="68580" rIns="91440" bIns="68580" anchor="t" wrap="square">
            <a:normAutofit/>
          </a:bodyPr>
          <a:lstStyle/>
          <a:p>
            <a:pPr algn="l"/>
            <a:r>
              <a:rPr lang="en-US" sz="1200" b="0" dirty="0">
                <a:solidFill>
                  <a:srgbClr val="010B13"/>
                </a:solidFill>
              </a:rPr>
              <a:t>Open your pre-proposal. For each of your variables (core + Vars 1–4, bonus 5–6), write down:</a:t>
            </a:r>
          </a:p>
        </p:txBody>
      </p:sp>
      <p:sp>
        <p:nvSpPr>
          <p:cNvPr id="1044" name="prose" descr=""/>
          <p:cNvSpPr/>
          <p:nvPr/>
        </p:nvSpPr>
        <p:spPr>
          <a:xfrm>
            <a:off x="1097280" y="2907792"/>
            <a:ext cx="9994392" cy="182880"/>
          </a:xfrm>
          <a:prstGeom prst="roundRect">
            <a:avLst>
              <a:gd name="adj" fmla="val 6000"/>
            </a:avLst>
          </a:prstGeom>
          <a:noFill/>
          <a:ln>
            <a:noFill/>
          </a:ln>
        </p:spPr>
        <p:txBody>
          <a:bodyPr lIns="91440" tIns="68580" rIns="91440" bIns="68580" anchor="t" wrap="square">
            <a:normAutofit/>
          </a:bodyPr>
          <a:lstStyle/>
          <a:p>
            <a:pPr algn="l"/>
            <a:r>
              <a:rPr lang="en-US" sz="1200" b="0" dirty="0">
                <a:solidFill>
                  <a:srgbClr val="010B13"/>
                </a:solidFill>
              </a:rPr>
              <a:t>Qualitative or quantitative?If qualitative: how many categories?</a:t>
            </a:r>
          </a:p>
        </p:txBody>
      </p:sp>
      <p:sp>
        <p:nvSpPr>
          <p:cNvPr id="1045" name="callout-warning" descr="warning callout: Warning. This is Section 1 of today’s worksheet. Do it now, carefully — your choices in Sections 2 &amp; 3 depend on it."/>
          <p:cNvSpPr/>
          <p:nvPr/>
        </p:nvSpPr>
        <p:spPr>
          <a:xfrm>
            <a:off x="1097280" y="3182112"/>
            <a:ext cx="9994392" cy="899160"/>
          </a:xfrm>
          <a:prstGeom prst="roundRect">
            <a:avLst>
              <a:gd name="adj" fmla="val 6000"/>
            </a:avLst>
          </a:prstGeom>
          <a:solidFill>
            <a:srgbClr val="FEFDFA"/>
          </a:solidFill>
          <a:ln w="19050">
            <a:solidFill>
              <a:srgbClr val="CC6600"/>
            </a:solidFill>
          </a:ln>
        </p:spPr>
        <p:txBody>
          <a:bodyPr lIns="91440" tIns="68580" rIns="91440" bIns="68580" anchor="t" wrap="square">
            <a:normAutofit/>
          </a:bodyPr>
          <a:lstStyle/>
          <a:p/>
        </p:txBody>
      </p:sp>
      <p:sp>
        <p:nvSpPr>
          <p:cNvPr id="1046" name="callout-title" descr=""/>
          <p:cNvSpPr/>
          <p:nvPr/>
        </p:nvSpPr>
        <p:spPr>
          <a:xfrm>
            <a:off x="1097280" y="3182112"/>
            <a:ext cx="9994392" cy="320040"/>
          </a:xfrm>
          <a:prstGeom prst="roundRect">
            <a:avLst>
              <a:gd name="adj" fmla="val 6000"/>
            </a:avLst>
          </a:prstGeom>
          <a:solidFill>
            <a:srgbClr val="CC6600"/>
          </a:solidFill>
          <a:ln>
            <a:noFill/>
          </a:ln>
        </p:spPr>
        <p:txBody>
          <a:bodyPr lIns="91440" tIns="68580" rIns="91440" bIns="68580" anchor="t" wrap="square">
            <a:normAutofit/>
          </a:bodyPr>
          <a:lstStyle/>
          <a:p>
            <a:pPr algn="l"/>
            <a:r>
              <a:rPr lang="en-US" sz="1400" b="1" dirty="0">
                <a:solidFill>
                  <a:srgbClr val="FEFDFA"/>
                </a:solidFill>
              </a:rPr>
              <a:t>Warning</a:t>
            </a:r>
          </a:p>
        </p:txBody>
      </p:sp>
      <p:sp>
        <p:nvSpPr>
          <p:cNvPr id="1047" name="callout-body" descr=""/>
          <p:cNvSpPr/>
          <p:nvPr/>
        </p:nvSpPr>
        <p:spPr>
          <a:xfrm>
            <a:off x="1097280" y="3502152"/>
            <a:ext cx="9994392" cy="579120"/>
          </a:xfrm>
          <a:prstGeom prst="roundRect">
            <a:avLst>
              <a:gd name="adj" fmla="val 6000"/>
            </a:avLst>
          </a:prstGeom>
          <a:solidFill>
            <a:srgbClr val="FEFDFA"/>
          </a:solidFill>
          <a:ln>
            <a:noFill/>
          </a:ln>
        </p:spPr>
        <p:txBody>
          <a:bodyPr lIns="91440" tIns="68580" rIns="91440" bIns="68580" anchor="t" wrap="square">
            <a:normAutofit/>
          </a:bodyPr>
          <a:lstStyle/>
          <a:p>
            <a:pPr algn="l"/>
            <a:r>
              <a:rPr lang="en-US" sz="1200" b="0" dirty="0">
                <a:solidFill>
                  <a:srgbClr val="010B13"/>
                </a:solidFill>
              </a:rPr>
              <a:t>This is Section 1 of today’s worksheet. Do it now, carefully — your choices in Sections 2 &amp; 3 depend on it.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 bwMode="blackWhite">
          <a:xfrm>
            <a:off x="1097280" y="2386744"/>
            <a:ext cx="9997440" cy="1645920"/>
          </a:xfrm>
          <a:solidFill>
            <a:srgbClr val="FFFFFF"/>
          </a:solidFill>
          <a:ln w="38100">
            <a:solidFill>
              <a:srgbClr val="404040"/>
            </a:solidFill>
          </a:ln>
        </p:spPr>
        <p:txBody>
          <a:bodyPr/>
          <a:lstStyle/>
          <a:p>
            <a:pPr lvl="0" indent="0" marL="0">
              <a:buNone/>
            </a:pPr>
            <a:r>
              <a:rPr/>
              <a:t>Step 2: Univariate Descriptives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964692"/>
            <a:ext cx="9997440" cy="118872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Which Descriptives for Which Variable?</a:t>
            </a:r>
          </a:p>
        </p:txBody>
      </p:sp>
      <p:sp>
        <p:nvSpPr>
          <p:cNvPr id="1048" name="callout-note" descr="note callout: Quantitative. Mean &amp; standard deviationCheck: histogram, outliers, skewExample: confidence, M = 68.42, SD = 17.31"/>
          <p:cNvSpPr/>
          <p:nvPr/>
        </p:nvSpPr>
        <p:spPr>
          <a:xfrm>
            <a:off x="1097280" y="2633472"/>
            <a:ext cx="9994392" cy="899160"/>
          </a:xfrm>
          <a:prstGeom prst="roundRect">
            <a:avLst>
              <a:gd name="adj" fmla="val 6000"/>
            </a:avLst>
          </a:prstGeom>
          <a:solidFill>
            <a:srgbClr val="FEFDFA"/>
          </a:solidFill>
          <a:ln w="19050">
            <a:solidFill>
              <a:srgbClr val="0066CC"/>
            </a:solidFill>
          </a:ln>
        </p:spPr>
        <p:txBody>
          <a:bodyPr lIns="91440" tIns="68580" rIns="91440" bIns="68580" anchor="t" wrap="square">
            <a:normAutofit/>
          </a:bodyPr>
          <a:lstStyle/>
          <a:p/>
        </p:txBody>
      </p:sp>
      <p:sp>
        <p:nvSpPr>
          <p:cNvPr id="1049" name="callout-title" descr=""/>
          <p:cNvSpPr/>
          <p:nvPr/>
        </p:nvSpPr>
        <p:spPr>
          <a:xfrm>
            <a:off x="1097280" y="2633472"/>
            <a:ext cx="9994392" cy="320040"/>
          </a:xfrm>
          <a:prstGeom prst="roundRect">
            <a:avLst>
              <a:gd name="adj" fmla="val 6000"/>
            </a:avLst>
          </a:prstGeom>
          <a:solidFill>
            <a:srgbClr val="0066CC"/>
          </a:solidFill>
          <a:ln>
            <a:noFill/>
          </a:ln>
        </p:spPr>
        <p:txBody>
          <a:bodyPr lIns="91440" tIns="68580" rIns="91440" bIns="68580" anchor="t" wrap="square">
            <a:normAutofit/>
          </a:bodyPr>
          <a:lstStyle/>
          <a:p>
            <a:pPr algn="l"/>
            <a:r>
              <a:rPr lang="en-US" sz="1400" b="1" dirty="0">
                <a:solidFill>
                  <a:srgbClr val="FEFDFA"/>
                </a:solidFill>
              </a:rPr>
              <a:t>Quantitative</a:t>
            </a:r>
          </a:p>
        </p:txBody>
      </p:sp>
      <p:sp>
        <p:nvSpPr>
          <p:cNvPr id="1050" name="callout-body" descr=""/>
          <p:cNvSpPr/>
          <p:nvPr/>
        </p:nvSpPr>
        <p:spPr>
          <a:xfrm>
            <a:off x="1097280" y="2953512"/>
            <a:ext cx="9994392" cy="579120"/>
          </a:xfrm>
          <a:prstGeom prst="roundRect">
            <a:avLst>
              <a:gd name="adj" fmla="val 6000"/>
            </a:avLst>
          </a:prstGeom>
          <a:solidFill>
            <a:srgbClr val="FEFDFA"/>
          </a:solidFill>
          <a:ln>
            <a:noFill/>
          </a:ln>
        </p:spPr>
        <p:txBody>
          <a:bodyPr lIns="91440" tIns="68580" rIns="91440" bIns="68580" anchor="t" wrap="square">
            <a:normAutofit/>
          </a:bodyPr>
          <a:lstStyle/>
          <a:p>
            <a:pPr algn="l"/>
            <a:r>
              <a:rPr lang="en-US" sz="1200" b="0" dirty="0">
                <a:solidFill>
                  <a:srgbClr val="010B13"/>
                </a:solidFill>
              </a:rPr>
              <a:t>Mean &amp; standard deviationCheck: histogram, outliers, skewExample: confidence, M = 68.42, SD = 17.31</a:t>
            </a:r>
          </a:p>
        </p:txBody>
      </p:sp>
      <p:sp>
        <p:nvSpPr>
          <p:cNvPr id="1051" name="callout-tip" descr="tip callout: Qualitative. Mode &amp; number of categoriesCheck: frequency table / bar chartExample: most common pet = “dog”; 3 categories"/>
          <p:cNvSpPr/>
          <p:nvPr/>
        </p:nvSpPr>
        <p:spPr>
          <a:xfrm>
            <a:off x="1097280" y="3624072"/>
            <a:ext cx="9994392" cy="899160"/>
          </a:xfrm>
          <a:prstGeom prst="roundRect">
            <a:avLst>
              <a:gd name="adj" fmla="val 6000"/>
            </a:avLst>
          </a:prstGeom>
          <a:solidFill>
            <a:srgbClr val="FEFDFA"/>
          </a:solidFill>
          <a:ln w="19050">
            <a:solidFill>
              <a:srgbClr val="009955"/>
            </a:solidFill>
          </a:ln>
        </p:spPr>
        <p:txBody>
          <a:bodyPr lIns="91440" tIns="68580" rIns="91440" bIns="68580" anchor="t" wrap="square">
            <a:normAutofit/>
          </a:bodyPr>
          <a:lstStyle/>
          <a:p/>
        </p:txBody>
      </p:sp>
      <p:sp>
        <p:nvSpPr>
          <p:cNvPr id="1052" name="callout-title" descr=""/>
          <p:cNvSpPr/>
          <p:nvPr/>
        </p:nvSpPr>
        <p:spPr>
          <a:xfrm>
            <a:off x="1097280" y="3624072"/>
            <a:ext cx="9994392" cy="320040"/>
          </a:xfrm>
          <a:prstGeom prst="roundRect">
            <a:avLst>
              <a:gd name="adj" fmla="val 6000"/>
            </a:avLst>
          </a:prstGeom>
          <a:solidFill>
            <a:srgbClr val="009955"/>
          </a:solidFill>
          <a:ln>
            <a:noFill/>
          </a:ln>
        </p:spPr>
        <p:txBody>
          <a:bodyPr lIns="91440" tIns="68580" rIns="91440" bIns="68580" anchor="t" wrap="square">
            <a:normAutofit/>
          </a:bodyPr>
          <a:lstStyle/>
          <a:p>
            <a:pPr algn="l"/>
            <a:r>
              <a:rPr lang="en-US" sz="1400" b="1" dirty="0">
                <a:solidFill>
                  <a:srgbClr val="FEFDFA"/>
                </a:solidFill>
              </a:rPr>
              <a:t>Qualitative</a:t>
            </a:r>
          </a:p>
        </p:txBody>
      </p:sp>
      <p:sp>
        <p:nvSpPr>
          <p:cNvPr id="1053" name="callout-body" descr=""/>
          <p:cNvSpPr/>
          <p:nvPr/>
        </p:nvSpPr>
        <p:spPr>
          <a:xfrm>
            <a:off x="1097280" y="3944112"/>
            <a:ext cx="9994392" cy="579120"/>
          </a:xfrm>
          <a:prstGeom prst="roundRect">
            <a:avLst>
              <a:gd name="adj" fmla="val 6000"/>
            </a:avLst>
          </a:prstGeom>
          <a:solidFill>
            <a:srgbClr val="FEFDFA"/>
          </a:solidFill>
          <a:ln>
            <a:noFill/>
          </a:ln>
        </p:spPr>
        <p:txBody>
          <a:bodyPr lIns="91440" tIns="68580" rIns="91440" bIns="68580" anchor="t" wrap="square">
            <a:normAutofit/>
          </a:bodyPr>
          <a:lstStyle/>
          <a:p>
            <a:pPr algn="l"/>
            <a:r>
              <a:rPr lang="en-US" sz="1200" b="0" dirty="0">
                <a:solidFill>
                  <a:srgbClr val="010B13"/>
                </a:solidFill>
              </a:rPr>
              <a:t>Mode &amp; number of categoriesCheck: frequency table / bar chartExample: most common pet = “dog”; 3 categories</a:t>
            </a:r>
          </a:p>
        </p:txBody>
      </p:sp>
      <p:sp>
        <p:nvSpPr>
          <p:cNvPr id="1054" name="prose" descr=""/>
          <p:cNvSpPr/>
          <p:nvPr/>
        </p:nvSpPr>
        <p:spPr>
          <a:xfrm>
            <a:off x="1097280" y="4614672"/>
            <a:ext cx="9994392" cy="365760"/>
          </a:xfrm>
          <a:prstGeom prst="roundRect">
            <a:avLst>
              <a:gd name="adj" fmla="val 6000"/>
            </a:avLst>
          </a:prstGeom>
          <a:noFill/>
          <a:ln>
            <a:noFill/>
          </a:ln>
        </p:spPr>
        <p:txBody>
          <a:bodyPr lIns="91440" tIns="68580" rIns="91440" bIns="68580" anchor="t" wrap="square">
            <a:normAutofit/>
          </a:bodyPr>
          <a:lstStyle/>
          <a:p>
            <a:pPr algn="l"/>
            <a:r>
              <a:rPr lang="en-US" sz="1200" b="0" dirty="0">
                <a:solidFill>
                  <a:srgbClr val="010B13"/>
                </a:solidFill>
              </a:rPr>
              <a:t>🚨 A mean of “pet type” is nonsense. A mode of “confidence” is (usually) uninformative. Match the descriptive to the variable type.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 bwMode="blackWhite">
          <a:xfrm>
            <a:off x="1097280" y="2386744"/>
            <a:ext cx="9997440" cy="1645920"/>
          </a:xfrm>
          <a:solidFill>
            <a:srgbClr val="FFFFFF"/>
          </a:solidFill>
          <a:ln w="38100">
            <a:solidFill>
              <a:srgbClr val="404040"/>
            </a:solidFill>
          </a:ln>
        </p:spPr>
        <p:txBody>
          <a:bodyPr/>
          <a:lstStyle/>
          <a:p>
            <a:pPr lvl="0" indent="0" marL="0">
              <a:buNone/>
            </a:pPr>
            <a:r>
              <a:rPr/>
              <a:t>Step 3: Match Each RH to a Test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964692"/>
            <a:ext cx="9997440" cy="118872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Master Decision Table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092200" y="2628900"/>
          <a:ext cx="9994900" cy="309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27400"/>
                <a:gridCol w="3327400"/>
                <a:gridCol w="33274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Variables in your RH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Design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Test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Quant × Quant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—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Pearson’s </a:t>
                      </a:r>
                      <a:r>
                        <a:rPr b="1" i="1"/>
                        <a:t>r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Qual × Qual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—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Pearson’s X²</a:t>
                      </a:r>
                      <a:r>
                        <a:rPr/>
                        <a:t> (chi-square)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Qual → Quant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Independent groups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BG one-way ANOVA</a:t>
                      </a:r>
                      <a:r>
                        <a:rPr/>
                        <a:t> (2 groups: </a:t>
                      </a:r>
                      <a:r>
                        <a:rPr i="1"/>
                        <a:t>t</a:t>
                      </a:r>
                      <a:r>
                        <a:rPr/>
                        <a:t>-test)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Qual → Quant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Repeated measures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WG one-way ANOVA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964692"/>
            <a:ext cx="9997440" cy="118872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Master Decision Table (continued)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Direction matters:</a:t>
            </a:r>
            <a:r>
              <a:rPr/>
              <a:t> for ANOVAs, the </a:t>
            </a:r>
            <a:r>
              <a:rPr i="1"/>
              <a:t>qualitative</a:t>
            </a:r>
            <a:r>
              <a:rPr/>
              <a:t> variable is the </a:t>
            </a:r>
            <a:r>
              <a:rPr b="1"/>
              <a:t>factor</a:t>
            </a:r>
            <a:r>
              <a:rPr/>
              <a:t> (IV) and the </a:t>
            </a:r>
            <a:r>
              <a:rPr i="1"/>
              <a:t>quantitative</a:t>
            </a:r>
            <a:r>
              <a:rPr/>
              <a:t> variable is the </a:t>
            </a:r>
            <a:r>
              <a:rPr b="1"/>
              <a:t>outcome</a:t>
            </a:r>
            <a:r>
              <a:rPr/>
              <a:t> (DV). If your RH predicts an amount from a category, you’re in ANOVA territory.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964692"/>
            <a:ext cx="9997440" cy="1188720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Reading Your RHs Like a Statistician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Translate each RH into </a:t>
            </a:r>
            <a:r>
              <a:rPr b="1"/>
              <a:t>variables + question type</a:t>
            </a:r>
            <a:r>
              <a:rPr/>
              <a:t>:</a:t>
            </a:r>
          </a:p>
          <a:p>
            <a:pPr lvl="0"/>
            <a:r>
              <a:rPr i="1"/>
              <a:t>“Confidence will be </a:t>
            </a:r>
            <a:r>
              <a:rPr b="1" i="1"/>
              <a:t>related to</a:t>
            </a:r>
            <a:r>
              <a:rPr i="1"/>
              <a:t> hindsight bias”</a:t>
            </a:r>
            <a:r>
              <a:rPr/>
              <a:t> → quant × quant, relationship → </a:t>
            </a:r>
            <a:r>
              <a:rPr b="1"/>
              <a:t>Pearson’s </a:t>
            </a:r>
            <a:r>
              <a:rPr b="1" i="1"/>
              <a:t>r</a:t>
            </a:r>
          </a:p>
          <a:p>
            <a:pPr lvl="0"/>
            <a:r>
              <a:rPr i="1"/>
              <a:t>“Pet owners will </a:t>
            </a:r>
            <a:r>
              <a:rPr b="1" i="1"/>
              <a:t>differ from</a:t>
            </a:r>
            <a:r>
              <a:rPr i="1"/>
              <a:t> non-owners in stress”</a:t>
            </a:r>
            <a:r>
              <a:rPr/>
              <a:t> → qual (2 cats) → quant, independent → </a:t>
            </a:r>
            <a:r>
              <a:rPr b="1" i="1"/>
              <a:t>t</a:t>
            </a:r>
            <a:r>
              <a:rPr b="1"/>
              <a:t>-test</a:t>
            </a:r>
            <a:r>
              <a:rPr/>
              <a:t> (or BG ANOVA)</a:t>
            </a:r>
          </a:p>
          <a:p>
            <a:pPr lvl="0"/>
            <a:r>
              <a:rPr i="1"/>
              <a:t>“Judgment type (past / future / surprise) will </a:t>
            </a:r>
            <a:r>
              <a:rPr b="1" i="1"/>
              <a:t>affect</a:t>
            </a:r>
            <a:r>
              <a:rPr i="1"/>
              <a:t> bias”</a:t>
            </a:r>
            <a:r>
              <a:rPr/>
              <a:t> → qual (3 cats) → quant, independent → </a:t>
            </a:r>
            <a:r>
              <a:rPr b="1"/>
              <a:t>BG ANOVA</a:t>
            </a:r>
          </a:p>
          <a:p>
            <a:pPr lvl="0"/>
            <a:r>
              <a:rPr i="1"/>
              <a:t>“Bias will </a:t>
            </a:r>
            <a:r>
              <a:rPr b="1" i="1"/>
              <a:t>change</a:t>
            </a:r>
            <a:r>
              <a:rPr i="1"/>
              <a:t> before vs. after feedback (same people)”</a:t>
            </a:r>
            <a:r>
              <a:rPr/>
              <a:t> → repeated measures → </a:t>
            </a:r>
            <a:r>
              <a:rPr b="1"/>
              <a:t>WG ANOVA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964692"/>
            <a:ext cx="9997440" cy="1188720"/>
          </a:xfrm>
        </p:spPr>
        <p:txBody>
          <a:bodyPr/>
          <a:lstStyle/>
          <a:p>
            <a:pPr lvl="0" indent="0" marL="0">
              <a:buNone/>
            </a:pPr>
            <a:r>
              <a:rPr/>
              <a:t>Your Turn: Which Test? #1</a:t>
            </a:r>
          </a:p>
        </p:txBody>
      </p:sp>
      <p:sp>
        <p:nvSpPr>
          <p:cNvPr id="1055" name="prose" descr=""/>
          <p:cNvSpPr/>
          <p:nvPr/>
        </p:nvSpPr>
        <p:spPr>
          <a:xfrm>
            <a:off x="1097280" y="2633472"/>
            <a:ext cx="9994392" cy="182880"/>
          </a:xfrm>
          <a:prstGeom prst="roundRect">
            <a:avLst>
              <a:gd name="adj" fmla="val 6000"/>
            </a:avLst>
          </a:prstGeom>
          <a:noFill/>
          <a:ln>
            <a:noFill/>
          </a:ln>
        </p:spPr>
        <p:txBody>
          <a:bodyPr lIns="91440" tIns="68580" rIns="91440" bIns="68580" anchor="t" wrap="square">
            <a:normAutofit/>
          </a:bodyPr>
          <a:lstStyle/>
          <a:p>
            <a:pPr algn="l"/>
            <a:r>
              <a:rPr lang="en-US" sz="1200" b="0" dirty="0">
                <a:solidFill>
                  <a:srgbClr val="010B13"/>
                </a:solidFill>
              </a:rPr>
              <a:t>RH: “Year in school (Fr/So/Jr/Sr) will be associated with whether students prefer morning or night classes.”</a:t>
            </a:r>
          </a:p>
        </p:txBody>
      </p:sp>
      <p:sp>
        <p:nvSpPr>
          <p:cNvPr id="1056" name="callout-tip" descr="tip callout: Tip. Qual × qual → Pearson’s X². Both variables are categories; we’re asking if they’re independent."/>
          <p:cNvSpPr/>
          <p:nvPr/>
        </p:nvSpPr>
        <p:spPr>
          <a:xfrm>
            <a:off x="1097280" y="2907792"/>
            <a:ext cx="9994392" cy="899160"/>
          </a:xfrm>
          <a:prstGeom prst="roundRect">
            <a:avLst>
              <a:gd name="adj" fmla="val 6000"/>
            </a:avLst>
          </a:prstGeom>
          <a:solidFill>
            <a:srgbClr val="FEFDFA"/>
          </a:solidFill>
          <a:ln w="19050">
            <a:solidFill>
              <a:srgbClr val="009955"/>
            </a:solidFill>
          </a:ln>
        </p:spPr>
        <p:txBody>
          <a:bodyPr lIns="91440" tIns="68580" rIns="91440" bIns="68580" anchor="t" wrap="square">
            <a:normAutofit/>
          </a:bodyPr>
          <a:lstStyle/>
          <a:p/>
        </p:txBody>
      </p:sp>
      <p:sp>
        <p:nvSpPr>
          <p:cNvPr id="1057" name="callout-title" descr=""/>
          <p:cNvSpPr/>
          <p:nvPr/>
        </p:nvSpPr>
        <p:spPr>
          <a:xfrm>
            <a:off x="1097280" y="2907792"/>
            <a:ext cx="9994392" cy="320040"/>
          </a:xfrm>
          <a:prstGeom prst="roundRect">
            <a:avLst>
              <a:gd name="adj" fmla="val 6000"/>
            </a:avLst>
          </a:prstGeom>
          <a:solidFill>
            <a:srgbClr val="009955"/>
          </a:solidFill>
          <a:ln>
            <a:noFill/>
          </a:ln>
        </p:spPr>
        <p:txBody>
          <a:bodyPr lIns="91440" tIns="68580" rIns="91440" bIns="68580" anchor="t" wrap="square">
            <a:normAutofit/>
          </a:bodyPr>
          <a:lstStyle/>
          <a:p>
            <a:pPr algn="l"/>
            <a:r>
              <a:rPr lang="en-US" sz="1400" b="1" dirty="0">
                <a:solidFill>
                  <a:srgbClr val="FEFDFA"/>
                </a:solidFill>
              </a:rPr>
              <a:t>Tip</a:t>
            </a:r>
          </a:p>
        </p:txBody>
      </p:sp>
      <p:sp>
        <p:nvSpPr>
          <p:cNvPr id="1058" name="callout-body" descr=""/>
          <p:cNvSpPr/>
          <p:nvPr/>
        </p:nvSpPr>
        <p:spPr>
          <a:xfrm>
            <a:off x="1097280" y="3227832"/>
            <a:ext cx="9994392" cy="579120"/>
          </a:xfrm>
          <a:prstGeom prst="roundRect">
            <a:avLst>
              <a:gd name="adj" fmla="val 6000"/>
            </a:avLst>
          </a:prstGeom>
          <a:solidFill>
            <a:srgbClr val="FEFDFA"/>
          </a:solidFill>
          <a:ln>
            <a:noFill/>
          </a:ln>
        </p:spPr>
        <p:txBody>
          <a:bodyPr lIns="91440" tIns="68580" rIns="91440" bIns="68580" anchor="t" wrap="square">
            <a:normAutofit/>
          </a:bodyPr>
          <a:lstStyle/>
          <a:p>
            <a:pPr algn="l"/>
            <a:r>
              <a:rPr lang="en-US" sz="1200" b="0" dirty="0">
                <a:solidFill>
                  <a:srgbClr val="010B13"/>
                </a:solidFill>
              </a:rPr>
              <a:t>Qual × qual → Pearson’s X². Both variables are categories; we’re asking if they’re independent.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964692"/>
            <a:ext cx="9997440" cy="1188720"/>
          </a:xfrm>
        </p:spPr>
        <p:txBody>
          <a:bodyPr/>
          <a:lstStyle/>
          <a:p>
            <a:pPr lvl="0" indent="0" marL="0">
              <a:buNone/>
            </a:pPr>
            <a:r>
              <a:rPr/>
              <a:t>Your Turn: Which Test? #2</a:t>
            </a:r>
          </a:p>
        </p:txBody>
      </p:sp>
      <p:sp>
        <p:nvSpPr>
          <p:cNvPr id="1059" name="prose" descr=""/>
          <p:cNvSpPr/>
          <p:nvPr/>
        </p:nvSpPr>
        <p:spPr>
          <a:xfrm>
            <a:off x="1097280" y="2633472"/>
            <a:ext cx="9994392" cy="182880"/>
          </a:xfrm>
          <a:prstGeom prst="roundRect">
            <a:avLst>
              <a:gd name="adj" fmla="val 6000"/>
            </a:avLst>
          </a:prstGeom>
          <a:noFill/>
          <a:ln>
            <a:noFill/>
          </a:ln>
        </p:spPr>
        <p:txBody>
          <a:bodyPr lIns="91440" tIns="68580" rIns="91440" bIns="68580" anchor="t" wrap="square">
            <a:normAutofit/>
          </a:bodyPr>
          <a:lstStyle/>
          <a:p>
            <a:pPr algn="l"/>
            <a:r>
              <a:rPr lang="en-US" sz="1200" b="0" dirty="0">
                <a:solidFill>
                  <a:srgbClr val="010B13"/>
                </a:solidFill>
              </a:rPr>
              <a:t>RH: “Number of classes skipped will predict final course grade (points out of 400).”</a:t>
            </a:r>
          </a:p>
        </p:txBody>
      </p:sp>
      <p:sp>
        <p:nvSpPr>
          <p:cNvPr id="1060" name="callout-tip" descr="tip callout: Tip. Quant × quant → Pearson’s r. Two amounts, one relationship. (Likely negative — but the test is the same.)"/>
          <p:cNvSpPr/>
          <p:nvPr/>
        </p:nvSpPr>
        <p:spPr>
          <a:xfrm>
            <a:off x="1097280" y="2907792"/>
            <a:ext cx="9994392" cy="899160"/>
          </a:xfrm>
          <a:prstGeom prst="roundRect">
            <a:avLst>
              <a:gd name="adj" fmla="val 6000"/>
            </a:avLst>
          </a:prstGeom>
          <a:solidFill>
            <a:srgbClr val="FEFDFA"/>
          </a:solidFill>
          <a:ln w="19050">
            <a:solidFill>
              <a:srgbClr val="009955"/>
            </a:solidFill>
          </a:ln>
        </p:spPr>
        <p:txBody>
          <a:bodyPr lIns="91440" tIns="68580" rIns="91440" bIns="68580" anchor="t" wrap="square">
            <a:normAutofit/>
          </a:bodyPr>
          <a:lstStyle/>
          <a:p/>
        </p:txBody>
      </p:sp>
      <p:sp>
        <p:nvSpPr>
          <p:cNvPr id="1061" name="callout-title" descr=""/>
          <p:cNvSpPr/>
          <p:nvPr/>
        </p:nvSpPr>
        <p:spPr>
          <a:xfrm>
            <a:off x="1097280" y="2907792"/>
            <a:ext cx="9994392" cy="320040"/>
          </a:xfrm>
          <a:prstGeom prst="roundRect">
            <a:avLst>
              <a:gd name="adj" fmla="val 6000"/>
            </a:avLst>
          </a:prstGeom>
          <a:solidFill>
            <a:srgbClr val="009955"/>
          </a:solidFill>
          <a:ln>
            <a:noFill/>
          </a:ln>
        </p:spPr>
        <p:txBody>
          <a:bodyPr lIns="91440" tIns="68580" rIns="91440" bIns="68580" anchor="t" wrap="square">
            <a:normAutofit/>
          </a:bodyPr>
          <a:lstStyle/>
          <a:p>
            <a:pPr algn="l"/>
            <a:r>
              <a:rPr lang="en-US" sz="1400" b="1" dirty="0">
                <a:solidFill>
                  <a:srgbClr val="FEFDFA"/>
                </a:solidFill>
              </a:rPr>
              <a:t>Tip</a:t>
            </a:r>
          </a:p>
        </p:txBody>
      </p:sp>
      <p:sp>
        <p:nvSpPr>
          <p:cNvPr id="1062" name="callout-body" descr=""/>
          <p:cNvSpPr/>
          <p:nvPr/>
        </p:nvSpPr>
        <p:spPr>
          <a:xfrm>
            <a:off x="1097280" y="3227832"/>
            <a:ext cx="9994392" cy="579120"/>
          </a:xfrm>
          <a:prstGeom prst="roundRect">
            <a:avLst>
              <a:gd name="adj" fmla="val 6000"/>
            </a:avLst>
          </a:prstGeom>
          <a:solidFill>
            <a:srgbClr val="FEFDFA"/>
          </a:solidFill>
          <a:ln>
            <a:noFill/>
          </a:ln>
        </p:spPr>
        <p:txBody>
          <a:bodyPr lIns="91440" tIns="68580" rIns="91440" bIns="68580" anchor="t" wrap="square">
            <a:normAutofit/>
          </a:bodyPr>
          <a:lstStyle/>
          <a:p>
            <a:pPr algn="l"/>
            <a:r>
              <a:rPr lang="en-US" sz="1200" b="0" dirty="0">
                <a:solidFill>
                  <a:srgbClr val="010B13"/>
                </a:solidFill>
              </a:rPr>
              <a:t>Quant × quant → Pearson’s r. Two amounts, one relationship. (Likely negative — but the test is the same.)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964692"/>
            <a:ext cx="9997440" cy="1188720"/>
          </a:xfrm>
        </p:spPr>
        <p:txBody>
          <a:bodyPr/>
          <a:lstStyle/>
          <a:p>
            <a:pPr lvl="0" indent="0" marL="0">
              <a:buNone/>
            </a:pPr>
            <a:r>
              <a:rPr/>
              <a:t>Your Turn: Which Test? #3</a:t>
            </a:r>
          </a:p>
        </p:txBody>
      </p:sp>
      <p:sp>
        <p:nvSpPr>
          <p:cNvPr id="1063" name="prose" descr=""/>
          <p:cNvSpPr/>
          <p:nvPr/>
        </p:nvSpPr>
        <p:spPr>
          <a:xfrm>
            <a:off x="1097280" y="2633472"/>
            <a:ext cx="9994392" cy="182880"/>
          </a:xfrm>
          <a:prstGeom prst="roundRect">
            <a:avLst>
              <a:gd name="adj" fmla="val 6000"/>
            </a:avLst>
          </a:prstGeom>
          <a:noFill/>
          <a:ln>
            <a:noFill/>
          </a:ln>
        </p:spPr>
        <p:txBody>
          <a:bodyPr lIns="91440" tIns="68580" rIns="91440" bIns="68580" anchor="t" wrap="square">
            <a:normAutofit/>
          </a:bodyPr>
          <a:lstStyle/>
          <a:p>
            <a:pPr algn="l"/>
            <a:r>
              <a:rPr lang="en-US" sz="1200" b="0" dirty="0">
                <a:solidFill>
                  <a:srgbClr val="010B13"/>
                </a:solidFill>
              </a:rPr>
              <a:t>RH: “Students with dogs, cats, or no pets will differ in self-reported stress (1–10).”</a:t>
            </a:r>
          </a:p>
        </p:txBody>
      </p:sp>
      <p:sp>
        <p:nvSpPr>
          <p:cNvPr id="1064" name="callout-tip" descr="tip callout: Tip. Qual (3 categories) → quant, independent groups → BG one-way ANOVA. With only 2 pet groups it would be a t-test — 3+ groups means F."/>
          <p:cNvSpPr/>
          <p:nvPr/>
        </p:nvSpPr>
        <p:spPr>
          <a:xfrm>
            <a:off x="1097280" y="2907792"/>
            <a:ext cx="9994392" cy="1082040"/>
          </a:xfrm>
          <a:prstGeom prst="roundRect">
            <a:avLst>
              <a:gd name="adj" fmla="val 6000"/>
            </a:avLst>
          </a:prstGeom>
          <a:solidFill>
            <a:srgbClr val="FEFDFA"/>
          </a:solidFill>
          <a:ln w="19050">
            <a:solidFill>
              <a:srgbClr val="009955"/>
            </a:solidFill>
          </a:ln>
        </p:spPr>
        <p:txBody>
          <a:bodyPr lIns="91440" tIns="68580" rIns="91440" bIns="68580" anchor="t" wrap="square">
            <a:normAutofit/>
          </a:bodyPr>
          <a:lstStyle/>
          <a:p/>
        </p:txBody>
      </p:sp>
      <p:sp>
        <p:nvSpPr>
          <p:cNvPr id="1065" name="callout-title" descr=""/>
          <p:cNvSpPr/>
          <p:nvPr/>
        </p:nvSpPr>
        <p:spPr>
          <a:xfrm>
            <a:off x="1097280" y="2907792"/>
            <a:ext cx="9994392" cy="320040"/>
          </a:xfrm>
          <a:prstGeom prst="roundRect">
            <a:avLst>
              <a:gd name="adj" fmla="val 6000"/>
            </a:avLst>
          </a:prstGeom>
          <a:solidFill>
            <a:srgbClr val="009955"/>
          </a:solidFill>
          <a:ln>
            <a:noFill/>
          </a:ln>
        </p:spPr>
        <p:txBody>
          <a:bodyPr lIns="91440" tIns="68580" rIns="91440" bIns="68580" anchor="t" wrap="square">
            <a:normAutofit/>
          </a:bodyPr>
          <a:lstStyle/>
          <a:p>
            <a:pPr algn="l"/>
            <a:r>
              <a:rPr lang="en-US" sz="1400" b="1" dirty="0">
                <a:solidFill>
                  <a:srgbClr val="FEFDFA"/>
                </a:solidFill>
              </a:rPr>
              <a:t>Tip</a:t>
            </a:r>
          </a:p>
        </p:txBody>
      </p:sp>
      <p:sp>
        <p:nvSpPr>
          <p:cNvPr id="1066" name="callout-body" descr=""/>
          <p:cNvSpPr/>
          <p:nvPr/>
        </p:nvSpPr>
        <p:spPr>
          <a:xfrm>
            <a:off x="1097280" y="3227832"/>
            <a:ext cx="9994392" cy="762000"/>
          </a:xfrm>
          <a:prstGeom prst="roundRect">
            <a:avLst>
              <a:gd name="adj" fmla="val 6000"/>
            </a:avLst>
          </a:prstGeom>
          <a:solidFill>
            <a:srgbClr val="FEFDFA"/>
          </a:solidFill>
          <a:ln>
            <a:noFill/>
          </a:ln>
        </p:spPr>
        <p:txBody>
          <a:bodyPr lIns="91440" tIns="68580" rIns="91440" bIns="68580" anchor="t" wrap="square">
            <a:normAutofit/>
          </a:bodyPr>
          <a:lstStyle/>
          <a:p>
            <a:pPr algn="l"/>
            <a:r>
              <a:rPr lang="en-US" sz="1200" b="0" dirty="0">
                <a:solidFill>
                  <a:srgbClr val="010B13"/>
                </a:solidFill>
              </a:rPr>
              <a:t>Qual (3 categories) → quant, independent groups → BG one-way ANOVA. With only 2 pet groups it would be a t-test — 3+ groups means F.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964692"/>
            <a:ext cx="9997440" cy="1188720"/>
          </a:xfrm>
        </p:spPr>
        <p:txBody>
          <a:bodyPr/>
          <a:lstStyle/>
          <a:p>
            <a:pPr lvl="0" indent="0" marL="0">
              <a:buNone/>
            </a:pPr>
            <a:r>
              <a:rPr/>
              <a:t>Your Turn: Which Test? #4</a:t>
            </a:r>
          </a:p>
        </p:txBody>
      </p:sp>
      <p:sp>
        <p:nvSpPr>
          <p:cNvPr id="1067" name="prose" descr=""/>
          <p:cNvSpPr/>
          <p:nvPr/>
        </p:nvSpPr>
        <p:spPr>
          <a:xfrm>
            <a:off x="1097280" y="2633472"/>
            <a:ext cx="9994392" cy="365760"/>
          </a:xfrm>
          <a:prstGeom prst="roundRect">
            <a:avLst>
              <a:gd name="adj" fmla="val 6000"/>
            </a:avLst>
          </a:prstGeom>
          <a:noFill/>
          <a:ln>
            <a:noFill/>
          </a:ln>
        </p:spPr>
        <p:txBody>
          <a:bodyPr lIns="91440" tIns="68580" rIns="91440" bIns="68580" anchor="t" wrap="square">
            <a:normAutofit/>
          </a:bodyPr>
          <a:lstStyle/>
          <a:p>
            <a:pPr algn="l"/>
            <a:r>
              <a:rPr lang="en-US" sz="1200" b="0" dirty="0">
                <a:solidFill>
                  <a:srgbClr val="010B13"/>
                </a:solidFill>
              </a:rPr>
              <a:t>RH: “Students’ anxiety will decrease from the first exam to the second exam to the final (same students measured 3 times).”</a:t>
            </a:r>
          </a:p>
        </p:txBody>
      </p:sp>
      <p:sp>
        <p:nvSpPr>
          <p:cNvPr id="1068" name="callout-tip" descr="tip callout: Tip. Same people, 3 measurements → WG one-way ANOVA (repeated measures). The “qualitative” variable here is time."/>
          <p:cNvSpPr/>
          <p:nvPr/>
        </p:nvSpPr>
        <p:spPr>
          <a:xfrm>
            <a:off x="1097280" y="3090672"/>
            <a:ext cx="9994392" cy="1082040"/>
          </a:xfrm>
          <a:prstGeom prst="roundRect">
            <a:avLst>
              <a:gd name="adj" fmla="val 6000"/>
            </a:avLst>
          </a:prstGeom>
          <a:solidFill>
            <a:srgbClr val="FEFDFA"/>
          </a:solidFill>
          <a:ln w="19050">
            <a:solidFill>
              <a:srgbClr val="009955"/>
            </a:solidFill>
          </a:ln>
        </p:spPr>
        <p:txBody>
          <a:bodyPr lIns="91440" tIns="68580" rIns="91440" bIns="68580" anchor="t" wrap="square">
            <a:normAutofit/>
          </a:bodyPr>
          <a:lstStyle/>
          <a:p/>
        </p:txBody>
      </p:sp>
      <p:sp>
        <p:nvSpPr>
          <p:cNvPr id="1069" name="callout-title" descr=""/>
          <p:cNvSpPr/>
          <p:nvPr/>
        </p:nvSpPr>
        <p:spPr>
          <a:xfrm>
            <a:off x="1097280" y="3090672"/>
            <a:ext cx="9994392" cy="320040"/>
          </a:xfrm>
          <a:prstGeom prst="roundRect">
            <a:avLst>
              <a:gd name="adj" fmla="val 6000"/>
            </a:avLst>
          </a:prstGeom>
          <a:solidFill>
            <a:srgbClr val="009955"/>
          </a:solidFill>
          <a:ln>
            <a:noFill/>
          </a:ln>
        </p:spPr>
        <p:txBody>
          <a:bodyPr lIns="91440" tIns="68580" rIns="91440" bIns="68580" anchor="t" wrap="square">
            <a:normAutofit/>
          </a:bodyPr>
          <a:lstStyle/>
          <a:p>
            <a:pPr algn="l"/>
            <a:r>
              <a:rPr lang="en-US" sz="1400" b="1" dirty="0">
                <a:solidFill>
                  <a:srgbClr val="FEFDFA"/>
                </a:solidFill>
              </a:rPr>
              <a:t>Tip</a:t>
            </a:r>
          </a:p>
        </p:txBody>
      </p:sp>
      <p:sp>
        <p:nvSpPr>
          <p:cNvPr id="1070" name="callout-body" descr=""/>
          <p:cNvSpPr/>
          <p:nvPr/>
        </p:nvSpPr>
        <p:spPr>
          <a:xfrm>
            <a:off x="1097280" y="3410712"/>
            <a:ext cx="9994392" cy="762000"/>
          </a:xfrm>
          <a:prstGeom prst="roundRect">
            <a:avLst>
              <a:gd name="adj" fmla="val 6000"/>
            </a:avLst>
          </a:prstGeom>
          <a:solidFill>
            <a:srgbClr val="FEFDFA"/>
          </a:solidFill>
          <a:ln>
            <a:noFill/>
          </a:ln>
        </p:spPr>
        <p:txBody>
          <a:bodyPr lIns="91440" tIns="68580" rIns="91440" bIns="68580" anchor="t" wrap="square">
            <a:normAutofit/>
          </a:bodyPr>
          <a:lstStyle/>
          <a:p>
            <a:pPr algn="l"/>
            <a:r>
              <a:rPr lang="en-US" sz="1200" b="0" dirty="0">
                <a:solidFill>
                  <a:srgbClr val="010B13"/>
                </a:solidFill>
              </a:rPr>
              <a:t>Same people, 3 measurements → WG one-way ANOVA (repeated measures). The “qualitative” variable here is time.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 bwMode="blackWhite">
          <a:xfrm>
            <a:off x="1097280" y="2386744"/>
            <a:ext cx="9997440" cy="1645920"/>
          </a:xfrm>
          <a:solidFill>
            <a:srgbClr val="FFFFFF"/>
          </a:solidFill>
          <a:ln w="38100">
            <a:solidFill>
              <a:srgbClr val="404040"/>
            </a:solidFill>
          </a:ln>
        </p:spPr>
        <p:txBody>
          <a:bodyPr/>
          <a:lstStyle/>
          <a:p>
            <a:pPr lvl="0" indent="0" marL="0">
              <a:buNone/>
            </a:pPr>
            <a:r>
              <a:rPr/>
              <a:t>Running the Analyses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964692"/>
            <a:ext cx="9997440" cy="118872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SPSS Quick Reference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092200" y="2628900"/>
          <a:ext cx="9994900" cy="309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003800"/>
                <a:gridCol w="5003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Test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Menu path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Descriptives (quant)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Analyze → Descriptive Statistics → </a:t>
                      </a:r>
                      <a:r>
                        <a:rPr b="1"/>
                        <a:t>Descriptives / Explore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Frequencies (qual)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Analyze → Descriptive Statistics → </a:t>
                      </a:r>
                      <a:r>
                        <a:rPr b="1"/>
                        <a:t>Frequencies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Pearson’s </a:t>
                      </a:r>
                      <a:r>
                        <a:rPr i="1"/>
                        <a:t>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Analyze → Correlate → </a:t>
                      </a:r>
                      <a:r>
                        <a:rPr b="1"/>
                        <a:t>Bivariate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X²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Analyze → Descriptive Statistics → </a:t>
                      </a:r>
                      <a:r>
                        <a:rPr b="1"/>
                        <a:t>Crosstabs</a:t>
                      </a:r>
                      <a:r>
                        <a:rPr/>
                        <a:t> (Statistics → Chi-square)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BG ANOVA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Analyze → Compare Means → </a:t>
                      </a:r>
                      <a:r>
                        <a:rPr b="1"/>
                        <a:t>One-Way ANOVA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WG ANOVA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Analyze → GLM → </a:t>
                      </a:r>
                      <a:r>
                        <a:rPr b="1"/>
                        <a:t>Repeated Measures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964692"/>
            <a:ext cx="9997440" cy="118872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SPSS Quick Reference (continued)</a:t>
            </a:r>
          </a:p>
        </p:txBody>
      </p:sp>
      <p:sp>
        <p:nvSpPr>
          <p:cNvPr id="1071" name="callout-warning" descr="warning callout: Warning. You ran every one of these in Labs 06–08. Today is about choosing correctly, not learning new menus — look back at those labs if a step is fuzzy."/>
          <p:cNvSpPr/>
          <p:nvPr/>
        </p:nvSpPr>
        <p:spPr>
          <a:xfrm>
            <a:off x="1097280" y="2633472"/>
            <a:ext cx="9994392" cy="1082040"/>
          </a:xfrm>
          <a:prstGeom prst="roundRect">
            <a:avLst>
              <a:gd name="adj" fmla="val 6000"/>
            </a:avLst>
          </a:prstGeom>
          <a:solidFill>
            <a:srgbClr val="FEFDFA"/>
          </a:solidFill>
          <a:ln w="19050">
            <a:solidFill>
              <a:srgbClr val="CC6600"/>
            </a:solidFill>
          </a:ln>
        </p:spPr>
        <p:txBody>
          <a:bodyPr lIns="91440" tIns="68580" rIns="91440" bIns="68580" anchor="t" wrap="square">
            <a:normAutofit/>
          </a:bodyPr>
          <a:lstStyle/>
          <a:p/>
        </p:txBody>
      </p:sp>
      <p:sp>
        <p:nvSpPr>
          <p:cNvPr id="1072" name="callout-title" descr=""/>
          <p:cNvSpPr/>
          <p:nvPr/>
        </p:nvSpPr>
        <p:spPr>
          <a:xfrm>
            <a:off x="1097280" y="2633472"/>
            <a:ext cx="9994392" cy="320040"/>
          </a:xfrm>
          <a:prstGeom prst="roundRect">
            <a:avLst>
              <a:gd name="adj" fmla="val 6000"/>
            </a:avLst>
          </a:prstGeom>
          <a:solidFill>
            <a:srgbClr val="CC6600"/>
          </a:solidFill>
          <a:ln>
            <a:noFill/>
          </a:ln>
        </p:spPr>
        <p:txBody>
          <a:bodyPr lIns="91440" tIns="68580" rIns="91440" bIns="68580" anchor="t" wrap="square">
            <a:normAutofit/>
          </a:bodyPr>
          <a:lstStyle/>
          <a:p>
            <a:pPr algn="l"/>
            <a:r>
              <a:rPr lang="en-US" sz="1400" b="1" dirty="0">
                <a:solidFill>
                  <a:srgbClr val="FEFDFA"/>
                </a:solidFill>
              </a:rPr>
              <a:t>Warning</a:t>
            </a:r>
          </a:p>
        </p:txBody>
      </p:sp>
      <p:sp>
        <p:nvSpPr>
          <p:cNvPr id="1073" name="callout-body" descr=""/>
          <p:cNvSpPr/>
          <p:nvPr/>
        </p:nvSpPr>
        <p:spPr>
          <a:xfrm>
            <a:off x="1097280" y="2953512"/>
            <a:ext cx="9994392" cy="762000"/>
          </a:xfrm>
          <a:prstGeom prst="roundRect">
            <a:avLst>
              <a:gd name="adj" fmla="val 6000"/>
            </a:avLst>
          </a:prstGeom>
          <a:solidFill>
            <a:srgbClr val="FEFDFA"/>
          </a:solidFill>
          <a:ln>
            <a:noFill/>
          </a:ln>
        </p:spPr>
        <p:txBody>
          <a:bodyPr lIns="91440" tIns="68580" rIns="91440" bIns="68580" anchor="t" wrap="square">
            <a:normAutofit/>
          </a:bodyPr>
          <a:lstStyle/>
          <a:p>
            <a:pPr algn="l"/>
            <a:r>
              <a:rPr lang="en-US" sz="1200" b="0" dirty="0">
                <a:solidFill>
                  <a:srgbClr val="010B13"/>
                </a:solidFill>
              </a:rPr>
              <a:t>You ran every one of these in Labs 06–08. Today is about choosing correctly, not learning new menus — look back at those labs if a step is fuzzy.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964692"/>
            <a:ext cx="9997440" cy="118872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Two Sanity Checks Before You Run</a:t>
            </a:r>
          </a:p>
        </p:txBody>
      </p:sp>
      <p:sp>
        <p:nvSpPr>
          <p:cNvPr id="1074" name="prose" descr=""/>
          <p:cNvSpPr/>
          <p:nvPr/>
        </p:nvSpPr>
        <p:spPr>
          <a:xfrm>
            <a:off x="1097280" y="2633472"/>
            <a:ext cx="9994392" cy="548640"/>
          </a:xfrm>
          <a:prstGeom prst="roundRect">
            <a:avLst>
              <a:gd name="adj" fmla="val 6000"/>
            </a:avLst>
          </a:prstGeom>
          <a:noFill/>
          <a:ln>
            <a:noFill/>
          </a:ln>
        </p:spPr>
        <p:txBody>
          <a:bodyPr lIns="91440" tIns="68580" rIns="91440" bIns="68580" anchor="t" wrap="square">
            <a:normAutofit/>
          </a:bodyPr>
          <a:lstStyle/>
          <a:p>
            <a:pPr algn="l"/>
            <a:r>
              <a:rPr lang="en-US" sz="1200" b="0" dirty="0">
                <a:solidFill>
                  <a:srgbClr val="010B13"/>
                </a:solidFill>
              </a:rPr>
              <a:t>Variable view check — is each variable entered the way you classified it? (String categories coded consistently? Scale vs. nominal measure set correctly?)N check — how many cases does each analysis actually use? Listwise deletion can quietly shrink your sample when variables have missing data.</a:t>
            </a:r>
          </a:p>
        </p:txBody>
      </p:sp>
      <p:sp>
        <p:nvSpPr>
          <p:cNvPr id="1075" name="callout-tip" descr="tip callout: Tip. Report the n for each analysis in your write-up if it differs from the full sample."/>
          <p:cNvSpPr/>
          <p:nvPr/>
        </p:nvSpPr>
        <p:spPr>
          <a:xfrm>
            <a:off x="1097280" y="3273552"/>
            <a:ext cx="9994392" cy="899160"/>
          </a:xfrm>
          <a:prstGeom prst="roundRect">
            <a:avLst>
              <a:gd name="adj" fmla="val 6000"/>
            </a:avLst>
          </a:prstGeom>
          <a:solidFill>
            <a:srgbClr val="FEFDFA"/>
          </a:solidFill>
          <a:ln w="19050">
            <a:solidFill>
              <a:srgbClr val="009955"/>
            </a:solidFill>
          </a:ln>
        </p:spPr>
        <p:txBody>
          <a:bodyPr lIns="91440" tIns="68580" rIns="91440" bIns="68580" anchor="t" wrap="square">
            <a:normAutofit/>
          </a:bodyPr>
          <a:lstStyle/>
          <a:p/>
        </p:txBody>
      </p:sp>
      <p:sp>
        <p:nvSpPr>
          <p:cNvPr id="1076" name="callout-title" descr=""/>
          <p:cNvSpPr/>
          <p:nvPr/>
        </p:nvSpPr>
        <p:spPr>
          <a:xfrm>
            <a:off x="1097280" y="3273552"/>
            <a:ext cx="9994392" cy="320040"/>
          </a:xfrm>
          <a:prstGeom prst="roundRect">
            <a:avLst>
              <a:gd name="adj" fmla="val 6000"/>
            </a:avLst>
          </a:prstGeom>
          <a:solidFill>
            <a:srgbClr val="009955"/>
          </a:solidFill>
          <a:ln>
            <a:noFill/>
          </a:ln>
        </p:spPr>
        <p:txBody>
          <a:bodyPr lIns="91440" tIns="68580" rIns="91440" bIns="68580" anchor="t" wrap="square">
            <a:normAutofit/>
          </a:bodyPr>
          <a:lstStyle/>
          <a:p>
            <a:pPr algn="l"/>
            <a:r>
              <a:rPr lang="en-US" sz="1400" b="1" dirty="0">
                <a:solidFill>
                  <a:srgbClr val="FEFDFA"/>
                </a:solidFill>
              </a:rPr>
              <a:t>Tip</a:t>
            </a:r>
          </a:p>
        </p:txBody>
      </p:sp>
      <p:sp>
        <p:nvSpPr>
          <p:cNvPr id="1077" name="callout-body" descr=""/>
          <p:cNvSpPr/>
          <p:nvPr/>
        </p:nvSpPr>
        <p:spPr>
          <a:xfrm>
            <a:off x="1097280" y="3593592"/>
            <a:ext cx="9994392" cy="579120"/>
          </a:xfrm>
          <a:prstGeom prst="roundRect">
            <a:avLst>
              <a:gd name="adj" fmla="val 6000"/>
            </a:avLst>
          </a:prstGeom>
          <a:solidFill>
            <a:srgbClr val="FEFDFA"/>
          </a:solidFill>
          <a:ln>
            <a:noFill/>
          </a:ln>
        </p:spPr>
        <p:txBody>
          <a:bodyPr lIns="91440" tIns="68580" rIns="91440" bIns="68580" anchor="t" wrap="square">
            <a:normAutofit/>
          </a:bodyPr>
          <a:lstStyle/>
          <a:p>
            <a:pPr algn="l"/>
            <a:r>
              <a:rPr lang="en-US" sz="1200" b="0" dirty="0">
                <a:solidFill>
                  <a:srgbClr val="010B13"/>
                </a:solidFill>
              </a:rPr>
              <a:t>Report the n for each analysis in your write-up if it differs from the full sample.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 bwMode="blackWhite">
          <a:xfrm>
            <a:off x="1097280" y="2386744"/>
            <a:ext cx="9997440" cy="1645920"/>
          </a:xfrm>
          <a:solidFill>
            <a:srgbClr val="FFFFFF"/>
          </a:solidFill>
          <a:ln w="38100">
            <a:solidFill>
              <a:srgbClr val="404040"/>
            </a:solidFill>
          </a:ln>
        </p:spPr>
        <p:txBody>
          <a:bodyPr/>
          <a:lstStyle/>
          <a:p>
            <a:pPr lvl="0" indent="0" marL="0">
              <a:buNone/>
            </a:pPr>
            <a:r>
              <a:rPr/>
              <a:t>APA Write-Ups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964692"/>
            <a:ext cx="9997440" cy="118872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Templates You’ll Reuse</a:t>
            </a:r>
          </a:p>
        </p:txBody>
      </p:sp>
      <p:sp>
        <p:nvSpPr>
          <p:cNvPr id="1078" name="prose" descr=""/>
          <p:cNvSpPr/>
          <p:nvPr/>
        </p:nvSpPr>
        <p:spPr>
          <a:xfrm>
            <a:off x="1097280" y="2633472"/>
            <a:ext cx="9994392" cy="548640"/>
          </a:xfrm>
          <a:prstGeom prst="roundRect">
            <a:avLst>
              <a:gd name="adj" fmla="val 6000"/>
            </a:avLst>
          </a:prstGeom>
          <a:noFill/>
          <a:ln>
            <a:noFill/>
          </a:ln>
        </p:spPr>
        <p:txBody>
          <a:bodyPr lIns="91440" tIns="68580" rIns="91440" bIns="68580" anchor="t" wrap="square">
            <a:normAutofit/>
          </a:bodyPr>
          <a:lstStyle/>
          <a:p>
            <a:pPr algn="l"/>
            <a:r>
              <a:rPr lang="en-US" sz="1200" b="0" dirty="0">
                <a:solidFill>
                  <a:srgbClr val="010B13"/>
                </a:solidFill>
              </a:rPr>
              <a:t>Pearson’s r: r(df) = .XX, p = .XXX — df = n − 2; state direction &amp; strength in wordsChi-square: X²(df, N = xxx) = X.XX, p = .XXX — df = (rows − 1)(columns − 1); describe the patternANOVA (BG or WG): F(df1, df2) = X.XX, p = .XXX — then: which means differed? (post-hocs / simple effects)</a:t>
            </a:r>
          </a:p>
        </p:txBody>
      </p:sp>
      <p:sp>
        <p:nvSpPr>
          <p:cNvPr id="1079" name="callout-tip" descr="tip callout: Tip. Every test sentence needs: statistic, dfs, value, p, and an English interpretation tied to the RH."/>
          <p:cNvSpPr/>
          <p:nvPr/>
        </p:nvSpPr>
        <p:spPr>
          <a:xfrm>
            <a:off x="1097280" y="3273552"/>
            <a:ext cx="9994392" cy="899160"/>
          </a:xfrm>
          <a:prstGeom prst="roundRect">
            <a:avLst>
              <a:gd name="adj" fmla="val 6000"/>
            </a:avLst>
          </a:prstGeom>
          <a:solidFill>
            <a:srgbClr val="FEFDFA"/>
          </a:solidFill>
          <a:ln w="19050">
            <a:solidFill>
              <a:srgbClr val="009955"/>
            </a:solidFill>
          </a:ln>
        </p:spPr>
        <p:txBody>
          <a:bodyPr lIns="91440" tIns="68580" rIns="91440" bIns="68580" anchor="t" wrap="square">
            <a:normAutofit/>
          </a:bodyPr>
          <a:lstStyle/>
          <a:p/>
        </p:txBody>
      </p:sp>
      <p:sp>
        <p:nvSpPr>
          <p:cNvPr id="1080" name="callout-title" descr=""/>
          <p:cNvSpPr/>
          <p:nvPr/>
        </p:nvSpPr>
        <p:spPr>
          <a:xfrm>
            <a:off x="1097280" y="3273552"/>
            <a:ext cx="9994392" cy="320040"/>
          </a:xfrm>
          <a:prstGeom prst="roundRect">
            <a:avLst>
              <a:gd name="adj" fmla="val 6000"/>
            </a:avLst>
          </a:prstGeom>
          <a:solidFill>
            <a:srgbClr val="009955"/>
          </a:solidFill>
          <a:ln>
            <a:noFill/>
          </a:ln>
        </p:spPr>
        <p:txBody>
          <a:bodyPr lIns="91440" tIns="68580" rIns="91440" bIns="68580" anchor="t" wrap="square">
            <a:normAutofit/>
          </a:bodyPr>
          <a:lstStyle/>
          <a:p>
            <a:pPr algn="l"/>
            <a:r>
              <a:rPr lang="en-US" sz="1400" b="1" dirty="0">
                <a:solidFill>
                  <a:srgbClr val="FEFDFA"/>
                </a:solidFill>
              </a:rPr>
              <a:t>Tip</a:t>
            </a:r>
          </a:p>
        </p:txBody>
      </p:sp>
      <p:sp>
        <p:nvSpPr>
          <p:cNvPr id="1081" name="callout-body" descr=""/>
          <p:cNvSpPr/>
          <p:nvPr/>
        </p:nvSpPr>
        <p:spPr>
          <a:xfrm>
            <a:off x="1097280" y="3593592"/>
            <a:ext cx="9994392" cy="579120"/>
          </a:xfrm>
          <a:prstGeom prst="roundRect">
            <a:avLst>
              <a:gd name="adj" fmla="val 6000"/>
            </a:avLst>
          </a:prstGeom>
          <a:solidFill>
            <a:srgbClr val="FEFDFA"/>
          </a:solidFill>
          <a:ln>
            <a:noFill/>
          </a:ln>
        </p:spPr>
        <p:txBody>
          <a:bodyPr lIns="91440" tIns="68580" rIns="91440" bIns="68580" anchor="t" wrap="square">
            <a:normAutofit/>
          </a:bodyPr>
          <a:lstStyle/>
          <a:p>
            <a:pPr algn="l"/>
            <a:r>
              <a:rPr lang="en-US" sz="1200" b="0" dirty="0">
                <a:solidFill>
                  <a:srgbClr val="010B13"/>
                </a:solidFill>
              </a:rPr>
              <a:t>Every test sentence needs: statistic, dfs, value, p, and an English interpretation tied to the RH.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964692"/>
            <a:ext cx="9997440" cy="118872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Interpretation ≠ Just </a:t>
            </a:r>
            <a:r>
              <a:rPr i="1"/>
              <a:t>p</a:t>
            </a:r>
            <a:r>
              <a:rPr/>
              <a:t> &lt; .05</a:t>
            </a:r>
          </a:p>
        </p:txBody>
      </p:sp>
      <p:sp>
        <p:nvSpPr>
          <p:cNvPr id="1082" name="prose" descr=""/>
          <p:cNvSpPr/>
          <p:nvPr/>
        </p:nvSpPr>
        <p:spPr>
          <a:xfrm>
            <a:off x="1097280" y="2633472"/>
            <a:ext cx="9994392" cy="548640"/>
          </a:xfrm>
          <a:prstGeom prst="roundRect">
            <a:avLst>
              <a:gd name="adj" fmla="val 6000"/>
            </a:avLst>
          </a:prstGeom>
          <a:noFill/>
          <a:ln>
            <a:noFill/>
          </a:ln>
        </p:spPr>
        <p:txBody>
          <a:bodyPr lIns="91440" tIns="68580" rIns="91440" bIns="68580" anchor="t" wrap="square">
            <a:normAutofit/>
          </a:bodyPr>
          <a:lstStyle/>
          <a:p>
            <a:pPr algn="l"/>
            <a:r>
              <a:rPr lang="en-US" sz="1200" b="0" dirty="0">
                <a:solidFill>
                  <a:srgbClr val="010B13"/>
                </a:solidFill>
              </a:rPr>
              <a:t>For r: direction (positive/negative) and strength (weak / moderate / strong) — is the pattern what the RH predicted?For X²: which cells are over/under-represented?For F: a significant F with 3+ groups is unfinished business — you need post-hocs to say where the difference is.</a:t>
            </a:r>
          </a:p>
        </p:txBody>
      </p:sp>
      <p:sp>
        <p:nvSpPr>
          <p:cNvPr id="1083" name="callout-caution" descr="caution callout: Caution. “Significant” is not the same as “supports the RH” — an effect can be significant in the opposite direction of your prediction. Say so if so."/>
          <p:cNvSpPr/>
          <p:nvPr/>
        </p:nvSpPr>
        <p:spPr>
          <a:xfrm>
            <a:off x="1097280" y="3273552"/>
            <a:ext cx="9994392" cy="1082040"/>
          </a:xfrm>
          <a:prstGeom prst="roundRect">
            <a:avLst>
              <a:gd name="adj" fmla="val 6000"/>
            </a:avLst>
          </a:prstGeom>
          <a:solidFill>
            <a:srgbClr val="FEFDFA"/>
          </a:solidFill>
          <a:ln w="19050">
            <a:solidFill>
              <a:srgbClr val="B38F00"/>
            </a:solidFill>
          </a:ln>
        </p:spPr>
        <p:txBody>
          <a:bodyPr lIns="91440" tIns="68580" rIns="91440" bIns="68580" anchor="t" wrap="square">
            <a:normAutofit/>
          </a:bodyPr>
          <a:lstStyle/>
          <a:p/>
        </p:txBody>
      </p:sp>
      <p:sp>
        <p:nvSpPr>
          <p:cNvPr id="1084" name="callout-title" descr=""/>
          <p:cNvSpPr/>
          <p:nvPr/>
        </p:nvSpPr>
        <p:spPr>
          <a:xfrm>
            <a:off x="1097280" y="3273552"/>
            <a:ext cx="9994392" cy="320040"/>
          </a:xfrm>
          <a:prstGeom prst="roundRect">
            <a:avLst>
              <a:gd name="adj" fmla="val 6000"/>
            </a:avLst>
          </a:prstGeom>
          <a:solidFill>
            <a:srgbClr val="B38F00"/>
          </a:solidFill>
          <a:ln>
            <a:noFill/>
          </a:ln>
        </p:spPr>
        <p:txBody>
          <a:bodyPr lIns="91440" tIns="68580" rIns="91440" bIns="68580" anchor="t" wrap="square">
            <a:normAutofit/>
          </a:bodyPr>
          <a:lstStyle/>
          <a:p>
            <a:pPr algn="l"/>
            <a:r>
              <a:rPr lang="en-US" sz="1400" b="1" dirty="0">
                <a:solidFill>
                  <a:srgbClr val="FEFDFA"/>
                </a:solidFill>
              </a:rPr>
              <a:t>Caution</a:t>
            </a:r>
          </a:p>
        </p:txBody>
      </p:sp>
      <p:sp>
        <p:nvSpPr>
          <p:cNvPr id="1085" name="callout-body" descr=""/>
          <p:cNvSpPr/>
          <p:nvPr/>
        </p:nvSpPr>
        <p:spPr>
          <a:xfrm>
            <a:off x="1097280" y="3593592"/>
            <a:ext cx="9994392" cy="762000"/>
          </a:xfrm>
          <a:prstGeom prst="roundRect">
            <a:avLst>
              <a:gd name="adj" fmla="val 6000"/>
            </a:avLst>
          </a:prstGeom>
          <a:solidFill>
            <a:srgbClr val="FEFDFA"/>
          </a:solidFill>
          <a:ln>
            <a:noFill/>
          </a:ln>
        </p:spPr>
        <p:txBody>
          <a:bodyPr lIns="91440" tIns="68580" rIns="91440" bIns="68580" anchor="t" wrap="square">
            <a:normAutofit/>
          </a:bodyPr>
          <a:lstStyle/>
          <a:p>
            <a:pPr algn="l"/>
            <a:r>
              <a:rPr lang="en-US" sz="1200" b="0" dirty="0">
                <a:solidFill>
                  <a:srgbClr val="010B13"/>
                </a:solidFill>
              </a:rPr>
              <a:t>“Significant” is not the same as “supports the RH” — an effect can be significant in the opposite direction of your prediction. Say so if so.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 bwMode="blackWhite">
          <a:xfrm>
            <a:off x="1097280" y="2386744"/>
            <a:ext cx="9997440" cy="1645920"/>
          </a:xfrm>
          <a:solidFill>
            <a:srgbClr val="FFFFFF"/>
          </a:solidFill>
          <a:ln w="38100">
            <a:solidFill>
              <a:srgbClr val="404040"/>
            </a:solidFill>
          </a:ln>
        </p:spPr>
        <p:txBody>
          <a:bodyPr/>
          <a:lstStyle/>
          <a:p>
            <a:pPr lvl="0" indent="0" marL="0">
              <a:buNone/>
            </a:pPr>
            <a:r>
              <a:rPr/>
              <a:t>Worksheet Walk-Through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964692"/>
            <a:ext cx="9997440" cy="118872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Today’s Worksheet, Section by Section</a:t>
            </a:r>
          </a:p>
        </p:txBody>
      </p:sp>
      <p:sp>
        <p:nvSpPr>
          <p:cNvPr id="1086" name="prose" descr=""/>
          <p:cNvSpPr/>
          <p:nvPr/>
        </p:nvSpPr>
        <p:spPr>
          <a:xfrm>
            <a:off x="1097280" y="2633472"/>
            <a:ext cx="9994392" cy="365760"/>
          </a:xfrm>
          <a:prstGeom prst="roundRect">
            <a:avLst>
              <a:gd name="adj" fmla="val 6000"/>
            </a:avLst>
          </a:prstGeom>
          <a:noFill/>
          <a:ln>
            <a:noFill/>
          </a:ln>
        </p:spPr>
        <p:txBody>
          <a:bodyPr lIns="91440" tIns="68580" rIns="91440" bIns="68580" anchor="t" wrap="square">
            <a:normAutofit/>
          </a:bodyPr>
          <a:lstStyle/>
          <a:p>
            <a:pPr algn="l"/>
            <a:r>
              <a:rPr lang="en-US" sz="1200" b="0" dirty="0">
                <a:solidFill>
                  <a:srgbClr val="010B13"/>
                </a:solidFill>
              </a:rPr>
              <a:t>Variable classification — qual vs. quant for each project variableUnivariate stats — mean &amp; SD vs. mode &amp; # categoriesBivariate analyses — list the variables for:</a:t>
            </a:r>
          </a:p>
        </p:txBody>
      </p:sp>
      <p:sp>
        <p:nvSpPr>
          <p:cNvPr id="1087" name="prose" descr=""/>
          <p:cNvSpPr/>
          <p:nvPr/>
        </p:nvSpPr>
        <p:spPr>
          <a:xfrm>
            <a:off x="1097280" y="3090672"/>
            <a:ext cx="9994392" cy="182880"/>
          </a:xfrm>
          <a:prstGeom prst="roundRect">
            <a:avLst>
              <a:gd name="adj" fmla="val 6000"/>
            </a:avLst>
          </a:prstGeom>
          <a:noFill/>
          <a:ln>
            <a:noFill/>
          </a:ln>
        </p:spPr>
        <p:txBody>
          <a:bodyPr lIns="91440" tIns="68580" rIns="91440" bIns="68580" anchor="t" wrap="square">
            <a:normAutofit/>
          </a:bodyPr>
          <a:lstStyle/>
          <a:p>
            <a:pPr algn="l"/>
            <a:r>
              <a:rPr lang="en-US" sz="1200" b="0" dirty="0">
                <a:solidFill>
                  <a:srgbClr val="010B13"/>
                </a:solidFill>
              </a:rPr>
              <a:t>A · 3 Pearson’s r B · 3 X² C · 3 BG ANOVAs D · 3 WG ANOVAs</a:t>
            </a:r>
          </a:p>
        </p:txBody>
      </p:sp>
      <p:sp>
        <p:nvSpPr>
          <p:cNvPr id="1088" name="prose" descr=""/>
          <p:cNvSpPr/>
          <p:nvPr/>
        </p:nvSpPr>
        <p:spPr>
          <a:xfrm>
            <a:off x="1097280" y="3364992"/>
            <a:ext cx="9994392" cy="182880"/>
          </a:xfrm>
          <a:prstGeom prst="roundRect">
            <a:avLst>
              <a:gd name="adj" fmla="val 6000"/>
            </a:avLst>
          </a:prstGeom>
          <a:noFill/>
          <a:ln>
            <a:noFill/>
          </a:ln>
        </p:spPr>
        <p:txBody>
          <a:bodyPr lIns="91440" tIns="68580" rIns="91440" bIns="68580" anchor="t" wrap="square">
            <a:normAutofit/>
          </a:bodyPr>
          <a:lstStyle/>
          <a:p>
            <a:pPr algn="l"/>
            <a:r>
              <a:rPr lang="en-US" sz="1200" b="0" dirty="0">
                <a:solidFill>
                  <a:srgbClr val="010B13"/>
                </a:solidFill>
              </a:rPr>
              <a:t>For C, the qualitative variable comes first.</a:t>
            </a:r>
          </a:p>
        </p:txBody>
      </p:sp>
      <p:sp>
        <p:nvSpPr>
          <p:cNvPr id="1089" name="callout-tip" descr="tip callout: Tip. Sections 3C/3D: if your project can’t honestly support 3 of each, propose analyses you could run with the shared class dataset."/>
          <p:cNvSpPr/>
          <p:nvPr/>
        </p:nvSpPr>
        <p:spPr>
          <a:xfrm>
            <a:off x="1097280" y="3639312"/>
            <a:ext cx="9994392" cy="1082040"/>
          </a:xfrm>
          <a:prstGeom prst="roundRect">
            <a:avLst>
              <a:gd name="adj" fmla="val 6000"/>
            </a:avLst>
          </a:prstGeom>
          <a:solidFill>
            <a:srgbClr val="FEFDFA"/>
          </a:solidFill>
          <a:ln w="19050">
            <a:solidFill>
              <a:srgbClr val="009955"/>
            </a:solidFill>
          </a:ln>
        </p:spPr>
        <p:txBody>
          <a:bodyPr lIns="91440" tIns="68580" rIns="91440" bIns="68580" anchor="t" wrap="square">
            <a:normAutofit/>
          </a:bodyPr>
          <a:lstStyle/>
          <a:p/>
        </p:txBody>
      </p:sp>
      <p:sp>
        <p:nvSpPr>
          <p:cNvPr id="1090" name="callout-title" descr=""/>
          <p:cNvSpPr/>
          <p:nvPr/>
        </p:nvSpPr>
        <p:spPr>
          <a:xfrm>
            <a:off x="1097280" y="3639312"/>
            <a:ext cx="9994392" cy="320040"/>
          </a:xfrm>
          <a:prstGeom prst="roundRect">
            <a:avLst>
              <a:gd name="adj" fmla="val 6000"/>
            </a:avLst>
          </a:prstGeom>
          <a:solidFill>
            <a:srgbClr val="009955"/>
          </a:solidFill>
          <a:ln>
            <a:noFill/>
          </a:ln>
        </p:spPr>
        <p:txBody>
          <a:bodyPr lIns="91440" tIns="68580" rIns="91440" bIns="68580" anchor="t" wrap="square">
            <a:normAutofit/>
          </a:bodyPr>
          <a:lstStyle/>
          <a:p>
            <a:pPr algn="l"/>
            <a:r>
              <a:rPr lang="en-US" sz="1400" b="1" dirty="0">
                <a:solidFill>
                  <a:srgbClr val="FEFDFA"/>
                </a:solidFill>
              </a:rPr>
              <a:t>Tip</a:t>
            </a:r>
          </a:p>
        </p:txBody>
      </p:sp>
      <p:sp>
        <p:nvSpPr>
          <p:cNvPr id="1091" name="callout-body" descr=""/>
          <p:cNvSpPr/>
          <p:nvPr/>
        </p:nvSpPr>
        <p:spPr>
          <a:xfrm>
            <a:off x="1097280" y="3959352"/>
            <a:ext cx="9994392" cy="762000"/>
          </a:xfrm>
          <a:prstGeom prst="roundRect">
            <a:avLst>
              <a:gd name="adj" fmla="val 6000"/>
            </a:avLst>
          </a:prstGeom>
          <a:solidFill>
            <a:srgbClr val="FEFDFA"/>
          </a:solidFill>
          <a:ln>
            <a:noFill/>
          </a:ln>
        </p:spPr>
        <p:txBody>
          <a:bodyPr lIns="91440" tIns="68580" rIns="91440" bIns="68580" anchor="t" wrap="square">
            <a:normAutofit/>
          </a:bodyPr>
          <a:lstStyle/>
          <a:p>
            <a:pPr algn="l"/>
            <a:r>
              <a:rPr lang="en-US" sz="1200" b="0" dirty="0">
                <a:solidFill>
                  <a:srgbClr val="010B13"/>
                </a:solidFill>
              </a:rPr>
              <a:t>Sections 3C/3D: if your project can’t honestly support 3 of each, propose analyses you could run with the shared class dataset.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964692"/>
            <a:ext cx="9997440" cy="118872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Common Traps to Avoid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❌ Running a correlation on a </a:t>
            </a:r>
            <a:r>
              <a:rPr b="1"/>
              <a:t>dichotomous-coded-category</a:t>
            </a:r>
            <a:r>
              <a:rPr/>
              <a:t> without thinking about what the numbers mean</a:t>
            </a:r>
          </a:p>
          <a:p>
            <a:pPr lvl="0"/>
            <a:r>
              <a:rPr/>
              <a:t>❌ BG ANOVA when the groups are the </a:t>
            </a:r>
            <a:r>
              <a:rPr b="1"/>
              <a:t>same people</a:t>
            </a:r>
            <a:r>
              <a:rPr/>
              <a:t> (that’s WG)</a:t>
            </a:r>
          </a:p>
          <a:p>
            <a:pPr lvl="0"/>
            <a:r>
              <a:rPr/>
              <a:t>❌ Stopping at a significant </a:t>
            </a:r>
            <a:r>
              <a:rPr i="1"/>
              <a:t>F</a:t>
            </a:r>
            <a:r>
              <a:rPr/>
              <a:t> with 3+ groups — </a:t>
            </a:r>
            <a:r>
              <a:rPr b="1"/>
              <a:t>run the post-hocs</a:t>
            </a:r>
          </a:p>
          <a:p>
            <a:pPr lvl="0"/>
            <a:r>
              <a:rPr/>
              <a:t>❌ Reporting </a:t>
            </a:r>
            <a:r>
              <a:rPr i="1"/>
              <a:t>M</a:t>
            </a:r>
            <a:r>
              <a:rPr/>
              <a:t> &amp; </a:t>
            </a:r>
            <a:r>
              <a:rPr i="1"/>
              <a:t>SD</a:t>
            </a:r>
            <a:r>
              <a:rPr/>
              <a:t> for a categorical variable</a:t>
            </a:r>
          </a:p>
          <a:p>
            <a:pPr lvl="0"/>
            <a:r>
              <a:rPr/>
              <a:t>❌ Forgetting that </a:t>
            </a:r>
            <a:r>
              <a:rPr b="1"/>
              <a:t>3 analyses of each type</a:t>
            </a:r>
            <a:r>
              <a:rPr/>
              <a:t> are required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 bwMode="blackWhite">
          <a:xfrm>
            <a:off x="1097280" y="2386744"/>
            <a:ext cx="9997440" cy="1645920"/>
          </a:xfrm>
          <a:solidFill>
            <a:srgbClr val="FFFFFF"/>
          </a:solidFill>
          <a:ln w="38100">
            <a:solidFill>
              <a:srgbClr val="404040"/>
            </a:solidFill>
          </a:ln>
        </p:spPr>
        <p:txBody>
          <a:bodyPr/>
          <a:lstStyle/>
          <a:p>
            <a:pPr lvl="0" indent="0" marL="0">
              <a:buNone/>
            </a:pPr>
            <a:r>
              <a:rPr/>
              <a:t>Questions?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964692"/>
            <a:ext cx="9997440" cy="118872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Looking Ahead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Finish the Lab 09 worksheet</a:t>
            </a:r>
            <a:r>
              <a:rPr/>
              <a:t> — decisions first, then SPSS, then write-ups</a:t>
            </a:r>
          </a:p>
          <a:p>
            <a:pPr lvl="0"/>
            <a:r>
              <a:rPr/>
              <a:t>Bring your results forward: </a:t>
            </a:r>
            <a:r>
              <a:rPr b="1"/>
              <a:t>Lab 10 is peer review</a:t>
            </a:r>
            <a:r>
              <a:rPr/>
              <a:t> of the project reports, and your analyses are the heart of your Results section.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964692"/>
            <a:ext cx="9997440" cy="118872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Assignments &amp; Reminders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Given this week:</a:t>
            </a:r>
          </a:p>
          <a:p>
            <a:pPr lvl="0"/>
            <a:r>
              <a:rPr/>
              <a:t>Complete FULL DRAFT of Research Project Report (Intro Method Results Discussion)</a:t>
            </a:r>
          </a:p>
          <a:p>
            <a:pPr lvl="0" indent="0" marL="0">
              <a:buNone/>
            </a:pPr>
            <a:r>
              <a:rPr b="1"/>
              <a:t>Due this week:</a:t>
            </a:r>
          </a:p>
          <a:p>
            <a:pPr lvl="0"/>
            <a:r>
              <a:rPr/>
              <a:t>Lab 08: ANOVA worksheet</a:t>
            </a:r>
          </a:p>
          <a:p>
            <a:pPr lvl="0" indent="0" marL="0">
              <a:buNone/>
            </a:pPr>
            <a:r>
              <a:rPr/>
              <a:t>Submit to your lab section in Canvas by 11:59pm the day before your lab meets.</a:t>
            </a:r>
          </a:p>
        </p:txBody>
      </p:sp>
    </p:spTree>
  </p:cSld>
</p:sld>
</file>

<file path=ppt/theme/theme1.xml><?xml version="1.0" encoding="utf-8"?>
<a:theme xmlns:a="http://schemas.openxmlformats.org/drawingml/2006/main" name="Parcel">
  <a:themeElements>
    <a:clrScheme name="Custom 3">
      <a:dk1>
        <a:srgbClr val="000000"/>
      </a:dk1>
      <a:lt1>
        <a:srgbClr val="FFFFFF"/>
      </a:lt1>
      <a:dk2>
        <a:srgbClr val="4A5356"/>
      </a:dk2>
      <a:lt2>
        <a:srgbClr val="E8E3CE"/>
      </a:lt2>
      <a:accent1>
        <a:srgbClr val="F6A21D"/>
      </a:accent1>
      <a:accent2>
        <a:srgbClr val="5E5E5E"/>
      </a:accent2>
      <a:accent3>
        <a:srgbClr val="005392"/>
      </a:accent3>
      <a:accent4>
        <a:srgbClr val="FEFB00"/>
      </a:accent4>
      <a:accent5>
        <a:srgbClr val="87795D"/>
      </a:accent5>
      <a:accent6>
        <a:srgbClr val="A0988C"/>
      </a:accent6>
      <a:hlink>
        <a:srgbClr val="005392"/>
      </a:hlink>
      <a:folHlink>
        <a:srgbClr val="738F97"/>
      </a:folHlink>
    </a:clrScheme>
    <a:fontScheme name="Parcel">
      <a:majorFont>
        <a:latin typeface="Gill Sans MT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Gill Sans MT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Parcel">
      <a:fillStyleLst>
        <a:solidFill>
          <a:schemeClr val="phClr"/>
        </a:solidFill>
        <a:gradFill rotWithShape="1">
          <a:gsLst>
            <a:gs pos="0">
              <a:schemeClr val="phClr">
                <a:tint val="80000"/>
                <a:satMod val="107000"/>
                <a:lumMod val="103000"/>
              </a:schemeClr>
            </a:gs>
            <a:gs pos="100000">
              <a:schemeClr val="phClr">
                <a:tint val="82000"/>
                <a:satMod val="109000"/>
                <a:lumMod val="103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7000"/>
                <a:satMod val="100000"/>
                <a:lumMod val="102000"/>
              </a:schemeClr>
            </a:gs>
            <a:gs pos="50000">
              <a:schemeClr val="phClr">
                <a:shade val="100000"/>
                <a:satMod val="103000"/>
                <a:lumMod val="100000"/>
              </a:schemeClr>
            </a:gs>
            <a:gs pos="100000">
              <a:schemeClr val="phClr">
                <a:shade val="93000"/>
                <a:satMod val="110000"/>
                <a:lumMod val="99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317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5880" dist="15240" dir="5400000" algn="ctr" rotWithShape="0">
              <a:srgbClr val="000000">
                <a:alpha val="45000"/>
              </a:srgbClr>
            </a:outerShdw>
          </a:effectLst>
          <a:scene3d>
            <a:camera prst="orthographicFront">
              <a:rot lat="0" lon="0" rev="0"/>
            </a:camera>
            <a:lightRig rig="brightRoom" dir="tl"/>
          </a:scene3d>
          <a:sp3d prstMaterial="dkEdge">
            <a:bevelT w="0" h="0"/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7000"/>
                <a:shade val="100000"/>
                <a:satMod val="185000"/>
                <a:lumMod val="120000"/>
              </a:schemeClr>
            </a:gs>
            <a:gs pos="100000">
              <a:schemeClr val="phClr">
                <a:tint val="96000"/>
                <a:shade val="95000"/>
                <a:satMod val="215000"/>
                <a:lumMod val="80000"/>
              </a:schemeClr>
            </a:gs>
          </a:gsLst>
          <a:path path="circle">
            <a:fillToRect l="50000" t="55000" r="125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arcel" id="{8BEC4385-4EB9-4D53-BFB5-0EA123736B6D}" vid="{4DB32801-28C0-48B0-8C1D-A9A58613615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Parcel</Template>
  <TotalTime>4</TotalTime>
  <Words>0</Words>
  <Application>Microsoft Macintosh PowerPoint</Application>
  <PresentationFormat>Widescreen</PresentationFormat>
  <Paragraphs>0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Gill Sans MT</vt:lpstr>
      <vt:lpstr>Parcel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Project Analyses</dc:title>
  <dc:creator>PSYCH 350-Lab</dc:creator>
  <cp:keywords/>
  <dcterms:created xsi:type="dcterms:W3CDTF">2026-08-13T23:51:33Z</dcterms:created>
  <dcterms:modified xsi:type="dcterms:W3CDTF">2026-08-13T23:51:33Z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_quarto-vars">
    <vt:lpwstr/>
  </property>
  <property fmtid="{D5CDD505-2E9C-101B-9397-08002B2CF9AE}" pid="3" name="authors">
    <vt:lpwstr/>
  </property>
  <property fmtid="{D5CDD505-2E9C-101B-9397-08002B2CF9AE}" pid="4" name="back-to-top-navigation">
    <vt:lpwstr>True</vt:lpwstr>
  </property>
  <property fmtid="{D5CDD505-2E9C-101B-9397-08002B2CF9AE}" pid="5" name="biblio-config">
    <vt:lpwstr>True</vt:lpwstr>
  </property>
  <property fmtid="{D5CDD505-2E9C-101B-9397-08002B2CF9AE}" pid="6" name="by-author">
    <vt:lpwstr/>
  </property>
  <property fmtid="{D5CDD505-2E9C-101B-9397-08002B2CF9AE}" pid="7" name="engines">
    <vt:lpwstr/>
  </property>
  <property fmtid="{D5CDD505-2E9C-101B-9397-08002B2CF9AE}" pid="8" name="execute">
    <vt:lpwstr/>
  </property>
  <property fmtid="{D5CDD505-2E9C-101B-9397-08002B2CF9AE}" pid="9" name="header-includes">
    <vt:lpwstr/>
  </property>
  <property fmtid="{D5CDD505-2E9C-101B-9397-08002B2CF9AE}" pid="10" name="include-after">
    <vt:lpwstr/>
  </property>
  <property fmtid="{D5CDD505-2E9C-101B-9397-08002B2CF9AE}" pid="11" name="include-back-link">
    <vt:lpwstr>False</vt:lpwstr>
  </property>
  <property fmtid="{D5CDD505-2E9C-101B-9397-08002B2CF9AE}" pid="12" name="include-before">
    <vt:lpwstr/>
  </property>
  <property fmtid="{D5CDD505-2E9C-101B-9397-08002B2CF9AE}" pid="13" name="knitr">
    <vt:lpwstr>True</vt:lpwstr>
  </property>
  <property fmtid="{D5CDD505-2E9C-101B-9397-08002B2CF9AE}" pid="14" name="labels">
    <vt:lpwstr/>
  </property>
  <property fmtid="{D5CDD505-2E9C-101B-9397-08002B2CF9AE}" pid="15" name="nebraska-pptx">
    <vt:lpwstr/>
  </property>
  <property fmtid="{D5CDD505-2E9C-101B-9397-08002B2CF9AE}" pid="16" name="revealjs-plugins">
    <vt:lpwstr/>
  </property>
  <property fmtid="{D5CDD505-2E9C-101B-9397-08002B2CF9AE}" pid="17" name="subtitle">
    <vt:lpwstr>Lab 09</vt:lpwstr>
  </property>
  <property fmtid="{D5CDD505-2E9C-101B-9397-08002B2CF9AE}" pid="18" name="toc-title">
    <vt:lpwstr>Table of contents</vt:lpwstr>
  </property>
</Properties>
</file>