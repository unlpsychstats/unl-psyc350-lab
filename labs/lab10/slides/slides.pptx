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>
  <p:sldMasterIdLst>
    <p:sldMasterId id="2147483696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24"/>
    <p:restoredTop sz="94694"/>
  </p:normalViewPr>
  <p:slideViewPr>
    <p:cSldViewPr snapToGrid="0">
      <p:cViewPr varScale="1">
        <p:scale>
          <a:sx d="100" n="119"/>
          <a:sy d="100" n="119"/>
        </p:scale>
        <p:origin x="232" y="23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19" Type="http://schemas.openxmlformats.org/officeDocument/2006/relationships/presProps" Target="presProps.xml" /><Relationship Id="rId20" Type="http://schemas.openxmlformats.org/officeDocument/2006/relationships/viewProps" Target="viewProps.xml" /><Relationship Id="rId21" Type="http://schemas.openxmlformats.org/officeDocument/2006/relationships/theme" Target="theme/theme1.xml" /><Relationship Id="rId22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students and confirm that each person has a readable draft. The worksheet structures two distinct tasks: giving feedback and planning a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reviewer is not grading or rewriting the paper. Their job is to provide evidence about the reading experience and actionable revision ideas.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not begin by correcting commas. The worksheet’s first pass focuses on overall structure and appearance.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an example aloud. “This paragraph is bad” offers no diagnosis or next step; naming the missing connection makes the feedback 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Specific feedback points to a location, a reader effect, and an action. The reviewer can offer options without dictating exact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introduction should synthesize sources rather than provide three disconnected article summaries. Each paragraph should help justify the current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should do argumentative work. Flag citations that are present but not integrated into the paper’s rationale.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prediction is directional, the cited rationale should support that direction. Make sure the later method and results analyze the same variables.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method should be detailed enough to reproduce the analysis without narrating irrelevant interface clicks.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reviewer should compare the prose, tables, and hypotheses for consistency. Numbers should agree across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discussion should explain what the results mean without simply repeating the results section or making claims the design cannot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edits matter, but they should not consume the time needed for major revisions. The worksheet deliberately orders content review before polish.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author does not need to accept every suggestion. They do need to understand the reader problem each comment reveals.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Encourage authors to write a short action list. Revising in priority order prevents polishing text that will later be deleted or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Leave enough time for the exchange back and the author’s revision plan. Both giving and using feedback are assessed skills.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4352544"/>
            <a:ext cx="9997440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2638044"/>
            <a:ext cx="9997440" cy="3101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352465"/>
            <a:ext cx="9997440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4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w="31750">
            <a:solidFill>
              <a:srgbClr val="404040"/>
            </a:solidFill>
            <a:miter lim="800000"/>
          </a:ln>
        </p:spPr>
        <p:txBody>
          <a:bodyPr anchor="ctr" bIns="182880" lIns="182880" rIns="182880" rtlCol="0" tIns="18288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dirty="0" lang="en-US"/>
              <a:t>1/22/26</a:t>
            </a:fld>
            <a:endParaRPr dirty="0"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dirty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anchor="ctr" bIns="45720" lIns="18288" rIns="18288" rtlCol="0" tIns="45720" vert="horz">
            <a:noAutofit/>
          </a:bodyPr>
          <a:lstStyle>
            <a:lvl1pPr algn="ctr">
              <a:defRPr baseline="0" spc="0" sz="110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dirty="0" lang="en-US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dt="0" ftr="0" hdr="0" sldNum="0"/>
  <p:txStyles>
    <p:titleStyle>
      <a:lvl1pPr algn="ctr" defTabSz="914400" eaLnBrk="1" hangingPunct="1" latinLnBrk="0" rtl="0">
        <a:lnSpc>
          <a:spcPct val="90000"/>
        </a:lnSpc>
        <a:spcBef>
          <a:spcPct val="0"/>
        </a:spcBef>
        <a:buNone/>
        <a:defRPr baseline="0" cap="all" kern="1200" spc="200" sz="280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4572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6858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9144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11430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131286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148431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165735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1882775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Relationship Id="rId3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6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2.xml" /><Relationship Id="rId3" Type="http://schemas.openxmlformats.org/officeDocument/2006/relationships/image" Target="../media/image1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2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5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Review the Draft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097280" y="4352544"/>
            <a:ext cx="9997440" cy="1239894"/>
          </a:xfrm>
          <a:noFill/>
        </p:spPr>
        <p:txBody>
          <a:bodyPr/>
          <a:lstStyle/>
          <a:p>
            <a:pPr lvl="0" indent="0" marL="0">
              <a:buNone/>
            </a:pPr>
            <a:r>
              <a:rPr/>
              <a:t>Lab 10 · Peer Review and Revision</a:t>
            </a:r>
            <a:br/>
            <a:br/>
            <a:r>
              <a:rPr/>
              <a:t>PSYC 350 Laboratory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Prepare the review exchange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Worksheet:</a:t>
            </a:r>
            <a:r>
              <a:rPr/>
              <a:t> Lab 10 Peer Review</a:t>
            </a:r>
          </a:p>
          <a:p>
            <a:pPr lvl="0"/>
            <a:r>
              <a:rPr b="1"/>
              <a:t>Draft:</a:t>
            </a:r>
            <a:r>
              <a:rPr/>
              <a:t> complete enough to evaluate</a:t>
            </a:r>
          </a:p>
          <a:p>
            <a:pPr lvl="0"/>
            <a:r>
              <a:rPr b="1"/>
              <a:t>Role:</a:t>
            </a:r>
            <a:r>
              <a:rPr/>
              <a:t> reviewer first, author second</a:t>
            </a:r>
          </a:p>
          <a:p>
            <a:pPr lvl="0" indent="0" marL="0">
              <a:buNone/>
            </a:pPr>
            <a:r>
              <a:rPr/>
              <a:t>Today’s path: </a:t>
            </a:r>
            <a:r>
              <a:rPr b="1"/>
              <a:t>survey → diagnose → suggest → triage → revise</a:t>
            </a:r>
          </a:p>
        </p:txBody>
      </p:sp>
      <p:pic>
        <p:nvPicPr>
          <p:cNvPr descr="A collage of APA manuals representing the final style and formatting pass after substantive revision is complet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7124700" y="2628900"/>
            <a:ext cx="30226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Peer review serves the reader</a:t>
            </a:r>
          </a:p>
        </p:txBody>
      </p:sp>
      <p:pic>
        <p:nvPicPr>
          <p:cNvPr descr="A cartoon showing how people can interpret the same statement differently, illustrating why reader confusion is useful revision evidenc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409700" y="2628900"/>
            <a:ext cx="42672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useful review tells the author:</a:t>
            </a:r>
          </a:p>
          <a:p>
            <a:pPr lvl="0" indent="-457200" marL="457200">
              <a:buAutoNum type="arabicPeriod"/>
            </a:pPr>
            <a:r>
              <a:rPr/>
              <a:t>what the draft communicates</a:t>
            </a:r>
          </a:p>
          <a:p>
            <a:pPr lvl="0" indent="-457200" marL="457200">
              <a:buAutoNum type="arabicPeriod"/>
            </a:pPr>
            <a:r>
              <a:rPr/>
              <a:t>where the reader is unsure</a:t>
            </a:r>
          </a:p>
          <a:p>
            <a:pPr lvl="0" indent="-457200" marL="457200">
              <a:buAutoNum type="arabicPeriod"/>
            </a:pPr>
            <a:r>
              <a:rPr/>
              <a:t>a revision to try</a:t>
            </a:r>
          </a:p>
          <a:p>
            <a:pPr lvl="0" indent="0" marL="0">
              <a:buNone/>
            </a:pPr>
            <a:r>
              <a:rPr/>
              <a:t>Report the reading experience; do not grade the writer.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Read once for the whole paper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the first pass, ask:</a:t>
            </a:r>
          </a:p>
          <a:p>
            <a:pPr lvl="0"/>
            <a:r>
              <a:rPr/>
              <a:t>What is the paper’s main question?</a:t>
            </a:r>
          </a:p>
          <a:p>
            <a:pPr lvl="0"/>
            <a:r>
              <a:rPr/>
              <a:t>What story connects the sections?</a:t>
            </a:r>
          </a:p>
          <a:p>
            <a:pPr lvl="0"/>
            <a:r>
              <a:rPr/>
              <a:t>Where is the organization clear?</a:t>
            </a:r>
          </a:p>
          <a:p>
            <a:pPr lvl="0"/>
            <a:r>
              <a:rPr/>
              <a:t>Where do you lose the thread?</a:t>
            </a:r>
          </a:p>
        </p:txBody>
      </p:sp>
      <p:pic>
        <p:nvPicPr>
          <p:cNvPr descr="A funnel narrowing from a broad opening to a focused point, illustrating the expected structure of a research introduction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70866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Use one feedback formula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Describe:</a:t>
            </a:r>
            <a:r>
              <a:rPr/>
              <a:t> What did you notice?</a:t>
            </a:r>
          </a:p>
          <a:p>
            <a:pPr lvl="0" indent="-457200" marL="457200">
              <a:buAutoNum type="arabicPeriod"/>
            </a:pPr>
            <a:r>
              <a:rPr b="1"/>
              <a:t>Diagnose:</a:t>
            </a:r>
            <a:r>
              <a:rPr/>
              <a:t> Why does it affect the reader?</a:t>
            </a:r>
          </a:p>
          <a:p>
            <a:pPr lvl="0" indent="-457200" marL="457200">
              <a:buAutoNum type="arabicPeriod"/>
            </a:pPr>
            <a:r>
              <a:rPr b="1"/>
              <a:t>Suggest:</a:t>
            </a:r>
            <a:r>
              <a:rPr/>
              <a:t> What realistic move comes next?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Make comments 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Weak</a:t>
            </a:r>
          </a:p>
          <a:p>
            <a:pPr lvl="0" indent="0" marL="0">
              <a:buNone/>
            </a:pPr>
            <a:r>
              <a:rPr/>
              <a:t>This section is confusing.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</a:t>
            </a:r>
          </a:p>
          <a:p>
            <a:pPr lvl="0" indent="0" marL="0">
              <a:buNone/>
            </a:pPr>
            <a:r>
              <a:rPr/>
              <a:t>This paragraph introduces a new construct without connecting it to the core variable. Add a transition and define that relationship.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Review the introduction’s funnel</a:t>
            </a:r>
          </a:p>
        </p:txBody>
      </p:sp>
      <p:pic>
        <p:nvPicPr>
          <p:cNvPr descr="A funnel narrowing from a broad opening to a focused point, illustrating the expected structure of a research introduction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Does the introduction narrow from:</a:t>
            </a:r>
          </a:p>
          <a:p>
            <a:pPr lvl="0" indent="-457200" marL="457200">
              <a:buAutoNum type="arabicPeriod"/>
            </a:pPr>
            <a:r>
              <a:rPr/>
              <a:t>topic and construct</a:t>
            </a:r>
          </a:p>
          <a:p>
            <a:pPr lvl="0" indent="-457200" marL="457200">
              <a:buAutoNum type="arabicPeriod"/>
            </a:pPr>
            <a:r>
              <a:rPr/>
              <a:t>prior evidence</a:t>
            </a:r>
          </a:p>
          <a:p>
            <a:pPr lvl="0" indent="-457200" marL="457200">
              <a:buAutoNum type="arabicPeriod"/>
            </a:pPr>
            <a:r>
              <a:rPr/>
              <a:t>unresolved gap</a:t>
            </a:r>
          </a:p>
          <a:p>
            <a:pPr lvl="0" indent="-457200" marL="457200">
              <a:buAutoNum type="arabicPeriod"/>
            </a:pPr>
            <a:r>
              <a:rPr/>
              <a:t>current question</a:t>
            </a:r>
          </a:p>
          <a:p>
            <a:pPr lvl="0" indent="-457200" marL="457200">
              <a:buAutoNum type="arabicPeriod"/>
            </a:pPr>
            <a:r>
              <a:rPr/>
              <a:t>directional hypotheses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Test every cited article</a:t>
            </a:r>
          </a:p>
        </p:txBody>
      </p:sp>
      <p:pic>
        <p:nvPicPr>
          <p:cNvPr descr="An annotated research-article abstract illustrating how a reviewer checks what a cited study actually found and how it supports the draft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244600" y="2628900"/>
            <a:ext cx="45974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source, ask:</a:t>
            </a:r>
          </a:p>
          <a:p>
            <a:pPr lvl="0"/>
            <a:r>
              <a:rPr/>
              <a:t>Why is it here?</a:t>
            </a:r>
          </a:p>
          <a:p>
            <a:pPr lvl="0"/>
            <a:r>
              <a:rPr/>
              <a:t>What claim does it support?</a:t>
            </a:r>
          </a:p>
          <a:p>
            <a:pPr lvl="0"/>
            <a:r>
              <a:rPr/>
              <a:t>Is its design described accurately?</a:t>
            </a:r>
          </a:p>
          <a:p>
            <a:pPr lvl="0"/>
            <a:r>
              <a:rPr/>
              <a:t>Does the next sentence explain its relevance?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 Check each 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reader should be able to identify:</a:t>
            </a:r>
          </a:p>
          <a:p>
            <a:pPr lvl="0"/>
            <a:r>
              <a:rPr/>
              <a:t>the variables</a:t>
            </a:r>
          </a:p>
          <a:p>
            <a:pPr lvl="0"/>
            <a:r>
              <a:rPr/>
              <a:t>groups or levels</a:t>
            </a:r>
          </a:p>
          <a:p>
            <a:pPr lvl="0"/>
            <a:r>
              <a:rPr/>
              <a:t>the predicted direction</a:t>
            </a:r>
          </a:p>
          <a:p>
            <a:pPr lvl="0"/>
            <a:r>
              <a:rPr/>
              <a:t>the connection to prior evidence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aloud</a:t>
            </a:r>
          </a:p>
          <a:p>
            <a:pPr lvl="0" indent="0" marL="0">
              <a:buNone/>
            </a:pPr>
            <a:r>
              <a:rPr/>
              <a:t>Could a classmate sketch the expected pattern from the sentence alone?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9 Review the method for replication</a:t>
            </a:r>
          </a:p>
        </p:txBody>
      </p:sp>
      <p:pic>
        <p:nvPicPr>
          <p:cNvPr descr="A humorous recipe-style graphic illustrating that a method section should let another researcher reproduce the work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as if you had to repeat the study:</a:t>
            </a:r>
          </a:p>
          <a:p>
            <a:pPr lvl="0" indent="-457200" marL="457200">
              <a:buAutoNum type="arabicPeriod"/>
            </a:pPr>
            <a:r>
              <a:rPr/>
              <a:t>Who or what was sampled?</a:t>
            </a:r>
          </a:p>
          <a:p>
            <a:pPr lvl="0" indent="-457200" marL="457200">
              <a:buAutoNum type="arabicPeriod"/>
            </a:pPr>
            <a:r>
              <a:rPr/>
              <a:t>How were variables measured or coded?</a:t>
            </a:r>
          </a:p>
          <a:p>
            <a:pPr lvl="0" indent="-457200" marL="457200">
              <a:buAutoNum type="arabicPeriod"/>
            </a:pPr>
            <a:r>
              <a:rPr/>
              <a:t>What happened, in order?</a:t>
            </a:r>
          </a:p>
          <a:p>
            <a:pPr lvl="0" indent="-457200" marL="457200">
              <a:buAutoNum type="arabicPeriod"/>
            </a:pPr>
            <a:r>
              <a:rPr/>
              <a:t>What data decisions were made?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 Review results without rewriting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that the Results section:</a:t>
            </a:r>
          </a:p>
          <a:p>
            <a:pPr lvl="0"/>
            <a:r>
              <a:rPr/>
              <a:t>follows the RH order</a:t>
            </a:r>
          </a:p>
          <a:p>
            <a:pPr lvl="0"/>
            <a:r>
              <a:rPr/>
              <a:t>reports descriptives before tests</a:t>
            </a:r>
          </a:p>
          <a:p>
            <a:pPr lvl="0"/>
            <a:r>
              <a:rPr/>
              <a:t>includes required statistics</a:t>
            </a:r>
          </a:p>
          <a:p>
            <a:pPr lvl="0"/>
            <a:r>
              <a:rPr/>
              <a:t>refers to every table or figure</a:t>
            </a:r>
          </a:p>
          <a:p>
            <a:pPr lvl="0"/>
            <a:r>
              <a:rPr/>
              <a:t>saves interpretation for Discussion</a:t>
            </a:r>
          </a:p>
        </p:txBody>
      </p:sp>
      <p:pic>
        <p:nvPicPr>
          <p:cNvPr descr="A marked-up page with highlighted passages, illustrating a reviewer tracing consistency among hypotheses, statistics, tables, and pros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7505700" y="2628900"/>
            <a:ext cx="22606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Review the discussion’s story</a:t>
            </a:r>
          </a:p>
        </p:txBody>
      </p:sp>
      <p:pic>
        <p:nvPicPr>
          <p:cNvPr descr="A humorous breakdown graphic used to illustrate that a discussion should organize findings into a coherent story rather than merely repeat result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68500" y="2628900"/>
            <a:ext cx="31369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for:</a:t>
            </a:r>
          </a:p>
          <a:p>
            <a:pPr lvl="0" indent="-457200" marL="457200">
              <a:buAutoNum type="arabicPeriod"/>
            </a:pPr>
            <a:r>
              <a:rPr/>
              <a:t>answers to the research questions</a:t>
            </a:r>
          </a:p>
          <a:p>
            <a:pPr lvl="0" indent="-457200" marL="457200">
              <a:buAutoNum type="arabicPeriod"/>
            </a:pPr>
            <a:r>
              <a:rPr/>
              <a:t>links back to prior literature</a:t>
            </a:r>
          </a:p>
          <a:p>
            <a:pPr lvl="0" indent="-457200" marL="457200">
              <a:buAutoNum type="arabicPeriod"/>
            </a:pPr>
            <a:r>
              <a:rPr/>
              <a:t>calibrated interpretation</a:t>
            </a:r>
          </a:p>
          <a:p>
            <a:pPr lvl="0" indent="-457200" marL="457200">
              <a:buAutoNum type="arabicPeriod"/>
            </a:pPr>
            <a:r>
              <a:rPr/>
              <a:t>validity-specific limitations</a:t>
            </a:r>
          </a:p>
          <a:p>
            <a:pPr lvl="0" indent="-457200" marL="457200">
              <a:buAutoNum type="arabicPeriod"/>
            </a:pPr>
            <a:r>
              <a:rPr/>
              <a:t>a justified next study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12 Save APA polish for last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content and structure, check:</a:t>
            </a:r>
          </a:p>
          <a:p>
            <a:pPr lvl="0"/>
            <a:r>
              <a:rPr/>
              <a:t>headings and section order</a:t>
            </a:r>
          </a:p>
          <a:p>
            <a:pPr lvl="0"/>
            <a:r>
              <a:rPr/>
              <a:t>citations and references</a:t>
            </a:r>
          </a:p>
          <a:p>
            <a:pPr lvl="0"/>
            <a:r>
              <a:rPr/>
              <a:t>statistical notation</a:t>
            </a:r>
          </a:p>
          <a:p>
            <a:pPr lvl="0"/>
            <a:r>
              <a:rPr/>
              <a:t>table and figure formatting</a:t>
            </a:r>
          </a:p>
          <a:p>
            <a:pPr lvl="0"/>
            <a:r>
              <a:rPr/>
              <a:t>proofreading and consistency</a:t>
            </a:r>
          </a:p>
        </p:txBody>
      </p:sp>
      <p:pic>
        <p:nvPicPr>
          <p:cNvPr descr="A collage of APA manuals representing the final style and formatting pass after substantive revision is complet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7124700" y="2628900"/>
            <a:ext cx="30226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13 Receive feedback without defending</a:t>
            </a:r>
          </a:p>
        </p:txBody>
      </p:sp>
      <p:pic>
        <p:nvPicPr>
          <p:cNvPr descr="A cartoon showing how people can interpret the same statement differently, illustrating why reader confusion is useful revision evidenc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409700" y="2628900"/>
            <a:ext cx="42672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draft returns:</a:t>
            </a:r>
          </a:p>
          <a:p>
            <a:pPr lvl="0" indent="-457200" marL="457200">
              <a:buAutoNum type="arabicPeriod"/>
            </a:pPr>
            <a:r>
              <a:rPr/>
              <a:t>Read every comment.</a:t>
            </a:r>
          </a:p>
          <a:p>
            <a:pPr lvl="0" indent="-457200" marL="457200">
              <a:buAutoNum type="arabicPeriod"/>
            </a:pPr>
            <a:r>
              <a:rPr/>
              <a:t>Find repeated reader problems.</a:t>
            </a:r>
          </a:p>
          <a:p>
            <a:pPr lvl="0" indent="-457200" marL="457200">
              <a:buAutoNum type="arabicPeriod"/>
            </a:pPr>
            <a:r>
              <a:rPr/>
              <a:t>Separate high- from low-impact changes.</a:t>
            </a:r>
          </a:p>
          <a:p>
            <a:pPr lvl="0" indent="-457200" marL="457200">
              <a:buAutoNum type="arabicPeriod"/>
            </a:pPr>
            <a:r>
              <a:rPr/>
              <a:t>Ask for clarification when needed.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14 Turn comments into a plan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92200" y="2628900"/>
          <a:ext cx="9994900" cy="309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91100"/>
                <a:gridCol w="499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Revision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Argument, missing evidence, or wrong analysis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Organization and explanation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Sentences, APA details, and proofreading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15 Complete both roles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Reviewer</a:t>
            </a:r>
          </a:p>
          <a:p>
            <a:pPr lvl="0" indent="0" marL="0">
              <a:buNone/>
            </a:pPr>
            <a:r>
              <a:rPr/>
              <a:t>• Finish the worksheet.</a:t>
            </a:r>
          </a:p>
          <a:p>
            <a:pPr lvl="0" indent="0" marL="0">
              <a:buNone/>
            </a:pPr>
            <a:r>
              <a:rPr/>
              <a:t>• Return the annotated draft.</a:t>
            </a:r>
          </a:p>
          <a:p>
            <a:pPr lvl="0" indent="0" marL="0">
              <a:buNone/>
            </a:pPr>
            <a:r>
              <a:rPr/>
              <a:t>• Make comments actionable.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Author</a:t>
            </a:r>
          </a:p>
          <a:p>
            <a:pPr lvl="0" indent="0" marL="0">
              <a:buNone/>
            </a:pPr>
            <a:r>
              <a:rPr/>
              <a:t>• Triage the feedback.</a:t>
            </a:r>
          </a:p>
          <a:p>
            <a:pPr lvl="0" indent="0" marL="0">
              <a:buNone/>
            </a:pPr>
            <a:r>
              <a:rPr/>
              <a:t>• Ask what is unclear.</a:t>
            </a:r>
          </a:p>
          <a:p>
            <a:pPr lvl="0" indent="0" marL="0">
              <a:buNone/>
            </a:pPr>
            <a:r>
              <a:rPr/>
              <a:t>• Write the revision plan first.</a:t>
            </a:r>
          </a:p>
        </p:txBody>
      </p:sp>
    </p:spTree>
  </p:cSld>
</p:sld>
</file>

<file path=ppt/theme/theme1.xml><?xml version="1.0" encoding="utf-8"?>
<a:theme xmlns:a="http://schemas.openxmlformats.org/drawingml/2006/main" name="Parcel">
  <a:themeElements>
    <a:clrScheme name="Custom 3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B65B00"/>
      </a:accent1>
      <a:accent2>
        <a:srgbClr val="5E5E5E"/>
      </a:accent2>
      <a:accent3>
        <a:srgbClr val="005392"/>
      </a:accent3>
      <a:accent4>
        <a:srgbClr val="FEFB00"/>
      </a:accent4>
      <a:accent5>
        <a:srgbClr val="87795D"/>
      </a:accent5>
      <a:accent6>
        <a:srgbClr val="A0988C"/>
      </a:accent6>
      <a:hlink>
        <a:srgbClr val="005392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Gill Sans MT</vt:lpstr>
      <vt:lpstr>Parcel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Review the Draft</dc:title>
  <dc:creator>PSYC 350 Laboratory</dc:creator>
  <cp:keywords/>
  <dcterms:created xsi:type="dcterms:W3CDTF">2026-09-02T01:11:56Z</dcterms:created>
  <dcterms:modified xsi:type="dcterms:W3CDTF">2026-09-02T01:11:56Z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ffiliations">
    <vt:lpwstr/>
  </property>
  <property fmtid="{D5CDD505-2E9C-101B-9397-08002B2CF9AE}" pid="4" name="authors">
    <vt:lpwstr/>
  </property>
  <property fmtid="{D5CDD505-2E9C-101B-9397-08002B2CF9AE}" pid="5" name="back-to-top-navigation">
    <vt:lpwstr>True</vt:lpwstr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ack-link">
    <vt:lpwstr>False</vt:lpwstr>
  </property>
  <property fmtid="{D5CDD505-2E9C-101B-9397-08002B2CF9AE}" pid="13" name="include-before">
    <vt:lpwstr/>
  </property>
  <property fmtid="{D5CDD505-2E9C-101B-9397-08002B2CF9AE}" pid="14" name="institute">
    <vt:lpwstr>University of Nebraska–Lincoln</vt:lpwstr>
  </property>
  <property fmtid="{D5CDD505-2E9C-101B-9397-08002B2CF9AE}" pid="15" name="institutes">
    <vt:lpwstr/>
  </property>
  <property fmtid="{D5CDD505-2E9C-101B-9397-08002B2CF9AE}" pid="16" name="labels">
    <vt:lpwstr/>
  </property>
  <property fmtid="{D5CDD505-2E9C-101B-9397-08002B2CF9AE}" pid="17" name="nebraska-pptx">
    <vt:lpwstr/>
  </property>
  <property fmtid="{D5CDD505-2E9C-101B-9397-08002B2CF9AE}" pid="18" name="revealjs-plugins">
    <vt:lpwstr/>
  </property>
  <property fmtid="{D5CDD505-2E9C-101B-9397-08002B2CF9AE}" pid="19" name="subtitle">
    <vt:lpwstr>Lab 10 · Peer Review and Revision</vt:lpwstr>
  </property>
  <property fmtid="{D5CDD505-2E9C-101B-9397-08002B2CF9AE}" pid="20" name="toc-title">
    <vt:lpwstr>Table of contents</vt:lpwstr>
  </property>
</Properties>
</file>