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notesMaster" Target="notesMasters/notesMaster1.xml" /><Relationship Id="rId1" Type="http://schemas.openxmlformats.org/officeDocument/2006/relationships/slideMaster" Target="slideMasters/slideMaster1.xml" /><Relationship Id="rId18" Type="http://schemas.openxmlformats.org/officeDocument/2006/relationships/presProps" Target="presProps.xml" /><Relationship Id="rId19" Type="http://schemas.openxmlformats.org/officeDocument/2006/relationships/viewProps" Target="viewProps.xml" /><Relationship Id="rId20" Type="http://schemas.openxmlformats.org/officeDocument/2006/relationships/theme" Target="theme/theme1.xml" /><Relationship Id="rId2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course page asks students to bring two printed copies. The worksheet begins with structure and appearance, then moves through the paper’s content. These slides support that review; use the worksheet for the full set of items.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bullet needs a response. A check without a page number is incomplete under the worksheet instructions. Throughout the review, identify typos, misspellings, and awkward sentences, and suggest clearer wording where needed.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an example of useful feedback, not a required wording formula. Keep comments focused on the draft. A reviewer can describe what was unclear without supplying a replacement paragraph.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Follow the assignment’s formatting requirements. Check that every in-text citation has a reference entry and every reference entry is cited in the paper. This is the worksheet’s first pass; continue checking sentence clarity as you read for content.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Review each article’s citation, role, and level of detail. Then consider the set: does the order help readers follow the reasoning, and does the introduction explain how the studies connect? An introduction needs more than separate article summaries.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worksheet asks for research hypotheses: what the author expects to find. Correlation and chi-square concern associations; the ANOVA options concern mean comparisons. Avoid describing means for a correlation or chi-square, or a mean difference “between the IV and DV.” Check that the Method and Results use the same variables as the hypotheses.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Ingredient names alone do not tell someone how to make the soup. Similarly, naming a questionnaire does not explain its format or what it measures. Check the participant count, recruitment, measures, scale citations where needed, and procedure. The worksheet also asks for an appropriate sample summary and a correctly formatted table or figure referenced in the text.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Check the statistics appropriate to the test, including r, chi-square, or F, degrees of freedom, MSe where required, and p. Compare the stated significance with the reported p value. Association language belongs with correlation or chi-square; mean-comparison language belongs with ANOVA. Use the worksheet to check the reporting details.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meme is a reminder to compare the explanation with the findings. The worksheet asks whether the results replicate, differ from, or extend earlier work. The proposed next study needs a question, an expected pattern, and a reason it would be useful. Keep the interpretation within what the design and data support.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abstract after reviewing the full paper so you can compare the summary with the study itself. Use the worksheet’s two comment spaces to identify what could be shortened and what is missing.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the author and reviewer sign the worksheet’s grading page. The author keeps that page attached to the completed review and submits the review with the final research report. Allow time to clarify comments. Address content and analysis problems before sentence edits; a separate revision plan is not required.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26080"/>
            <a:ext cx="4907280" cy="31775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187440" y="2926080"/>
            <a:ext cx="4907280" cy="317754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18744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a:xfrm>
            <a:off x="1097280" y="964692"/>
            <a:ext cx="9997440" cy="1188720"/>
          </a:xfrm>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unlpsychstats.github.io/UNL-PSYC350-LAB/lab-materials/lab10/lab10_peerreview.docx"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 Id="rId3"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Review the Draft</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10 · Peer Review and Revision</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Prepare the peer review</a:t>
            </a:r>
          </a:p>
        </p:txBody>
      </p:sp>
      <p:sp>
        <p:nvSpPr>
          <p:cNvPr id="1001" name="card-steel" descr="card: Review worksheet. Lab 10 worksheet (Word) Use the worksheet to guide both passes"/>
          <p:cNvSpPr/>
          <p:nvPr/>
        </p:nvSpPr>
        <p:spPr>
          <a:xfrm>
            <a:off x="1097280" y="2633472"/>
            <a:ext cx="4924044" cy="16154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Review worksheet</a:t>
            </a:r>
          </a:p>
          <a:p>
            <a:pPr algn="l"/>
            <a:r>
              <a:rPr lang="en-US" sz="2000" b="0" dirty="0">
                <a:solidFill>
                  <a:srgbClr val="010B13"/>
                </a:solidFill>
                <a:hlinkClick r:id="rId3"/>
              </a:rPr>
              <a:t>Lab 10 worksheet (Word)</a:t>
            </a:r>
          </a:p>
          <a:p>
            <a:pPr algn="l"/>
            <a:r>
              <a:rPr lang="en-US" sz="2000" b="0" dirty="0">
                <a:solidFill>
                  <a:srgbClr val="010B13"/>
                </a:solidFill>
              </a:rPr>
              <a:t>Use the worksheet to guide both passes</a:t>
            </a:r>
          </a:p>
        </p:txBody>
      </p:sp>
      <p:sp>
        <p:nvSpPr>
          <p:cNvPr id="1002" name="card-rail" descr="">
            <a:extLst>
              <a:ext uri="{C183D7F6-B498-43B3-948B-1728B52AA6E4}">
                <adec:decorative xmlns:adec="http://schemas.microsoft.com/office/drawing/2017/decorative" val="1"/>
              </a:ext>
            </a:extLst>
          </p:cNvPr>
          <p:cNvSpPr/>
          <p:nvPr/>
        </p:nvSpPr>
        <p:spPr>
          <a:xfrm>
            <a:off x="1097280" y="2633472"/>
            <a:ext cx="54864" cy="16154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Bring your draft. • Bring two printed copies of your complete draft • Exchange drafts with a classmate • Keep the worksheet beside the paper"/>
          <p:cNvSpPr/>
          <p:nvPr/>
        </p:nvSpPr>
        <p:spPr>
          <a:xfrm>
            <a:off x="6167628" y="2633472"/>
            <a:ext cx="4924044" cy="2529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Bring your draft</a:t>
            </a:r>
          </a:p>
          <a:p>
            <a:pPr algn="l"/>
            <a:r>
              <a:rPr lang="en-US" sz="2000" b="0" dirty="0">
                <a:solidFill>
                  <a:srgbClr val="010B13"/>
                </a:solidFill>
              </a:rPr>
              <a:t>• Bring two printed copies of your complete draft</a:t>
            </a:r>
          </a:p>
          <a:p>
            <a:pPr algn="l"/>
            <a:r>
              <a:rPr lang="en-US" sz="2000" b="0" dirty="0">
                <a:solidFill>
                  <a:srgbClr val="010B13"/>
                </a:solidFill>
              </a:rPr>
              <a:t>• Exchange drafts with a classmate</a:t>
            </a:r>
          </a:p>
          <a:p>
            <a:pPr algn="l"/>
            <a:r>
              <a:rPr lang="en-US" sz="2000" b="0" dirty="0">
                <a:solidFill>
                  <a:srgbClr val="010B13"/>
                </a:solidFill>
              </a:rPr>
              <a:t>• Keep the worksheet beside the paper</a:t>
            </a:r>
          </a:p>
        </p:txBody>
      </p:sp>
      <p:sp>
        <p:nvSpPr>
          <p:cNvPr id="1004" name="card-rail" descr="">
            <a:extLst>
              <a:ext uri="{C183D7F6-B498-43B3-948B-1728B52AA6E4}">
                <adec:decorative xmlns:adec="http://schemas.microsoft.com/office/drawing/2017/decorative" val="1"/>
              </a:ext>
            </a:extLst>
          </p:cNvPr>
          <p:cNvSpPr/>
          <p:nvPr/>
        </p:nvSpPr>
        <p:spPr>
          <a:xfrm>
            <a:off x="6167628" y="2633472"/>
            <a:ext cx="54864" cy="25298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Respond to every worksheet item</a:t>
            </a:r>
          </a:p>
        </p:txBody>
      </p:sp>
      <p:sp>
        <p:nvSpPr>
          <p:cNvPr id="1005" name="card-steel" descr="card: If it meets the requirement. • Check or circle the worksheet item • Give the page number where you found it"/>
          <p:cNvSpPr/>
          <p:nvPr/>
        </p:nvSpPr>
        <p:spPr>
          <a:xfrm>
            <a:off x="1097280" y="2633472"/>
            <a:ext cx="4924044" cy="225552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If it meets the requirement</a:t>
            </a:r>
          </a:p>
          <a:p>
            <a:pPr algn="l"/>
            <a:r>
              <a:rPr lang="en-US" sz="2000" b="0" dirty="0">
                <a:solidFill>
                  <a:srgbClr val="010B13"/>
                </a:solidFill>
              </a:rPr>
              <a:t>• Check or circle the worksheet item</a:t>
            </a:r>
          </a:p>
          <a:p>
            <a:pPr algn="l"/>
            <a:r>
              <a:rPr lang="en-US" sz="2000" b="0" dirty="0">
                <a:solidFill>
                  <a:srgbClr val="010B13"/>
                </a:solidFill>
              </a:rPr>
              <a:t>• Give the page number where you found it</a:t>
            </a:r>
          </a:p>
        </p:txBody>
      </p:sp>
      <p:sp>
        <p:nvSpPr>
          <p:cNvPr id="1006" name="card-rail" descr="">
            <a:extLst>
              <a:ext uri="{C183D7F6-B498-43B3-948B-1728B52AA6E4}">
                <adec:decorative xmlns:adec="http://schemas.microsoft.com/office/drawing/2017/decorative" val="1"/>
              </a:ext>
            </a:extLst>
          </p:cNvPr>
          <p:cNvSpPr/>
          <p:nvPr/>
        </p:nvSpPr>
        <p:spPr>
          <a:xfrm>
            <a:off x="1097280" y="2633472"/>
            <a:ext cx="54864" cy="225552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7" name="card-steel" descr="card: If it needs revision. • Identify what needs attention • Add a comment or refer to one in the draft’s margin"/>
          <p:cNvSpPr/>
          <p:nvPr/>
        </p:nvSpPr>
        <p:spPr>
          <a:xfrm>
            <a:off x="6167628" y="2633472"/>
            <a:ext cx="4924044" cy="19202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If it needs revision</a:t>
            </a:r>
          </a:p>
          <a:p>
            <a:pPr algn="l"/>
            <a:r>
              <a:rPr lang="en-US" sz="2000" b="0" dirty="0">
                <a:solidFill>
                  <a:srgbClr val="010B13"/>
                </a:solidFill>
              </a:rPr>
              <a:t>• Identify what needs attention</a:t>
            </a:r>
          </a:p>
          <a:p>
            <a:pPr algn="l"/>
            <a:r>
              <a:rPr lang="en-US" sz="2000" b="0" dirty="0">
                <a:solidFill>
                  <a:srgbClr val="010B13"/>
                </a:solidFill>
              </a:rPr>
              <a:t>• Add a comment or refer to one in the draft’s margin</a:t>
            </a:r>
          </a:p>
        </p:txBody>
      </p:sp>
      <p:sp>
        <p:nvSpPr>
          <p:cNvPr id="1008" name="card-rail" descr="">
            <a:extLst>
              <a:ext uri="{C183D7F6-B498-43B3-948B-1728B52AA6E4}">
                <adec:decorative xmlns:adec="http://schemas.microsoft.com/office/drawing/2017/decorative" val="1"/>
              </a:ext>
            </a:extLst>
          </p:cNvPr>
          <p:cNvSpPr/>
          <p:nvPr/>
        </p:nvSpPr>
        <p:spPr>
          <a:xfrm>
            <a:off x="6167628" y="2633472"/>
            <a:ext cx="54864" cy="19202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Give a comment the author can use</a:t>
            </a:r>
          </a:p>
        </p:txBody>
      </p:sp>
      <p:sp>
        <p:nvSpPr>
          <p:cNvPr id="1009" name="prose" descr=""/>
          <p:cNvSpPr/>
          <p:nvPr/>
        </p:nvSpPr>
        <p:spPr>
          <a:xfrm>
            <a:off x="1097280" y="2633472"/>
            <a:ext cx="9994392" cy="208289"/>
          </a:xfrm>
          <a:prstGeom prst="roundRect">
            <a:avLst>
              <a:gd name="adj" fmla="val 6000"/>
            </a:avLst>
          </a:prstGeom>
          <a:noFill/>
          <a:ln>
            <a:noFill/>
          </a:ln>
        </p:spPr>
        <p:txBody>
          <a:bodyPr lIns="182880" tIns="0" rIns="182880" bIns="0" anchor="t" wrap="square">
            <a:normAutofit/>
          </a:bodyPr>
          <a:lstStyle/>
          <a:p>
            <a:pPr algn="l"/>
            <a:r>
              <a:rPr lang="en-US" sz="1366" b="0" dirty="0">
                <a:solidFill>
                  <a:srgbClr val="010B13"/>
                </a:solidFill>
              </a:rPr>
              <a:t>Identify the location, explain the problem, suggest a revision</a:t>
            </a:r>
          </a:p>
        </p:txBody>
      </p:sp>
      <p:sp>
        <p:nvSpPr>
          <p:cNvPr id="1010" name="card-steel" descr="card: “On page 3, I couldn’t tell how the second study supports your prediction. Add a sentence connecting its finding to the relationship you expect.”. "/>
          <p:cNvSpPr/>
          <p:nvPr/>
        </p:nvSpPr>
        <p:spPr>
          <a:xfrm>
            <a:off x="1097280" y="2988065"/>
            <a:ext cx="3233928" cy="1969586"/>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1503" b="1" dirty="0">
                <a:solidFill>
                  <a:srgbClr val="010B13"/>
                </a:solidFill>
              </a:rPr>
              <a:t>“On page 3, I couldn’t tell how the second study supports your prediction. Add a sentence connecting its finding to the relationship you expect.”</a:t>
            </a:r>
          </a:p>
        </p:txBody>
      </p:sp>
      <p:sp>
        <p:nvSpPr>
          <p:cNvPr id="1011" name="card-rail" descr="">
            <a:extLst>
              <a:ext uri="{C183D7F6-B498-43B3-948B-1728B52AA6E4}">
                <adec:decorative xmlns:adec="http://schemas.microsoft.com/office/drawing/2017/decorative" val="1"/>
              </a:ext>
            </a:extLst>
          </p:cNvPr>
          <p:cNvSpPr/>
          <p:nvPr/>
        </p:nvSpPr>
        <p:spPr>
          <a:xfrm>
            <a:off x="1097280" y="2988065"/>
            <a:ext cx="54864" cy="1969586"/>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12" name="prose" descr=""/>
          <p:cNvSpPr/>
          <p:nvPr/>
        </p:nvSpPr>
        <p:spPr>
          <a:xfrm>
            <a:off x="1097280" y="5103955"/>
            <a:ext cx="9994392" cy="208289"/>
          </a:xfrm>
          <a:prstGeom prst="roundRect">
            <a:avLst>
              <a:gd name="adj" fmla="val 6000"/>
            </a:avLst>
          </a:prstGeom>
          <a:noFill/>
          <a:ln>
            <a:noFill/>
          </a:ln>
        </p:spPr>
        <p:txBody>
          <a:bodyPr lIns="182880" tIns="0" rIns="182880" bIns="0" anchor="t" wrap="square">
            <a:normAutofit/>
          </a:bodyPr>
          <a:lstStyle/>
          <a:p>
            <a:pPr algn="l"/>
            <a:r>
              <a:rPr lang="en-US" sz="1366" b="0" dirty="0">
                <a:solidFill>
                  <a:srgbClr val="010B13"/>
                </a:solidFill>
              </a:rPr>
              <a:t>Use enough detail for the author to find and address the problem</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Check structure and appearance</a:t>
            </a:r>
          </a:p>
        </p:txBody>
      </p:sp>
      <p:sp>
        <p:nvSpPr>
          <p:cNvPr id="3" name="Content Placeholder 2"/>
          <p:cNvSpPr>
            <a:spLocks noGrp="1"/>
          </p:cNvSpPr>
          <p:nvPr>
            <p:ph idx="1"/>
          </p:nvPr>
        </p:nvSpPr>
        <p:spPr/>
        <p:txBody>
          <a:bodyPr/>
          <a:lstStyle/>
          <a:p>
            <a:pPr lvl="0" indent="0" marL="0">
              <a:buNone/>
            </a:pPr>
            <a:r>
              <a:rPr/>
              <a:t>[Pass 1]</a:t>
            </a:r>
          </a:p>
          <a:p>
            <a:pPr lvl="0"/>
            <a:r>
              <a:rPr/>
              <a:t>Font, size, and overall appearance</a:t>
            </a:r>
          </a:p>
          <a:p>
            <a:pPr lvl="0"/>
            <a:r>
              <a:rPr/>
              <a:t>Title-page information and placement</a:t>
            </a:r>
          </a:p>
          <a:p>
            <a:pPr lvl="0"/>
            <a:r>
              <a:rPr/>
              <a:t>Running head, page numbers, and headings</a:t>
            </a:r>
          </a:p>
          <a:p>
            <a:pPr lvl="0"/>
            <a:r>
              <a:rPr/>
              <a:t>Logical order of sections</a:t>
            </a:r>
          </a:p>
          <a:p>
            <a:pPr lvl="0"/>
            <a:r>
              <a:rPr/>
              <a:t>Citations and references that match in both directions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Connect the introduction to its sources</a:t>
            </a:r>
          </a:p>
        </p:txBody>
      </p:sp>
      <p:sp>
        <p:nvSpPr>
          <p:cNvPr id="3" name="Content Placeholder 2"/>
          <p:cNvSpPr>
            <a:spLocks noGrp="1"/>
          </p:cNvSpPr>
          <p:nvPr>
            <p:ph idx="1"/>
          </p:nvPr>
        </p:nvSpPr>
        <p:spPr/>
        <p:txBody>
          <a:bodyPr/>
          <a:lstStyle/>
          <a:p>
            <a:pPr lvl="0" indent="0" marL="0">
              <a:buNone/>
            </a:pPr>
            <a:r>
              <a:rPr/>
              <a:t>[Pass 2 · Introduction]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Connect the introduction to its sources (continued)</a:t>
            </a:r>
          </a:p>
        </p:txBody>
      </p:sp>
      <p:pic>
        <p:nvPicPr>
          <p:cNvPr descr="An orange funnel narrows from a wide opening to a small outlet, illustrating an introduction moving toward a focused research question" id="0" name="Picture 1"/>
          <p:cNvPicPr>
            <a:picLocks noGrp="1" noChangeAspect="1"/>
          </p:cNvPicPr>
          <p:nvPr/>
        </p:nvPicPr>
        <p:blipFill>
          <a:blip r:embed="rId3"/>
          <a:stretch>
            <a:fillRect/>
          </a:stretch>
        </p:blipFill>
        <p:spPr bwMode="auto">
          <a:xfrm>
            <a:off x="1993900" y="2628900"/>
            <a:ext cx="30988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a:t>Is the purpose clear?</a:t>
            </a:r>
          </a:p>
          <a:p>
            <a:pPr lvl="0"/>
            <a:r>
              <a:rPr/>
              <a:t>What does each cited study contribute?</a:t>
            </a:r>
          </a:p>
          <a:p>
            <a:pPr lvl="0"/>
            <a:r>
              <a:rPr/>
              <a:t>Is there enough relevant detail?</a:t>
            </a:r>
          </a:p>
          <a:p>
            <a:pPr lvl="0"/>
            <a:r>
              <a:rPr/>
              <a:t>Do the studies build a rationale for this project?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Check variables and predictions</a:t>
            </a:r>
          </a:p>
        </p:txBody>
      </p:sp>
      <p:sp>
        <p:nvSpPr>
          <p:cNvPr id="3" name="Content Placeholder 2"/>
          <p:cNvSpPr>
            <a:spLocks noGrp="1"/>
          </p:cNvSpPr>
          <p:nvPr>
            <p:ph idx="1"/>
          </p:nvPr>
        </p:nvSpPr>
        <p:spPr/>
        <p:txBody>
          <a:bodyPr/>
          <a:lstStyle/>
          <a:p>
            <a:pPr lvl="0" indent="0" marL="0">
              <a:buNone/>
            </a:pPr>
            <a:r>
              <a:rPr/>
              <a:t>[Pass 2 · Research hypotheses]</a:t>
            </a:r>
          </a:p>
          <a:p>
            <a:pPr lvl="0" indent="0" marL="0">
              <a:buNone/>
            </a:pPr>
            <a:r>
              <a:rPr/>
              <a:t>For each hypothesis, identify:</a:t>
            </a:r>
          </a:p>
          <a:p>
            <a:pPr lvl="0"/>
            <a:r>
              <a:rPr/>
              <a:t>The variables and target population</a:t>
            </a:r>
          </a:p>
          <a:p>
            <a:pPr lvl="0"/>
            <a:r>
              <a:rPr/>
              <a:t>The relationship or comparison being predicted</a:t>
            </a:r>
          </a:p>
          <a:p>
            <a:pPr lvl="0"/>
            <a:r>
              <a:rPr/>
              <a:t>The expected direction or pattern</a:t>
            </a:r>
          </a:p>
          <a:p>
            <a:pPr lvl="0" indent="0" marL="0">
              <a:buNone/>
            </a:pPr>
            <a:r>
              <a:rPr b="1"/>
              <a:t>Does the wording fit the planned analysis?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Check the Method and sample summary</a:t>
            </a:r>
          </a:p>
        </p:txBody>
      </p:sp>
      <p:sp>
        <p:nvSpPr>
          <p:cNvPr id="3" name="Content Placeholder 2"/>
          <p:cNvSpPr>
            <a:spLocks noGrp="1"/>
          </p:cNvSpPr>
          <p:nvPr>
            <p:ph idx="1"/>
          </p:nvPr>
        </p:nvSpPr>
        <p:spPr/>
        <p:txBody>
          <a:bodyPr/>
          <a:lstStyle/>
          <a:p>
            <a:pPr lvl="0" indent="0" marL="0">
              <a:buNone/>
            </a:pPr>
            <a:r>
              <a:rPr/>
              <a:t>[Pass 2 · Method]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Check the Method and sample summary (continued)</a:t>
            </a:r>
          </a:p>
        </p:txBody>
      </p:sp>
      <p:pic>
        <p:nvPicPr>
          <p:cNvPr descr="Illustration of a bowl of Greek soup surrounded by lemons, eggs, chicken, rice, and salt; the ingredients are shown without amounts or preparation steps" id="0" name="Picture 1"/>
          <p:cNvPicPr>
            <a:picLocks noGrp="1" noChangeAspect="1"/>
          </p:cNvPicPr>
          <p:nvPr/>
        </p:nvPicPr>
        <p:blipFill>
          <a:blip r:embed="rId3"/>
          <a:stretch>
            <a:fillRect/>
          </a:stretch>
        </p:blipFill>
        <p:spPr bwMode="auto">
          <a:xfrm>
            <a:off x="1993900" y="2628900"/>
            <a:ext cx="30988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a:t>Who participated, and how were they recruited?</a:t>
            </a:r>
          </a:p>
          <a:p>
            <a:pPr lvl="0"/>
            <a:r>
              <a:rPr/>
              <a:t>How were the variables measured?</a:t>
            </a:r>
          </a:p>
          <a:p>
            <a:pPr lvl="0"/>
            <a:r>
              <a:rPr/>
              <a:t>Who collected the data, and where?</a:t>
            </a:r>
          </a:p>
          <a:p>
            <a:pPr lvl="0"/>
            <a:r>
              <a:rPr/>
              <a:t>Does the sample summary match Table 1?</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Match each result to its hypothesis</a:t>
            </a:r>
          </a:p>
        </p:txBody>
      </p:sp>
      <p:sp>
        <p:nvSpPr>
          <p:cNvPr id="3" name="Content Placeholder 2"/>
          <p:cNvSpPr>
            <a:spLocks noGrp="1"/>
          </p:cNvSpPr>
          <p:nvPr>
            <p:ph idx="1"/>
          </p:nvPr>
        </p:nvSpPr>
        <p:spPr/>
        <p:txBody>
          <a:bodyPr/>
          <a:lstStyle/>
          <a:p>
            <a:pPr lvl="0" indent="0" marL="0">
              <a:buNone/>
            </a:pPr>
            <a:r>
              <a:rPr/>
              <a:t>[Pass 2 · Results]</a:t>
            </a:r>
          </a:p>
          <a:p>
            <a:pPr lvl="0"/>
            <a:r>
              <a:rPr/>
              <a:t>Same variables and planned test</a:t>
            </a:r>
          </a:p>
          <a:p>
            <a:pPr lvl="0"/>
            <a:r>
              <a:rPr/>
              <a:t>Required statistics and a consistent significance statement</a:t>
            </a:r>
          </a:p>
          <a:p>
            <a:pPr lvl="0"/>
            <a:r>
              <a:rPr/>
              <a:t>Direction or pattern described accurately</a:t>
            </a:r>
          </a:p>
          <a:p>
            <a:pPr lvl="0"/>
            <a:r>
              <a:rPr/>
              <a:t>Text, tables, and figures that agree</a:t>
            </a:r>
          </a:p>
          <a:p>
            <a:pPr lvl="0"/>
            <a:r>
              <a:rPr/>
              <a:t>Every table and figure referenced in the text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Explain findings and the next study</a:t>
            </a:r>
          </a:p>
        </p:txBody>
      </p:sp>
      <p:sp>
        <p:nvSpPr>
          <p:cNvPr id="3" name="Content Placeholder 2"/>
          <p:cNvSpPr>
            <a:spLocks noGrp="1"/>
          </p:cNvSpPr>
          <p:nvPr>
            <p:ph idx="1"/>
          </p:nvPr>
        </p:nvSpPr>
        <p:spPr/>
        <p:txBody>
          <a:bodyPr/>
          <a:lstStyle/>
          <a:p>
            <a:pPr lvl="0" indent="0" marL="0">
              <a:buNone/>
            </a:pPr>
            <a:r>
              <a:rPr/>
              <a:t>[Pass 2 · Discussion]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Explain findings and the next study (continued)</a:t>
            </a:r>
          </a:p>
        </p:txBody>
      </p:sp>
      <p:pic>
        <p:nvPicPr>
          <p:cNvPr descr="Two Spider-Man figures point at each other beneath the captions Let the data speak for themselves and Let the data speak for my implicit assumptions" id="0" name="Picture 1"/>
          <p:cNvPicPr>
            <a:picLocks noGrp="1" noChangeAspect="1"/>
          </p:cNvPicPr>
          <p:nvPr/>
        </p:nvPicPr>
        <p:blipFill>
          <a:blip r:embed="rId3"/>
          <a:stretch>
            <a:fillRect/>
          </a:stretch>
        </p:blipFill>
        <p:spPr bwMode="auto">
          <a:xfrm>
            <a:off x="1409700" y="2628900"/>
            <a:ext cx="4267200" cy="3098800"/>
          </a:xfrm>
          <a:prstGeom prst="rect">
            <a:avLst/>
          </a:prstGeom>
          <a:noFill/>
          <a:ln w="9525">
            <a:noFill/>
            <a:headEnd/>
            <a:tailEnd/>
          </a:ln>
        </p:spPr>
      </p:pic>
      <p:sp>
        <p:nvSpPr>
          <p:cNvPr id="4" name="Content Placeholder 3"/>
          <p:cNvSpPr>
            <a:spLocks noGrp="1"/>
          </p:cNvSpPr>
          <p:nvPr>
            <p:ph idx="2" sz="half"/>
          </p:nvPr>
        </p:nvSpPr>
        <p:spPr/>
        <p:txBody>
          <a:bodyPr/>
          <a:lstStyle/>
          <a:p>
            <a:pPr lvl="0"/>
            <a:r>
              <a:rPr/>
              <a:t>What do the findings show together?</a:t>
            </a:r>
          </a:p>
          <a:p>
            <a:pPr lvl="0"/>
            <a:r>
              <a:rPr/>
              <a:t>How do they relate to the introduction’s studies?</a:t>
            </a:r>
          </a:p>
          <a:p>
            <a:pPr lvl="0"/>
            <a:r>
              <a:rPr/>
              <a:t>What should the next study test, and why?</a:t>
            </a:r>
          </a:p>
          <a:p>
            <a:pPr lvl="0"/>
            <a:r>
              <a:rPr/>
              <a:t>What pattern would that study predict?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Read the abstract last</a:t>
            </a:r>
          </a:p>
        </p:txBody>
      </p:sp>
      <p:sp>
        <p:nvSpPr>
          <p:cNvPr id="3" name="Content Placeholder 2"/>
          <p:cNvSpPr>
            <a:spLocks noGrp="1"/>
          </p:cNvSpPr>
          <p:nvPr>
            <p:ph idx="1"/>
          </p:nvPr>
        </p:nvSpPr>
        <p:spPr/>
        <p:txBody>
          <a:bodyPr/>
          <a:lstStyle/>
          <a:p>
            <a:pPr lvl="0" indent="0" marL="0">
              <a:buNone/>
            </a:pPr>
            <a:r>
              <a:rPr/>
              <a:t>[Final content check]</a:t>
            </a:r>
          </a:p>
          <a:p>
            <a:pPr lvl="0"/>
            <a:r>
              <a:rPr/>
              <a:t>Does it accurately summarize the paper?</a:t>
            </a:r>
          </a:p>
          <a:p>
            <a:pPr lvl="0"/>
            <a:r>
              <a:rPr/>
              <a:t>What could be shortened?</a:t>
            </a:r>
          </a:p>
          <a:p>
            <a:pPr lvl="0"/>
            <a:r>
              <a:rPr/>
              <a:t>What is missing?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Sign and return the review</a:t>
            </a:r>
          </a:p>
        </p:txBody>
      </p:sp>
      <p:sp>
        <p:nvSpPr>
          <p:cNvPr id="1013" name="card-steel" descr="card: Reviewer. • Respond to every worksheet item and sign • Return the review and annotated draft"/>
          <p:cNvSpPr/>
          <p:nvPr/>
        </p:nvSpPr>
        <p:spPr>
          <a:xfrm>
            <a:off x="1097280" y="2633472"/>
            <a:ext cx="4924044" cy="19202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Reviewer</a:t>
            </a:r>
          </a:p>
          <a:p>
            <a:pPr algn="l"/>
            <a:r>
              <a:rPr lang="en-US" sz="2000" b="0" dirty="0">
                <a:solidFill>
                  <a:srgbClr val="010B13"/>
                </a:solidFill>
              </a:rPr>
              <a:t>• Respond to every worksheet item and sign</a:t>
            </a:r>
          </a:p>
          <a:p>
            <a:pPr algn="l"/>
            <a:r>
              <a:rPr lang="en-US" sz="2000" b="0" dirty="0">
                <a:solidFill>
                  <a:srgbClr val="010B13"/>
                </a:solidFill>
              </a:rPr>
              <a:t>• Return the review and annotated draft</a:t>
            </a:r>
          </a:p>
        </p:txBody>
      </p:sp>
      <p:sp>
        <p:nvSpPr>
          <p:cNvPr id="1014" name="card-rail" descr="">
            <a:extLst>
              <a:ext uri="{C183D7F6-B498-43B3-948B-1728B52AA6E4}">
                <adec:decorative xmlns:adec="http://schemas.microsoft.com/office/drawing/2017/decorative" val="1"/>
              </a:ext>
            </a:extLst>
          </p:cNvPr>
          <p:cNvSpPr/>
          <p:nvPr/>
        </p:nvSpPr>
        <p:spPr>
          <a:xfrm>
            <a:off x="1097280" y="2633472"/>
            <a:ext cx="54864" cy="19202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15" name="card-steel" descr="card: Author. • Sign the worksheet and keep it with the review • Submit the signed review with your final report"/>
          <p:cNvSpPr/>
          <p:nvPr/>
        </p:nvSpPr>
        <p:spPr>
          <a:xfrm>
            <a:off x="6167628" y="2633472"/>
            <a:ext cx="4924044" cy="19202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Author</a:t>
            </a:r>
          </a:p>
          <a:p>
            <a:pPr algn="l"/>
            <a:r>
              <a:rPr lang="en-US" sz="2000" b="0" dirty="0">
                <a:solidFill>
                  <a:srgbClr val="010B13"/>
                </a:solidFill>
              </a:rPr>
              <a:t>• Sign the worksheet and keep it with the review</a:t>
            </a:r>
          </a:p>
          <a:p>
            <a:pPr algn="l"/>
            <a:r>
              <a:rPr lang="en-US" sz="2000" b="0" dirty="0">
                <a:solidFill>
                  <a:srgbClr val="010B13"/>
                </a:solidFill>
              </a:rPr>
              <a:t>• Submit the signed review with your final report</a:t>
            </a:r>
          </a:p>
        </p:txBody>
      </p:sp>
      <p:sp>
        <p:nvSpPr>
          <p:cNvPr id="1016" name="card-rail" descr="">
            <a:extLst>
              <a:ext uri="{C183D7F6-B498-43B3-948B-1728B52AA6E4}">
                <adec:decorative xmlns:adec="http://schemas.microsoft.com/office/drawing/2017/decorative" val="1"/>
              </a:ext>
            </a:extLst>
          </p:cNvPr>
          <p:cNvSpPr/>
          <p:nvPr/>
        </p:nvSpPr>
        <p:spPr>
          <a:xfrm>
            <a:off x="6167628" y="2633472"/>
            <a:ext cx="54864" cy="19202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the Draft</dc:title>
  <dc:creator>PSYC 350 Laboratory</dc:creator>
  <cp:keywords/>
  <dcterms:created xsi:type="dcterms:W3CDTF">2026-09-10T18:12:20Z</dcterms:created>
  <dcterms:modified xsi:type="dcterms:W3CDTF">2026-09-10T18:12:20Z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10 · Peer Review and Revision</vt:lpwstr>
  </property>
  <property fmtid="{D5CDD505-2E9C-101B-9397-08002B2CF9AE}" pid="20" name="toc-title">
    <vt:lpwstr>Table of contents</vt:lpwstr>
  </property>
</Properties>
</file>