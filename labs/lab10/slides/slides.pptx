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>
  <p:sldMasterIdLst>
    <p:sldMasterId id="2147483696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</p:sldIdLst>
  <p:sldSz cx="12192000" cy="6858000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sz="17524"/>
    <p:restoredTop sz="94694"/>
  </p:normalViewPr>
  <p:slideViewPr>
    <p:cSldViewPr snapToGrid="0">
      <p:cViewPr varScale="1">
        <p:scale>
          <a:sx d="100" n="119"/>
          <a:sy d="100" n="119"/>
        </p:scale>
        <p:origin x="232" y="232"/>
      </p:cViewPr>
      <p:guideLst/>
    </p:cSldViewPr>
  </p:slideViewPr>
  <p:notesTextViewPr>
    <p:cViewPr>
      <p:scale>
        <a:sx d="1" n="1"/>
        <a:sy d="1" n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0" Type="http://schemas.openxmlformats.org/officeDocument/2006/relationships/slide" Target="slides/slide19.xml" /><Relationship Id="rId21" Type="http://schemas.openxmlformats.org/officeDocument/2006/relationships/slide" Target="slides/slide20.xml" /><Relationship Id="rId22" Type="http://schemas.openxmlformats.org/officeDocument/2006/relationships/slide" Target="slides/slide21.xml" /><Relationship Id="rId23" Type="http://schemas.openxmlformats.org/officeDocument/2006/relationships/slide" Target="slides/slide22.xml" /><Relationship Id="rId24" Type="http://schemas.openxmlformats.org/officeDocument/2006/relationships/slide" Target="slides/slide23.xml" /><Relationship Id="rId25" Type="http://schemas.openxmlformats.org/officeDocument/2006/relationships/slide" Target="slides/slide24.xml" /><Relationship Id="rId26" Type="http://schemas.openxmlformats.org/officeDocument/2006/relationships/slide" Target="slides/slide25.xml" /><Relationship Id="rId27" Type="http://schemas.openxmlformats.org/officeDocument/2006/relationships/slide" Target="slides/slide26.xml" /><Relationship Id="rId1" Type="http://schemas.openxmlformats.org/officeDocument/2006/relationships/slideMaster" Target="slideMasters/slideMaster1.xml" /><Relationship Id="rId28" Type="http://schemas.openxmlformats.org/officeDocument/2006/relationships/presProps" Target="presProps.xml" /><Relationship Id="rId29" Type="http://schemas.openxmlformats.org/officeDocument/2006/relationships/viewProps" Target="viewProps.xml" /><Relationship Id="rId30" Type="http://schemas.openxmlformats.org/officeDocument/2006/relationships/theme" Target="theme/theme1.xml" /><Relationship Id="rId31" Type="http://schemas.openxmlformats.org/officeDocument/2006/relationships/tableStyles" Target="tableStyles.xml" 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 bwMode="blackWhite">
          <a:xfrm>
            <a:off x="1097280" y="2386744"/>
            <a:ext cx="999744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 algn="ctr">
              <a:defRPr sz="38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97280" y="4352544"/>
            <a:ext cx="9997440" cy="1239894"/>
          </a:xfrm>
          <a:noFill/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0EA64-D806-43AC-9DF2-F8C432F32B4C}" type="datetimeFigureOut">
              <a:rPr lang="en-US" dirty="0"/>
              <a:t>1/22/26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964692"/>
            <a:ext cx="9997440" cy="118872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7280" y="2638044"/>
            <a:ext cx="9997440" cy="310198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70A7B3-6521-4DCA-87E5-044747A908C1}" type="datetimeFigureOut">
              <a:rPr lang="en-US" dirty="0"/>
              <a:t>1/22/26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1097280" y="2386744"/>
            <a:ext cx="999744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>
              <a:defRPr sz="38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352465"/>
            <a:ext cx="9997440" cy="1265082"/>
          </a:xfrm>
        </p:spPr>
        <p:txBody>
          <a:bodyPr anchor="t" anchorCtr="1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0EA64-D806-43AC-9DF2-F8C432F32B4C}" type="datetimeFigureOut">
              <a:rPr lang="en-US" dirty="0"/>
              <a:t>1/22/26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964692"/>
            <a:ext cx="9997440" cy="118872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80" y="2638044"/>
            <a:ext cx="4907280" cy="31019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7440" y="2638044"/>
            <a:ext cx="4907280" cy="31019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134690-1557-4C89-A502-4959FE7FAD70}" type="datetimeFigureOut">
              <a:rPr lang="en-US" dirty="0"/>
              <a:t>1/22/26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8343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83436" y="3143250"/>
            <a:ext cx="4270248" cy="25967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38316" y="3143250"/>
            <a:ext cx="4253484" cy="2596776"/>
          </a:xfrm>
        </p:spPr>
        <p:txBody>
          <a:bodyPr/>
          <a:lstStyle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633831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7D4976-E339-4826-83B7-FBD03F55ECF8}" type="datetimeFigureOut">
              <a:rPr lang="en-US" dirty="0"/>
              <a:t>1/22/26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964692"/>
            <a:ext cx="9997440" cy="118872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037C31-9E7A-4F99-8774-A0E530DE1A42}" type="datetimeFigureOut">
              <a:rPr lang="en-US" dirty="0"/>
              <a:t>1/22/26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78504F-A551-4DE0-9316-4DCD1D8CC752}" type="datetimeFigureOut">
              <a:rPr lang="en-US" dirty="0"/>
              <a:t>1/22/26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/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804672" y="2243828"/>
            <a:ext cx="4486656" cy="1141497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rm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36080" y="804672"/>
            <a:ext cx="4815840" cy="5248656"/>
          </a:xfrm>
        </p:spPr>
        <p:txBody>
          <a:bodyPr>
            <a:normAutofit/>
          </a:bodyPr>
          <a:lstStyle>
            <a:lvl1pPr>
              <a:defRPr sz="19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600">
                <a:solidFill>
                  <a:schemeClr val="tx1"/>
                </a:solidFill>
              </a:defRPr>
            </a:lvl3pPr>
            <a:lvl4pPr>
              <a:defRPr sz="1600">
                <a:solidFill>
                  <a:schemeClr val="tx1"/>
                </a:solidFill>
              </a:defRPr>
            </a:lvl4pPr>
            <a:lvl5pPr>
              <a:defRPr sz="1600">
                <a:solidFill>
                  <a:schemeClr val="tx1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6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BE4249-C0D0-4B06-8692-E8BB871AF643}" type="datetimeFigureOut">
              <a:rPr lang="en-US" dirty="0"/>
              <a:t>1/22/26</a:t>
            </a:fld>
            <a:endParaRPr lang="en-US" dirty="0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0" y="0"/>
            <a:ext cx="6095999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808523" y="2243828"/>
            <a:ext cx="4494998" cy="1134640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9" y="0"/>
            <a:ext cx="6102097" cy="6858000"/>
          </a:xfrm>
          <a:solidFill>
            <a:schemeClr val="bg1">
              <a:lumMod val="75000"/>
            </a:schemeClr>
          </a:solidFill>
        </p:spPr>
        <p:txBody>
          <a:bodyPr anchor="t"/>
          <a:lstStyle>
            <a:lvl1pPr marL="0" indent="0">
              <a:buNone/>
              <a:defRPr sz="3200">
                <a:solidFill>
                  <a:schemeClr val="bg1">
                    <a:lumMod val="85000"/>
                    <a:lumOff val="15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7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50800" dist="38100" dir="2700000" algn="tl" rotWithShape="0">
                    <a:prstClr val="black">
                      <a:alpha val="43000"/>
                    </a:prstClr>
                  </a:outerShdw>
                </a:effectLst>
              </a:defRPr>
            </a:lvl1pPr>
          </a:lstStyle>
          <a:p>
            <a:fld id="{042B0DB6-F5C7-45FB-8CF3-31B45F9C2DAC}" type="datetimeFigureOut">
              <a:rPr lang="en-US" dirty="0"/>
              <a:t>1/22/26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F9C37B-1D36-470B-8223-D6C91242EC14}" type="datetimeFigureOut">
              <a:rPr lang="en-US" dirty="0"/>
              <a:t>1/22/26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3112" y="937260"/>
            <a:ext cx="1298608" cy="498348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231136" y="937260"/>
            <a:ext cx="6198489" cy="498348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C6F52A-A82B-47A2-A83A-8C4C91F2D59F}" type="datetimeFigureOut">
              <a:rPr lang="en-US" dirty="0"/>
              <a:t>1/22/26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1" Target="../slideLayouts/slideLayout1.xml" Type="http://schemas.openxmlformats.org/officeDocument/2006/relationships/slideLayout" /><Relationship Id="rId2" Target="../slideLayouts/slideLayout2.xml" Type="http://schemas.openxmlformats.org/officeDocument/2006/relationships/slideLayout" /><Relationship Id="rId3" Target="../slideLayouts/slideLayout3.xml" Type="http://schemas.openxmlformats.org/officeDocument/2006/relationships/slideLayout" /><Relationship Id="rId4" Target="../slideLayouts/slideLayout4.xml" Type="http://schemas.openxmlformats.org/officeDocument/2006/relationships/slideLayout" /><Relationship Id="rId5" Target="../slideLayouts/slideLayout5.xml" Type="http://schemas.openxmlformats.org/officeDocument/2006/relationships/slideLayout" /><Relationship Id="rId6" Target="../slideLayouts/slideLayout6.xml" Type="http://schemas.openxmlformats.org/officeDocument/2006/relationships/slideLayout" /><Relationship Id="rId7" Target="../slideLayouts/slideLayout7.xml" Type="http://schemas.openxmlformats.org/officeDocument/2006/relationships/slideLayout" /><Relationship Id="rId8" Target="../slideLayouts/slideLayout8.xml" Type="http://schemas.openxmlformats.org/officeDocument/2006/relationships/slideLayout" /><Relationship Id="rId9" Target="../slideLayouts/slideLayout9.xml" Type="http://schemas.openxmlformats.org/officeDocument/2006/relationships/slideLayout" /><Relationship Id="rId10" Target="../slideLayouts/slideLayout10.xml" Type="http://schemas.openxmlformats.org/officeDocument/2006/relationships/slideLayout" /><Relationship Id="rId11" Target="../slideLayouts/slideLayout11.xml" Type="http://schemas.openxmlformats.org/officeDocument/2006/relationships/slideLayout" /><Relationship Id="rId12" Target="../theme/theme1.xml" Type="http://schemas.openxmlformats.org/officeDocument/2006/relationships/theme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black">
          <a:xfrm>
            <a:off x="2231136" y="964692"/>
            <a:ext cx="7729728" cy="1188720"/>
          </a:xfrm>
          <a:prstGeom prst="rect">
            <a:avLst/>
          </a:prstGeom>
          <a:solidFill>
            <a:srgbClr val="FFFFFF"/>
          </a:solidFill>
          <a:ln cap="sq" w="31750">
            <a:solidFill>
              <a:srgbClr val="404040"/>
            </a:solidFill>
            <a:miter lim="800000"/>
          </a:ln>
        </p:spPr>
        <p:txBody>
          <a:bodyPr anchor="ctr" bIns="182880" lIns="182880" rIns="182880" rtlCol="0" tIns="182880" vert="horz">
            <a:normAutofit/>
          </a:bodyPr>
          <a:lstStyle/>
          <a:p>
            <a:r>
              <a:rPr lang="en-US"/>
              <a:t>Click to edit Master title style</a:t>
            </a:r>
            <a:endParaRPr dirty="0" lang="en-US"/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2231136" y="2638044"/>
            <a:ext cx="7729728" cy="3101983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 lang="en-US"/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7821429" y="6238816"/>
            <a:ext cx="2753746" cy="323968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fld id="{1160EA64-D806-43AC-9DF2-F8C432F32B4C}" type="datetimeFigureOut">
              <a:rPr dirty="0" lang="en-US"/>
              <a:t>1/22/26</a:t>
            </a:fld>
            <a:endParaRPr dirty="0"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1600200" y="6236208"/>
            <a:ext cx="5901189" cy="320040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endParaRPr dirty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10758922" y="6217920"/>
            <a:ext cx="365760" cy="365760"/>
          </a:xfrm>
          <a:prstGeom prst="ellipse">
            <a:avLst/>
          </a:prstGeom>
          <a:solidFill>
            <a:srgbClr val="1D1D1D">
              <a:alpha val="70000"/>
            </a:srgbClr>
          </a:solidFill>
        </p:spPr>
        <p:txBody>
          <a:bodyPr anchor="ctr" bIns="45720" lIns="18288" rIns="18288" rtlCol="0" tIns="45720" vert="horz">
            <a:noAutofit/>
          </a:bodyPr>
          <a:lstStyle>
            <a:lvl1pPr algn="ctr">
              <a:defRPr baseline="0" spc="0" sz="1100">
                <a:solidFill>
                  <a:srgbClr val="FFFFFF"/>
                </a:solidFill>
              </a:defRPr>
            </a:lvl1pPr>
          </a:lstStyle>
          <a:p>
            <a:fld id="{8A7A6979-0714-4377-B894-6BE4C2D6E202}" type="slidenum">
              <a:rPr dirty="0" lang="en-US"/>
              <a:pPr/>
              <a:t>‹#›</a:t>
            </a:fld>
            <a:endParaRPr dirty="0" lang="en-US"/>
          </a:p>
        </p:txBody>
      </p:sp>
    </p:spTree>
  </p:cSld>
  <p:clrMap accent1="accent1" accent2="accent2" accent3="accent3" accent4="accent4" accent5="accent5" accent6="accent6" bg1="lt1" bg2="lt2" folHlink="folHlink" hlink="hlink" tx1="dk1" tx2="dk2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hf dt="0" ftr="0" hdr="0" sldNum="0"/>
  <p:txStyles>
    <p:titleStyle>
      <a:lvl1pPr algn="ctr" defTabSz="914400" eaLnBrk="1" hangingPunct="1" latinLnBrk="0" rtl="0">
        <a:lnSpc>
          <a:spcPct val="90000"/>
        </a:lnSpc>
        <a:spcBef>
          <a:spcPct val="0"/>
        </a:spcBef>
        <a:buNone/>
        <a:defRPr baseline="0" cap="all" kern="1200" spc="200" sz="2800">
          <a:solidFill>
            <a:srgbClr val="262626"/>
          </a:solidFill>
          <a:latin typeface="+mj-lt"/>
          <a:ea typeface="+mj-ea"/>
          <a:cs typeface="+mj-cs"/>
        </a:defRPr>
      </a:lvl1pPr>
    </p:titleStyle>
    <p:bodyStyle>
      <a:lvl1pPr algn="l" defTabSz="914400" eaLnBrk="1" hangingPunct="1" indent="-228600" latinLnBrk="0" marL="228600" rtl="0">
        <a:lnSpc>
          <a:spcPct val="100000"/>
        </a:lnSpc>
        <a:spcBef>
          <a:spcPts val="1000"/>
        </a:spcBef>
        <a:buClr>
          <a:schemeClr val="accent2"/>
        </a:buClr>
        <a:buFont charset="0" panose="020B0604020202020204" pitchFamily="34" typeface="Arial"/>
        <a:buChar char="•"/>
        <a:defRPr kern="1200" sz="18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algn="l" defTabSz="914400" eaLnBrk="1" hangingPunct="1" indent="-228600" latinLnBrk="0" marL="457200" rtl="0">
        <a:lnSpc>
          <a:spcPct val="100000"/>
        </a:lnSpc>
        <a:spcBef>
          <a:spcPts val="1000"/>
        </a:spcBef>
        <a:buClr>
          <a:schemeClr val="accent2"/>
        </a:buClr>
        <a:buFont charset="0" panose="020B0604020202020204" pitchFamily="34" typeface="Arial"/>
        <a:buChar char="•"/>
        <a:defRPr kern="1200" sz="16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algn="l" defTabSz="914400" eaLnBrk="1" hangingPunct="1" indent="-228600" latinLnBrk="0" marL="685800" rtl="0">
        <a:lnSpc>
          <a:spcPct val="100000"/>
        </a:lnSpc>
        <a:spcBef>
          <a:spcPts val="1000"/>
        </a:spcBef>
        <a:buClr>
          <a:schemeClr val="accent2"/>
        </a:buClr>
        <a:buFont charset="0" panose="020B0604020202020204" pitchFamily="34" typeface="Arial"/>
        <a:buChar char="•"/>
        <a:defRPr kern="1200" sz="16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algn="l" defTabSz="914400" eaLnBrk="1" hangingPunct="1" indent="-228600" latinLnBrk="0" marL="914400" rtl="0">
        <a:lnSpc>
          <a:spcPct val="100000"/>
        </a:lnSpc>
        <a:spcBef>
          <a:spcPts val="1000"/>
        </a:spcBef>
        <a:buClr>
          <a:schemeClr val="accent2"/>
        </a:buClr>
        <a:buFont charset="0" panose="020B0604020202020204" pitchFamily="34" typeface="Arial"/>
        <a:buChar char="•"/>
        <a:defRPr kern="1200" sz="16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algn="l" defTabSz="914400" eaLnBrk="1" hangingPunct="1" indent="-228600" latinLnBrk="0" marL="1143000" rtl="0">
        <a:lnSpc>
          <a:spcPct val="100000"/>
        </a:lnSpc>
        <a:spcBef>
          <a:spcPts val="1000"/>
        </a:spcBef>
        <a:buClr>
          <a:schemeClr val="accent2"/>
        </a:buClr>
        <a:buFont charset="0" panose="020B0604020202020204" pitchFamily="34" typeface="Arial"/>
        <a:buChar char="•"/>
        <a:defRPr kern="1200" sz="16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algn="l" defTabSz="914400" eaLnBrk="1" hangingPunct="1" indent="-228600" latinLnBrk="0" marL="1312863" rtl="0">
        <a:lnSpc>
          <a:spcPct val="100000"/>
        </a:lnSpc>
        <a:spcBef>
          <a:spcPts val="1000"/>
        </a:spcBef>
        <a:buClr>
          <a:schemeClr val="accent2"/>
        </a:buClr>
        <a:buFont charset="0" panose="020B0604020202020204" pitchFamily="34" typeface="Arial"/>
        <a:buChar char="•"/>
        <a:defRPr kern="1200" sz="1600">
          <a:solidFill>
            <a:schemeClr val="tx1"/>
          </a:solidFill>
          <a:latin typeface="+mn-lt"/>
          <a:ea typeface="+mn-ea"/>
          <a:cs typeface="+mn-cs"/>
        </a:defRPr>
      </a:lvl6pPr>
      <a:lvl7pPr algn="l" defTabSz="914400" eaLnBrk="1" hangingPunct="1" indent="-228600" latinLnBrk="0" marL="1484313" rtl="0">
        <a:lnSpc>
          <a:spcPct val="100000"/>
        </a:lnSpc>
        <a:spcBef>
          <a:spcPts val="1000"/>
        </a:spcBef>
        <a:buClr>
          <a:schemeClr val="accent2"/>
        </a:buClr>
        <a:buFont charset="0" panose="020B0604020202020204" pitchFamily="34" typeface="Arial"/>
        <a:buChar char="•"/>
        <a:defRPr kern="1200" sz="1600">
          <a:solidFill>
            <a:schemeClr val="tx1"/>
          </a:solidFill>
          <a:latin typeface="+mn-lt"/>
          <a:ea typeface="+mn-ea"/>
          <a:cs typeface="+mn-cs"/>
        </a:defRPr>
      </a:lvl7pPr>
      <a:lvl8pPr algn="l" defTabSz="914400" eaLnBrk="1" hangingPunct="1" indent="-228600" latinLnBrk="0" marL="1657350" rtl="0">
        <a:lnSpc>
          <a:spcPct val="100000"/>
        </a:lnSpc>
        <a:spcBef>
          <a:spcPts val="1000"/>
        </a:spcBef>
        <a:buClr>
          <a:schemeClr val="accent2"/>
        </a:buClr>
        <a:buFont charset="0" panose="020B0604020202020204" pitchFamily="34" typeface="Arial"/>
        <a:buChar char="•"/>
        <a:defRPr baseline="0" kern="1200" sz="1600">
          <a:solidFill>
            <a:schemeClr val="tx1"/>
          </a:solidFill>
          <a:latin typeface="+mn-lt"/>
          <a:ea typeface="+mn-ea"/>
          <a:cs typeface="+mn-cs"/>
        </a:defRPr>
      </a:lvl8pPr>
      <a:lvl9pPr algn="l" defTabSz="914400" eaLnBrk="1" hangingPunct="1" indent="-228600" latinLnBrk="0" marL="1882775" rtl="0">
        <a:lnSpc>
          <a:spcPct val="100000"/>
        </a:lnSpc>
        <a:spcBef>
          <a:spcPts val="1000"/>
        </a:spcBef>
        <a:buClr>
          <a:schemeClr val="accent2"/>
        </a:buClr>
        <a:buFont charset="0" panose="020B0604020202020204" pitchFamily="34" typeface="Arial"/>
        <a:buChar char="•"/>
        <a:defRPr baseline="0" kern="1200" sz="16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914400" eaLnBrk="1" hangingPunct="1" latinLnBrk="0" marL="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1pPr>
      <a:lvl2pPr algn="l" defTabSz="914400" eaLnBrk="1" hangingPunct="1" latinLnBrk="0" marL="4572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2pPr>
      <a:lvl3pPr algn="l" defTabSz="914400" eaLnBrk="1" hangingPunct="1" latinLnBrk="0" marL="9144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914400" eaLnBrk="1" hangingPunct="1" latinLnBrk="0" marL="13716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4pPr>
      <a:lvl5pPr algn="l" defTabSz="914400" eaLnBrk="1" hangingPunct="1" latinLnBrk="0" marL="18288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5pPr>
      <a:lvl6pPr algn="l" defTabSz="914400" eaLnBrk="1" hangingPunct="1" latinLnBrk="0" marL="22860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6pPr>
      <a:lvl7pPr algn="l" defTabSz="914400" eaLnBrk="1" hangingPunct="1" latinLnBrk="0" marL="27432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7pPr>
      <a:lvl8pPr algn="l" defTabSz="914400" eaLnBrk="1" hangingPunct="1" latinLnBrk="0" marL="32004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8pPr>
      <a:lvl9pPr algn="l" defTabSz="914400" eaLnBrk="1" hangingPunct="1" latinLnBrk="0" marL="36576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1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2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4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2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 bwMode="blackWhite">
          <a:xfrm>
            <a:off x="1097280" y="2386744"/>
            <a:ext cx="999744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/>
          <a:lstStyle/>
          <a:p>
            <a:pPr lvl="0" indent="0" marL="0">
              <a:buNone/>
            </a:pPr>
            <a:r>
              <a:rPr/>
              <a:t>Peer Review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097280" y="4352544"/>
            <a:ext cx="9997440" cy="1239894"/>
          </a:xfrm>
          <a:noFill/>
        </p:spPr>
        <p:txBody>
          <a:bodyPr/>
          <a:lstStyle/>
          <a:p>
            <a:pPr lvl="0" indent="0" marL="0">
              <a:buNone/>
            </a:pPr>
            <a:r>
              <a:rPr/>
              <a:t>Lab 10</a:t>
            </a:r>
            <a:br/>
            <a:br/>
            <a:r>
              <a:rPr/>
              <a:t>PSYCH 350-Lab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964692"/>
            <a:ext cx="9997440" cy="1188720"/>
          </a:xfrm>
        </p:spPr>
        <p:txBody>
          <a:bodyPr/>
          <a:lstStyle/>
          <a:p>
            <a:pPr lvl="0" indent="0" marL="0">
              <a:buNone/>
            </a:pPr>
            <a:r>
              <a:rPr/>
              <a:t>Today’s Tasks</a:t>
            </a:r>
          </a:p>
        </p:txBody>
      </p:sp>
      <p:sp>
        <p:nvSpPr>
          <p:cNvPr id="1001" name="box-post-it" descr="box: . Why peer review matters (and how scientists actually do it)How to give feedback that is specific, kind, and usefulSection-by-section review guide for an APA reportReceiving feedback: triage, don’t defendToday’s workflow + worksheet"/>
          <p:cNvSpPr/>
          <p:nvPr/>
        </p:nvSpPr>
        <p:spPr>
          <a:xfrm>
            <a:off x="1097280" y="2633472"/>
            <a:ext cx="9994392" cy="731520"/>
          </a:xfrm>
          <a:prstGeom prst="roundRect">
            <a:avLst>
              <a:gd name="adj" fmla="val 6000"/>
            </a:avLst>
          </a:prstGeom>
          <a:solidFill>
            <a:srgbClr val="FFF9C4"/>
          </a:solidFill>
          <a:ln w="19050">
            <a:solidFill>
              <a:srgbClr val="CCCCCC"/>
            </a:solidFill>
          </a:ln>
        </p:spPr>
        <p:txBody>
          <a:bodyPr lIns="91440" tIns="68580" rIns="91440" bIns="68580" anchor="t" wrap="square">
            <a:normAutofit/>
          </a:bodyPr>
          <a:lstStyle/>
          <a:p>
            <a:pPr algn="l"/>
            <a:r>
              <a:rPr lang="en-US" sz="1200" b="0" dirty="0">
                <a:solidFill>
                  <a:srgbClr val="010B13"/>
                </a:solidFill>
              </a:rPr>
              <a:t>Why peer review matters (and how scientists actually do it)How to give feedback that is specific, kind, and usefulSection-by-section review guide for an APA reportReceiving feedback: triage, don’t defendToday’s workflow + worksheet</a:t>
            </a:r>
          </a:p>
        </p:txBody>
      </p:sp>
      <p:sp>
        <p:nvSpPr>
          <p:cNvPr id="1002" name="prose" descr=""/>
          <p:cNvSpPr/>
          <p:nvPr/>
        </p:nvSpPr>
        <p:spPr>
          <a:xfrm>
            <a:off x="1097280" y="3456432"/>
            <a:ext cx="9994392" cy="365760"/>
          </a:xfrm>
          <a:prstGeom prst="roundRect">
            <a:avLst>
              <a:gd name="adj" fmla="val 6000"/>
            </a:avLst>
          </a:prstGeom>
          <a:noFill/>
          <a:ln>
            <a:noFill/>
          </a:ln>
        </p:spPr>
        <p:txBody>
          <a:bodyPr lIns="91440" tIns="68580" rIns="91440" bIns="68580" anchor="t" wrap="square">
            <a:normAutofit/>
          </a:bodyPr>
          <a:lstStyle/>
          <a:p>
            <a:pPr algn="l"/>
            <a:r>
              <a:rPr lang="en-US" sz="1200" b="0" dirty="0">
                <a:solidFill>
                  <a:srgbClr val="010B13"/>
                </a:solidFill>
              </a:rPr>
              <a:t>Today has two halves: the skill of reviewing, and the logistics of swapping drafts. Students should leave with concrete comments on a peer’s draft AND a revision plan for their own.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964692"/>
            <a:ext cx="9997440" cy="1188720"/>
          </a:xfrm>
        </p:spPr>
        <p:txBody>
          <a:bodyPr/>
          <a:lstStyle/>
          <a:p>
            <a:pPr lvl="0" indent="0" marL="0">
              <a:buNone/>
            </a:pPr>
            <a:r>
              <a:rPr/>
              <a:t>What You Need Today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Everything for this week is linked on the next slides – and always on the lab page under </a:t>
            </a:r>
            <a:r>
              <a:rPr b="1"/>
              <a:t>Handouts &amp; References</a:t>
            </a:r>
            <a:r>
              <a:rPr/>
              <a:t>.</a:t>
            </a:r>
          </a:p>
          <a:p>
            <a:pPr lvl="0" indent="0" marL="0">
              <a:buNone/>
            </a:pPr>
            <a:r>
              <a:rPr/>
              <a:t>Open these </a:t>
            </a:r>
            <a:r>
              <a:rPr b="1"/>
              <a:t>before we start</a:t>
            </a:r>
            <a:r>
              <a:rPr/>
              <a:t> so you can follow along.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964692"/>
            <a:ext cx="9997440" cy="1188720"/>
          </a:xfrm>
        </p:spPr>
        <p:txBody>
          <a:bodyPr/>
          <a:lstStyle/>
          <a:p>
            <a:pPr lvl="0" indent="0" marL="0">
              <a:buNone/>
            </a:pPr>
            <a:r>
              <a:rPr/>
              <a:t>Additional Materials</a:t>
            </a:r>
          </a:p>
        </p:txBody>
      </p:sp>
      <p:sp>
        <p:nvSpPr>
          <p:cNvPr id="1003" name="card-blue" descr="card: [book icon]. Peer review Intro Method Results Discussion [Word document]"/>
          <p:cNvSpPr/>
          <p:nvPr/>
        </p:nvSpPr>
        <p:spPr>
          <a:xfrm>
            <a:off x="1097280" y="2633472"/>
            <a:ext cx="3270504" cy="944880"/>
          </a:xfrm>
          <a:prstGeom prst="roundRect">
            <a:avLst>
              <a:gd name="adj" fmla="val 6000"/>
            </a:avLst>
          </a:prstGeom>
          <a:solidFill>
            <a:srgbClr val="FEFDFA"/>
          </a:solidFill>
          <a:ln w="19050">
            <a:solidFill>
              <a:srgbClr val="CCCCCC"/>
            </a:solidFill>
          </a:ln>
        </p:spPr>
        <p:txBody>
          <a:bodyPr lIns="91440" tIns="68580" rIns="91440" bIns="68580" anchor="t" wrap="square">
            <a:normAutofit/>
          </a:bodyPr>
          <a:lstStyle/>
          <a:p>
            <a:pPr algn="l"/>
            <a:r>
              <a:rPr lang="en-US" sz="1400" b="1" dirty="0">
                <a:solidFill>
                  <a:srgbClr val="005D84"/>
                </a:solidFill>
              </a:rPr>
              <a:t>[book icon]</a:t>
            </a:r>
          </a:p>
          <a:p>
            <a:pPr algn="l"/>
            <a:r>
              <a:rPr lang="en-US" sz="1200" b="0" dirty="0">
                <a:solidFill>
                  <a:srgbClr val="010B13"/>
                </a:solidFill>
              </a:rPr>
              <a:t>Peer review Intro Method Results Discussion</a:t>
            </a:r>
          </a:p>
          <a:p>
            <a:pPr algn="l"/>
            <a:r>
              <a:rPr lang="en-US" sz="1200" b="0" dirty="0">
                <a:solidFill>
                  <a:srgbClr val="010B13"/>
                </a:solidFill>
              </a:rPr>
              <a:t>[Word document]</a:t>
            </a:r>
          </a:p>
        </p:txBody>
      </p:sp>
      <p:sp>
        <p:nvSpPr>
          <p:cNvPr id="1004" name="card-rail" descr=""/>
          <p:cNvSpPr/>
          <p:nvPr/>
        </p:nvSpPr>
        <p:spPr>
          <a:xfrm>
            <a:off x="1097280" y="2633472"/>
            <a:ext cx="54864" cy="944880"/>
          </a:xfrm>
          <a:prstGeom prst="roundRect">
            <a:avLst>
              <a:gd name="adj" fmla="val 20000"/>
            </a:avLst>
          </a:prstGeom>
          <a:solidFill>
            <a:srgbClr val="005D84"/>
          </a:solidFill>
          <a:ln>
            <a:noFill/>
          </a:ln>
        </p:spPr>
        <p:txBody>
          <a:bodyPr lIns="91440" tIns="68580" rIns="91440" bIns="68580" anchor="t" wrap="square">
            <a:normAutofit/>
          </a:bodyPr>
          <a:lstStyle/>
          <a:p/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1097280" y="2386744"/>
            <a:ext cx="999744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/>
          <a:lstStyle/>
          <a:p>
            <a:pPr lvl="0" indent="0" marL="0">
              <a:buNone/>
            </a:pPr>
            <a:r>
              <a:rPr/>
              <a:t>Why Peer Review?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964692"/>
            <a:ext cx="9997440" cy="1188720"/>
          </a:xfrm>
        </p:spPr>
        <p:txBody>
          <a:bodyPr/>
          <a:lstStyle/>
          <a:p>
            <a:pPr lvl="0" indent="0" marL="0">
              <a:buNone/>
            </a:pPr>
            <a:r>
              <a:rPr/>
              <a:t>Science Runs on Peer Review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Every published article you’ve read this semester survived review by </a:t>
            </a:r>
            <a:r>
              <a:rPr b="1"/>
              <a:t>2–4 anonymous peers</a:t>
            </a:r>
            <a:r>
              <a:rPr/>
              <a:t> before publication</a:t>
            </a:r>
          </a:p>
          <a:p>
            <a:pPr lvl="0"/>
            <a:r>
              <a:rPr/>
              <a:t>Reviewers catch what authors </a:t>
            </a:r>
            <a:r>
              <a:rPr b="1"/>
              <a:t>can’t see</a:t>
            </a:r>
            <a:r>
              <a:rPr/>
              <a:t> — you are the worst editor of your own writing because you know what you </a:t>
            </a:r>
            <a:r>
              <a:rPr i="1"/>
              <a:t>meant</a:t>
            </a:r>
          </a:p>
          <a:p>
            <a:pPr lvl="0"/>
            <a:r>
              <a:rPr/>
              <a:t>Learning to </a:t>
            </a:r>
            <a:r>
              <a:rPr b="1"/>
              <a:t>review</a:t>
            </a:r>
            <a:r>
              <a:rPr/>
              <a:t> makes you a better </a:t>
            </a:r>
            <a:r>
              <a:rPr b="1"/>
              <a:t>writer</a:t>
            </a:r>
            <a:r>
              <a:rPr/>
              <a:t>: the questions you ask of a peer’s draft are the ones you’ll start asking of your own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964692"/>
            <a:ext cx="9997440" cy="1188720"/>
          </a:xfrm>
        </p:spPr>
        <p:txBody>
          <a:bodyPr/>
          <a:lstStyle/>
          <a:p>
            <a:pPr lvl="0" indent="0" marL="0">
              <a:buNone/>
            </a:pPr>
            <a:r>
              <a:rPr/>
              <a:t>Two Roles Today</a:t>
            </a:r>
          </a:p>
        </p:txBody>
      </p:sp>
      <p:sp>
        <p:nvSpPr>
          <p:cNvPr id="1005" name="callout-tip" descr="tip callout: As a reviewer. Your job is to make their paper better. Not to rewrite it, not to grade it — to show them where a real reader gets lost."/>
          <p:cNvSpPr/>
          <p:nvPr/>
        </p:nvSpPr>
        <p:spPr>
          <a:xfrm>
            <a:off x="1097280" y="2633472"/>
            <a:ext cx="9994392" cy="1082040"/>
          </a:xfrm>
          <a:prstGeom prst="roundRect">
            <a:avLst>
              <a:gd name="adj" fmla="val 6000"/>
            </a:avLst>
          </a:prstGeom>
          <a:solidFill>
            <a:srgbClr val="FEFDFA"/>
          </a:solidFill>
          <a:ln w="19050">
            <a:solidFill>
              <a:srgbClr val="009955"/>
            </a:solidFill>
          </a:ln>
        </p:spPr>
        <p:txBody>
          <a:bodyPr lIns="91440" tIns="68580" rIns="91440" bIns="68580" anchor="t" wrap="square">
            <a:normAutofit/>
          </a:bodyPr>
          <a:lstStyle/>
          <a:p/>
        </p:txBody>
      </p:sp>
      <p:sp>
        <p:nvSpPr>
          <p:cNvPr id="1006" name="callout-title" descr=""/>
          <p:cNvSpPr/>
          <p:nvPr/>
        </p:nvSpPr>
        <p:spPr>
          <a:xfrm>
            <a:off x="1097280" y="2633472"/>
            <a:ext cx="9994392" cy="320040"/>
          </a:xfrm>
          <a:prstGeom prst="roundRect">
            <a:avLst>
              <a:gd name="adj" fmla="val 6000"/>
            </a:avLst>
          </a:prstGeom>
          <a:solidFill>
            <a:srgbClr val="009955"/>
          </a:solidFill>
          <a:ln>
            <a:noFill/>
          </a:ln>
        </p:spPr>
        <p:txBody>
          <a:bodyPr lIns="91440" tIns="68580" rIns="91440" bIns="68580" anchor="t" wrap="square">
            <a:normAutofit/>
          </a:bodyPr>
          <a:lstStyle/>
          <a:p>
            <a:pPr algn="l"/>
            <a:r>
              <a:rPr lang="en-US" sz="1400" b="1" dirty="0">
                <a:solidFill>
                  <a:srgbClr val="FEFDFA"/>
                </a:solidFill>
              </a:rPr>
              <a:t>As a reviewer</a:t>
            </a:r>
          </a:p>
        </p:txBody>
      </p:sp>
      <p:sp>
        <p:nvSpPr>
          <p:cNvPr id="1007" name="callout-body" descr=""/>
          <p:cNvSpPr/>
          <p:nvPr/>
        </p:nvSpPr>
        <p:spPr>
          <a:xfrm>
            <a:off x="1097280" y="2953512"/>
            <a:ext cx="9994392" cy="762000"/>
          </a:xfrm>
          <a:prstGeom prst="roundRect">
            <a:avLst>
              <a:gd name="adj" fmla="val 6000"/>
            </a:avLst>
          </a:prstGeom>
          <a:solidFill>
            <a:srgbClr val="FEFDFA"/>
          </a:solidFill>
          <a:ln>
            <a:noFill/>
          </a:ln>
        </p:spPr>
        <p:txBody>
          <a:bodyPr lIns="91440" tIns="68580" rIns="91440" bIns="68580" anchor="t" wrap="square">
            <a:normAutofit/>
          </a:bodyPr>
          <a:lstStyle/>
          <a:p>
            <a:pPr algn="l"/>
            <a:r>
              <a:rPr lang="en-US" sz="1200" b="0" dirty="0">
                <a:solidFill>
                  <a:srgbClr val="010B13"/>
                </a:solidFill>
              </a:rPr>
              <a:t>Your job is to make their paper better. Not to rewrite it, not to grade it — to show them where a real reader gets lost.</a:t>
            </a:r>
          </a:p>
        </p:txBody>
      </p:sp>
      <p:sp>
        <p:nvSpPr>
          <p:cNvPr id="1008" name="callout-note" descr="note callout: As an author. Your job is to listen, take notes, and decide what to fix. The draft is being reviewed — not you."/>
          <p:cNvSpPr/>
          <p:nvPr/>
        </p:nvSpPr>
        <p:spPr>
          <a:xfrm>
            <a:off x="1097280" y="3806952"/>
            <a:ext cx="9994392" cy="899160"/>
          </a:xfrm>
          <a:prstGeom prst="roundRect">
            <a:avLst>
              <a:gd name="adj" fmla="val 6000"/>
            </a:avLst>
          </a:prstGeom>
          <a:solidFill>
            <a:srgbClr val="FEFDFA"/>
          </a:solidFill>
          <a:ln w="19050">
            <a:solidFill>
              <a:srgbClr val="0066CC"/>
            </a:solidFill>
          </a:ln>
        </p:spPr>
        <p:txBody>
          <a:bodyPr lIns="91440" tIns="68580" rIns="91440" bIns="68580" anchor="t" wrap="square">
            <a:normAutofit/>
          </a:bodyPr>
          <a:lstStyle/>
          <a:p/>
        </p:txBody>
      </p:sp>
      <p:sp>
        <p:nvSpPr>
          <p:cNvPr id="1009" name="callout-title" descr=""/>
          <p:cNvSpPr/>
          <p:nvPr/>
        </p:nvSpPr>
        <p:spPr>
          <a:xfrm>
            <a:off x="1097280" y="3806952"/>
            <a:ext cx="9994392" cy="320040"/>
          </a:xfrm>
          <a:prstGeom prst="roundRect">
            <a:avLst>
              <a:gd name="adj" fmla="val 6000"/>
            </a:avLst>
          </a:prstGeom>
          <a:solidFill>
            <a:srgbClr val="0066CC"/>
          </a:solidFill>
          <a:ln>
            <a:noFill/>
          </a:ln>
        </p:spPr>
        <p:txBody>
          <a:bodyPr lIns="91440" tIns="68580" rIns="91440" bIns="68580" anchor="t" wrap="square">
            <a:normAutofit/>
          </a:bodyPr>
          <a:lstStyle/>
          <a:p>
            <a:pPr algn="l"/>
            <a:r>
              <a:rPr lang="en-US" sz="1400" b="1" dirty="0">
                <a:solidFill>
                  <a:srgbClr val="FEFDFA"/>
                </a:solidFill>
              </a:rPr>
              <a:t>As an author</a:t>
            </a:r>
          </a:p>
        </p:txBody>
      </p:sp>
      <p:sp>
        <p:nvSpPr>
          <p:cNvPr id="1010" name="callout-body" descr=""/>
          <p:cNvSpPr/>
          <p:nvPr/>
        </p:nvSpPr>
        <p:spPr>
          <a:xfrm>
            <a:off x="1097280" y="4126992"/>
            <a:ext cx="9994392" cy="579120"/>
          </a:xfrm>
          <a:prstGeom prst="roundRect">
            <a:avLst>
              <a:gd name="adj" fmla="val 6000"/>
            </a:avLst>
          </a:prstGeom>
          <a:solidFill>
            <a:srgbClr val="FEFDFA"/>
          </a:solidFill>
          <a:ln>
            <a:noFill/>
          </a:ln>
        </p:spPr>
        <p:txBody>
          <a:bodyPr lIns="91440" tIns="68580" rIns="91440" bIns="68580" anchor="t" wrap="square">
            <a:normAutofit/>
          </a:bodyPr>
          <a:lstStyle/>
          <a:p>
            <a:pPr algn="l"/>
            <a:r>
              <a:rPr lang="en-US" sz="1200" b="0" dirty="0">
                <a:solidFill>
                  <a:srgbClr val="010B13"/>
                </a:solidFill>
              </a:rPr>
              <a:t>Your job is to listen, take notes, and decide what to fix. The draft is being reviewed — not you.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1097280" y="2386744"/>
            <a:ext cx="999744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/>
          <a:lstStyle/>
          <a:p>
            <a:pPr lvl="0" indent="0" marL="0">
              <a:buNone/>
            </a:pPr>
            <a:r>
              <a:rPr/>
              <a:t>Giving Good Feedback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964692"/>
            <a:ext cx="9997440" cy="1188720"/>
          </a:xfrm>
        </p:spPr>
        <p:txBody>
          <a:bodyPr/>
          <a:lstStyle/>
          <a:p>
            <a:pPr lvl="0" indent="0" marL="0">
              <a:buNone/>
            </a:pPr>
            <a:r>
              <a:rPr/>
              <a:t>The Golden Rules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-457200" marL="457200">
              <a:buAutoNum type="arabicPeriod"/>
            </a:pPr>
            <a:r>
              <a:rPr b="1"/>
              <a:t>Global before local</a:t>
            </a:r>
            <a:r>
              <a:rPr/>
              <a:t> — organization and argument first; commas and typos last (a polished paragraph in the wrong place is still in the wrong place)</a:t>
            </a:r>
          </a:p>
          <a:p>
            <a:pPr lvl="0" indent="-457200" marL="457200">
              <a:buAutoNum type="arabicPeriod"/>
            </a:pPr>
            <a:r>
              <a:rPr b="1"/>
              <a:t>Critique the paper, not the person</a:t>
            </a:r>
            <a:r>
              <a:rPr/>
              <a:t> — “this paragraph lost me” not “you’re confusing”</a:t>
            </a:r>
          </a:p>
          <a:p>
            <a:pPr lvl="0" indent="-457200" marL="457200">
              <a:buAutoNum type="arabicPeriod"/>
            </a:pPr>
            <a:r>
              <a:rPr b="1"/>
              <a:t>Specific beats vague</a:t>
            </a:r>
            <a:r>
              <a:rPr/>
              <a:t> — point to </a:t>
            </a:r>
            <a:r>
              <a:rPr i="1"/>
              <a:t>where</a:t>
            </a:r>
            <a:r>
              <a:rPr/>
              <a:t> and say </a:t>
            </a:r>
            <a:r>
              <a:rPr i="1"/>
              <a:t>why</a:t>
            </a:r>
          </a:p>
          <a:p>
            <a:pPr lvl="0" indent="-457200" marL="457200">
              <a:buAutoNum type="arabicPeriod"/>
            </a:pPr>
            <a:r>
              <a:rPr b="1"/>
              <a:t>Every criticism deserves a suggestion</a:t>
            </a:r>
            <a:r>
              <a:rPr/>
              <a:t> — tell them what would fix it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964692"/>
            <a:ext cx="9997440" cy="1188720"/>
          </a:xfrm>
        </p:spPr>
        <p:txBody>
          <a:bodyPr/>
          <a:lstStyle/>
          <a:p>
            <a:pPr lvl="0" indent="0" marL="0">
              <a:buNone/>
            </a:pPr>
            <a:r>
              <a:rPr/>
              <a:t>Weak vs. Strong Feedback</a:t>
            </a:r>
          </a:p>
        </p:txBody>
      </p:sp>
      <p:sp>
        <p:nvSpPr>
          <p:cNvPr id="1011" name="callout-caution" descr="caution callout: Weak. “Unclear.”“Good job!”“Fix your methods section.”“I didn’t like the discussion.”"/>
          <p:cNvSpPr/>
          <p:nvPr/>
        </p:nvSpPr>
        <p:spPr>
          <a:xfrm>
            <a:off x="1097280" y="2633472"/>
            <a:ext cx="9994392" cy="899160"/>
          </a:xfrm>
          <a:prstGeom prst="roundRect">
            <a:avLst>
              <a:gd name="adj" fmla="val 6000"/>
            </a:avLst>
          </a:prstGeom>
          <a:solidFill>
            <a:srgbClr val="FEFDFA"/>
          </a:solidFill>
          <a:ln w="19050">
            <a:solidFill>
              <a:srgbClr val="B38F00"/>
            </a:solidFill>
          </a:ln>
        </p:spPr>
        <p:txBody>
          <a:bodyPr lIns="91440" tIns="68580" rIns="91440" bIns="68580" anchor="t" wrap="square">
            <a:normAutofit/>
          </a:bodyPr>
          <a:lstStyle/>
          <a:p/>
        </p:txBody>
      </p:sp>
      <p:sp>
        <p:nvSpPr>
          <p:cNvPr id="1012" name="callout-title" descr=""/>
          <p:cNvSpPr/>
          <p:nvPr/>
        </p:nvSpPr>
        <p:spPr>
          <a:xfrm>
            <a:off x="1097280" y="2633472"/>
            <a:ext cx="9994392" cy="320040"/>
          </a:xfrm>
          <a:prstGeom prst="roundRect">
            <a:avLst>
              <a:gd name="adj" fmla="val 6000"/>
            </a:avLst>
          </a:prstGeom>
          <a:solidFill>
            <a:srgbClr val="B38F00"/>
          </a:solidFill>
          <a:ln>
            <a:noFill/>
          </a:ln>
        </p:spPr>
        <p:txBody>
          <a:bodyPr lIns="91440" tIns="68580" rIns="91440" bIns="68580" anchor="t" wrap="square">
            <a:normAutofit/>
          </a:bodyPr>
          <a:lstStyle/>
          <a:p>
            <a:pPr algn="l"/>
            <a:r>
              <a:rPr lang="en-US" sz="1400" b="1" dirty="0">
                <a:solidFill>
                  <a:srgbClr val="FEFDFA"/>
                </a:solidFill>
              </a:rPr>
              <a:t>Weak</a:t>
            </a:r>
          </a:p>
        </p:txBody>
      </p:sp>
      <p:sp>
        <p:nvSpPr>
          <p:cNvPr id="1013" name="callout-body" descr=""/>
          <p:cNvSpPr/>
          <p:nvPr/>
        </p:nvSpPr>
        <p:spPr>
          <a:xfrm>
            <a:off x="1097280" y="2953512"/>
            <a:ext cx="9994392" cy="579120"/>
          </a:xfrm>
          <a:prstGeom prst="roundRect">
            <a:avLst>
              <a:gd name="adj" fmla="val 6000"/>
            </a:avLst>
          </a:prstGeom>
          <a:solidFill>
            <a:srgbClr val="FEFDFA"/>
          </a:solidFill>
          <a:ln>
            <a:noFill/>
          </a:ln>
        </p:spPr>
        <p:txBody>
          <a:bodyPr lIns="91440" tIns="68580" rIns="91440" bIns="68580" anchor="t" wrap="square">
            <a:normAutofit/>
          </a:bodyPr>
          <a:lstStyle/>
          <a:p>
            <a:pPr algn="l"/>
            <a:r>
              <a:rPr lang="en-US" sz="1200" b="0" dirty="0">
                <a:solidFill>
                  <a:srgbClr val="010B13"/>
                </a:solidFill>
              </a:rPr>
              <a:t>“Unclear.”“Good job!”“Fix your methods section.”“I didn’t like the discussion.”</a:t>
            </a:r>
          </a:p>
        </p:txBody>
      </p:sp>
      <p:sp>
        <p:nvSpPr>
          <p:cNvPr id="1014" name="callout-tip" descr="tip callout: Strong. “The gap statement is in paragraph 1 but the RQ doesn’t appear until paragraph 4 — I lost the thread. Move the RQ up?”“Participants: how were they recruited? I couldn’t replicate this from what’s written.”“Your F is significant but I can’t tell which groups differed — where are the post-hocs?”"/>
          <p:cNvSpPr/>
          <p:nvPr/>
        </p:nvSpPr>
        <p:spPr>
          <a:xfrm>
            <a:off x="1097280" y="3624072"/>
            <a:ext cx="9994392" cy="1264920"/>
          </a:xfrm>
          <a:prstGeom prst="roundRect">
            <a:avLst>
              <a:gd name="adj" fmla="val 6000"/>
            </a:avLst>
          </a:prstGeom>
          <a:solidFill>
            <a:srgbClr val="FEFDFA"/>
          </a:solidFill>
          <a:ln w="19050">
            <a:solidFill>
              <a:srgbClr val="009955"/>
            </a:solidFill>
          </a:ln>
        </p:spPr>
        <p:txBody>
          <a:bodyPr lIns="91440" tIns="68580" rIns="91440" bIns="68580" anchor="t" wrap="square">
            <a:normAutofit/>
          </a:bodyPr>
          <a:lstStyle/>
          <a:p/>
        </p:txBody>
      </p:sp>
      <p:sp>
        <p:nvSpPr>
          <p:cNvPr id="1015" name="callout-title" descr=""/>
          <p:cNvSpPr/>
          <p:nvPr/>
        </p:nvSpPr>
        <p:spPr>
          <a:xfrm>
            <a:off x="1097280" y="3624072"/>
            <a:ext cx="9994392" cy="320040"/>
          </a:xfrm>
          <a:prstGeom prst="roundRect">
            <a:avLst>
              <a:gd name="adj" fmla="val 6000"/>
            </a:avLst>
          </a:prstGeom>
          <a:solidFill>
            <a:srgbClr val="009955"/>
          </a:solidFill>
          <a:ln>
            <a:noFill/>
          </a:ln>
        </p:spPr>
        <p:txBody>
          <a:bodyPr lIns="91440" tIns="68580" rIns="91440" bIns="68580" anchor="t" wrap="square">
            <a:normAutofit/>
          </a:bodyPr>
          <a:lstStyle/>
          <a:p>
            <a:pPr algn="l"/>
            <a:r>
              <a:rPr lang="en-US" sz="1400" b="1" dirty="0">
                <a:solidFill>
                  <a:srgbClr val="FEFDFA"/>
                </a:solidFill>
              </a:rPr>
              <a:t>Strong</a:t>
            </a:r>
          </a:p>
        </p:txBody>
      </p:sp>
      <p:sp>
        <p:nvSpPr>
          <p:cNvPr id="1016" name="callout-body" descr=""/>
          <p:cNvSpPr/>
          <p:nvPr/>
        </p:nvSpPr>
        <p:spPr>
          <a:xfrm>
            <a:off x="1097280" y="3944112"/>
            <a:ext cx="9994392" cy="944880"/>
          </a:xfrm>
          <a:prstGeom prst="roundRect">
            <a:avLst>
              <a:gd name="adj" fmla="val 6000"/>
            </a:avLst>
          </a:prstGeom>
          <a:solidFill>
            <a:srgbClr val="FEFDFA"/>
          </a:solidFill>
          <a:ln>
            <a:noFill/>
          </a:ln>
        </p:spPr>
        <p:txBody>
          <a:bodyPr lIns="91440" tIns="68580" rIns="91440" bIns="68580" anchor="t" wrap="square">
            <a:normAutofit/>
          </a:bodyPr>
          <a:lstStyle/>
          <a:p>
            <a:pPr algn="l"/>
            <a:r>
              <a:rPr lang="en-US" sz="1200" b="0" dirty="0">
                <a:solidFill>
                  <a:srgbClr val="010B13"/>
                </a:solidFill>
              </a:rPr>
              <a:t>“The gap statement is in paragraph 1 but the RQ doesn’t appear until paragraph 4 — I lost the thread. Move the RQ up?”“Participants: how were they recruited? I couldn’t replicate this from what’s written.”“Your F is significant but I can’t tell which groups differed — where are the post-hocs?”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964692"/>
            <a:ext cx="9997440" cy="1188720"/>
          </a:xfrm>
        </p:spPr>
        <p:txBody>
          <a:bodyPr/>
          <a:lstStyle/>
          <a:p>
            <a:pPr lvl="0" indent="0" marL="0">
              <a:buNone/>
            </a:pPr>
            <a:r>
              <a:rPr/>
              <a:t>A Formula That Works: Describe → Diagnose → Suggest</a:t>
            </a:r>
          </a:p>
        </p:txBody>
      </p:sp>
      <p:sp>
        <p:nvSpPr>
          <p:cNvPr id="1017" name="prose" descr=""/>
          <p:cNvSpPr/>
          <p:nvPr/>
        </p:nvSpPr>
        <p:spPr>
          <a:xfrm>
            <a:off x="1097280" y="2633472"/>
            <a:ext cx="9994392" cy="548640"/>
          </a:xfrm>
          <a:prstGeom prst="roundRect">
            <a:avLst>
              <a:gd name="adj" fmla="val 6000"/>
            </a:avLst>
          </a:prstGeom>
          <a:noFill/>
          <a:ln>
            <a:noFill/>
          </a:ln>
        </p:spPr>
        <p:txBody>
          <a:bodyPr lIns="91440" tIns="68580" rIns="91440" bIns="68580" anchor="t" wrap="square">
            <a:normAutofit/>
          </a:bodyPr>
          <a:lstStyle/>
          <a:p>
            <a:pPr algn="l"/>
            <a:r>
              <a:rPr lang="en-US" sz="1200" b="0" dirty="0">
                <a:solidFill>
                  <a:srgbClr val="010B13"/>
                </a:solidFill>
              </a:rPr>
              <a:t>Describe: “Your introduction spends 3 paragraphs on Topic A before mentioning your core variable…”Diagnose: “…so by the time I hit your hypothesis I couldn’t tell how A connects to it.”Suggest: “Try leading with the core variable’s definition and folding A in as background.”</a:t>
            </a:r>
          </a:p>
        </p:txBody>
      </p:sp>
      <p:sp>
        <p:nvSpPr>
          <p:cNvPr id="1018" name="callout-tip" descr="tip callout: Tip. Notice what’s missing: your taste. You’re reporting what happens in a reader’s head — that’s data the author cannot get any other way."/>
          <p:cNvSpPr/>
          <p:nvPr/>
        </p:nvSpPr>
        <p:spPr>
          <a:xfrm>
            <a:off x="1097280" y="3273552"/>
            <a:ext cx="9994392" cy="1082040"/>
          </a:xfrm>
          <a:prstGeom prst="roundRect">
            <a:avLst>
              <a:gd name="adj" fmla="val 6000"/>
            </a:avLst>
          </a:prstGeom>
          <a:solidFill>
            <a:srgbClr val="FEFDFA"/>
          </a:solidFill>
          <a:ln w="19050">
            <a:solidFill>
              <a:srgbClr val="009955"/>
            </a:solidFill>
          </a:ln>
        </p:spPr>
        <p:txBody>
          <a:bodyPr lIns="91440" tIns="68580" rIns="91440" bIns="68580" anchor="t" wrap="square">
            <a:normAutofit/>
          </a:bodyPr>
          <a:lstStyle/>
          <a:p/>
        </p:txBody>
      </p:sp>
      <p:sp>
        <p:nvSpPr>
          <p:cNvPr id="1019" name="callout-title" descr=""/>
          <p:cNvSpPr/>
          <p:nvPr/>
        </p:nvSpPr>
        <p:spPr>
          <a:xfrm>
            <a:off x="1097280" y="3273552"/>
            <a:ext cx="9994392" cy="320040"/>
          </a:xfrm>
          <a:prstGeom prst="roundRect">
            <a:avLst>
              <a:gd name="adj" fmla="val 6000"/>
            </a:avLst>
          </a:prstGeom>
          <a:solidFill>
            <a:srgbClr val="009955"/>
          </a:solidFill>
          <a:ln>
            <a:noFill/>
          </a:ln>
        </p:spPr>
        <p:txBody>
          <a:bodyPr lIns="91440" tIns="68580" rIns="91440" bIns="68580" anchor="t" wrap="square">
            <a:normAutofit/>
          </a:bodyPr>
          <a:lstStyle/>
          <a:p>
            <a:pPr algn="l"/>
            <a:r>
              <a:rPr lang="en-US" sz="1400" b="1" dirty="0">
                <a:solidFill>
                  <a:srgbClr val="FEFDFA"/>
                </a:solidFill>
              </a:rPr>
              <a:t>Tip</a:t>
            </a:r>
          </a:p>
        </p:txBody>
      </p:sp>
      <p:sp>
        <p:nvSpPr>
          <p:cNvPr id="1020" name="callout-body" descr=""/>
          <p:cNvSpPr/>
          <p:nvPr/>
        </p:nvSpPr>
        <p:spPr>
          <a:xfrm>
            <a:off x="1097280" y="3593592"/>
            <a:ext cx="9994392" cy="762000"/>
          </a:xfrm>
          <a:prstGeom prst="roundRect">
            <a:avLst>
              <a:gd name="adj" fmla="val 6000"/>
            </a:avLst>
          </a:prstGeom>
          <a:solidFill>
            <a:srgbClr val="FEFDFA"/>
          </a:solidFill>
          <a:ln>
            <a:noFill/>
          </a:ln>
        </p:spPr>
        <p:txBody>
          <a:bodyPr lIns="91440" tIns="68580" rIns="91440" bIns="68580" anchor="t" wrap="square">
            <a:normAutofit/>
          </a:bodyPr>
          <a:lstStyle/>
          <a:p>
            <a:pPr algn="l"/>
            <a:r>
              <a:rPr lang="en-US" sz="1200" b="0" dirty="0">
                <a:solidFill>
                  <a:srgbClr val="010B13"/>
                </a:solidFill>
              </a:rPr>
              <a:t>Notice what’s missing: your taste. You’re reporting what happens in a reader’s head — that’s data the author cannot get any other way.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1097280" y="2386744"/>
            <a:ext cx="999744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/>
          <a:lstStyle/>
          <a:p>
            <a:pPr lvl="0" indent="0" marL="0">
              <a:buNone/>
            </a:pPr>
            <a:r>
              <a:rPr/>
              <a:t>Reviewing Section by Section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964692"/>
            <a:ext cx="9997440" cy="1188720"/>
          </a:xfrm>
        </p:spPr>
        <p:txBody>
          <a:bodyPr/>
          <a:lstStyle/>
          <a:p>
            <a:pPr lvl="0" indent="0" marL="0">
              <a:buNone/>
            </a:pPr>
            <a:r>
              <a:rPr/>
              <a:t>Introduction</a:t>
            </a:r>
          </a:p>
        </p:txBody>
      </p:sp>
      <p:sp>
        <p:nvSpPr>
          <p:cNvPr id="1021" name="prose" descr=""/>
          <p:cNvSpPr/>
          <p:nvPr/>
        </p:nvSpPr>
        <p:spPr>
          <a:xfrm>
            <a:off x="1097280" y="2633472"/>
            <a:ext cx="9994392" cy="365760"/>
          </a:xfrm>
          <a:prstGeom prst="roundRect">
            <a:avLst>
              <a:gd name="adj" fmla="val 6000"/>
            </a:avLst>
          </a:prstGeom>
          <a:noFill/>
          <a:ln>
            <a:noFill/>
          </a:ln>
        </p:spPr>
        <p:txBody>
          <a:bodyPr lIns="91440" tIns="68580" rIns="91440" bIns="68580" anchor="t" wrap="square">
            <a:normAutofit/>
          </a:bodyPr>
          <a:lstStyle/>
          <a:p>
            <a:pPr algn="l"/>
            <a:r>
              <a:rPr lang="en-US" sz="1200" b="0" dirty="0">
                <a:solidFill>
                  <a:srgbClr val="010B13"/>
                </a:solidFill>
              </a:rPr>
              <a:t>Does it funnel? General topic → gap → current studyCan you find, in one sentence each:the research question or hypotheses?the gap the study fills?Are key constructs defined and prior work cited?</a:t>
            </a:r>
          </a:p>
        </p:txBody>
      </p:sp>
      <p:sp>
        <p:nvSpPr>
          <p:cNvPr id="1022" name="callout-tip" descr="tip callout: Tip. Litmus test: after reading only the intro, can you predict what the Method will measure?"/>
          <p:cNvSpPr/>
          <p:nvPr/>
        </p:nvSpPr>
        <p:spPr>
          <a:xfrm>
            <a:off x="1097280" y="3090672"/>
            <a:ext cx="9994392" cy="899160"/>
          </a:xfrm>
          <a:prstGeom prst="roundRect">
            <a:avLst>
              <a:gd name="adj" fmla="val 6000"/>
            </a:avLst>
          </a:prstGeom>
          <a:solidFill>
            <a:srgbClr val="FEFDFA"/>
          </a:solidFill>
          <a:ln w="19050">
            <a:solidFill>
              <a:srgbClr val="009955"/>
            </a:solidFill>
          </a:ln>
        </p:spPr>
        <p:txBody>
          <a:bodyPr lIns="91440" tIns="68580" rIns="91440" bIns="68580" anchor="t" wrap="square">
            <a:normAutofit/>
          </a:bodyPr>
          <a:lstStyle/>
          <a:p/>
        </p:txBody>
      </p:sp>
      <p:sp>
        <p:nvSpPr>
          <p:cNvPr id="1023" name="callout-title" descr=""/>
          <p:cNvSpPr/>
          <p:nvPr/>
        </p:nvSpPr>
        <p:spPr>
          <a:xfrm>
            <a:off x="1097280" y="3090672"/>
            <a:ext cx="9994392" cy="320040"/>
          </a:xfrm>
          <a:prstGeom prst="roundRect">
            <a:avLst>
              <a:gd name="adj" fmla="val 6000"/>
            </a:avLst>
          </a:prstGeom>
          <a:solidFill>
            <a:srgbClr val="009955"/>
          </a:solidFill>
          <a:ln>
            <a:noFill/>
          </a:ln>
        </p:spPr>
        <p:txBody>
          <a:bodyPr lIns="91440" tIns="68580" rIns="91440" bIns="68580" anchor="t" wrap="square">
            <a:normAutofit/>
          </a:bodyPr>
          <a:lstStyle/>
          <a:p>
            <a:pPr algn="l"/>
            <a:r>
              <a:rPr lang="en-US" sz="1400" b="1" dirty="0">
                <a:solidFill>
                  <a:srgbClr val="FEFDFA"/>
                </a:solidFill>
              </a:rPr>
              <a:t>Tip</a:t>
            </a:r>
          </a:p>
        </p:txBody>
      </p:sp>
      <p:sp>
        <p:nvSpPr>
          <p:cNvPr id="1024" name="callout-body" descr=""/>
          <p:cNvSpPr/>
          <p:nvPr/>
        </p:nvSpPr>
        <p:spPr>
          <a:xfrm>
            <a:off x="1097280" y="3410712"/>
            <a:ext cx="9994392" cy="579120"/>
          </a:xfrm>
          <a:prstGeom prst="roundRect">
            <a:avLst>
              <a:gd name="adj" fmla="val 6000"/>
            </a:avLst>
          </a:prstGeom>
          <a:solidFill>
            <a:srgbClr val="FEFDFA"/>
          </a:solidFill>
          <a:ln>
            <a:noFill/>
          </a:ln>
        </p:spPr>
        <p:txBody>
          <a:bodyPr lIns="91440" tIns="68580" rIns="91440" bIns="68580" anchor="t" wrap="square">
            <a:normAutofit/>
          </a:bodyPr>
          <a:lstStyle/>
          <a:p>
            <a:pPr algn="l"/>
            <a:r>
              <a:rPr lang="en-US" sz="1200" b="0" dirty="0">
                <a:solidFill>
                  <a:srgbClr val="010B13"/>
                </a:solidFill>
              </a:rPr>
              <a:t>Litmus test: after reading only the intro, can you predict what the Method will measure?</a:t>
            </a:r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964692"/>
            <a:ext cx="9997440" cy="1188720"/>
          </a:xfrm>
        </p:spPr>
        <p:txBody>
          <a:bodyPr/>
          <a:lstStyle/>
          <a:p>
            <a:pPr lvl="0" indent="0" marL="0">
              <a:buNone/>
            </a:pPr>
            <a:r>
              <a:rPr/>
              <a:t>Method</a:t>
            </a:r>
          </a:p>
        </p:txBody>
      </p:sp>
      <p:sp>
        <p:nvSpPr>
          <p:cNvPr id="1025" name="prose" descr=""/>
          <p:cNvSpPr/>
          <p:nvPr/>
        </p:nvSpPr>
        <p:spPr>
          <a:xfrm>
            <a:off x="1097280" y="2633472"/>
            <a:ext cx="9994392" cy="182880"/>
          </a:xfrm>
          <a:prstGeom prst="roundRect">
            <a:avLst>
              <a:gd name="adj" fmla="val 6000"/>
            </a:avLst>
          </a:prstGeom>
          <a:noFill/>
          <a:ln>
            <a:noFill/>
          </a:ln>
        </p:spPr>
        <p:txBody>
          <a:bodyPr lIns="91440" tIns="68580" rIns="91440" bIns="68580" anchor="t" wrap="square">
            <a:normAutofit/>
          </a:bodyPr>
          <a:lstStyle/>
          <a:p>
            <a:pPr algn="l"/>
            <a:r>
              <a:rPr lang="en-US" sz="1200" b="0" dirty="0">
                <a:solidFill>
                  <a:srgbClr val="010B13"/>
                </a:solidFill>
              </a:rPr>
              <a:t>The recipe test: could you run this study from what’s written?</a:t>
            </a:r>
          </a:p>
        </p:txBody>
      </p:sp>
      <p:sp>
        <p:nvSpPr>
          <p:cNvPr id="1026" name="prose" descr=""/>
          <p:cNvSpPr/>
          <p:nvPr/>
        </p:nvSpPr>
        <p:spPr>
          <a:xfrm>
            <a:off x="1097280" y="2907792"/>
            <a:ext cx="9994392" cy="365760"/>
          </a:xfrm>
          <a:prstGeom prst="roundRect">
            <a:avLst>
              <a:gd name="adj" fmla="val 6000"/>
            </a:avLst>
          </a:prstGeom>
          <a:noFill/>
          <a:ln>
            <a:noFill/>
          </a:ln>
        </p:spPr>
        <p:txBody>
          <a:bodyPr lIns="91440" tIns="68580" rIns="91440" bIns="68580" anchor="t" wrap="square">
            <a:normAutofit/>
          </a:bodyPr>
          <a:lstStyle/>
          <a:p>
            <a:pPr algn="l"/>
            <a:r>
              <a:rPr lang="en-US" sz="1200" b="0" dirty="0">
                <a:solidFill>
                  <a:srgbClr val="010B13"/>
                </a:solidFill>
              </a:rPr>
              <a:t>Participants: who, how many, how selected, relevant demographics?Materials: how was each variable measured? Range of values?Procedure: what actually happened, in order? Where? Design?</a:t>
            </a:r>
          </a:p>
        </p:txBody>
      </p:sp>
      <p:sp>
        <p:nvSpPr>
          <p:cNvPr id="1027" name="callout-warning" descr="warning callout: Warning. The most common Method problem in drafts: measures are named (“a questionnaire”) but not described (how many items, what scale, what a high score means)."/>
          <p:cNvSpPr/>
          <p:nvPr/>
        </p:nvSpPr>
        <p:spPr>
          <a:xfrm>
            <a:off x="1097280" y="3364992"/>
            <a:ext cx="9994392" cy="1082040"/>
          </a:xfrm>
          <a:prstGeom prst="roundRect">
            <a:avLst>
              <a:gd name="adj" fmla="val 6000"/>
            </a:avLst>
          </a:prstGeom>
          <a:solidFill>
            <a:srgbClr val="FEFDFA"/>
          </a:solidFill>
          <a:ln w="19050">
            <a:solidFill>
              <a:srgbClr val="CC6600"/>
            </a:solidFill>
          </a:ln>
        </p:spPr>
        <p:txBody>
          <a:bodyPr lIns="91440" tIns="68580" rIns="91440" bIns="68580" anchor="t" wrap="square">
            <a:normAutofit/>
          </a:bodyPr>
          <a:lstStyle/>
          <a:p/>
        </p:txBody>
      </p:sp>
      <p:sp>
        <p:nvSpPr>
          <p:cNvPr id="1028" name="callout-title" descr=""/>
          <p:cNvSpPr/>
          <p:nvPr/>
        </p:nvSpPr>
        <p:spPr>
          <a:xfrm>
            <a:off x="1097280" y="3364992"/>
            <a:ext cx="9994392" cy="320040"/>
          </a:xfrm>
          <a:prstGeom prst="roundRect">
            <a:avLst>
              <a:gd name="adj" fmla="val 6000"/>
            </a:avLst>
          </a:prstGeom>
          <a:solidFill>
            <a:srgbClr val="CC6600"/>
          </a:solidFill>
          <a:ln>
            <a:noFill/>
          </a:ln>
        </p:spPr>
        <p:txBody>
          <a:bodyPr lIns="91440" tIns="68580" rIns="91440" bIns="68580" anchor="t" wrap="square">
            <a:normAutofit/>
          </a:bodyPr>
          <a:lstStyle/>
          <a:p>
            <a:pPr algn="l"/>
            <a:r>
              <a:rPr lang="en-US" sz="1400" b="1" dirty="0">
                <a:solidFill>
                  <a:srgbClr val="FEFDFA"/>
                </a:solidFill>
              </a:rPr>
              <a:t>Warning</a:t>
            </a:r>
          </a:p>
        </p:txBody>
      </p:sp>
      <p:sp>
        <p:nvSpPr>
          <p:cNvPr id="1029" name="callout-body" descr=""/>
          <p:cNvSpPr/>
          <p:nvPr/>
        </p:nvSpPr>
        <p:spPr>
          <a:xfrm>
            <a:off x="1097280" y="3685032"/>
            <a:ext cx="9994392" cy="762000"/>
          </a:xfrm>
          <a:prstGeom prst="roundRect">
            <a:avLst>
              <a:gd name="adj" fmla="val 6000"/>
            </a:avLst>
          </a:prstGeom>
          <a:solidFill>
            <a:srgbClr val="FEFDFA"/>
          </a:solidFill>
          <a:ln>
            <a:noFill/>
          </a:ln>
        </p:spPr>
        <p:txBody>
          <a:bodyPr lIns="91440" tIns="68580" rIns="91440" bIns="68580" anchor="t" wrap="square">
            <a:normAutofit/>
          </a:bodyPr>
          <a:lstStyle/>
          <a:p>
            <a:pPr algn="l"/>
            <a:r>
              <a:rPr lang="en-US" sz="1200" b="0" dirty="0">
                <a:solidFill>
                  <a:srgbClr val="010B13"/>
                </a:solidFill>
              </a:rPr>
              <a:t>The most common Method problem in drafts: measures are named (“a questionnaire”) but not described (how many items, what scale, what a high score means).</a:t>
            </a:r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964692"/>
            <a:ext cx="9997440" cy="1188720"/>
          </a:xfrm>
        </p:spPr>
        <p:txBody>
          <a:bodyPr/>
          <a:lstStyle/>
          <a:p>
            <a:pPr lvl="0" indent="0" marL="0">
              <a:buNone/>
            </a:pPr>
            <a:r>
              <a:rPr/>
              <a:t>Results</a:t>
            </a:r>
          </a:p>
        </p:txBody>
      </p:sp>
      <p:sp>
        <p:nvSpPr>
          <p:cNvPr id="1030" name="prose" descr=""/>
          <p:cNvSpPr/>
          <p:nvPr/>
        </p:nvSpPr>
        <p:spPr>
          <a:xfrm>
            <a:off x="1097280" y="2633472"/>
            <a:ext cx="9994392" cy="548640"/>
          </a:xfrm>
          <a:prstGeom prst="roundRect">
            <a:avLst>
              <a:gd name="adj" fmla="val 6000"/>
            </a:avLst>
          </a:prstGeom>
          <a:noFill/>
          <a:ln>
            <a:noFill/>
          </a:ln>
        </p:spPr>
        <p:txBody>
          <a:bodyPr lIns="91440" tIns="68580" rIns="91440" bIns="68580" anchor="t" wrap="square">
            <a:normAutofit/>
          </a:bodyPr>
          <a:lstStyle/>
          <a:p>
            <a:pPr algn="l"/>
            <a:r>
              <a:rPr lang="en-US" sz="1200" b="0" dirty="0">
                <a:solidFill>
                  <a:srgbClr val="010B13"/>
                </a:solidFill>
              </a:rPr>
              <a:t>Is every hypothesis answered, in an order you can follow?Does each analysis get a full APA sentence: statistic, dfs, value, p, interpretation?Univariates first? Outliers / transformations reported?Are numbers in the text consistent with any tables?</a:t>
            </a:r>
          </a:p>
        </p:txBody>
      </p:sp>
      <p:sp>
        <p:nvSpPr>
          <p:cNvPr id="1031" name="callout-tip" descr="tip callout: Tip. Check their Lab 09 work: did a significant F with 3+ groups get post-hocs? Does an r get direction and strength?"/>
          <p:cNvSpPr/>
          <p:nvPr/>
        </p:nvSpPr>
        <p:spPr>
          <a:xfrm>
            <a:off x="1097280" y="3273552"/>
            <a:ext cx="9994392" cy="899160"/>
          </a:xfrm>
          <a:prstGeom prst="roundRect">
            <a:avLst>
              <a:gd name="adj" fmla="val 6000"/>
            </a:avLst>
          </a:prstGeom>
          <a:solidFill>
            <a:srgbClr val="FEFDFA"/>
          </a:solidFill>
          <a:ln w="19050">
            <a:solidFill>
              <a:srgbClr val="009955"/>
            </a:solidFill>
          </a:ln>
        </p:spPr>
        <p:txBody>
          <a:bodyPr lIns="91440" tIns="68580" rIns="91440" bIns="68580" anchor="t" wrap="square">
            <a:normAutofit/>
          </a:bodyPr>
          <a:lstStyle/>
          <a:p/>
        </p:txBody>
      </p:sp>
      <p:sp>
        <p:nvSpPr>
          <p:cNvPr id="1032" name="callout-title" descr=""/>
          <p:cNvSpPr/>
          <p:nvPr/>
        </p:nvSpPr>
        <p:spPr>
          <a:xfrm>
            <a:off x="1097280" y="3273552"/>
            <a:ext cx="9994392" cy="320040"/>
          </a:xfrm>
          <a:prstGeom prst="roundRect">
            <a:avLst>
              <a:gd name="adj" fmla="val 6000"/>
            </a:avLst>
          </a:prstGeom>
          <a:solidFill>
            <a:srgbClr val="009955"/>
          </a:solidFill>
          <a:ln>
            <a:noFill/>
          </a:ln>
        </p:spPr>
        <p:txBody>
          <a:bodyPr lIns="91440" tIns="68580" rIns="91440" bIns="68580" anchor="t" wrap="square">
            <a:normAutofit/>
          </a:bodyPr>
          <a:lstStyle/>
          <a:p>
            <a:pPr algn="l"/>
            <a:r>
              <a:rPr lang="en-US" sz="1400" b="1" dirty="0">
                <a:solidFill>
                  <a:srgbClr val="FEFDFA"/>
                </a:solidFill>
              </a:rPr>
              <a:t>Tip</a:t>
            </a:r>
          </a:p>
        </p:txBody>
      </p:sp>
      <p:sp>
        <p:nvSpPr>
          <p:cNvPr id="1033" name="callout-body" descr=""/>
          <p:cNvSpPr/>
          <p:nvPr/>
        </p:nvSpPr>
        <p:spPr>
          <a:xfrm>
            <a:off x="1097280" y="3593592"/>
            <a:ext cx="9994392" cy="579120"/>
          </a:xfrm>
          <a:prstGeom prst="roundRect">
            <a:avLst>
              <a:gd name="adj" fmla="val 6000"/>
            </a:avLst>
          </a:prstGeom>
          <a:solidFill>
            <a:srgbClr val="FEFDFA"/>
          </a:solidFill>
          <a:ln>
            <a:noFill/>
          </a:ln>
        </p:spPr>
        <p:txBody>
          <a:bodyPr lIns="91440" tIns="68580" rIns="91440" bIns="68580" anchor="t" wrap="square">
            <a:normAutofit/>
          </a:bodyPr>
          <a:lstStyle/>
          <a:p>
            <a:pPr algn="l"/>
            <a:r>
              <a:rPr lang="en-US" sz="1200" b="0" dirty="0">
                <a:solidFill>
                  <a:srgbClr val="010B13"/>
                </a:solidFill>
              </a:rPr>
              <a:t>Check their Lab 09 work: did a significant F with 3+ groups get post-hocs? Does an r get direction and strength?</a:t>
            </a:r>
          </a:p>
        </p:txBody>
      </p:sp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964692"/>
            <a:ext cx="9997440" cy="1188720"/>
          </a:xfrm>
        </p:spPr>
        <p:txBody>
          <a:bodyPr/>
          <a:lstStyle/>
          <a:p>
            <a:pPr lvl="0" indent="0" marL="0">
              <a:buNone/>
            </a:pPr>
            <a:r>
              <a:rPr/>
              <a:t>Discussion</a:t>
            </a:r>
          </a:p>
        </p:txBody>
      </p:sp>
      <p:sp>
        <p:nvSpPr>
          <p:cNvPr id="1034" name="prose" descr=""/>
          <p:cNvSpPr/>
          <p:nvPr/>
        </p:nvSpPr>
        <p:spPr>
          <a:xfrm>
            <a:off x="1097280" y="2633472"/>
            <a:ext cx="9994392" cy="548640"/>
          </a:xfrm>
          <a:prstGeom prst="roundRect">
            <a:avLst>
              <a:gd name="adj" fmla="val 6000"/>
            </a:avLst>
          </a:prstGeom>
          <a:noFill/>
          <a:ln>
            <a:noFill/>
          </a:ln>
        </p:spPr>
        <p:txBody>
          <a:bodyPr lIns="91440" tIns="68580" rIns="91440" bIns="68580" anchor="t" wrap="square">
            <a:normAutofit/>
          </a:bodyPr>
          <a:lstStyle/>
          <a:p>
            <a:pPr algn="l"/>
            <a:r>
              <a:rPr lang="en-US" sz="1200" b="0" dirty="0">
                <a:solidFill>
                  <a:srgbClr val="010B13"/>
                </a:solidFill>
              </a:rPr>
              <a:t>Opens with a recap of findings without numbers?Does the interpretation match the actual results (or does it quietly over-claim)?Limitations honest and specific (not “more research is needed”)?Future directions that follow from the limitations?</a:t>
            </a:r>
          </a:p>
        </p:txBody>
      </p:sp>
      <p:sp>
        <p:nvSpPr>
          <p:cNvPr id="1035" name="callout-caution" descr="caution callout: Caution. Watch for results appearing for the first time in the Discussion — new numbers belong in Results."/>
          <p:cNvSpPr/>
          <p:nvPr/>
        </p:nvSpPr>
        <p:spPr>
          <a:xfrm>
            <a:off x="1097280" y="3273552"/>
            <a:ext cx="9994392" cy="899160"/>
          </a:xfrm>
          <a:prstGeom prst="roundRect">
            <a:avLst>
              <a:gd name="adj" fmla="val 6000"/>
            </a:avLst>
          </a:prstGeom>
          <a:solidFill>
            <a:srgbClr val="FEFDFA"/>
          </a:solidFill>
          <a:ln w="19050">
            <a:solidFill>
              <a:srgbClr val="B38F00"/>
            </a:solidFill>
          </a:ln>
        </p:spPr>
        <p:txBody>
          <a:bodyPr lIns="91440" tIns="68580" rIns="91440" bIns="68580" anchor="t" wrap="square">
            <a:normAutofit/>
          </a:bodyPr>
          <a:lstStyle/>
          <a:p/>
        </p:txBody>
      </p:sp>
      <p:sp>
        <p:nvSpPr>
          <p:cNvPr id="1036" name="callout-title" descr=""/>
          <p:cNvSpPr/>
          <p:nvPr/>
        </p:nvSpPr>
        <p:spPr>
          <a:xfrm>
            <a:off x="1097280" y="3273552"/>
            <a:ext cx="9994392" cy="320040"/>
          </a:xfrm>
          <a:prstGeom prst="roundRect">
            <a:avLst>
              <a:gd name="adj" fmla="val 6000"/>
            </a:avLst>
          </a:prstGeom>
          <a:solidFill>
            <a:srgbClr val="B38F00"/>
          </a:solidFill>
          <a:ln>
            <a:noFill/>
          </a:ln>
        </p:spPr>
        <p:txBody>
          <a:bodyPr lIns="91440" tIns="68580" rIns="91440" bIns="68580" anchor="t" wrap="square">
            <a:normAutofit/>
          </a:bodyPr>
          <a:lstStyle/>
          <a:p>
            <a:pPr algn="l"/>
            <a:r>
              <a:rPr lang="en-US" sz="1400" b="1" dirty="0">
                <a:solidFill>
                  <a:srgbClr val="FEFDFA"/>
                </a:solidFill>
              </a:rPr>
              <a:t>Caution</a:t>
            </a:r>
          </a:p>
        </p:txBody>
      </p:sp>
      <p:sp>
        <p:nvSpPr>
          <p:cNvPr id="1037" name="callout-body" descr=""/>
          <p:cNvSpPr/>
          <p:nvPr/>
        </p:nvSpPr>
        <p:spPr>
          <a:xfrm>
            <a:off x="1097280" y="3593592"/>
            <a:ext cx="9994392" cy="579120"/>
          </a:xfrm>
          <a:prstGeom prst="roundRect">
            <a:avLst>
              <a:gd name="adj" fmla="val 6000"/>
            </a:avLst>
          </a:prstGeom>
          <a:solidFill>
            <a:srgbClr val="FEFDFA"/>
          </a:solidFill>
          <a:ln>
            <a:noFill/>
          </a:ln>
        </p:spPr>
        <p:txBody>
          <a:bodyPr lIns="91440" tIns="68580" rIns="91440" bIns="68580" anchor="t" wrap="square">
            <a:normAutofit/>
          </a:bodyPr>
          <a:lstStyle/>
          <a:p>
            <a:pPr algn="l"/>
            <a:r>
              <a:rPr lang="en-US" sz="1200" b="0" dirty="0">
                <a:solidFill>
                  <a:srgbClr val="010B13"/>
                </a:solidFill>
              </a:rPr>
              <a:t>Watch for results appearing for the first time in the Discussion — new numbers belong in Results.</a:t>
            </a:r>
          </a:p>
        </p:txBody>
      </p:sp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964692"/>
            <a:ext cx="9997440" cy="1188720"/>
          </a:xfrm>
        </p:spPr>
        <p:txBody>
          <a:bodyPr/>
          <a:lstStyle/>
          <a:p>
            <a:pPr lvl="0" indent="0" marL="0">
              <a:buNone/>
            </a:pPr>
            <a:r>
              <a:rPr/>
              <a:t>APA &amp; Polish (Last, Not First)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Only after the big stuff:</a:t>
            </a:r>
          </a:p>
          <a:p>
            <a:pPr lvl="0"/>
            <a:r>
              <a:rPr/>
              <a:t>In-text citations vs. reference list — do they </a:t>
            </a:r>
            <a:r>
              <a:rPr b="1"/>
              <a:t>match</a:t>
            </a:r>
            <a:r>
              <a:rPr/>
              <a:t>?</a:t>
            </a:r>
          </a:p>
          <a:p>
            <a:pPr lvl="0"/>
            <a:r>
              <a:rPr/>
              <a:t>Reference format: hanging indent, italics, DOIs</a:t>
            </a:r>
          </a:p>
          <a:p>
            <a:pPr lvl="0"/>
            <a:r>
              <a:rPr/>
              <a:t>Numbers: statistics italicized, </a:t>
            </a:r>
            <a:r>
              <a:rPr i="1"/>
              <a:t>p</a:t>
            </a:r>
            <a:r>
              <a:rPr/>
              <a:t> reported correctly, rounded consistently</a:t>
            </a:r>
          </a:p>
          <a:p>
            <a:pPr lvl="0"/>
            <a:r>
              <a:rPr/>
              <a:t>Topic sentences &amp; transitions (remember Lab 04!)</a:t>
            </a:r>
          </a:p>
        </p:txBody>
      </p:sp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1097280" y="2386744"/>
            <a:ext cx="999744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/>
          <a:lstStyle/>
          <a:p>
            <a:pPr lvl="0" indent="0" marL="0">
              <a:buNone/>
            </a:pPr>
            <a:r>
              <a:rPr/>
              <a:t>Receiving Feedback</a:t>
            </a:r>
          </a:p>
        </p:txBody>
      </p:sp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964692"/>
            <a:ext cx="9997440" cy="1188720"/>
          </a:xfrm>
        </p:spPr>
        <p:txBody>
          <a:bodyPr/>
          <a:lstStyle/>
          <a:p>
            <a:pPr lvl="0" indent="0" marL="0">
              <a:buNone/>
            </a:pPr>
            <a:r>
              <a:rPr/>
              <a:t>Triage, Don’t Defend</a:t>
            </a:r>
          </a:p>
        </p:txBody>
      </p:sp>
      <p:sp>
        <p:nvSpPr>
          <p:cNvPr id="1038" name="prose" descr=""/>
          <p:cNvSpPr/>
          <p:nvPr/>
        </p:nvSpPr>
        <p:spPr>
          <a:xfrm>
            <a:off x="1097280" y="2633472"/>
            <a:ext cx="9994392" cy="182880"/>
          </a:xfrm>
          <a:prstGeom prst="roundRect">
            <a:avLst>
              <a:gd name="adj" fmla="val 6000"/>
            </a:avLst>
          </a:prstGeom>
          <a:noFill/>
          <a:ln>
            <a:noFill/>
          </a:ln>
        </p:spPr>
        <p:txBody>
          <a:bodyPr lIns="91440" tIns="68580" rIns="91440" bIns="68580" anchor="t" wrap="square">
            <a:normAutofit/>
          </a:bodyPr>
          <a:lstStyle/>
          <a:p>
            <a:pPr algn="l"/>
            <a:r>
              <a:rPr lang="en-US" sz="1200" b="0" dirty="0">
                <a:solidFill>
                  <a:srgbClr val="010B13"/>
                </a:solidFill>
              </a:rPr>
              <a:t>When you get your marked-up draft back, sort every comment:</a:t>
            </a:r>
          </a:p>
        </p:txBody>
      </p:sp>
      <p:sp>
        <p:nvSpPr>
          <p:cNvPr id="1039" name="prose" descr=""/>
          <p:cNvSpPr/>
          <p:nvPr/>
        </p:nvSpPr>
        <p:spPr>
          <a:xfrm>
            <a:off x="1097280" y="2907792"/>
            <a:ext cx="9994392" cy="548640"/>
          </a:xfrm>
          <a:prstGeom prst="roundRect">
            <a:avLst>
              <a:gd name="adj" fmla="val 6000"/>
            </a:avLst>
          </a:prstGeom>
          <a:noFill/>
          <a:ln>
            <a:noFill/>
          </a:ln>
        </p:spPr>
        <p:txBody>
          <a:bodyPr lIns="91440" tIns="68580" rIns="91440" bIns="68580" anchor="t" wrap="square">
            <a:normAutofit/>
          </a:bodyPr>
          <a:lstStyle/>
          <a:p>
            <a:pPr algn="l"/>
            <a:r>
              <a:rPr lang="en-US" sz="1200" b="0" dirty="0">
                <a:solidFill>
                  <a:srgbClr val="010B13"/>
                </a:solidFill>
              </a:rPr>
              <a:t>Must fix — reviewer spotted a genuine problem (missing info, broken logic, wrong statistic)Worth considering — style/clarity calls; try the fix, keep it if the paper improvesRespectfully disagree — you had a reason; keep your choice, but make the reason clearer in the text (if one reader tripped, others will)</a:t>
            </a:r>
          </a:p>
        </p:txBody>
      </p:sp>
      <p:sp>
        <p:nvSpPr>
          <p:cNvPr id="1040" name="callout-tip" descr="tip callout: Tip. The one wrong move: explaining to your reviewer why they’re wrong. They can’t un-trip. The paper has to do the explaining."/>
          <p:cNvSpPr/>
          <p:nvPr/>
        </p:nvSpPr>
        <p:spPr>
          <a:xfrm>
            <a:off x="1097280" y="3547872"/>
            <a:ext cx="9994392" cy="1082040"/>
          </a:xfrm>
          <a:prstGeom prst="roundRect">
            <a:avLst>
              <a:gd name="adj" fmla="val 6000"/>
            </a:avLst>
          </a:prstGeom>
          <a:solidFill>
            <a:srgbClr val="FEFDFA"/>
          </a:solidFill>
          <a:ln w="19050">
            <a:solidFill>
              <a:srgbClr val="009955"/>
            </a:solidFill>
          </a:ln>
        </p:spPr>
        <p:txBody>
          <a:bodyPr lIns="91440" tIns="68580" rIns="91440" bIns="68580" anchor="t" wrap="square">
            <a:normAutofit/>
          </a:bodyPr>
          <a:lstStyle/>
          <a:p/>
        </p:txBody>
      </p:sp>
      <p:sp>
        <p:nvSpPr>
          <p:cNvPr id="1041" name="callout-title" descr=""/>
          <p:cNvSpPr/>
          <p:nvPr/>
        </p:nvSpPr>
        <p:spPr>
          <a:xfrm>
            <a:off x="1097280" y="3547872"/>
            <a:ext cx="9994392" cy="320040"/>
          </a:xfrm>
          <a:prstGeom prst="roundRect">
            <a:avLst>
              <a:gd name="adj" fmla="val 6000"/>
            </a:avLst>
          </a:prstGeom>
          <a:solidFill>
            <a:srgbClr val="009955"/>
          </a:solidFill>
          <a:ln>
            <a:noFill/>
          </a:ln>
        </p:spPr>
        <p:txBody>
          <a:bodyPr lIns="91440" tIns="68580" rIns="91440" bIns="68580" anchor="t" wrap="square">
            <a:normAutofit/>
          </a:bodyPr>
          <a:lstStyle/>
          <a:p>
            <a:pPr algn="l"/>
            <a:r>
              <a:rPr lang="en-US" sz="1400" b="1" dirty="0">
                <a:solidFill>
                  <a:srgbClr val="FEFDFA"/>
                </a:solidFill>
              </a:rPr>
              <a:t>Tip</a:t>
            </a:r>
          </a:p>
        </p:txBody>
      </p:sp>
      <p:sp>
        <p:nvSpPr>
          <p:cNvPr id="1042" name="callout-body" descr=""/>
          <p:cNvSpPr/>
          <p:nvPr/>
        </p:nvSpPr>
        <p:spPr>
          <a:xfrm>
            <a:off x="1097280" y="3867912"/>
            <a:ext cx="9994392" cy="762000"/>
          </a:xfrm>
          <a:prstGeom prst="roundRect">
            <a:avLst>
              <a:gd name="adj" fmla="val 6000"/>
            </a:avLst>
          </a:prstGeom>
          <a:solidFill>
            <a:srgbClr val="FEFDFA"/>
          </a:solidFill>
          <a:ln>
            <a:noFill/>
          </a:ln>
        </p:spPr>
        <p:txBody>
          <a:bodyPr lIns="91440" tIns="68580" rIns="91440" bIns="68580" anchor="t" wrap="square">
            <a:normAutofit/>
          </a:bodyPr>
          <a:lstStyle/>
          <a:p>
            <a:pPr algn="l"/>
            <a:r>
              <a:rPr lang="en-US" sz="1200" b="0" dirty="0">
                <a:solidFill>
                  <a:srgbClr val="010B13"/>
                </a:solidFill>
              </a:rPr>
              <a:t>The one wrong move: explaining to your reviewer why they’re wrong. They can’t un-trip. The paper has to do the explaining.</a:t>
            </a:r>
          </a:p>
        </p:txBody>
      </p:sp>
    </p:spTree>
  </p:cSld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964692"/>
            <a:ext cx="9997440" cy="1188720"/>
          </a:xfrm>
        </p:spPr>
        <p:txBody>
          <a:bodyPr/>
          <a:lstStyle/>
          <a:p>
            <a:pPr lvl="0" indent="0" marL="0">
              <a:buNone/>
            </a:pPr>
            <a:r>
              <a:rPr/>
              <a:t>Revision Is a Plan, Not a Mood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Before you leave today:</a:t>
            </a:r>
          </a:p>
          <a:p>
            <a:pPr lvl="0" indent="-457200" marL="457200">
              <a:buAutoNum type="arabicPeriod"/>
            </a:pPr>
            <a:r>
              <a:rPr/>
              <a:t>List the </a:t>
            </a:r>
            <a:r>
              <a:rPr b="1"/>
              <a:t>three biggest</a:t>
            </a:r>
            <a:r>
              <a:rPr/>
              <a:t> issues your reviewer found</a:t>
            </a:r>
          </a:p>
          <a:p>
            <a:pPr lvl="0" indent="-457200" marL="457200">
              <a:buAutoNum type="arabicPeriod"/>
            </a:pPr>
            <a:r>
              <a:rPr/>
              <a:t>For each: what will you change, and </a:t>
            </a:r>
            <a:r>
              <a:rPr b="1"/>
              <a:t>where</a:t>
            </a:r>
            <a:r>
              <a:rPr/>
              <a:t> in the paper?</a:t>
            </a:r>
          </a:p>
          <a:p>
            <a:pPr lvl="0" indent="-457200" marL="457200">
              <a:buAutoNum type="arabicPeriod"/>
            </a:pPr>
            <a:r>
              <a:rPr/>
              <a:t>What will you do </a:t>
            </a:r>
            <a:r>
              <a:rPr b="1"/>
              <a:t>first</a:t>
            </a:r>
            <a:r>
              <a:rPr/>
              <a:t>? (Hint: the structural one, not the comma.)</a:t>
            </a:r>
          </a:p>
        </p:txBody>
      </p:sp>
    </p:spTree>
  </p:cSld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1097280" y="2386744"/>
            <a:ext cx="999744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/>
          <a:lstStyle/>
          <a:p>
            <a:pPr lvl="0" indent="0" marL="0">
              <a:buNone/>
            </a:pPr>
            <a:r>
              <a:rPr/>
              <a:t>Today’s Workflow</a:t>
            </a:r>
          </a:p>
        </p:txBody>
      </p:sp>
    </p:spTree>
  </p:cSld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964692"/>
            <a:ext cx="9997440" cy="1188720"/>
          </a:xfrm>
        </p:spPr>
        <p:txBody>
          <a:bodyPr/>
          <a:lstStyle/>
          <a:p>
            <a:pPr lvl="0" indent="0" marL="0">
              <a:buNone/>
            </a:pPr>
            <a:r>
              <a:rPr/>
              <a:t>How This Will Go</a:t>
            </a:r>
          </a:p>
        </p:txBody>
      </p:sp>
      <p:sp>
        <p:nvSpPr>
          <p:cNvPr id="1043" name="prose" descr=""/>
          <p:cNvSpPr/>
          <p:nvPr/>
        </p:nvSpPr>
        <p:spPr>
          <a:xfrm>
            <a:off x="1097280" y="2633472"/>
            <a:ext cx="9994392" cy="548640"/>
          </a:xfrm>
          <a:prstGeom prst="roundRect">
            <a:avLst>
              <a:gd name="adj" fmla="val 6000"/>
            </a:avLst>
          </a:prstGeom>
          <a:noFill/>
          <a:ln>
            <a:noFill/>
          </a:ln>
        </p:spPr>
        <p:txBody>
          <a:bodyPr lIns="91440" tIns="68580" rIns="91440" bIns="68580" anchor="t" wrap="square">
            <a:normAutofit/>
          </a:bodyPr>
          <a:lstStyle/>
          <a:p>
            <a:pPr algn="l"/>
            <a:r>
              <a:rPr lang="en-US" sz="1200" b="0" dirty="0">
                <a:solidFill>
                  <a:srgbClr val="010B13"/>
                </a:solidFill>
              </a:rPr>
              <a:t>Swap drafts with your assigned partner (Canvas pairing)Read once through without commenting — get the whole pictureSecond pass: comment using the worksheet, section by sectionReturn &amp; discuss: 5 minutes each — reviewer summarizes their top 3 points out loudWrite your revision plan (3 biggest issues + first move)</a:t>
            </a:r>
          </a:p>
        </p:txBody>
      </p:sp>
      <p:sp>
        <p:nvSpPr>
          <p:cNvPr id="1044" name="callout-warning" descr="warning callout: Warning. Silence-reading for the full time, then discussion. Comments without discussion leave too much to interpretation."/>
          <p:cNvSpPr/>
          <p:nvPr/>
        </p:nvSpPr>
        <p:spPr>
          <a:xfrm>
            <a:off x="1097280" y="3273552"/>
            <a:ext cx="9994392" cy="1082040"/>
          </a:xfrm>
          <a:prstGeom prst="roundRect">
            <a:avLst>
              <a:gd name="adj" fmla="val 6000"/>
            </a:avLst>
          </a:prstGeom>
          <a:solidFill>
            <a:srgbClr val="FEFDFA"/>
          </a:solidFill>
          <a:ln w="19050">
            <a:solidFill>
              <a:srgbClr val="CC6600"/>
            </a:solidFill>
          </a:ln>
        </p:spPr>
        <p:txBody>
          <a:bodyPr lIns="91440" tIns="68580" rIns="91440" bIns="68580" anchor="t" wrap="square">
            <a:normAutofit/>
          </a:bodyPr>
          <a:lstStyle/>
          <a:p/>
        </p:txBody>
      </p:sp>
      <p:sp>
        <p:nvSpPr>
          <p:cNvPr id="1045" name="callout-title" descr=""/>
          <p:cNvSpPr/>
          <p:nvPr/>
        </p:nvSpPr>
        <p:spPr>
          <a:xfrm>
            <a:off x="1097280" y="3273552"/>
            <a:ext cx="9994392" cy="320040"/>
          </a:xfrm>
          <a:prstGeom prst="roundRect">
            <a:avLst>
              <a:gd name="adj" fmla="val 6000"/>
            </a:avLst>
          </a:prstGeom>
          <a:solidFill>
            <a:srgbClr val="CC6600"/>
          </a:solidFill>
          <a:ln>
            <a:noFill/>
          </a:ln>
        </p:spPr>
        <p:txBody>
          <a:bodyPr lIns="91440" tIns="68580" rIns="91440" bIns="68580" anchor="t" wrap="square">
            <a:normAutofit/>
          </a:bodyPr>
          <a:lstStyle/>
          <a:p>
            <a:pPr algn="l"/>
            <a:r>
              <a:rPr lang="en-US" sz="1400" b="1" dirty="0">
                <a:solidFill>
                  <a:srgbClr val="FEFDFA"/>
                </a:solidFill>
              </a:rPr>
              <a:t>Warning</a:t>
            </a:r>
          </a:p>
        </p:txBody>
      </p:sp>
      <p:sp>
        <p:nvSpPr>
          <p:cNvPr id="1046" name="callout-body" descr=""/>
          <p:cNvSpPr/>
          <p:nvPr/>
        </p:nvSpPr>
        <p:spPr>
          <a:xfrm>
            <a:off x="1097280" y="3593592"/>
            <a:ext cx="9994392" cy="762000"/>
          </a:xfrm>
          <a:prstGeom prst="roundRect">
            <a:avLst>
              <a:gd name="adj" fmla="val 6000"/>
            </a:avLst>
          </a:prstGeom>
          <a:solidFill>
            <a:srgbClr val="FEFDFA"/>
          </a:solidFill>
          <a:ln>
            <a:noFill/>
          </a:ln>
        </p:spPr>
        <p:txBody>
          <a:bodyPr lIns="91440" tIns="68580" rIns="91440" bIns="68580" anchor="t" wrap="square">
            <a:normAutofit/>
          </a:bodyPr>
          <a:lstStyle/>
          <a:p>
            <a:pPr algn="l"/>
            <a:r>
              <a:rPr lang="en-US" sz="1200" b="0" dirty="0">
                <a:solidFill>
                  <a:srgbClr val="010B13"/>
                </a:solidFill>
              </a:rPr>
              <a:t>Silence-reading for the full time, then discussion. Comments without discussion leave too much to interpretation.</a:t>
            </a:r>
          </a:p>
        </p:txBody>
      </p:sp>
    </p:spTree>
  </p:cSld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964692"/>
            <a:ext cx="9997440" cy="1188720"/>
          </a:xfrm>
        </p:spPr>
        <p:txBody>
          <a:bodyPr/>
          <a:lstStyle/>
          <a:p>
            <a:pPr lvl="0" indent="0" marL="0">
              <a:buNone/>
            </a:pPr>
            <a:r>
              <a:rPr/>
              <a:t>The Worksheet Is Your Checklist</a:t>
            </a:r>
          </a:p>
        </p:txBody>
      </p:sp>
      <p:sp>
        <p:nvSpPr>
          <p:cNvPr id="1047" name="prose" descr=""/>
          <p:cNvSpPr/>
          <p:nvPr/>
        </p:nvSpPr>
        <p:spPr>
          <a:xfrm>
            <a:off x="1097280" y="2633472"/>
            <a:ext cx="9994392" cy="182880"/>
          </a:xfrm>
          <a:prstGeom prst="roundRect">
            <a:avLst>
              <a:gd name="adj" fmla="val 6000"/>
            </a:avLst>
          </a:prstGeom>
          <a:noFill/>
          <a:ln>
            <a:noFill/>
          </a:ln>
        </p:spPr>
        <p:txBody>
          <a:bodyPr lIns="91440" tIns="68580" rIns="91440" bIns="68580" anchor="t" wrap="square">
            <a:normAutofit/>
          </a:bodyPr>
          <a:lstStyle/>
          <a:p>
            <a:pPr algn="l"/>
            <a:r>
              <a:rPr lang="en-US" sz="1200" b="0" dirty="0">
                <a:solidFill>
                  <a:srgbClr val="010B13"/>
                </a:solidFill>
              </a:rPr>
              <a:t>The worksheet mirrors the report:</a:t>
            </a:r>
          </a:p>
        </p:txBody>
      </p:sp>
      <p:sp>
        <p:nvSpPr>
          <p:cNvPr id="1048" name="prose" descr=""/>
          <p:cNvSpPr/>
          <p:nvPr/>
        </p:nvSpPr>
        <p:spPr>
          <a:xfrm>
            <a:off x="1097280" y="2907792"/>
            <a:ext cx="9994392" cy="365760"/>
          </a:xfrm>
          <a:prstGeom prst="roundRect">
            <a:avLst>
              <a:gd name="adj" fmla="val 6000"/>
            </a:avLst>
          </a:prstGeom>
          <a:noFill/>
          <a:ln>
            <a:noFill/>
          </a:ln>
        </p:spPr>
        <p:txBody>
          <a:bodyPr lIns="91440" tIns="68580" rIns="91440" bIns="68580" anchor="t" wrap="square">
            <a:normAutofit/>
          </a:bodyPr>
          <a:lstStyle/>
          <a:p>
            <a:pPr algn="l"/>
            <a:r>
              <a:rPr lang="en-US" sz="1200" b="0" dirty="0">
                <a:solidFill>
                  <a:srgbClr val="010B13"/>
                </a:solidFill>
              </a:rPr>
              <a:t>One block per section (Intro → Method → Results → Discussion → APA)Each block asks for: one strength, one issue, one suggestionFinish with the top 3 priorities for the author</a:t>
            </a:r>
          </a:p>
        </p:txBody>
      </p:sp>
      <p:sp>
        <p:nvSpPr>
          <p:cNvPr id="1049" name="callout-tip" descr="tip callout: Tip. A strength per section is mandatory. “What’s working” tells the author what not to delete in revision — and it’s the comment they’ll actually remember."/>
          <p:cNvSpPr/>
          <p:nvPr/>
        </p:nvSpPr>
        <p:spPr>
          <a:xfrm>
            <a:off x="1097280" y="3364992"/>
            <a:ext cx="9994392" cy="1082040"/>
          </a:xfrm>
          <a:prstGeom prst="roundRect">
            <a:avLst>
              <a:gd name="adj" fmla="val 6000"/>
            </a:avLst>
          </a:prstGeom>
          <a:solidFill>
            <a:srgbClr val="FEFDFA"/>
          </a:solidFill>
          <a:ln w="19050">
            <a:solidFill>
              <a:srgbClr val="009955"/>
            </a:solidFill>
          </a:ln>
        </p:spPr>
        <p:txBody>
          <a:bodyPr lIns="91440" tIns="68580" rIns="91440" bIns="68580" anchor="t" wrap="square">
            <a:normAutofit/>
          </a:bodyPr>
          <a:lstStyle/>
          <a:p/>
        </p:txBody>
      </p:sp>
      <p:sp>
        <p:nvSpPr>
          <p:cNvPr id="1050" name="callout-title" descr=""/>
          <p:cNvSpPr/>
          <p:nvPr/>
        </p:nvSpPr>
        <p:spPr>
          <a:xfrm>
            <a:off x="1097280" y="3364992"/>
            <a:ext cx="9994392" cy="320040"/>
          </a:xfrm>
          <a:prstGeom prst="roundRect">
            <a:avLst>
              <a:gd name="adj" fmla="val 6000"/>
            </a:avLst>
          </a:prstGeom>
          <a:solidFill>
            <a:srgbClr val="009955"/>
          </a:solidFill>
          <a:ln>
            <a:noFill/>
          </a:ln>
        </p:spPr>
        <p:txBody>
          <a:bodyPr lIns="91440" tIns="68580" rIns="91440" bIns="68580" anchor="t" wrap="square">
            <a:normAutofit/>
          </a:bodyPr>
          <a:lstStyle/>
          <a:p>
            <a:pPr algn="l"/>
            <a:r>
              <a:rPr lang="en-US" sz="1400" b="1" dirty="0">
                <a:solidFill>
                  <a:srgbClr val="FEFDFA"/>
                </a:solidFill>
              </a:rPr>
              <a:t>Tip</a:t>
            </a:r>
          </a:p>
        </p:txBody>
      </p:sp>
      <p:sp>
        <p:nvSpPr>
          <p:cNvPr id="1051" name="callout-body" descr=""/>
          <p:cNvSpPr/>
          <p:nvPr/>
        </p:nvSpPr>
        <p:spPr>
          <a:xfrm>
            <a:off x="1097280" y="3685032"/>
            <a:ext cx="9994392" cy="762000"/>
          </a:xfrm>
          <a:prstGeom prst="roundRect">
            <a:avLst>
              <a:gd name="adj" fmla="val 6000"/>
            </a:avLst>
          </a:prstGeom>
          <a:solidFill>
            <a:srgbClr val="FEFDFA"/>
          </a:solidFill>
          <a:ln>
            <a:noFill/>
          </a:ln>
        </p:spPr>
        <p:txBody>
          <a:bodyPr lIns="91440" tIns="68580" rIns="91440" bIns="68580" anchor="t" wrap="square">
            <a:normAutofit/>
          </a:bodyPr>
          <a:lstStyle/>
          <a:p>
            <a:pPr algn="l"/>
            <a:r>
              <a:rPr lang="en-US" sz="1200" b="0" dirty="0">
                <a:solidFill>
                  <a:srgbClr val="010B13"/>
                </a:solidFill>
              </a:rPr>
              <a:t>A strength per section is mandatory. “What’s working” tells the author what not to delete in revision — and it’s the comment they’ll actually remember.</a:t>
            </a:r>
          </a:p>
        </p:txBody>
      </p:sp>
    </p:spTree>
  </p:cSld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1097280" y="2386744"/>
            <a:ext cx="999744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/>
          <a:lstStyle/>
          <a:p>
            <a:pPr lvl="0" indent="0" marL="0">
              <a:buNone/>
            </a:pPr>
            <a:r>
              <a:rPr/>
              <a:t>Questions?</a:t>
            </a:r>
          </a:p>
        </p:txBody>
      </p:sp>
    </p:spTree>
  </p:cSld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964692"/>
            <a:ext cx="9997440" cy="1188720"/>
          </a:xfrm>
        </p:spPr>
        <p:txBody>
          <a:bodyPr/>
          <a:lstStyle/>
          <a:p>
            <a:pPr lvl="0" indent="0" marL="0">
              <a:buNone/>
            </a:pPr>
            <a:r>
              <a:rPr/>
              <a:t>Looking Ahead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Revise</a:t>
            </a:r>
            <a:r>
              <a:rPr/>
              <a:t> using your feedback + plan — the improved draft is the foundation for the rest of the semester</a:t>
            </a:r>
          </a:p>
          <a:p>
            <a:pPr lvl="0"/>
            <a:r>
              <a:rPr b="1"/>
              <a:t>Lab 11:</a:t>
            </a:r>
            <a:r>
              <a:rPr/>
              <a:t> multi-group analyses — your results are about to get more complex, so a clean draft matters</a:t>
            </a:r>
          </a:p>
        </p:txBody>
      </p:sp>
    </p:spTree>
  </p:cSld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964692"/>
            <a:ext cx="9997440" cy="1188720"/>
          </a:xfrm>
        </p:spPr>
        <p:txBody>
          <a:bodyPr/>
          <a:lstStyle/>
          <a:p>
            <a:pPr lvl="0" indent="0" marL="0">
              <a:buNone/>
            </a:pPr>
            <a:r>
              <a:rPr/>
              <a:t>Assignments &amp; Reminders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Given this week:</a:t>
            </a:r>
          </a:p>
          <a:p>
            <a:pPr lvl="0"/>
            <a:r>
              <a:rPr/>
              <a:t>Complete Research Project Report</a:t>
            </a:r>
          </a:p>
          <a:p>
            <a:pPr lvl="0" indent="0" marL="0">
              <a:buNone/>
            </a:pPr>
            <a:r>
              <a:rPr b="1"/>
              <a:t>Due this week:</a:t>
            </a:r>
          </a:p>
          <a:p>
            <a:pPr lvl="0"/>
            <a:r>
              <a:rPr/>
              <a:t>Complete DRAFT Research Project Report</a:t>
            </a:r>
          </a:p>
          <a:p>
            <a:pPr lvl="0" indent="0" marL="0">
              <a:buNone/>
            </a:pPr>
            <a:r>
              <a:rPr/>
              <a:t>Submit to your lab section in Canvas by 11:59pm the day before your lab meets.</a:t>
            </a:r>
          </a:p>
        </p:txBody>
      </p:sp>
    </p:spTree>
  </p:cSld>
</p:sld>
</file>

<file path=ppt/theme/theme1.xml><?xml version="1.0" encoding="utf-8"?>
<a:theme xmlns:a="http://schemas.openxmlformats.org/drawingml/2006/main" name="Parcel">
  <a:themeElements>
    <a:clrScheme name="Custom 3">
      <a:dk1>
        <a:srgbClr val="000000"/>
      </a:dk1>
      <a:lt1>
        <a:srgbClr val="FFFFFF"/>
      </a:lt1>
      <a:dk2>
        <a:srgbClr val="4A5356"/>
      </a:dk2>
      <a:lt2>
        <a:srgbClr val="E8E3CE"/>
      </a:lt2>
      <a:accent1>
        <a:srgbClr val="F6A21D"/>
      </a:accent1>
      <a:accent2>
        <a:srgbClr val="5E5E5E"/>
      </a:accent2>
      <a:accent3>
        <a:srgbClr val="005392"/>
      </a:accent3>
      <a:accent4>
        <a:srgbClr val="FEFB00"/>
      </a:accent4>
      <a:accent5>
        <a:srgbClr val="87795D"/>
      </a:accent5>
      <a:accent6>
        <a:srgbClr val="A0988C"/>
      </a:accent6>
      <a:hlink>
        <a:srgbClr val="005392"/>
      </a:hlink>
      <a:folHlink>
        <a:srgbClr val="738F97"/>
      </a:folHlink>
    </a:clrScheme>
    <a:fontScheme name="Parcel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Parcel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107000"/>
                <a:lumMod val="103000"/>
              </a:schemeClr>
            </a:gs>
            <a:gs pos="100000">
              <a:schemeClr val="phClr">
                <a:tint val="82000"/>
                <a:satMod val="109000"/>
                <a:lumMod val="103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7000"/>
                <a:satMod val="100000"/>
                <a:lumMod val="102000"/>
              </a:schemeClr>
            </a:gs>
            <a:gs pos="50000">
              <a:schemeClr val="phClr">
                <a:shade val="100000"/>
                <a:satMod val="103000"/>
                <a:lumMod val="100000"/>
              </a:schemeClr>
            </a:gs>
            <a:gs pos="100000">
              <a:schemeClr val="phClr">
                <a:shade val="93000"/>
                <a:satMod val="11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5880" dist="1524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prstMaterial="dkEdge">
            <a:bevelT w="0" h="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7000"/>
                <a:shade val="100000"/>
                <a:satMod val="185000"/>
                <a:lumMod val="120000"/>
              </a:schemeClr>
            </a:gs>
            <a:gs pos="100000">
              <a:schemeClr val="phClr">
                <a:tint val="96000"/>
                <a:shade val="95000"/>
                <a:satMod val="215000"/>
                <a:lumMod val="80000"/>
              </a:schemeClr>
            </a:gs>
          </a:gsLst>
          <a:path path="circle">
            <a:fillToRect l="50000" t="55000" r="125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cel" id="{8BEC4385-4EB9-4D53-BFB5-0EA123736B6D}" vid="{4DB32801-28C0-48B0-8C1D-A9A58613615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Parcel</Template>
  <TotalTime>4</TotalTime>
  <Words>0</Words>
  <Application>Microsoft Macintosh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Gill Sans MT</vt:lpstr>
      <vt:lpstr>Parcel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Peer Review</dc:title>
  <dc:creator>PSYCH 350-Lab</dc:creator>
  <cp:keywords/>
  <dcterms:created xsi:type="dcterms:W3CDTF">2026-08-13T23:51:39Z</dcterms:created>
  <dcterms:modified xsi:type="dcterms:W3CDTF">2026-08-13T23:51:39Z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quarto-vars">
    <vt:lpwstr/>
  </property>
  <property fmtid="{D5CDD505-2E9C-101B-9397-08002B2CF9AE}" pid="3" name="authors">
    <vt:lpwstr/>
  </property>
  <property fmtid="{D5CDD505-2E9C-101B-9397-08002B2CF9AE}" pid="4" name="back-to-top-navigation">
    <vt:lpwstr>True</vt:lpwstr>
  </property>
  <property fmtid="{D5CDD505-2E9C-101B-9397-08002B2CF9AE}" pid="5" name="biblio-config">
    <vt:lpwstr>True</vt:lpwstr>
  </property>
  <property fmtid="{D5CDD505-2E9C-101B-9397-08002B2CF9AE}" pid="6" name="by-author">
    <vt:lpwstr/>
  </property>
  <property fmtid="{D5CDD505-2E9C-101B-9397-08002B2CF9AE}" pid="7" name="engines">
    <vt:lpwstr/>
  </property>
  <property fmtid="{D5CDD505-2E9C-101B-9397-08002B2CF9AE}" pid="8" name="execute">
    <vt:lpwstr/>
  </property>
  <property fmtid="{D5CDD505-2E9C-101B-9397-08002B2CF9AE}" pid="9" name="header-includes">
    <vt:lpwstr/>
  </property>
  <property fmtid="{D5CDD505-2E9C-101B-9397-08002B2CF9AE}" pid="10" name="include-after">
    <vt:lpwstr/>
  </property>
  <property fmtid="{D5CDD505-2E9C-101B-9397-08002B2CF9AE}" pid="11" name="include-back-link">
    <vt:lpwstr>False</vt:lpwstr>
  </property>
  <property fmtid="{D5CDD505-2E9C-101B-9397-08002B2CF9AE}" pid="12" name="include-before">
    <vt:lpwstr/>
  </property>
  <property fmtid="{D5CDD505-2E9C-101B-9397-08002B2CF9AE}" pid="13" name="knitr">
    <vt:lpwstr>True</vt:lpwstr>
  </property>
  <property fmtid="{D5CDD505-2E9C-101B-9397-08002B2CF9AE}" pid="14" name="labels">
    <vt:lpwstr/>
  </property>
  <property fmtid="{D5CDD505-2E9C-101B-9397-08002B2CF9AE}" pid="15" name="nebraska-pptx">
    <vt:lpwstr/>
  </property>
  <property fmtid="{D5CDD505-2E9C-101B-9397-08002B2CF9AE}" pid="16" name="revealjs-plugins">
    <vt:lpwstr/>
  </property>
  <property fmtid="{D5CDD505-2E9C-101B-9397-08002B2CF9AE}" pid="17" name="subtitle">
    <vt:lpwstr>Lab 10</vt:lpwstr>
  </property>
  <property fmtid="{D5CDD505-2E9C-101B-9397-08002B2CF9AE}" pid="18" name="toc-title">
    <vt:lpwstr>Table of contents</vt:lpwstr>
  </property>
</Properties>
</file>