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18" Type="http://schemas.openxmlformats.org/officeDocument/2006/relationships/presProps" Target="presProps.xml" /><Relationship Id="rId19" Type="http://schemas.openxmlformats.org/officeDocument/2006/relationships/viewProps" Target="viewProps.xml" /><Relationship Id="rId20" Type="http://schemas.openxmlformats.org/officeDocument/2006/relationships/theme" Target="theme/theme1.xml" /><Relationship Id="rId2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 the workflow as organize, verify, and export. The sequence matters: a polished reference generated from incorrect metadata is still incorrect.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students to open the desktop application, the worksheet they will submit, and the online workbook. Interface locations may vary by Zotero version, but the underlying actions are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 students to the three-panel model. Collections organize the lab, the middle panel lists items, and the right panel holds the metadata that becomes the APA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students use the exact collection name from the worksheet. Confirm that the new collection appears under My Library before any files are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Demonstrate dragging the PDF into the named collection. If the file lands only in My Library, move it before continuing so the submitted collection remains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to the disclosure arrow and distinguish the parent bibliographic record from its attached child PDF. Students should edit the parent item when correcting a citation.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annotated record as a field-by-field checklist. Automatic retrieval is a starting point; students remain responsible for item type, authors, title, source, date, pages, and DOI.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sentence case and show why an article number belongs in the Pages field as </a:t>
            </a:r>
            <a:r>
              <a:rPr>
                <a:latin typeface="Courier"/>
              </a:rPr>
              <a:t>Article 38</a:t>
            </a:r>
            <a:r>
              <a:rPr/>
              <a:t>. These two details commonly survive unnoticed into an otherwise correct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Generate the reference only after the parent record has been checked. Paste the APA 7 output into the workbook and compare it with the source article rather than trusting it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students repair the symbol in the title and complete every missing journal field. This example shows why incomplete indexing must be corrected manually.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standalone PDF, create a parent item before entering the bibliographic fields. The parent-child structure keeps the file attached to the citation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identifier tool is efficient but not complete. Students should verify the returned metadata and attach or locate the PDF separately when Zotero does not do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Emphasize that item type is a structural choice, not a cosmetic label. Choosing the correct type reveals the editors, publisher, publication date, and other fields needed for APA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by distinguishing the two exports. A bibliography is the formatted APA reference list; a collection report is the fuller item record requested for checking the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313433"/>
            <a:ext cx="4907280" cy="548640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26080"/>
            <a:ext cx="4907280" cy="31775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40" y="2926080"/>
            <a:ext cx="4907280" cy="3177540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87440" y="2313433"/>
            <a:ext cx="4907280" cy="548640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2.xml"/>
  <Relationship Id="rId3" Type="http://schemas.openxmlformats.org/officeDocument/2006/relationships/hyperlink" Target="https://www.zotero.org/download/" TargetMode="External"/>
  <Relationship Id="rId4" Type="http://schemas.openxmlformats.org/officeDocument/2006/relationships/hyperlink" Target="https://unlpsychstats.github.io/UNL-PSYC350-LAB/schedule.html" TargetMode="External"/>
  <Relationship Id="rId5" Type="http://schemas.openxmlformats.org/officeDocument/2006/relationships/hyperlink" Target="https://unlpsychstats.github.io/UNL-PSYC350-LAB/labs/lab01/zotero-basics/_book/index.html" TargetMode="External"/>
</Relationships>
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2.xm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Accurate metadata produces accurate APA 7 references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Lab 01 · Zotero workflow</a:t>
            </a:r>
            <a:br/>
            <a:br/>
            <a:r>
              <a:rPr/>
              <a:t>PSYC 350 Laboratory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Organize, verify, and export</a:t>
            </a:r>
          </a:p>
        </p:txBody>
      </p:sp>
      <p:sp>
        <p:nvSpPr>
          <p:cNvPr id="1001" name="card-red" descr="card: Organize. Build separate walk-through and take-home collections."/>
          <p:cNvSpPr/>
          <p:nvPr/>
        </p:nvSpPr>
        <p:spPr>
          <a:xfrm>
            <a:off x="1097280" y="2633472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Organize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Build separate walk-through and take-home collections.</a:t>
            </a:r>
          </a:p>
        </p:txBody>
      </p:sp>
      <p:sp>
        <p:nvSpPr>
          <p:cNvPr id="1002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3" name="card-steel" descr="card: Verify. Check the item type and each metadata field."/>
          <p:cNvSpPr/>
          <p:nvPr/>
        </p:nvSpPr>
        <p:spPr>
          <a:xfrm>
            <a:off x="4477512" y="2633472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Verify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Check the item type and each metadata field.</a:t>
            </a:r>
          </a:p>
        </p:txBody>
      </p:sp>
      <p:sp>
        <p:nvSpPr>
          <p:cNvPr id="1004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77512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5" name="card-steel" descr="card: Export. Create an APA 7 reference list and a collection report."/>
          <p:cNvSpPr/>
          <p:nvPr/>
        </p:nvSpPr>
        <p:spPr>
          <a:xfrm>
            <a:off x="7857744" y="2633472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Export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Create an APA 7 reference list and a collection report.</a:t>
            </a:r>
          </a:p>
        </p:txBody>
      </p:sp>
      <p:sp>
        <p:nvSpPr>
          <p:cNvPr id="1006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57744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Open the Lab 01 tools</a:t>
            </a:r>
          </a:p>
        </p:txBody>
      </p:sp>
      <p:sp>
        <p:nvSpPr>
          <p:cNvPr id="1007" name="card-red" descr="card: Zotero app. Open the desktop app. Official download."/>
          <p:cNvSpPr/>
          <p:nvPr/>
        </p:nvSpPr>
        <p:spPr>
          <a:xfrm>
            <a:off x="1097280" y="2633472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Zotero app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3"/>
              </a:rPr>
              <a:t>Open the desktop app. Official download.</a:t>
            </a:r>
          </a:p>
        </p:txBody>
      </p:sp>
      <p:sp>
        <p:nvSpPr>
          <p:cNvPr id="1008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9" name="card-steel" descr="card: Lab 1 worksheet. Worksheet: lab schedule"/>
          <p:cNvSpPr/>
          <p:nvPr/>
        </p:nvSpPr>
        <p:spPr>
          <a:xfrm>
            <a:off x="4477512" y="2633472"/>
            <a:ext cx="3233928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Lab 1 worksheet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4"/>
              </a:rPr>
              <a:t>Worksheet: lab schedule</a:t>
            </a:r>
          </a:p>
        </p:txBody>
      </p:sp>
      <p:sp>
        <p:nvSpPr>
          <p:cNvPr id="1010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77512" y="2633472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1" name="card-steel" descr="card: Online workbook. Zotero workbook"/>
          <p:cNvSpPr/>
          <p:nvPr/>
        </p:nvSpPr>
        <p:spPr>
          <a:xfrm>
            <a:off x="7857744" y="2633472"/>
            <a:ext cx="3233928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Online workbook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5"/>
              </a:rPr>
              <a:t>Zotero workbook</a:t>
            </a:r>
          </a:p>
        </p:txBody>
      </p:sp>
      <p:sp>
        <p:nvSpPr>
          <p:cNvPr id="1012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57744" y="2633472"/>
            <a:ext cx="54864" cy="1005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3" name="callout-note" descr="note callout: Note. Controls may look different in your version of Zotero"/>
          <p:cNvSpPr/>
          <p:nvPr/>
        </p:nvSpPr>
        <p:spPr>
          <a:xfrm>
            <a:off x="1097280" y="4395216"/>
            <a:ext cx="9994392" cy="14325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66CC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4" name="callout-title" descr=""/>
          <p:cNvSpPr/>
          <p:nvPr/>
        </p:nvSpPr>
        <p:spPr>
          <a:xfrm>
            <a:off x="1097280" y="4395216"/>
            <a:ext cx="9994392" cy="426720"/>
          </a:xfrm>
          <a:prstGeom prst="roundRect">
            <a:avLst>
              <a:gd name="adj" fmla="val 6000"/>
            </a:avLst>
          </a:prstGeom>
          <a:solidFill>
            <a:srgbClr val="0066CC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FEFDFA"/>
                </a:solidFill>
              </a:rPr>
              <a:t>Note</a:t>
            </a:r>
          </a:p>
        </p:txBody>
      </p:sp>
      <p:sp>
        <p:nvSpPr>
          <p:cNvPr id="1015" name="callout-body" descr=""/>
          <p:cNvSpPr/>
          <p:nvPr/>
        </p:nvSpPr>
        <p:spPr>
          <a:xfrm>
            <a:off x="1097280" y="4821936"/>
            <a:ext cx="9994392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Controls may look different in your version of Zotero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Find collections, items, and metadata</a:t>
            </a:r>
          </a:p>
        </p:txBody>
      </p:sp>
      <p:pic>
        <p:nvPicPr>
          <p:cNvPr descr="Annotated Zotero window showing collections in the left panel, items in the middle panel, and metadata in the right panel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92200" y="2844800"/>
            <a:ext cx="49022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Collections</a:t>
            </a:r>
          </a:p>
          <a:p>
            <a:pPr lvl="0" indent="0" marL="0">
              <a:buNone/>
            </a:pPr>
            <a:r>
              <a:rPr/>
              <a:t>Organize sources for this lab.</a:t>
            </a:r>
          </a:p>
          <a:p>
            <a:pPr lvl="0" indent="0" marL="0">
              <a:buNone/>
            </a:pPr>
            <a:r>
              <a:rPr b="1"/>
              <a:t>Items</a:t>
            </a:r>
          </a:p>
          <a:p>
            <a:pPr lvl="0" indent="0" marL="0">
              <a:buNone/>
            </a:pPr>
            <a:r>
              <a:rPr/>
              <a:t>Link a parent item to its PDF.</a:t>
            </a:r>
          </a:p>
          <a:p>
            <a:pPr lvl="0" indent="0" marL="0">
              <a:buNone/>
            </a:pPr>
            <a:r>
              <a:rPr b="1"/>
              <a:t>Metadata</a:t>
            </a:r>
          </a:p>
          <a:p>
            <a:pPr lvl="0" indent="0" marL="0">
              <a:buNone/>
            </a:pPr>
            <a:r>
              <a:rPr/>
              <a:t>Provide the fields used in an APA reference.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Create </a:t>
            </a:r>
            <a:r>
              <a:rPr>
                <a:latin typeface="Courier"/>
              </a:rPr>
              <a:t>[Your Name] APA Walk-Through</a:t>
            </a:r>
          </a:p>
        </p:txBody>
      </p:sp>
      <p:pic>
        <p:nvPicPr>
          <p:cNvPr descr="Zotero New Collection dialog with an arrow showing where to create and name a collection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79600" y="2628900"/>
            <a:ext cx="33147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[Workbook step 1]</a:t>
            </a:r>
          </a:p>
          <a:p>
            <a:pPr lvl="0" indent="0" marL="0">
              <a:buNone/>
            </a:pPr>
            <a:r>
              <a:rPr b="1"/>
              <a:t>1.</a:t>
            </a:r>
            <a:r>
              <a:rPr/>
              <a:t> Choose </a:t>
            </a:r>
            <a:r>
              <a:rPr b="1"/>
              <a:t>New Collection</a:t>
            </a:r>
          </a:p>
          <a:p>
            <a:pPr lvl="0" indent="0" marL="0">
              <a:buNone/>
            </a:pPr>
            <a:r>
              <a:rPr b="1"/>
              <a:t>2.</a:t>
            </a:r>
            <a:r>
              <a:rPr/>
              <a:t> Enter the exact collection name</a:t>
            </a:r>
          </a:p>
          <a:p>
            <a:pPr lvl="0" indent="0" marL="0">
              <a:buNone/>
            </a:pPr>
            <a:r>
              <a:rPr b="1"/>
              <a:t>3.</a:t>
            </a:r>
            <a:r>
              <a:rPr/>
              <a:t> Confirm it appears under </a:t>
            </a:r>
            <a:r>
              <a:rPr b="1"/>
              <a:t>My Library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Add the first article PDF to your collection</a:t>
            </a:r>
          </a:p>
        </p:txBody>
      </p:sp>
      <p:pic>
        <p:nvPicPr>
          <p:cNvPr descr="Diagram showing a PDF file being dragged into a Zotero collection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[Workbook step 2]</a:t>
            </a:r>
          </a:p>
          <a:p>
            <a:pPr lvl="0" indent="-457200" marL="457200">
              <a:buAutoNum type="arabicPeriod"/>
            </a:pPr>
            <a:r>
              <a:rPr/>
              <a:t>Find </a:t>
            </a:r>
            <a:r>
              <a:rPr b="1"/>
              <a:t>ChatGPT is bullshit</a:t>
            </a:r>
          </a:p>
          <a:p>
            <a:pPr lvl="0" indent="-457200" marL="457200">
              <a:buAutoNum type="arabicPeriod"/>
            </a:pPr>
            <a:r>
              <a:rPr/>
              <a:t>Download its PDF</a:t>
            </a:r>
          </a:p>
          <a:p>
            <a:pPr lvl="0" indent="-457200" marL="457200">
              <a:buAutoNum type="arabicPeriod"/>
            </a:pPr>
            <a:r>
              <a:rPr/>
              <a:t>Drag it into the named collection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Edit metadata in the parent item</a:t>
            </a:r>
          </a:p>
        </p:txBody>
      </p:sp>
      <p:pic>
        <p:nvPicPr>
          <p:cNvPr descr="Annotated Zotero item list distinguishing a parent item from its child PDF and pointing to the parent metadata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11300" y="2628900"/>
            <a:ext cx="40767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Parent item</a:t>
            </a:r>
          </a:p>
          <a:p>
            <a:pPr lvl="0" indent="0" marL="0">
              <a:buNone/>
            </a:pPr>
            <a:r>
              <a:rPr/>
              <a:t>Stores item type, authors, title, journal, date, pages, and DOI.</a:t>
            </a:r>
          </a:p>
          <a:p>
            <a:pPr lvl="0" indent="0" marL="0">
              <a:buNone/>
            </a:pPr>
            <a:r>
              <a:rPr b="1"/>
              <a:t>Child PDF</a:t>
            </a:r>
          </a:p>
          <a:p>
            <a:pPr lvl="0" indent="0" marL="0">
              <a:buNone/>
            </a:pPr>
            <a:r>
              <a:rPr/>
              <a:t>Stores the article file and annotations.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Check every Zotero metadata field</a:t>
            </a:r>
          </a:p>
        </p:txBody>
      </p:sp>
      <p:pic>
        <p:nvPicPr>
          <p:cNvPr descr="Annotated Zotero journal article record identifying the APA 7 metadata fields to verify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308100" y="2628900"/>
            <a:ext cx="44704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[Workbook step 4]</a:t>
            </a:r>
          </a:p>
          <a:p>
            <a:pPr lvl="0" indent="-457200" marL="457200">
              <a:buAutoNum type="arabicPeriod"/>
            </a:pPr>
            <a:r>
              <a:rPr/>
              <a:t>Select the parent item</a:t>
            </a:r>
          </a:p>
          <a:p>
            <a:pPr lvl="0" indent="-457200" marL="457200">
              <a:buAutoNum type="arabicPeriod"/>
            </a:pPr>
            <a:r>
              <a:rPr/>
              <a:t>Confirm the item type</a:t>
            </a:r>
          </a:p>
          <a:p>
            <a:pPr lvl="0" indent="-457200" marL="457200">
              <a:buAutoNum type="arabicPeriod"/>
            </a:pPr>
            <a:r>
              <a:rPr/>
              <a:t>Check each APA field</a:t>
            </a:r>
          </a:p>
          <a:p>
            <a:pPr lvl="0" indent="-457200" marL="457200">
              <a:buAutoNum type="arabicPeriod"/>
            </a:pPr>
            <a:r>
              <a:rPr/>
              <a:t>Repair incorrect values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Check sentence case and article numbers</a:t>
            </a:r>
          </a:p>
        </p:txBody>
      </p:sp>
      <p:sp>
        <p:nvSpPr>
          <p:cNvPr id="1016" name="card-steel" descr="card: Sentence case. Capitalize the first word, proper nouns, and the first word after a colon."/>
          <p:cNvSpPr/>
          <p:nvPr/>
        </p:nvSpPr>
        <p:spPr>
          <a:xfrm>
            <a:off x="1097280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Sentence case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Capitalize the first word, proper nouns, and the first word after a colon.</a:t>
            </a:r>
          </a:p>
        </p:txBody>
      </p:sp>
      <p:sp>
        <p:nvSpPr>
          <p:cNvPr id="1017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8" name="card-red" descr="card: Article number. Enter Article 38 in the Pages field—not 38 alone."/>
          <p:cNvSpPr/>
          <p:nvPr/>
        </p:nvSpPr>
        <p:spPr>
          <a:xfrm>
            <a:off x="6167628" y="2633472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Article number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Enter Article 38 in the Pages field—not 38 alone.</a:t>
            </a:r>
          </a:p>
        </p:txBody>
      </p:sp>
      <p:sp>
        <p:nvSpPr>
          <p:cNvPr id="1019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0" name="callout-important" descr="important callout: Important. Zotero formats the metadata you enter; it does not correct it."/>
          <p:cNvSpPr/>
          <p:nvPr/>
        </p:nvSpPr>
        <p:spPr>
          <a:xfrm>
            <a:off x="1097280" y="4395216"/>
            <a:ext cx="9994392" cy="14325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0000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1" name="callout-title" descr=""/>
          <p:cNvSpPr/>
          <p:nvPr/>
        </p:nvSpPr>
        <p:spPr>
          <a:xfrm>
            <a:off x="1097280" y="4395216"/>
            <a:ext cx="9994392" cy="426720"/>
          </a:xfrm>
          <a:prstGeom prst="roundRect">
            <a:avLst>
              <a:gd name="adj" fmla="val 6000"/>
            </a:avLst>
          </a:prstGeom>
          <a:solidFill>
            <a:srgbClr val="CC0000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FEFDFA"/>
                </a:solidFill>
              </a:rPr>
              <a:t>Important</a:t>
            </a:r>
          </a:p>
        </p:txBody>
      </p:sp>
      <p:sp>
        <p:nvSpPr>
          <p:cNvPr id="1022" name="callout-body" descr=""/>
          <p:cNvSpPr/>
          <p:nvPr/>
        </p:nvSpPr>
        <p:spPr>
          <a:xfrm>
            <a:off x="1097280" y="4821936"/>
            <a:ext cx="9994392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Zotero formats the metadata you enter; it does not correct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Generate the APA reference after verification</a:t>
            </a:r>
          </a:p>
        </p:txBody>
      </p:sp>
      <p:pic>
        <p:nvPicPr>
          <p:cNvPr descr="Zotero item context menu with Create Bibliography from Item highlighted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2628900"/>
            <a:ext cx="2413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[Workbook step 5]</a:t>
            </a:r>
          </a:p>
          <a:p>
            <a:pPr lvl="0" indent="-457200" marL="457200">
              <a:buAutoNum type="arabicPeriod"/>
            </a:pPr>
            <a:r>
              <a:rPr/>
              <a:t>Select the parent item</a:t>
            </a:r>
          </a:p>
          <a:p>
            <a:pPr lvl="0" indent="-457200" marL="457200">
              <a:buAutoNum type="arabicPeriod"/>
            </a:pPr>
            <a:r>
              <a:rPr/>
              <a:t>Choose </a:t>
            </a:r>
            <a:r>
              <a:rPr b="1"/>
              <a:t>Create Bibliography from Item</a:t>
            </a:r>
          </a:p>
          <a:p>
            <a:pPr lvl="0" indent="-457200" marL="457200">
              <a:buAutoNum type="arabicPeriod"/>
            </a:pPr>
            <a:r>
              <a:rPr/>
              <a:t>Select </a:t>
            </a:r>
            <a:r>
              <a:rPr b="1"/>
              <a:t>APA 7</a:t>
            </a:r>
            <a:r>
              <a:rPr/>
              <a:t> and </a:t>
            </a:r>
            <a:r>
              <a:rPr b="1"/>
              <a:t>Copy to Clipboard</a:t>
            </a:r>
          </a:p>
          <a:p>
            <a:pPr lvl="0" indent="-457200" marL="457200">
              <a:buAutoNum type="arabicPeriod"/>
            </a:pPr>
            <a:r>
              <a:rPr/>
              <a:t>Paste it into the workbook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Repair the partially indexed article</a:t>
            </a:r>
          </a:p>
        </p:txBody>
      </p:sp>
      <p:sp>
        <p:nvSpPr>
          <p:cNvPr id="1023" name="card-steel" descr="card: Enter exactly. Hindsight ≠ foresight The symbol may not copy correctly from the older PDF."/>
          <p:cNvSpPr/>
          <p:nvPr/>
        </p:nvSpPr>
        <p:spPr>
          <a:xfrm>
            <a:off x="1097280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Enter exactly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Hindsight ≠ foresight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symbol may not copy correctly from the older PDF.</a:t>
            </a:r>
          </a:p>
        </p:txBody>
      </p:sp>
      <p:sp>
        <p:nvSpPr>
          <p:cNvPr id="1024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5" name="card-red" descr="card: Add these fields. Authors · year · journal · volume · issue · pages · DOI"/>
          <p:cNvSpPr/>
          <p:nvPr/>
        </p:nvSpPr>
        <p:spPr>
          <a:xfrm>
            <a:off x="6167628" y="2633472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Add these fields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Authors · year · journal · volume · issue · pages · DOI</a:t>
            </a:r>
          </a:p>
        </p:txBody>
      </p:sp>
      <p:sp>
        <p:nvSpPr>
          <p:cNvPr id="1026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7" name="callout-warning" descr="warning callout: Warning. Add the missing fields before generating the reference."/>
          <p:cNvSpPr/>
          <p:nvPr/>
        </p:nvSpPr>
        <p:spPr>
          <a:xfrm>
            <a:off x="1097280" y="4395216"/>
            <a:ext cx="9994392" cy="14325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B65B00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8" name="callout-title" descr=""/>
          <p:cNvSpPr/>
          <p:nvPr/>
        </p:nvSpPr>
        <p:spPr>
          <a:xfrm>
            <a:off x="1097280" y="4395216"/>
            <a:ext cx="9994392" cy="426720"/>
          </a:xfrm>
          <a:prstGeom prst="roundRect">
            <a:avLst>
              <a:gd name="adj" fmla="val 6000"/>
            </a:avLst>
          </a:prstGeom>
          <a:solidFill>
            <a:srgbClr val="B65B00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FEFDFA"/>
                </a:solidFill>
              </a:rPr>
              <a:t>Warning</a:t>
            </a:r>
          </a:p>
        </p:txBody>
      </p:sp>
      <p:sp>
        <p:nvSpPr>
          <p:cNvPr id="1029" name="callout-body" descr=""/>
          <p:cNvSpPr/>
          <p:nvPr/>
        </p:nvSpPr>
        <p:spPr>
          <a:xfrm>
            <a:off x="1097280" y="4821936"/>
            <a:ext cx="9994392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Add the missing fields before generating the reference.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Create a parent item for a standalone PDF</a:t>
            </a:r>
          </a:p>
        </p:txBody>
      </p:sp>
      <p:pic>
        <p:nvPicPr>
          <p:cNvPr descr="Zotero PDF context menu showing the Create Parent Item command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11300" y="2628900"/>
            <a:ext cx="40767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[Workbook step 7]</a:t>
            </a:r>
          </a:p>
          <a:p>
            <a:pPr lvl="0" indent="-457200" marL="457200">
              <a:buAutoNum type="arabicPeriod"/>
            </a:pPr>
            <a:r>
              <a:rPr/>
              <a:t>Right-click the standalone PDF</a:t>
            </a:r>
          </a:p>
          <a:p>
            <a:pPr lvl="0" indent="-457200" marL="457200">
              <a:buAutoNum type="arabicPeriod"/>
            </a:pPr>
            <a:r>
              <a:rPr/>
              <a:t>Choose </a:t>
            </a:r>
            <a:r>
              <a:rPr b="1"/>
              <a:t>Create Parent Item</a:t>
            </a:r>
          </a:p>
          <a:p>
            <a:pPr lvl="0" indent="-457200" marL="457200">
              <a:buAutoNum type="arabicPeriod"/>
            </a:pPr>
            <a:r>
              <a:rPr/>
              <a:t>Choose </a:t>
            </a:r>
            <a:r>
              <a:rPr b="1"/>
              <a:t>Manual Entry</a:t>
            </a:r>
            <a:r>
              <a:rPr/>
              <a:t>; complete the fields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12 Add an item by DOI</a:t>
            </a:r>
          </a:p>
        </p:txBody>
      </p:sp>
      <p:pic>
        <p:nvPicPr>
          <p:cNvPr descr="Annotated Zotero identifier entry box showing that a DOI begins with the number 10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92200" y="3327400"/>
            <a:ext cx="4902200" cy="170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[Workbook step 8]</a:t>
            </a:r>
          </a:p>
          <a:p>
            <a:pPr lvl="0" indent="-457200" marL="457200">
              <a:buAutoNum type="arabicPeriod"/>
            </a:pPr>
            <a:r>
              <a:rPr/>
              <a:t>Choose </a:t>
            </a:r>
            <a:r>
              <a:rPr b="1"/>
              <a:t>Add Item by Identifier</a:t>
            </a:r>
          </a:p>
          <a:p>
            <a:pPr lvl="0" indent="-457200" marL="457200">
              <a:buAutoNum type="arabicPeriod"/>
            </a:pPr>
            <a:r>
              <a:rPr/>
              <a:t>Paste the DOI beginning with </a:t>
            </a:r>
            <a:r>
              <a:rPr>
                <a:latin typeface="Courier"/>
              </a:rPr>
              <a:t>10.</a:t>
            </a:r>
          </a:p>
          <a:p>
            <a:pPr lvl="0" indent="-457200" marL="457200">
              <a:buAutoNum type="arabicPeriod"/>
            </a:pPr>
            <a:r>
              <a:rPr/>
              <a:t>Review the new item’s metadata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13 Choose the item type</a:t>
            </a:r>
          </a:p>
        </p:txBody>
      </p:sp>
      <p:sp>
        <p:nvSpPr>
          <p:cNvPr id="1030" name="card-steel" descr="card: Book chapter. Choose Book Section and record authors, editors, pages, and publisher."/>
          <p:cNvSpPr/>
          <p:nvPr/>
        </p:nvSpPr>
        <p:spPr>
          <a:xfrm>
            <a:off x="1097280" y="2633472"/>
            <a:ext cx="3233928" cy="1754887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65" b="1" dirty="0">
                <a:solidFill>
                  <a:srgbClr val="010B13"/>
                </a:solidFill>
              </a:rPr>
              <a:t>Book chapter</a:t>
            </a:r>
          </a:p>
          <a:p>
            <a:pPr algn="l"/>
            <a:r>
              <a:rPr lang="en-US" sz="1787" b="0" dirty="0">
                <a:solidFill>
                  <a:srgbClr val="010B13"/>
                </a:solidFill>
              </a:rPr>
              <a:t>Choose Book Section and record authors, editors, pages, and publisher.</a:t>
            </a:r>
          </a:p>
        </p:txBody>
      </p:sp>
      <p:sp>
        <p:nvSpPr>
          <p:cNvPr id="1031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754887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2" name="card-steel" descr="card: News article. Choose Newspaper Article and record the full publication date."/>
          <p:cNvSpPr/>
          <p:nvPr/>
        </p:nvSpPr>
        <p:spPr>
          <a:xfrm>
            <a:off x="4477512" y="2633472"/>
            <a:ext cx="3233928" cy="1482509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65" b="1" dirty="0">
                <a:solidFill>
                  <a:srgbClr val="010B13"/>
                </a:solidFill>
              </a:rPr>
              <a:t>News article</a:t>
            </a:r>
          </a:p>
          <a:p>
            <a:pPr algn="l"/>
            <a:r>
              <a:rPr lang="en-US" sz="1787" b="0" dirty="0">
                <a:solidFill>
                  <a:srgbClr val="010B13"/>
                </a:solidFill>
              </a:rPr>
              <a:t>Choose Newspaper Article and record the full publication date.</a:t>
            </a:r>
          </a:p>
        </p:txBody>
      </p:sp>
      <p:sp>
        <p:nvSpPr>
          <p:cNvPr id="1033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77512" y="2633472"/>
            <a:ext cx="54864" cy="1482509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4" name="card-red" descr="card: Magazine. Choose Magazine Article and verify the author and date."/>
          <p:cNvSpPr/>
          <p:nvPr/>
        </p:nvSpPr>
        <p:spPr>
          <a:xfrm>
            <a:off x="7857744" y="2633472"/>
            <a:ext cx="3233928" cy="1482509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65" b="1" dirty="0">
                <a:solidFill>
                  <a:srgbClr val="D00000"/>
                </a:solidFill>
              </a:rPr>
              <a:t>Magazine</a:t>
            </a:r>
          </a:p>
          <a:p>
            <a:pPr algn="l"/>
            <a:r>
              <a:rPr lang="en-US" sz="1787" b="0" dirty="0">
                <a:solidFill>
                  <a:srgbClr val="010B13"/>
                </a:solidFill>
              </a:rPr>
              <a:t>Choose Magazine Article and verify the author and date.</a:t>
            </a:r>
          </a:p>
        </p:txBody>
      </p:sp>
      <p:sp>
        <p:nvSpPr>
          <p:cNvPr id="1035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57744" y="2633472"/>
            <a:ext cx="54864" cy="1482509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6" name="callout-important" descr="important callout: Important. Item type controls which metadata fields Zotero displays."/>
          <p:cNvSpPr/>
          <p:nvPr/>
        </p:nvSpPr>
        <p:spPr>
          <a:xfrm>
            <a:off x="1097280" y="4534663"/>
            <a:ext cx="9994392" cy="1319081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0000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7" name="callout-title" descr=""/>
          <p:cNvSpPr/>
          <p:nvPr/>
        </p:nvSpPr>
        <p:spPr>
          <a:xfrm>
            <a:off x="1097280" y="4534663"/>
            <a:ext cx="9994392" cy="381328"/>
          </a:xfrm>
          <a:prstGeom prst="roundRect">
            <a:avLst>
              <a:gd name="adj" fmla="val 6000"/>
            </a:avLst>
          </a:prstGeom>
          <a:solidFill>
            <a:srgbClr val="CC0000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1965" b="1" dirty="0">
                <a:solidFill>
                  <a:srgbClr val="FEFDFA"/>
                </a:solidFill>
              </a:rPr>
              <a:t>Important</a:t>
            </a:r>
          </a:p>
        </p:txBody>
      </p:sp>
      <p:sp>
        <p:nvSpPr>
          <p:cNvPr id="1038" name="callout-body" descr=""/>
          <p:cNvSpPr/>
          <p:nvPr/>
        </p:nvSpPr>
        <p:spPr>
          <a:xfrm>
            <a:off x="1097280" y="4915991"/>
            <a:ext cx="9994392" cy="937753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787" b="0" dirty="0">
                <a:solidFill>
                  <a:srgbClr val="010B13"/>
                </a:solidFill>
              </a:rPr>
              <a:t>Item type controls which metadata fields Zotero displays.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14 Choose bibliography or collection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Create Bibliography from Collection</a:t>
            </a:r>
            <a:r>
              <a:rPr/>
              <a:t> creates the APA reference list.</a:t>
            </a:r>
          </a:p>
          <a:p>
            <a:pPr lvl="0" indent="0" marL="0">
              <a:buNone/>
            </a:pPr>
            <a:r>
              <a:rPr b="1"/>
              <a:t>Generate Report from Collection</a:t>
            </a:r>
            <a:r>
              <a:rPr/>
              <a:t> creates the collection report.</a:t>
            </a:r>
          </a:p>
          <a:p>
            <a:pPr lvl="0" indent="0" marL="0">
              <a:buNone/>
            </a:pPr>
            <a:r>
              <a:rPr/>
              <a:t>Complete both output boxes in the Lab 1 worksheet.</a:t>
            </a:r>
          </a:p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B65B00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Accurate metadata produces accurate APA 7 references</dc:title>
  <dc:creator>PSYC 350 Laboratory</dc:creator>
  <cp:keywords/>
  <dcterms:created xsi:type="dcterms:W3CDTF">2026-09-10T18:11:12Z</dcterms:created>
  <dcterms:modified xsi:type="dcterms:W3CDTF">2026-09-10T18:11:12Z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ack-to-top-navigation">
    <vt:lpwstr>True</vt:lpwstr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ack-link">
    <vt:lpwstr>False</vt:lpwstr>
  </property>
  <property fmtid="{D5CDD505-2E9C-101B-9397-08002B2CF9AE}" pid="13" name="include-before">
    <vt:lpwstr/>
  </property>
  <property fmtid="{D5CDD505-2E9C-101B-9397-08002B2CF9AE}" pid="14" name="institute">
    <vt:lpwstr>University of Nebraska–Lincoln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nebraska-pptx">
    <vt:lpwstr/>
  </property>
  <property fmtid="{D5CDD505-2E9C-101B-9397-08002B2CF9AE}" pid="18" name="revealjs-plugins">
    <vt:lpwstr/>
  </property>
  <property fmtid="{D5CDD505-2E9C-101B-9397-08002B2CF9AE}" pid="19" name="subtitle">
    <vt:lpwstr>Lab 01 · Zotero workflow</vt:lpwstr>
  </property>
  <property fmtid="{D5CDD505-2E9C-101B-9397-08002B2CF9AE}" pid="20" name="toc-title">
    <vt:lpwstr>Table of contents</vt:lpwstr>
  </property>
</Properties>
</file>