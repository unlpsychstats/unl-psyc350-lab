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7524"/>
    <p:restoredTop sz="94694"/>
  </p:normalViewPr>
  <p:slideViewPr>
    <p:cSldViewPr snapToGrid="0">
      <p:cViewPr varScale="1">
        <p:scale>
          <a:sx d="100" n="119"/>
          <a:sy d="100" n="119"/>
        </p:scale>
        <p:origin x="232" y="23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1" Type="http://schemas.openxmlformats.org/officeDocument/2006/relationships/slideMaster" Target="slideMasters/slideMaster1.xml" /><Relationship Id="rId27" Type="http://schemas.openxmlformats.org/officeDocument/2006/relationships/presProps" Target="presProps.xml" /><Relationship Id="rId28" Type="http://schemas.openxmlformats.org/officeDocument/2006/relationships/viewProps" Target="viewProps.xml" /><Relationship Id="rId29" Type="http://schemas.openxmlformats.org/officeDocument/2006/relationships/theme" Target="theme/theme1.xml" /><Relationship Id="rId30" Type="http://schemas.openxmlformats.org/officeDocument/2006/relationships/tableStyles" Target="tableStyles.xml" 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4352544"/>
            <a:ext cx="9997440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638044"/>
            <a:ext cx="9997440" cy="3101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352465"/>
            <a:ext cx="9997440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638044"/>
            <a:ext cx="4907280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40" y="2638044"/>
            <a:ext cx="4907280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Relationship Id="rId9" Target="../slideLayouts/slideLayout9.xml" Type="http://schemas.openxmlformats.org/officeDocument/2006/relationships/slideLayout" /><Relationship Id="rId10" Target="../slideLayouts/slideLayout10.xml" Type="http://schemas.openxmlformats.org/officeDocument/2006/relationships/slideLayout" /><Relationship Id="rId11" Target="../slideLayouts/slideLayout11.xml" Type="http://schemas.openxmlformats.org/officeDocument/2006/relationships/slideLayout" /><Relationship Id="rId12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w="31750">
            <a:solidFill>
              <a:srgbClr val="404040"/>
            </a:solidFill>
            <a:miter lim="800000"/>
          </a:ln>
        </p:spPr>
        <p:txBody>
          <a:bodyPr anchor="ctr" bIns="182880" lIns="182880" rIns="182880" rtlCol="0" tIns="182880" vert="horz">
            <a:normAutofit/>
          </a:bodyPr>
          <a:lstStyle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dirty="0" lang="en-US"/>
              <a:t>1/22/26</a:t>
            </a:fld>
            <a:endParaRPr dirty="0"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dirty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anchor="ctr" bIns="45720" lIns="18288" rIns="18288" rtlCol="0" tIns="45720" vert="horz">
            <a:noAutofit/>
          </a:bodyPr>
          <a:lstStyle>
            <a:lvl1pPr algn="ctr">
              <a:defRPr baseline="0" spc="0" sz="110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dirty="0" lang="en-US"/>
              <a:pPr/>
              <a:t>‹#›</a:t>
            </a:fld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dt="0" ftr="0" hdr="0" sldNum="0"/>
  <p:txStyles>
    <p:titleStyle>
      <a:lvl1pPr algn="ctr" defTabSz="914400" eaLnBrk="1" hangingPunct="1" latinLnBrk="0" rtl="0">
        <a:lnSpc>
          <a:spcPct val="90000"/>
        </a:lnSpc>
        <a:spcBef>
          <a:spcPct val="0"/>
        </a:spcBef>
        <a:buNone/>
        <a:defRPr baseline="0" cap="all" kern="1200" spc="200" sz="280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8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4572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6858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9144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11430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1312863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1484313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165735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baseline="0" kern="1200" sz="16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1882775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baseline="0" kern="1200"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jp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1.png" /><Relationship Id="rId2" Type="http://schemas.openxmlformats.org/officeDocument/2006/relationships/image" Target="../media/image4.jp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otero.org/" TargetMode="External" /><Relationship Id="rId3" Type="http://schemas.openxmlformats.org/officeDocument/2006/relationships/image" Target="../media/image3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otero.org/" TargetMode="External" /><Relationship Id="rId3" Type="http://schemas.openxmlformats.org/officeDocument/2006/relationships/image" Target="../media/image5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/>
          <a:lstStyle/>
          <a:p>
            <a:pPr lvl="0" indent="0" marL="0">
              <a:buNone/>
            </a:pPr>
            <a:r>
              <a:rPr/>
              <a:t>References &amp; APA style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097280" y="4352544"/>
            <a:ext cx="9997440" cy="1239894"/>
          </a:xfrm>
          <a:noFill/>
        </p:spPr>
        <p:txBody>
          <a:bodyPr/>
          <a:lstStyle/>
          <a:p>
            <a:pPr lvl="0" indent="0" marL="0">
              <a:buNone/>
            </a:pPr>
            <a:r>
              <a:rPr/>
              <a:t>Lab 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Today’s Tasks</a:t>
            </a:r>
          </a:p>
        </p:txBody>
      </p:sp>
      <p:sp>
        <p:nvSpPr>
          <p:cNvPr id="1001" name="box-post-it" descr="box: . Lab 1:Overview of APA formatIntro to Zotero"/>
          <p:cNvSpPr/>
          <p:nvPr/>
        </p:nvSpPr>
        <p:spPr>
          <a:xfrm>
            <a:off x="1097280" y="2633472"/>
            <a:ext cx="9994392" cy="365760"/>
          </a:xfrm>
          <a:prstGeom prst="roundRect">
            <a:avLst>
              <a:gd name="adj" fmla="val 6000"/>
            </a:avLst>
          </a:prstGeom>
          <a:solidFill>
            <a:srgbClr val="FFF9C4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Lab 1:Overview of APA formatIntro to Zotero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You Need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Everything for this week is linked on the next slides – and always on the lab page under </a:t>
            </a:r>
            <a:r>
              <a:rPr b="1"/>
              <a:t>Handouts &amp; References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Open these </a:t>
            </a:r>
            <a:r>
              <a:rPr b="1"/>
              <a:t>before we start</a:t>
            </a:r>
            <a:r>
              <a:rPr/>
              <a:t> so you can follow along.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 to Psyc350 &amp; why we do it this way!!</a:t>
            </a:r>
          </a:p>
        </p:txBody>
      </p:sp>
      <p:sp>
        <p:nvSpPr>
          <p:cNvPr id="1002" name="card-blue" descr="card: [arrow icon]. Introduction to Psyc 350 Lab [Web page]"/>
          <p:cNvSpPr/>
          <p:nvPr/>
        </p:nvSpPr>
        <p:spPr>
          <a:xfrm>
            <a:off x="1097280" y="2633472"/>
            <a:ext cx="3270504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005D84"/>
                </a:solidFill>
              </a:rPr>
              <a:t>[arrow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Introduction to Psyc 350 Lab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[Web page]</a:t>
            </a:r>
          </a:p>
        </p:txBody>
      </p:sp>
      <p:sp>
        <p:nvSpPr>
          <p:cNvPr id="1003" name="card-rail" descr=""/>
          <p:cNvSpPr/>
          <p:nvPr/>
        </p:nvSpPr>
        <p:spPr>
          <a:xfrm>
            <a:off x="1097280" y="2633472"/>
            <a:ext cx="54864" cy="762000"/>
          </a:xfrm>
          <a:prstGeom prst="roundRect">
            <a:avLst>
              <a:gd name="adj" fmla="val 20000"/>
            </a:avLst>
          </a:prstGeom>
          <a:solidFill>
            <a:srgbClr val="005D84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Bibliographic Research &amp; Zotero (1/2)</a:t>
            </a:r>
          </a:p>
        </p:txBody>
      </p:sp>
      <p:sp>
        <p:nvSpPr>
          <p:cNvPr id="1004" name="card-blue" descr="card: [arrow icon]. Library Resources Link (start here) [External link]"/>
          <p:cNvSpPr/>
          <p:nvPr/>
        </p:nvSpPr>
        <p:spPr>
          <a:xfrm>
            <a:off x="1097280" y="2633472"/>
            <a:ext cx="3270504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005D84"/>
                </a:solidFill>
              </a:rPr>
              <a:t>[arrow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Library Resources Link (start here)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[External link]</a:t>
            </a:r>
          </a:p>
        </p:txBody>
      </p:sp>
      <p:sp>
        <p:nvSpPr>
          <p:cNvPr id="1005" name="card-rail" descr=""/>
          <p:cNvSpPr/>
          <p:nvPr/>
        </p:nvSpPr>
        <p:spPr>
          <a:xfrm>
            <a:off x="1097280" y="2633472"/>
            <a:ext cx="54864" cy="762000"/>
          </a:xfrm>
          <a:prstGeom prst="roundRect">
            <a:avLst>
              <a:gd name="adj" fmla="val 20000"/>
            </a:avLst>
          </a:prstGeom>
          <a:solidFill>
            <a:srgbClr val="005D84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06" name="card-blue" descr="card: [book icon]. Powerpoint to guide you through library resources"/>
          <p:cNvSpPr/>
          <p:nvPr/>
        </p:nvSpPr>
        <p:spPr>
          <a:xfrm>
            <a:off x="4459224" y="2633472"/>
            <a:ext cx="3270504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005D84"/>
                </a:solidFill>
              </a:rPr>
              <a:t>[book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Powerpoint to guide you through library resources</a:t>
            </a:r>
          </a:p>
        </p:txBody>
      </p:sp>
      <p:sp>
        <p:nvSpPr>
          <p:cNvPr id="1007" name="card-rail" descr=""/>
          <p:cNvSpPr/>
          <p:nvPr/>
        </p:nvSpPr>
        <p:spPr>
          <a:xfrm>
            <a:off x="4459224" y="2633472"/>
            <a:ext cx="54864" cy="762000"/>
          </a:xfrm>
          <a:prstGeom prst="roundRect">
            <a:avLst>
              <a:gd name="adj" fmla="val 20000"/>
            </a:avLst>
          </a:prstGeom>
          <a:solidFill>
            <a:srgbClr val="005D84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08" name="card-blue" descr="card: [arrow icon]. Boolean Searching (link to how-to guide online) [External link]"/>
          <p:cNvSpPr/>
          <p:nvPr/>
        </p:nvSpPr>
        <p:spPr>
          <a:xfrm>
            <a:off x="7821168" y="2633472"/>
            <a:ext cx="3270504" cy="94488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005D84"/>
                </a:solidFill>
              </a:rPr>
              <a:t>[arrow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Boolean Searching (link to how-to guide online)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[External link]</a:t>
            </a:r>
          </a:p>
        </p:txBody>
      </p:sp>
      <p:sp>
        <p:nvSpPr>
          <p:cNvPr id="1009" name="card-rail" descr=""/>
          <p:cNvSpPr/>
          <p:nvPr/>
        </p:nvSpPr>
        <p:spPr>
          <a:xfrm>
            <a:off x="7821168" y="2633472"/>
            <a:ext cx="54864" cy="944880"/>
          </a:xfrm>
          <a:prstGeom prst="roundRect">
            <a:avLst>
              <a:gd name="adj" fmla="val 20000"/>
            </a:avLst>
          </a:prstGeom>
          <a:solidFill>
            <a:srgbClr val="005D84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10" name="card-blue" descr="card: [book icon]. APA Format and Style + Using Zotero"/>
          <p:cNvSpPr/>
          <p:nvPr/>
        </p:nvSpPr>
        <p:spPr>
          <a:xfrm>
            <a:off x="1097280" y="3669792"/>
            <a:ext cx="3270504" cy="57912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005D84"/>
                </a:solidFill>
              </a:rPr>
              <a:t>[book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APA Format and Style + Using Zotero</a:t>
            </a:r>
          </a:p>
        </p:txBody>
      </p:sp>
      <p:sp>
        <p:nvSpPr>
          <p:cNvPr id="1011" name="card-rail" descr=""/>
          <p:cNvSpPr/>
          <p:nvPr/>
        </p:nvSpPr>
        <p:spPr>
          <a:xfrm>
            <a:off x="1097280" y="3669792"/>
            <a:ext cx="54864" cy="579120"/>
          </a:xfrm>
          <a:prstGeom prst="roundRect">
            <a:avLst>
              <a:gd name="adj" fmla="val 20000"/>
            </a:avLst>
          </a:prstGeom>
          <a:solidFill>
            <a:srgbClr val="005D84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12" name="card-red" descr="card: [note icon]. Using Zotero [PDF]"/>
          <p:cNvSpPr/>
          <p:nvPr/>
        </p:nvSpPr>
        <p:spPr>
          <a:xfrm>
            <a:off x="4459224" y="3669792"/>
            <a:ext cx="3270504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D00000"/>
                </a:solidFill>
              </a:rPr>
              <a:t>[note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Using Zotero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[PDF]</a:t>
            </a:r>
          </a:p>
        </p:txBody>
      </p:sp>
      <p:sp>
        <p:nvSpPr>
          <p:cNvPr id="1013" name="card-rail" descr=""/>
          <p:cNvSpPr/>
          <p:nvPr/>
        </p:nvSpPr>
        <p:spPr>
          <a:xfrm>
            <a:off x="4459224" y="3669792"/>
            <a:ext cx="54864" cy="762000"/>
          </a:xfrm>
          <a:prstGeom prst="roundRect">
            <a:avLst>
              <a:gd name="adj" fmla="val 20000"/>
            </a:avLst>
          </a:prstGeom>
          <a:solidFill>
            <a:srgbClr val="D00000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14" name="card-red" descr="card: [note icon]. Journal Reference Checklist [PDF]"/>
          <p:cNvSpPr/>
          <p:nvPr/>
        </p:nvSpPr>
        <p:spPr>
          <a:xfrm>
            <a:off x="7821168" y="3669792"/>
            <a:ext cx="3270504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D00000"/>
                </a:solidFill>
              </a:rPr>
              <a:t>[note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Journal Reference Checklist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[PDF]</a:t>
            </a:r>
          </a:p>
        </p:txBody>
      </p:sp>
      <p:sp>
        <p:nvSpPr>
          <p:cNvPr id="1015" name="card-rail" descr=""/>
          <p:cNvSpPr/>
          <p:nvPr/>
        </p:nvSpPr>
        <p:spPr>
          <a:xfrm>
            <a:off x="7821168" y="3669792"/>
            <a:ext cx="54864" cy="762000"/>
          </a:xfrm>
          <a:prstGeom prst="roundRect">
            <a:avLst>
              <a:gd name="adj" fmla="val 20000"/>
            </a:avLst>
          </a:prstGeom>
          <a:solidFill>
            <a:srgbClr val="D00000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Bibliographic Research &amp; Zotero (2/2)</a:t>
            </a:r>
          </a:p>
        </p:txBody>
      </p:sp>
      <p:sp>
        <p:nvSpPr>
          <p:cNvPr id="1016" name="card-red" descr="card: [note icon]. Student Paper Format [PDF]"/>
          <p:cNvSpPr/>
          <p:nvPr/>
        </p:nvSpPr>
        <p:spPr>
          <a:xfrm>
            <a:off x="1097280" y="2633472"/>
            <a:ext cx="3270504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D00000"/>
                </a:solidFill>
              </a:rPr>
              <a:t>[note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Student Paper Format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[PDF]</a:t>
            </a:r>
          </a:p>
        </p:txBody>
      </p:sp>
      <p:sp>
        <p:nvSpPr>
          <p:cNvPr id="1017" name="card-rail" descr=""/>
          <p:cNvSpPr/>
          <p:nvPr/>
        </p:nvSpPr>
        <p:spPr>
          <a:xfrm>
            <a:off x="1097280" y="2633472"/>
            <a:ext cx="54864" cy="762000"/>
          </a:xfrm>
          <a:prstGeom prst="roundRect">
            <a:avLst>
              <a:gd name="adj" fmla="val 20000"/>
            </a:avLst>
          </a:prstGeom>
          <a:solidFill>
            <a:srgbClr val="D00000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18" name="card-red" descr="card: [note icon]. Research Report Format [PDF]"/>
          <p:cNvSpPr/>
          <p:nvPr/>
        </p:nvSpPr>
        <p:spPr>
          <a:xfrm>
            <a:off x="4459224" y="2633472"/>
            <a:ext cx="3270504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D00000"/>
                </a:solidFill>
              </a:rPr>
              <a:t>[note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Research Report Format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[PDF]</a:t>
            </a:r>
          </a:p>
        </p:txBody>
      </p:sp>
      <p:sp>
        <p:nvSpPr>
          <p:cNvPr id="1019" name="card-rail" descr=""/>
          <p:cNvSpPr/>
          <p:nvPr/>
        </p:nvSpPr>
        <p:spPr>
          <a:xfrm>
            <a:off x="4459224" y="2633472"/>
            <a:ext cx="54864" cy="762000"/>
          </a:xfrm>
          <a:prstGeom prst="roundRect">
            <a:avLst>
              <a:gd name="adj" fmla="val 20000"/>
            </a:avLst>
          </a:prstGeom>
          <a:solidFill>
            <a:srgbClr val="D00000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20" name="card-red" descr="card: [note icon]. Other Sources Reference Format"/>
          <p:cNvSpPr/>
          <p:nvPr/>
        </p:nvSpPr>
        <p:spPr>
          <a:xfrm>
            <a:off x="7821168" y="2633472"/>
            <a:ext cx="3270504" cy="57912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D00000"/>
                </a:solidFill>
              </a:rPr>
              <a:t>[note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Other Sources Reference Format</a:t>
            </a:r>
          </a:p>
        </p:txBody>
      </p:sp>
      <p:sp>
        <p:nvSpPr>
          <p:cNvPr id="1021" name="card-rail" descr=""/>
          <p:cNvSpPr/>
          <p:nvPr/>
        </p:nvSpPr>
        <p:spPr>
          <a:xfrm>
            <a:off x="7821168" y="2633472"/>
            <a:ext cx="54864" cy="579120"/>
          </a:xfrm>
          <a:prstGeom prst="roundRect">
            <a:avLst>
              <a:gd name="adj" fmla="val 20000"/>
            </a:avLst>
          </a:prstGeom>
          <a:solidFill>
            <a:srgbClr val="D00000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Weekly Lab Assignment</a:t>
            </a:r>
          </a:p>
        </p:txBody>
      </p:sp>
      <p:sp>
        <p:nvSpPr>
          <p:cNvPr id="1022" name="card-blue" descr="card: [book icon]. Lab 01: APA References Zotero Worksheet [Word document]"/>
          <p:cNvSpPr/>
          <p:nvPr/>
        </p:nvSpPr>
        <p:spPr>
          <a:xfrm>
            <a:off x="1097280" y="2633472"/>
            <a:ext cx="3270504" cy="94488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005D84"/>
                </a:solidFill>
              </a:rPr>
              <a:t>[book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Lab 01: APA References Zotero Worksheet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[Word document]</a:t>
            </a:r>
          </a:p>
        </p:txBody>
      </p:sp>
      <p:sp>
        <p:nvSpPr>
          <p:cNvPr id="1023" name="card-rail" descr=""/>
          <p:cNvSpPr/>
          <p:nvPr/>
        </p:nvSpPr>
        <p:spPr>
          <a:xfrm>
            <a:off x="1097280" y="2633472"/>
            <a:ext cx="54864" cy="944880"/>
          </a:xfrm>
          <a:prstGeom prst="roundRect">
            <a:avLst>
              <a:gd name="adj" fmla="val 20000"/>
            </a:avLst>
          </a:prstGeom>
          <a:solidFill>
            <a:srgbClr val="005D84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24" name="card-blue" descr="card: [arrow icon]. Click for Zotero &amp; APA Workbook [Web page]"/>
          <p:cNvSpPr/>
          <p:nvPr/>
        </p:nvSpPr>
        <p:spPr>
          <a:xfrm>
            <a:off x="4459224" y="2633472"/>
            <a:ext cx="3270504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005D84"/>
                </a:solidFill>
              </a:rPr>
              <a:t>[arrow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Click for Zotero &amp; APA Workbook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[Web page]</a:t>
            </a:r>
          </a:p>
        </p:txBody>
      </p:sp>
      <p:sp>
        <p:nvSpPr>
          <p:cNvPr id="1025" name="card-rail" descr=""/>
          <p:cNvSpPr/>
          <p:nvPr/>
        </p:nvSpPr>
        <p:spPr>
          <a:xfrm>
            <a:off x="4459224" y="2633472"/>
            <a:ext cx="54864" cy="762000"/>
          </a:xfrm>
          <a:prstGeom prst="roundRect">
            <a:avLst>
              <a:gd name="adj" fmla="val 20000"/>
            </a:avLst>
          </a:prstGeom>
          <a:solidFill>
            <a:srgbClr val="005D84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/>
          <a:lstStyle/>
          <a:p>
            <a:pPr lvl="0" indent="0" marL="0">
              <a:buNone/>
            </a:pPr>
            <a:r>
              <a:rPr/>
              <a:t>APA References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APA Style &amp; References</a:t>
            </a:r>
          </a:p>
        </p:txBody>
      </p:sp>
      <p:pic>
        <p:nvPicPr>
          <p:cNvPr descr="Example of an APA-style References page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92700" y="2628900"/>
            <a:ext cx="20066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Example of an APA-style References page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APA Style &amp; References (continued)</a:t>
            </a:r>
          </a:p>
        </p:txBody>
      </p:sp>
      <p:pic>
        <p:nvPicPr>
          <p:cNvPr descr="Comic grid titled Types of Psych Paper showing twelve parody psychology paper layouts with titles like Children Are So Weird and Freud Was Very Wro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41600" y="2628900"/>
            <a:ext cx="18161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Function of </a:t>
            </a:r>
            <a:r>
              <a:rPr b="1"/>
              <a:t>References</a:t>
            </a:r>
            <a:r>
              <a:rPr/>
              <a:t> is to:</a:t>
            </a:r>
          </a:p>
          <a:p>
            <a:pPr lvl="1"/>
            <a:r>
              <a:rPr/>
              <a:t>🎉 </a:t>
            </a:r>
            <a:r>
              <a:rPr b="1"/>
              <a:t>give</a:t>
            </a:r>
            <a:r>
              <a:rPr/>
              <a:t> credit to others work</a:t>
            </a:r>
          </a:p>
          <a:p>
            <a:pPr lvl="1"/>
            <a:r>
              <a:rPr/>
              <a:t>💡 </a:t>
            </a:r>
            <a:r>
              <a:rPr b="1"/>
              <a:t>add credibility</a:t>
            </a:r>
            <a:r>
              <a:rPr/>
              <a:t> to your work</a:t>
            </a:r>
          </a:p>
          <a:p>
            <a:pPr lvl="1"/>
            <a:r>
              <a:rPr/>
              <a:t>🚧 </a:t>
            </a:r>
            <a:r>
              <a:rPr b="1"/>
              <a:t>provide</a:t>
            </a:r>
            <a:r>
              <a:rPr/>
              <a:t> context for your work</a:t>
            </a:r>
          </a:p>
          <a:p>
            <a:pPr lvl="1"/>
            <a:r>
              <a:rPr/>
              <a:t>🎤 </a:t>
            </a:r>
            <a:r>
              <a:rPr b="1"/>
              <a:t>direct</a:t>
            </a:r>
            <a:r>
              <a:rPr/>
              <a:t> audience to other work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use Zotero?</a:t>
            </a:r>
          </a:p>
        </p:txBody>
      </p:sp>
      <p:pic>
        <p:nvPicPr>
          <p:cNvPr descr="Zotero logo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00600" y="2628900"/>
            <a:ext cx="25908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Zotero logo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use Zotero? (continued)</a:t>
            </a:r>
          </a:p>
        </p:txBody>
      </p:sp>
      <p:pic>
        <p:nvPicPr>
          <p:cNvPr descr="Meme of an elderly woman with a walker saying I used to do all my citations by hand, with a younger woman replying sure thing professor, let us get you that emeritus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16100" y="2628900"/>
            <a:ext cx="34544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Example of an APA-style References page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442200" y="2628900"/>
            <a:ext cx="24003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Downloading </a:t>
            </a:r>
            <a:r>
              <a:rPr>
                <a:hlinkClick r:id="rId2"/>
              </a:rPr>
              <a:t>Zotero</a:t>
            </a:r>
          </a:p>
        </p:txBody>
      </p:sp>
      <p:pic>
        <p:nvPicPr>
          <p:cNvPr descr="Zotero logo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800600" y="2628900"/>
            <a:ext cx="25908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Zotero logo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Downloading </a:t>
            </a:r>
            <a:r>
              <a:rPr>
                <a:hlinkClick r:id="rId2"/>
              </a:rPr>
              <a:t>Zotero</a:t>
            </a:r>
            <a:r>
              <a:rPr/>
              <a:t> (continued)</a:t>
            </a:r>
          </a:p>
        </p:txBody>
      </p:sp>
      <p:pic>
        <p:nvPicPr>
          <p:cNvPr descr="Screenshot of the Zotero download page showing Zotero 7 for Mac and the Zotero Connector browser extension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229100" y="2628900"/>
            <a:ext cx="37338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Screenshot of the Zotero download page showing Zotero 7 for Mac and the Zotero Connector browser extension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Zotero Basics</a:t>
            </a:r>
          </a:p>
        </p:txBody>
      </p:sp>
      <p:pic>
        <p:nvPicPr>
          <p:cNvPr descr="Zotero logo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00600" y="2628900"/>
            <a:ext cx="25908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Zotero logo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Zotero Basics (continued)</a:t>
            </a:r>
          </a:p>
        </p:txBody>
      </p:sp>
      <p:pic>
        <p:nvPicPr>
          <p:cNvPr descr="Screenshot of an empty Zotero library window showing My Library with no items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76700" y="2628900"/>
            <a:ext cx="40386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Screenshot of an empty Zotero library window showing My Library with no items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Zotero Basics (continued)</a:t>
            </a:r>
          </a:p>
        </p:txBody>
      </p:sp>
      <p:pic>
        <p:nvPicPr>
          <p:cNvPr descr="Annotated screenshot of the Zotero window divided into three panes: Collections folders on the left, Items in the center, and Metadata on the right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76700" y="2628900"/>
            <a:ext cx="40386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Annotated screenshot of the Zotero window divided into three panes: Collections folders on the left, Items in the center, and Metadata on the right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Zotero Basics (continued)</a:t>
            </a:r>
          </a:p>
        </p:txBody>
      </p:sp>
      <p:pic>
        <p:nvPicPr>
          <p:cNvPr descr="Annotated screenshot of the Zotero toolbar highlighting the Add New Collection, Add New Item, and Add Item by Identifier magic wand buttons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76700" y="2628900"/>
            <a:ext cx="40386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Annotated screenshot of the Zotero toolbar highlighting the Add New Collection, Add New Item, and Add Item by Identifier magic wand buttons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Zotero Basics (continued)</a:t>
            </a:r>
          </a:p>
        </p:txBody>
      </p:sp>
      <p:pic>
        <p:nvPicPr>
          <p:cNvPr descr="Screenshot of a Zotero metadata pane with the Item Type field highlighted as Journal Article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25900" y="2628900"/>
            <a:ext cx="41148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Screenshot of a Zotero metadata pane with the Item Type field highlighted as Journal Article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Zotero Basics (continued)</a:t>
            </a:r>
          </a:p>
        </p:txBody>
      </p:sp>
      <p:pic>
        <p:nvPicPr>
          <p:cNvPr descr="Screenshot of the Zotero item type dropdown menu listing source types with Journal Article highlighted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524500" y="2628900"/>
            <a:ext cx="11430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Screenshot of the Zotero item type dropdown menu listing source types with Journal Article highlighted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Zotero Basics (continued)</a:t>
            </a:r>
          </a:p>
        </p:txBody>
      </p:sp>
      <p:pic>
        <p:nvPicPr>
          <p:cNvPr descr="Screenshot of the Zotero item type dropdown menu listing source types with Journal Article highlighted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524500" y="2628900"/>
            <a:ext cx="11430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Screenshot of the Zotero item type dropdown menu listing source types with Journal Article highlighted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APA 7: Journal Articles</a:t>
            </a:r>
          </a:p>
        </p:txBody>
      </p:sp>
      <p:pic>
        <p:nvPicPr>
          <p:cNvPr descr="Example of an APA-style References page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92700" y="2628900"/>
            <a:ext cx="20066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The general format is: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APA 7: Journal Articles (continued)</a:t>
            </a:r>
          </a:p>
        </p:txBody>
      </p:sp>
      <p:sp>
        <p:nvSpPr>
          <p:cNvPr id="1026" name="prose" descr=""/>
          <p:cNvSpPr/>
          <p:nvPr/>
        </p:nvSpPr>
        <p:spPr>
          <a:xfrm>
            <a:off x="1097280" y="2633472"/>
            <a:ext cx="9994392" cy="36576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Author, A. A., Author, B. B., &amp; Author, C. C. (Year of publication). Title of article. Title of Journal, volume number (issue number), pages. https://doi-org.libproxy.unl.edu/10.1111/j.1740-1461.2011.01230.x</a:t>
            </a:r>
          </a:p>
        </p:txBody>
      </p:sp>
      <p:sp>
        <p:nvSpPr>
          <p:cNvPr id="1027" name="callout-tip" descr="tip callout: EXAMPLE. Rachlinski, J. J., Guthrie, C., &amp; Wistrich, A. J. (2011). Probable Cause, Probability, and Hindsight. Journal of Empirical Legal Studies, 72(51), 157–180. https://doi-org.libproxy.unl.edu/10.1111/j.1740-1461.2011.01230.x"/>
          <p:cNvSpPr/>
          <p:nvPr/>
        </p:nvSpPr>
        <p:spPr>
          <a:xfrm>
            <a:off x="1097280" y="3090672"/>
            <a:ext cx="9994392" cy="108204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009955"/>
            </a:solidFill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28" name="callout-title" descr=""/>
          <p:cNvSpPr/>
          <p:nvPr/>
        </p:nvSpPr>
        <p:spPr>
          <a:xfrm>
            <a:off x="1097280" y="3090672"/>
            <a:ext cx="9994392" cy="320040"/>
          </a:xfrm>
          <a:prstGeom prst="roundRect">
            <a:avLst>
              <a:gd name="adj" fmla="val 6000"/>
            </a:avLst>
          </a:prstGeom>
          <a:solidFill>
            <a:srgbClr val="009955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EFDFA"/>
                </a:solidFill>
              </a:rPr>
              <a:t>EXAMPLE</a:t>
            </a:r>
          </a:p>
        </p:txBody>
      </p:sp>
      <p:sp>
        <p:nvSpPr>
          <p:cNvPr id="1029" name="callout-body" descr=""/>
          <p:cNvSpPr/>
          <p:nvPr/>
        </p:nvSpPr>
        <p:spPr>
          <a:xfrm>
            <a:off x="1097280" y="3410712"/>
            <a:ext cx="9994392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Rachlinski, J. J., Guthrie, C., &amp; Wistrich, A. J. (2011). Probable Cause, Probability, and Hindsight. Journal of Empirical Legal Studies, 72(51), 157–180. https://doi-org.libproxy.unl.edu/10.1111/j.1740-1461.2011.01230.x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Search &amp; Use Key Terms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Assignments &amp; Reminders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Given this week:</a:t>
            </a:r>
          </a:p>
          <a:p>
            <a:pPr lvl="0"/>
            <a:r>
              <a:rPr/>
              <a:t>Finish and submit your Lab 01 to your lab section’s Canvas link before week 2</a:t>
            </a:r>
          </a:p>
          <a:p>
            <a:pPr lvl="0" indent="0" marL="0">
              <a:buNone/>
            </a:pPr>
            <a:r>
              <a:rPr/>
              <a:t>Submit to your lab section in Canvas by 11:59pm the day before your lab meets.</a:t>
            </a:r>
          </a:p>
        </p:txBody>
      </p:sp>
    </p:spTree>
  </p:cSld>
</p:sld>
</file>

<file path=ppt/theme/theme1.xml><?xml version="1.0" encoding="utf-8"?>
<a:theme xmlns:a="http://schemas.openxmlformats.org/drawingml/2006/main" name="Parcel">
  <a:themeElements>
    <a:clrScheme name="Custom 3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5E5E5E"/>
      </a:accent2>
      <a:accent3>
        <a:srgbClr val="005392"/>
      </a:accent3>
      <a:accent4>
        <a:srgbClr val="FEFB00"/>
      </a:accent4>
      <a:accent5>
        <a:srgbClr val="87795D"/>
      </a:accent5>
      <a:accent6>
        <a:srgbClr val="A0988C"/>
      </a:accent6>
      <a:hlink>
        <a:srgbClr val="005392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4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Parcel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References &amp; APA style</dc:title>
  <dc:creator/>
  <cp:keywords/>
  <dcterms:created xsi:type="dcterms:W3CDTF">2026-08-13T23:50:03Z</dcterms:created>
  <dcterms:modified xsi:type="dcterms:W3CDTF">2026-08-13T23:50:03Z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quarto-vars">
    <vt:lpwstr/>
  </property>
  <property fmtid="{D5CDD505-2E9C-101B-9397-08002B2CF9AE}" pid="3" name="back-to-top-navigation">
    <vt:lpwstr>True</vt:lpwstr>
  </property>
  <property fmtid="{D5CDD505-2E9C-101B-9397-08002B2CF9AE}" pid="4" name="biblio-config">
    <vt:lpwstr>True</vt:lpwstr>
  </property>
  <property fmtid="{D5CDD505-2E9C-101B-9397-08002B2CF9AE}" pid="5" name="engines">
    <vt:lpwstr/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ack-link">
    <vt:lpwstr>False</vt:lpwstr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nebraska-pptx">
    <vt:lpwstr/>
  </property>
  <property fmtid="{D5CDD505-2E9C-101B-9397-08002B2CF9AE}" pid="13" name="revealjs-plugins">
    <vt:lpwstr/>
  </property>
  <property fmtid="{D5CDD505-2E9C-101B-9397-08002B2CF9AE}" pid="14" name="subtitle">
    <vt:lpwstr>Lab 1</vt:lpwstr>
  </property>
  <property fmtid="{D5CDD505-2E9C-101B-9397-08002B2CF9AE}" pid="15" name="toc-title">
    <vt:lpwstr>Table of contents</vt:lpwstr>
  </property>
</Properties>
</file>