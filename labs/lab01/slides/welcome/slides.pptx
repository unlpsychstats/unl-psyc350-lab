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>
  <p:sldMasterIdLst>
    <p:sldMasterId id="2147483696" r:id="rId1"/>
  </p:sldMasterIdLst>
  <p:notesMasterIdLst>
    <p:notesMasterId r:id="rId6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</p:sldIdLst>
  <p:sldSz cx="12192000" cy="6858000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7524"/>
    <p:restoredTop sz="94694"/>
  </p:normalViewPr>
  <p:slideViewPr>
    <p:cSldViewPr snapToGrid="0">
      <p:cViewPr varScale="1">
        <p:scale>
          <a:sx d="100" n="119"/>
          <a:sy d="100" n="119"/>
        </p:scale>
        <p:origin x="232" y="23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notesMaster" Target="notesMasters/notesMaster1.xml" /><Relationship Id="rId1" Type="http://schemas.openxmlformats.org/officeDocument/2006/relationships/slideMaster" Target="slideMasters/slideMaster1.xml" /><Relationship Id="rId66" Type="http://schemas.openxmlformats.org/officeDocument/2006/relationships/presProps" Target="presProps.xml" /><Relationship Id="rId67" Type="http://schemas.openxmlformats.org/officeDocument/2006/relationships/viewProps" Target="viewProps.xml" /><Relationship Id="rId68" Type="http://schemas.openxmlformats.org/officeDocument/2006/relationships/theme" Target="theme/theme1.xml" /><Relationship Id="rId69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3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4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Possible Question- “Why is this course required???”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 fundamental difference between “Psych majors” and “Psych professionals” is the ability to GENERATE and EVALUATE new knowledge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To do your job, you’ll have to know to find and evaluate knowledge that others have generated! You will sometimes have to generate new knowledge so you can do your job!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importance of empirical research is that it- - Informs every decision and action by professionals - Every decision and action made by psychological professionals is dependent upon research – maybe their own, probably someone else’s. - In order to be ethical (also legal and bill-able), each diagnosis, treatment choice, evaluation, and decision to stop treatment must be defended in terms of replicated, peer-reviewed, published research. - Not just clinical/treatment decisions but those made within areas of human resources, criminal justice, business, education, engineering, etc. – all depend on, and use, knowledge acquired by psychological researchers.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While not everyone needs to be a producer of empirical research, every psychological professional needs to be a competent consumer of research. Being a competent consumer of research means being able to … - locate research that is relevant to your work - critique (evaluate) the quality of the research (theory, methodology, &amp; stats) - integrate the useful information (that passes your evaluation) from the research into your own work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What might be some problems with this headline? Not peer reviewed. What about the pandemic might have changed the experiences and testing environment for babies?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people (not just those in academia) find that they do need to produce research to do their jobs …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Why?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Funding sources, clients, &amp; bosses need evidence that what you are doing “works” and is “worth the expense”.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It is not enough that you “do it better” than the others. You need evidence that what you’re doing works, and that it works better than your competitors.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evidence comes from research conducted, analyzed, and reported by you using your own patients/clients.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point is…Research is going to be a more important part of your ongoing professional activities (and your successes) than you may realize.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Professionals who better understand the research process and know how to evaluate, integrate, and apply the results from empirical research have greater employment potential do their jobs better!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So, we’re here to pursue those activities together during your undergraduate “career” to increase your ability to compete for graduate school or a job.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What do schools &amp; employers look for ??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Excellent performance in research methods/stats courses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Excellent performance in 400-level courses, especially writing and critical thinking skills (which can be improved using the knowledge and skills you’ll have an opportunity to learn in here)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Research experience (which will be easier to find if you do well in here and have the resultant skills)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49</a:t>
            </a:fld>
            <a:endParaRPr lang="en-US"/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97280" y="4352544"/>
            <a:ext cx="9997440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2638044"/>
            <a:ext cx="9997440" cy="31019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352465"/>
            <a:ext cx="9997440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2638044"/>
            <a:ext cx="4907280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40" y="2638044"/>
            <a:ext cx="4907280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042B0DB6-F5C7-45FB-8CF3-31B45F9C2DAC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Relationship Id="rId9" Target="../slideLayouts/slideLayout9.xml" Type="http://schemas.openxmlformats.org/officeDocument/2006/relationships/slideLayout" /><Relationship Id="rId10" Target="../slideLayouts/slideLayout10.xml" Type="http://schemas.openxmlformats.org/officeDocument/2006/relationships/slideLayout" /><Relationship Id="rId11" Target="../slideLayouts/slideLayout11.xml" Type="http://schemas.openxmlformats.org/officeDocument/2006/relationships/slideLayout" /><Relationship Id="rId12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cap="sq" w="31750">
            <a:solidFill>
              <a:srgbClr val="404040"/>
            </a:solidFill>
            <a:miter lim="800000"/>
          </a:ln>
        </p:spPr>
        <p:txBody>
          <a:bodyPr anchor="ctr" bIns="182880" lIns="182880" rIns="182880" rtlCol="0" tIns="18288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1160EA64-D806-43AC-9DF2-F8C432F32B4C}" type="datetimeFigureOut">
              <a:rPr dirty="0" lang="en-US"/>
              <a:t>1/22/26</a:t>
            </a:fld>
            <a:endParaRPr dirty="0"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dirty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anchor="ctr" bIns="45720" lIns="18288" rIns="18288" rtlCol="0" tIns="45720" vert="horz">
            <a:noAutofit/>
          </a:bodyPr>
          <a:lstStyle>
            <a:lvl1pPr algn="ctr">
              <a:defRPr baseline="0" spc="0" sz="110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dirty="0" lang="en-US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dt="0" ftr="0" hdr="0" sldNum="0"/>
  <p:txStyles>
    <p:titleStyle>
      <a:lvl1pPr algn="ctr" defTabSz="914400" eaLnBrk="1" hangingPunct="1" latinLnBrk="0" rtl="0">
        <a:lnSpc>
          <a:spcPct val="90000"/>
        </a:lnSpc>
        <a:spcBef>
          <a:spcPct val="0"/>
        </a:spcBef>
        <a:buNone/>
        <a:defRPr baseline="0" cap="all" kern="1200" spc="200" sz="280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18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4572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16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6858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16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9144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16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11430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16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1312863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1484313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165735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baseline="0" kern="1200" sz="16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1882775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baseline="0" kern="1200" sz="16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emma.marshall@husker.unl.edu" TargetMode="External" /><Relationship Id="rId6" Type="http://schemas.openxmlformats.org/officeDocument/2006/relationships/image" Target="../media/image4.png" /><Relationship Id="rId5" Type="http://schemas.openxmlformats.org/officeDocument/2006/relationships/image" Target="../media/image3.png" /><Relationship Id="rId4" Type="http://schemas.openxmlformats.org/officeDocument/2006/relationships/image" Target="../media/image2.jpg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zotero.org/" TargetMode="External" /><Relationship Id="rId3" Type="http://schemas.openxmlformats.org/officeDocument/2006/relationships/hyperlink" Target="https://itprocurement.unl.edu/ibm-spss-product-information" TargetMode="External" /><Relationship Id="rId4" Type="http://schemas.openxmlformats.org/officeDocument/2006/relationships/hyperlink" Target="https://www.jamovi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tprocurement.unl.edu/ibm-spss-product-information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amovi.org/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0.jpg" /><Relationship Id="rId2" Type="http://schemas.openxmlformats.org/officeDocument/2006/relationships/image" Target="../media/image9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sv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sv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sv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sv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0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2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3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jp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5.jp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image" Target="../media/image27.png" /><Relationship Id="rId2" Type="http://schemas.openxmlformats.org/officeDocument/2006/relationships/image" Target="../media/image26.jpg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8.pn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9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0.png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1.png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Welcome to PSYC 350 Laboratory!!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097280" y="4352544"/>
            <a:ext cx="9997440" cy="1239894"/>
          </a:xfrm>
          <a:noFill/>
        </p:spPr>
        <p:txBody>
          <a:bodyPr/>
          <a:lstStyle/>
          <a:p>
            <a:pPr lvl="0" indent="0" marL="0">
              <a:buNone/>
            </a:pPr>
            <a:r>
              <a:rPr/>
              <a:t>Course Welcome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Tasks</a:t>
            </a:r>
          </a:p>
        </p:txBody>
      </p:sp>
      <p:sp>
        <p:nvSpPr>
          <p:cNvPr id="1001" name="box-post-it" descr="box: . Brief Introduction to:Who I amWhat you will learnWhy this class mattersHow things will work"/>
          <p:cNvSpPr/>
          <p:nvPr/>
        </p:nvSpPr>
        <p:spPr>
          <a:xfrm>
            <a:off x="1097280" y="2633472"/>
            <a:ext cx="9994392" cy="365760"/>
          </a:xfrm>
          <a:prstGeom prst="roundRect">
            <a:avLst>
              <a:gd name="adj" fmla="val 6000"/>
            </a:avLst>
          </a:prstGeom>
          <a:solidFill>
            <a:srgbClr val="FFF9C4"/>
          </a:solidFill>
          <a:ln w="19050">
            <a:solidFill>
              <a:srgbClr val="CCCCCC"/>
            </a:solidFill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Brief Introduction to:Who I amWhat you will learnWhy this class mattersHow things will work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Instructor</a:t>
            </a:r>
          </a:p>
        </p:txBody>
      </p:sp>
      <p:pic>
        <p:nvPicPr>
          <p:cNvPr descr="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3136900"/>
            <a:ext cx="25908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Emma Marshall, JD, MA  📧 </a:t>
            </a:r>
            <a:r>
              <a:rPr>
                <a:hlinkClick r:id="rId3"/>
              </a:rPr>
              <a:t>Email</a:t>
            </a:r>
            <a:r>
              <a:rPr/>
              <a:t>  ⏰ Office Hours: T 12:30-1:30PM | BURN 230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idx="13" sz="quarter" type="body"/>
          </p:nvPr>
        </p:nvSpPr>
        <p:spPr/>
        <p:txBody>
          <a:bodyPr/>
          <a:lstStyle/>
          <a:p>
            <a:pPr lvl="0"/>
            <a:r>
              <a:rPr/>
              <a:t>Law-Psychology (Joint JD/PhD) Program</a:t>
            </a:r>
          </a:p>
          <a:p>
            <a:pPr lvl="1"/>
            <a:r>
              <a:rPr/>
              <a:t>Studies legal decision-making</a:t>
            </a:r>
          </a:p>
          <a:p>
            <a:pPr lvl="1"/>
            <a:r>
              <a:rPr/>
              <a:t>Brank Law &amp; Policy Lab</a:t>
            </a:r>
          </a:p>
        </p:txBody>
      </p:sp>
      <p:pic>
        <p:nvPicPr>
          <p:cNvPr descr="Illustration representing legal searches and police procedure research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6654800" y="3136900"/>
            <a:ext cx="35941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llustration representing warrant procedures in legal decision-making research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7137400" y="3136900"/>
            <a:ext cx="26416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llustration representing judicial decision-making research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7073900" y="31369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 Truths and a Lie 👀</a:t>
            </a:r>
          </a:p>
        </p:txBody>
      </p:sp>
      <p:sp>
        <p:nvSpPr>
          <p:cNvPr id="1002" name="box-post-it" descr="box: . Everyone shares three statements about themselvesTwo statements are true, one is a lieThe group guesses which one is falseAlso tell us:Your NameYear in School"/>
          <p:cNvSpPr/>
          <p:nvPr/>
        </p:nvSpPr>
        <p:spPr>
          <a:xfrm>
            <a:off x="1097280" y="2633472"/>
            <a:ext cx="9994392" cy="548640"/>
          </a:xfrm>
          <a:prstGeom prst="roundRect">
            <a:avLst>
              <a:gd name="adj" fmla="val 6000"/>
            </a:avLst>
          </a:prstGeom>
          <a:solidFill>
            <a:srgbClr val="FFF9C4"/>
          </a:solidFill>
          <a:ln w="19050">
            <a:solidFill>
              <a:srgbClr val="CCCCCC"/>
            </a:solidFill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Everyone shares three statements about themselvesTwo statements are true, one is a lieThe group guesses which one is falseAlso tell us:Your NameYear in School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What you will learn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Learning Objectives 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to…</a:t>
            </a:r>
          </a:p>
          <a:p>
            <a:pPr lvl="1"/>
            <a:r>
              <a:rPr/>
              <a:t>🔍 </a:t>
            </a:r>
            <a:r>
              <a:rPr b="1"/>
              <a:t>Locate, summarize, critique, &amp; integrate</a:t>
            </a:r>
            <a:r>
              <a:rPr/>
              <a:t> primary research and research reviews</a:t>
            </a:r>
          </a:p>
          <a:p>
            <a:pPr lvl="1"/>
            <a:r>
              <a:rPr/>
              <a:t>💭 </a:t>
            </a:r>
            <a:r>
              <a:rPr b="1"/>
              <a:t>Propose</a:t>
            </a:r>
            <a:r>
              <a:rPr/>
              <a:t> original research hypotheses based on your consideration of previous research</a:t>
            </a:r>
          </a:p>
          <a:p>
            <a:pPr lvl="1"/>
            <a:r>
              <a:rPr/>
              <a:t>📋 </a:t>
            </a:r>
            <a:r>
              <a:rPr b="1"/>
              <a:t>Plan</a:t>
            </a:r>
            <a:r>
              <a:rPr/>
              <a:t> the procedures &amp; materials for data collection &amp; analysis relevant to research hypotheses</a:t>
            </a:r>
          </a:p>
          <a:p>
            <a:pPr lvl="1"/>
            <a:r>
              <a:rPr/>
              <a:t>💬 </a:t>
            </a:r>
            <a:r>
              <a:rPr b="1"/>
              <a:t>Report</a:t>
            </a:r>
            <a:r>
              <a:rPr/>
              <a:t> all of the above using a standard (i.e., APA) format and style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Lab Materials 📚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Canvas:</a:t>
            </a:r>
            <a:r>
              <a:rPr/>
              <a:t> Lab section page for links to materials, lectures &amp; assignments</a:t>
            </a:r>
          </a:p>
          <a:p>
            <a:pPr lvl="0"/>
            <a:r>
              <a:rPr>
                <a:hlinkClick r:id="rId2"/>
              </a:rPr>
              <a:t>Zotero</a:t>
            </a:r>
            <a:r>
              <a:rPr/>
              <a:t>: APA-citation manager</a:t>
            </a:r>
          </a:p>
          <a:p>
            <a:pPr lvl="0"/>
            <a:r>
              <a:rPr>
                <a:hlinkClick r:id="rId3"/>
              </a:rPr>
              <a:t>SPSS</a:t>
            </a:r>
            <a:r>
              <a:rPr/>
              <a:t> or </a:t>
            </a:r>
            <a:r>
              <a:rPr>
                <a:hlinkClick r:id="rId4"/>
              </a:rPr>
              <a:t>Jamovi</a:t>
            </a:r>
            <a:r>
              <a:rPr/>
              <a:t>: Data analysis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Lab Materials 📚 (continued)</a:t>
            </a:r>
          </a:p>
        </p:txBody>
      </p:sp>
      <p:pic>
        <p:nvPicPr>
          <p:cNvPr descr="SPSS statistics software logo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75200" y="2628900"/>
            <a:ext cx="26416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092200" y="5219700"/>
            <a:ext cx="9994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SPSS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Lab Materials 📚 (continued)</a:t>
            </a:r>
          </a:p>
        </p:txBody>
      </p:sp>
      <p:pic>
        <p:nvPicPr>
          <p:cNvPr descr="Zotero citation manager logo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2628900"/>
            <a:ext cx="25908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092200" y="5219700"/>
            <a:ext cx="9994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Zotero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Lab Materials 📚 (continued)</a:t>
            </a:r>
          </a:p>
        </p:txBody>
      </p:sp>
      <p:pic>
        <p:nvPicPr>
          <p:cNvPr descr="Jamovi statistics software logo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2628900"/>
            <a:ext cx="25908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092200" y="5219700"/>
            <a:ext cx="9994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Jamovi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SPSS vs. Jamovi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SPSS</a:t>
            </a:r>
          </a:p>
          <a:p>
            <a:pPr lvl="0" indent="0" marL="0">
              <a:buNone/>
            </a:pPr>
            <a:r>
              <a:rPr/>
              <a:t>SPSS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Download</a:t>
            </a:r>
          </a:p>
          <a:p>
            <a:pPr lvl="0"/>
            <a:r>
              <a:rPr/>
              <a:t>Available in Lab</a:t>
            </a:r>
          </a:p>
          <a:p>
            <a:pPr lvl="1"/>
            <a:r>
              <a:rPr/>
              <a:t>Costs $$</a:t>
            </a:r>
          </a:p>
          <a:p>
            <a:pPr lvl="1"/>
            <a:r>
              <a:rPr/>
              <a:t>Widely used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SPSS vs. Jamovi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Jamovi</a:t>
            </a:r>
          </a:p>
          <a:p>
            <a:pPr lvl="0" indent="0" marL="0">
              <a:buNone/>
            </a:pPr>
            <a:r>
              <a:rPr/>
              <a:t>Jamovi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Download</a:t>
            </a:r>
          </a:p>
          <a:p>
            <a:pPr lvl="0"/>
            <a:r>
              <a:rPr/>
              <a:t>Personal only</a:t>
            </a:r>
          </a:p>
          <a:p>
            <a:pPr lvl="1"/>
            <a:r>
              <a:rPr/>
              <a:t>FREE</a:t>
            </a:r>
          </a:p>
          <a:p>
            <a:pPr lvl="1"/>
            <a:r>
              <a:rPr/>
              <a:t>Built on R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Lab Grade (40% total)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Lab assignments (20%)</a:t>
            </a:r>
          </a:p>
          <a:p>
            <a:pPr lvl="1"/>
            <a:r>
              <a:rPr/>
              <a:t>In-Class</a:t>
            </a:r>
          </a:p>
          <a:p>
            <a:pPr lvl="1"/>
            <a:r>
              <a:rPr/>
              <a:t>Take-Home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Research project (20%)</a:t>
            </a:r>
          </a:p>
          <a:p>
            <a:pPr lvl="1"/>
            <a:r>
              <a:rPr/>
              <a:t>Literature Review</a:t>
            </a:r>
          </a:p>
          <a:p>
            <a:pPr lvl="1"/>
            <a:r>
              <a:rPr/>
              <a:t>APA-Style Report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Why is this </a:t>
            </a:r>
            <a:r>
              <a:rPr b="1"/>
              <a:t>lab</a:t>
            </a:r>
            <a:r>
              <a:rPr/>
              <a:t> required?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Psych majors  vs. Psych professionals</a:t>
            </a:r>
          </a:p>
        </p:txBody>
      </p:sp>
      <p:pic>
        <p:nvPicPr>
          <p:cNvPr descr="Meme about p-values and statistics anxiety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62500" y="2628900"/>
            <a:ext cx="26416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092200" y="5219700"/>
            <a:ext cx="9994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/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Psych majors  vs. Psych professionals (continued)</a:t>
            </a:r>
          </a:p>
        </p:txBody>
      </p:sp>
      <p:sp>
        <p:nvSpPr>
          <p:cNvPr id="1003" name="box-post-it" descr="box: . The key distinction is ability to:EVALUATE and CREATE new knowledge"/>
          <p:cNvSpPr/>
          <p:nvPr/>
        </p:nvSpPr>
        <p:spPr>
          <a:xfrm>
            <a:off x="1097280" y="2633472"/>
            <a:ext cx="9994392" cy="365760"/>
          </a:xfrm>
          <a:prstGeom prst="roundRect">
            <a:avLst>
              <a:gd name="adj" fmla="val 6000"/>
            </a:avLst>
          </a:prstGeom>
          <a:solidFill>
            <a:srgbClr val="FFF9C4"/>
          </a:solidFill>
          <a:ln w="19050">
            <a:solidFill>
              <a:srgbClr val="CCCCCC"/>
            </a:solidFill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The key distinction is ability to:EVALUATE and CREATE new knowledge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Psych majors  vs. Psych professionals (continued)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💭 Evaluate Knowledge</a:t>
            </a:r>
          </a:p>
        </p:txBody>
      </p:sp>
      <p:pic>
        <p:nvPicPr>
          <p:cNvPr descr="Illustration representing the evaluation of existing knowledg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3136900"/>
            <a:ext cx="26035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Text Placeholder 4"/>
          <p:cNvSpPr>
            <a:spLocks noGrp="1"/>
          </p:cNvSpPr>
          <p:nvPr>
            <p:ph idx="1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📋 Create Knowledge</a:t>
            </a:r>
          </a:p>
        </p:txBody>
      </p:sp>
      <p:pic>
        <p:nvPicPr>
          <p:cNvPr descr="Scales of justice illustration representing the creation of new knowledg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7137400" y="3136900"/>
            <a:ext cx="2654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Psych majors  vs. Psych professionals (continued)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Empirical Research</a:t>
            </a:r>
          </a:p>
        </p:txBody>
      </p:sp>
      <p:pic>
        <p:nvPicPr>
          <p:cNvPr descr="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2628900"/>
            <a:ext cx="98552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092200" y="5219700"/>
            <a:ext cx="9994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/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Empirical Research (continued)</a:t>
            </a:r>
          </a:p>
        </p:txBody>
      </p:sp>
      <p:sp>
        <p:nvSpPr>
          <p:cNvPr id="1004" name="box-post-it" descr="box: . Informs various real world decisions &amp; processes📢 Peer-review &amp; replication provide credibility💼 Not limited to academic psychology"/>
          <p:cNvSpPr/>
          <p:nvPr/>
        </p:nvSpPr>
        <p:spPr>
          <a:xfrm>
            <a:off x="1097280" y="2633472"/>
            <a:ext cx="9994392" cy="548640"/>
          </a:xfrm>
          <a:prstGeom prst="roundRect">
            <a:avLst>
              <a:gd name="adj" fmla="val 6000"/>
            </a:avLst>
          </a:prstGeom>
          <a:solidFill>
            <a:srgbClr val="FFF9C4"/>
          </a:solidFill>
          <a:ln w="19050">
            <a:solidFill>
              <a:srgbClr val="CCCCCC"/>
            </a:solidFill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Informs various real world decisions &amp; processes📢 Peer-review &amp; replication provide credibility💼 Not limited to academic psychology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Empirical Research (continued)</a:t>
            </a:r>
          </a:p>
        </p:txBody>
      </p:sp>
      <p:pic>
        <p:nvPicPr>
          <p:cNvPr descr="Icon of a magnifying glass over a newspaper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59200" y="2628900"/>
            <a:ext cx="46482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 Who does what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Empirical Research (continued)</a:t>
            </a:r>
          </a:p>
        </p:txBody>
      </p:sp>
      <p:pic>
        <p:nvPicPr>
          <p:cNvPr descr="Icon of a book representing knowledg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59200" y="2628900"/>
            <a:ext cx="46482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 What is known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Empirical Research (continued)</a:t>
            </a:r>
          </a:p>
        </p:txBody>
      </p:sp>
      <p:pic>
        <p:nvPicPr>
          <p:cNvPr descr="Icon of a direction road sign representing decision-maki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59200" y="2628900"/>
            <a:ext cx="46482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 How to decide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Empirical Research (continued)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Evaluating Knowledge 💭</a:t>
            </a:r>
          </a:p>
        </p:txBody>
      </p:sp>
      <p:pic>
        <p:nvPicPr>
          <p:cNvPr descr="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2628900"/>
            <a:ext cx="98552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092200" y="5219700"/>
            <a:ext cx="9994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/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Evaluating Knowledge 💭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Everyone needs to know how to understand &amp; consume empirical research…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Evaluating Knowledge 💭 (continued)</a:t>
            </a:r>
          </a:p>
        </p:txBody>
      </p:sp>
      <p:pic>
        <p:nvPicPr>
          <p:cNvPr descr="Screenshot of a popular-press article reporting research findings about babies during the pandemic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04900" y="2628900"/>
            <a:ext cx="48768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Competent</a:t>
            </a:r>
            <a:r>
              <a:rPr/>
              <a:t> consumers can:</a:t>
            </a:r>
          </a:p>
          <a:p>
            <a:pPr lvl="1"/>
            <a:r>
              <a:rPr/>
              <a:t>🔍 </a:t>
            </a:r>
            <a:r>
              <a:rPr b="1"/>
              <a:t>Find</a:t>
            </a:r>
            <a:r>
              <a:rPr/>
              <a:t> relevant research</a:t>
            </a:r>
          </a:p>
          <a:p>
            <a:pPr lvl="1"/>
            <a:r>
              <a:rPr/>
              <a:t>📋 </a:t>
            </a:r>
            <a:r>
              <a:rPr b="1"/>
              <a:t>Evaluate (&amp; critique)</a:t>
            </a:r>
            <a:r>
              <a:rPr/>
              <a:t> research quality (theory, methods, stats)</a:t>
            </a:r>
          </a:p>
          <a:p>
            <a:pPr lvl="1"/>
            <a:r>
              <a:rPr/>
              <a:t>🎯 </a:t>
            </a:r>
            <a:r>
              <a:rPr b="1"/>
              <a:t>Apply (&amp; integrate)</a:t>
            </a:r>
            <a:r>
              <a:rPr/>
              <a:t> valuable research information to own work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Evaluating Knowledge 💭 (continued)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Knowledge 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Many jobs require research skills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Knowledge 📋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Funding sources, clients &amp; employers look for:</a:t>
            </a:r>
          </a:p>
          <a:p>
            <a:pPr lvl="1"/>
            <a:r>
              <a:rPr/>
              <a:t>📊 Evidence-based decision-making</a:t>
            </a:r>
          </a:p>
          <a:p>
            <a:pPr lvl="1"/>
            <a:r>
              <a:rPr/>
              <a:t>⏳ Efficiency and cost related concerns</a:t>
            </a:r>
          </a:p>
          <a:p>
            <a:pPr lvl="1"/>
            <a:r>
              <a:rPr/>
              <a:t>🚥 Competitive advantage</a:t>
            </a:r>
          </a:p>
        </p:txBody>
      </p:sp>
      <p:pic>
        <p:nvPicPr>
          <p:cNvPr descr="Illustration of a researcher representing professional research skills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086600" y="2628900"/>
            <a:ext cx="30988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Knowledge 📋 (continued)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Knowledge 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Many jobs require research skills</a:t>
            </a:r>
          </a:p>
          <a:p>
            <a:pPr lvl="0"/>
            <a:r>
              <a:rPr/>
              <a:t>People who understand the research process and can </a:t>
            </a:r>
            <a:r>
              <a:rPr b="1"/>
              <a:t>evaluate</a:t>
            </a:r>
            <a:r>
              <a:rPr/>
              <a:t>, </a:t>
            </a:r>
            <a:r>
              <a:rPr b="1"/>
              <a:t>integrate</a:t>
            </a:r>
            <a:r>
              <a:rPr/>
              <a:t>, and </a:t>
            </a:r>
            <a:r>
              <a:rPr b="1"/>
              <a:t>apply</a:t>
            </a:r>
            <a:r>
              <a:rPr/>
              <a:t> empirical research have:</a:t>
            </a:r>
          </a:p>
          <a:p>
            <a:pPr lvl="1"/>
            <a:r>
              <a:rPr/>
              <a:t>💸 Better job prospects</a:t>
            </a:r>
          </a:p>
          <a:p>
            <a:pPr lvl="1"/>
            <a:r>
              <a:rPr/>
              <a:t>🏆 Improved job performance</a:t>
            </a:r>
          </a:p>
          <a:p>
            <a:pPr lvl="1"/>
            <a:r>
              <a:rPr/>
              <a:t>🔖 More flexibility!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vs. Lab</a:t>
            </a:r>
          </a:p>
        </p:txBody>
      </p:sp>
      <p:pic>
        <p:nvPicPr>
          <p:cNvPr descr="Icon of an instruction manual representing lecture content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40200" y="2628900"/>
            <a:ext cx="38862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092200" y="5219700"/>
            <a:ext cx="9994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Icon of an instruction manual representing lecture content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vs. Lab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Purpose of </a:t>
            </a:r>
            <a:r>
              <a:rPr b="1"/>
              <a:t>LECTURE</a:t>
            </a:r>
            <a:r>
              <a:rPr/>
              <a:t> is to </a:t>
            </a:r>
            <a:r>
              <a:rPr b="1"/>
              <a:t>LEARN</a:t>
            </a:r>
            <a:r>
              <a:rPr/>
              <a:t>…</a:t>
            </a:r>
          </a:p>
          <a:p>
            <a:pPr lvl="1"/>
            <a:r>
              <a:rPr/>
              <a:t>Vocabulary</a:t>
            </a:r>
          </a:p>
          <a:p>
            <a:pPr lvl="1"/>
            <a:r>
              <a:rPr/>
              <a:t>Underlying concepts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vs. Lab (continued)</a:t>
            </a:r>
          </a:p>
        </p:txBody>
      </p:sp>
      <p:pic>
        <p:nvPicPr>
          <p:cNvPr descr="Icon of a clipboard with a question mark representing lab practic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40200" y="2628900"/>
            <a:ext cx="38862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092200" y="5219700"/>
            <a:ext cx="9994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Icon of a clipboard with a question mark representing lab practice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vs. Lab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Purpose of </a:t>
            </a:r>
            <a:r>
              <a:rPr b="1"/>
              <a:t>LAB</a:t>
            </a:r>
            <a:r>
              <a:rPr/>
              <a:t> is to </a:t>
            </a:r>
            <a:r>
              <a:rPr b="1"/>
              <a:t>PRACTICE</a:t>
            </a:r>
            <a:r>
              <a:rPr/>
              <a:t>…</a:t>
            </a:r>
          </a:p>
          <a:p>
            <a:pPr lvl="1"/>
            <a:r>
              <a:rPr/>
              <a:t>Application</a:t>
            </a:r>
          </a:p>
          <a:p>
            <a:pPr lvl="1"/>
            <a:r>
              <a:rPr/>
              <a:t>Research skills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How to approach this lab?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Diagram showing how behavior is quantified into measurable variables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2628900"/>
            <a:ext cx="25908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092200" y="5219700"/>
            <a:ext cx="9994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showing how behavior is quantified into measurable variables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 (continued)</a:t>
            </a:r>
          </a:p>
        </p:txBody>
      </p:sp>
      <p:pic>
        <p:nvPicPr>
          <p:cNvPr descr="Illustrated recipe diagram showing soup preparation steps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2628900"/>
            <a:ext cx="25908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092200" y="5219700"/>
            <a:ext cx="9994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Illustrated recipe diagram showing soup preparation steps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 (continued)</a:t>
            </a:r>
          </a:p>
        </p:txBody>
      </p:sp>
      <p:pic>
        <p:nvPicPr>
          <p:cNvPr descr="Illustrated recipe diagram showing soup cooking sequenc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2628900"/>
            <a:ext cx="25908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092200" y="5219700"/>
            <a:ext cx="9994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Illustrated recipe diagram showing soup cooking sequence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 (continued)</a:t>
            </a:r>
          </a:p>
        </p:txBody>
      </p:sp>
      <p:pic>
        <p:nvPicPr>
          <p:cNvPr descr="Diagram of statistical tools used to analyze quantified behavior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2628900"/>
            <a:ext cx="25908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092200" y="5219700"/>
            <a:ext cx="9994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statistical tools used to analyze quantified behavior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 (continued)</a:t>
            </a:r>
          </a:p>
        </p:txBody>
      </p:sp>
      <p:pic>
        <p:nvPicPr>
          <p:cNvPr descr="Illustrated recipe diagram showing the finished soup dish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2628900"/>
            <a:ext cx="25908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092200" y="5219700"/>
            <a:ext cx="9994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Illustrated recipe diagram showing the finished soup dish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So, what does this mean?</a:t>
            </a:r>
          </a:p>
        </p:txBody>
      </p:sp>
      <p:sp>
        <p:nvSpPr>
          <p:cNvPr id="1005" name="box-post-it" descr="box: . Research skills are not only foundational but also iterative…"/>
          <p:cNvSpPr/>
          <p:nvPr/>
        </p:nvSpPr>
        <p:spPr>
          <a:xfrm>
            <a:off x="1097280" y="2633472"/>
            <a:ext cx="9994392" cy="365760"/>
          </a:xfrm>
          <a:prstGeom prst="roundRect">
            <a:avLst>
              <a:gd name="adj" fmla="val 6000"/>
            </a:avLst>
          </a:prstGeom>
          <a:solidFill>
            <a:srgbClr val="FFF9C4"/>
          </a:solidFill>
          <a:ln w="19050">
            <a:solidFill>
              <a:srgbClr val="CCCCCC"/>
            </a:solidFill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Research skills are not only foundational but also iterative…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So, what does this mean? (continued)</a:t>
            </a:r>
          </a:p>
        </p:txBody>
      </p:sp>
      <p:pic>
        <p:nvPicPr>
          <p:cNvPr descr="Meme about p-values and statistics anxiety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68500" y="2628900"/>
            <a:ext cx="31623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You cannot bull💩 success in this class…</a:t>
            </a:r>
          </a:p>
          <a:p>
            <a:pPr lvl="1"/>
            <a:r>
              <a:rPr/>
              <a:t>📣 Build a solid foundation</a:t>
            </a:r>
          </a:p>
          <a:p>
            <a:pPr lvl="1"/>
            <a:r>
              <a:rPr/>
              <a:t>💭 Develop strategies that work for </a:t>
            </a:r>
            <a:r>
              <a:rPr b="1"/>
              <a:t>YOU</a:t>
            </a:r>
          </a:p>
          <a:p>
            <a:pPr lvl="1"/>
            <a:r>
              <a:rPr/>
              <a:t>⏰ Take the time to learn how to read a recipe </a:t>
            </a:r>
            <a:r>
              <a:rPr b="1"/>
              <a:t>AND</a:t>
            </a:r>
            <a:r>
              <a:rPr/>
              <a:t> cook it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So, what does this mean? (continued)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TL;DR</a:t>
            </a:r>
          </a:p>
        </p:txBody>
      </p:sp>
      <p:pic>
        <p:nvPicPr>
          <p:cNvPr descr="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2628900"/>
            <a:ext cx="25908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092200" y="5219700"/>
            <a:ext cx="9994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/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TL;DR (continued)</a:t>
            </a:r>
          </a:p>
        </p:txBody>
      </p:sp>
      <p:sp>
        <p:nvSpPr>
          <p:cNvPr id="1006" name="callout-important" descr="important callout: Important. Take this course seriously……if you want a good grade.…if you want to go to graduate school.…if you want a job in any industry.…if you want to understand … the world!"/>
          <p:cNvSpPr/>
          <p:nvPr/>
        </p:nvSpPr>
        <p:spPr>
          <a:xfrm>
            <a:off x="1097280" y="2633472"/>
            <a:ext cx="9994392" cy="10820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0000"/>
            </a:solidFill>
          </a:ln>
        </p:spPr>
        <p:txBody>
          <a:bodyPr lIns="91440" tIns="68580" rIns="91440" bIns="68580" anchor="t" wrap="square">
            <a:normAutofit/>
          </a:bodyPr>
          <a:lstStyle/>
          <a:p/>
        </p:txBody>
      </p:sp>
      <p:sp>
        <p:nvSpPr>
          <p:cNvPr id="1007" name="callout-title" descr=""/>
          <p:cNvSpPr/>
          <p:nvPr/>
        </p:nvSpPr>
        <p:spPr>
          <a:xfrm>
            <a:off x="1097280" y="2633472"/>
            <a:ext cx="9994392" cy="320040"/>
          </a:xfrm>
          <a:prstGeom prst="roundRect">
            <a:avLst>
              <a:gd name="adj" fmla="val 6000"/>
            </a:avLst>
          </a:prstGeom>
          <a:solidFill>
            <a:srgbClr val="CC0000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400" b="1" dirty="0">
                <a:solidFill>
                  <a:srgbClr val="FEFDFA"/>
                </a:solidFill>
              </a:rPr>
              <a:t>Important</a:t>
            </a:r>
          </a:p>
        </p:txBody>
      </p:sp>
      <p:sp>
        <p:nvSpPr>
          <p:cNvPr id="1008" name="callout-body" descr=""/>
          <p:cNvSpPr/>
          <p:nvPr/>
        </p:nvSpPr>
        <p:spPr>
          <a:xfrm>
            <a:off x="1097280" y="2953512"/>
            <a:ext cx="9994392" cy="76200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Take this course seriously……if you want a good grade.…if you want to go to graduate school.…if you want a job in any industry.…if you want to understand … the world!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Keep in Mind 👀</a:t>
            </a:r>
          </a:p>
        </p:txBody>
      </p:sp>
      <p:pic>
        <p:nvPicPr>
          <p:cNvPr descr="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2628900"/>
            <a:ext cx="25908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092200" y="5219700"/>
            <a:ext cx="9994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/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Keep in Mind 👀 (continued)</a:t>
            </a:r>
          </a:p>
        </p:txBody>
      </p:sp>
      <p:sp>
        <p:nvSpPr>
          <p:cNvPr id="1009" name="callout-warning" descr="warning callout: Warning. You need a “C” (not a “C-”) for this course to count toward the Psychology MajorYou must complete all exams to receive a passing grade in this courseYou must complete all the take-home laboratory assignments to receive a passing grade in this classYou must attend lab classes to receive a passing grade in this class"/>
          <p:cNvSpPr/>
          <p:nvPr/>
        </p:nvSpPr>
        <p:spPr>
          <a:xfrm>
            <a:off x="1097280" y="2633472"/>
            <a:ext cx="9994392" cy="126492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6600"/>
            </a:solidFill>
          </a:ln>
        </p:spPr>
        <p:txBody>
          <a:bodyPr lIns="91440" tIns="68580" rIns="91440" bIns="68580" anchor="t" wrap="square">
            <a:normAutofit/>
          </a:bodyPr>
          <a:lstStyle/>
          <a:p/>
        </p:txBody>
      </p:sp>
      <p:sp>
        <p:nvSpPr>
          <p:cNvPr id="1010" name="callout-title" descr=""/>
          <p:cNvSpPr/>
          <p:nvPr/>
        </p:nvSpPr>
        <p:spPr>
          <a:xfrm>
            <a:off x="1097280" y="2633472"/>
            <a:ext cx="9994392" cy="320040"/>
          </a:xfrm>
          <a:prstGeom prst="roundRect">
            <a:avLst>
              <a:gd name="adj" fmla="val 6000"/>
            </a:avLst>
          </a:prstGeom>
          <a:solidFill>
            <a:srgbClr val="CC6600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400" b="1" dirty="0">
                <a:solidFill>
                  <a:srgbClr val="FEFDFA"/>
                </a:solidFill>
              </a:rPr>
              <a:t>Warning</a:t>
            </a:r>
          </a:p>
        </p:txBody>
      </p:sp>
      <p:sp>
        <p:nvSpPr>
          <p:cNvPr id="1011" name="callout-body" descr=""/>
          <p:cNvSpPr/>
          <p:nvPr/>
        </p:nvSpPr>
        <p:spPr>
          <a:xfrm>
            <a:off x="1097280" y="2953512"/>
            <a:ext cx="9994392" cy="94488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You need a “C” (not a “C-”) for this course to count toward the Psychology MajorYou must complete all exams to receive a passing grade in this courseYou must complete all the take-home laboratory assignments to receive a passing grade in this classYou must attend lab classes to receive a passing grade in this class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to Succeed 🎯</a:t>
            </a:r>
          </a:p>
        </p:txBody>
      </p:sp>
      <p:pic>
        <p:nvPicPr>
          <p:cNvPr descr="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2628900"/>
            <a:ext cx="25908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092200" y="5219700"/>
            <a:ext cx="9994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/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to Succeed 🎯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 the work…</a:t>
            </a:r>
          </a:p>
          <a:p>
            <a:pPr lvl="0"/>
            <a:r>
              <a:rPr/>
              <a:t>Come to lab…</a:t>
            </a:r>
          </a:p>
          <a:p>
            <a:pPr lvl="0"/>
            <a:r>
              <a:rPr/>
              <a:t>Be professional…</a:t>
            </a:r>
          </a:p>
          <a:p>
            <a:pPr lvl="1"/>
            <a:r>
              <a:rPr/>
              <a:t>Embrace the </a:t>
            </a:r>
            <a:r>
              <a:rPr b="1"/>
              <a:t>process</a:t>
            </a:r>
            <a:r>
              <a:rPr/>
              <a:t>!</a:t>
            </a:r>
          </a:p>
        </p:txBody>
      </p:sp>
      <p:pic>
        <p:nvPicPr>
          <p:cNvPr descr="Humorous image encouraging students to embrace the learning process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226300" y="2628900"/>
            <a:ext cx="28067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Don’t freak out! 🌝</a:t>
            </a:r>
          </a:p>
        </p:txBody>
      </p:sp>
      <p:pic>
        <p:nvPicPr>
          <p:cNvPr descr="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2628900"/>
            <a:ext cx="25908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092200" y="5219700"/>
            <a:ext cx="9994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/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Don’t freak out! 🌝 (continued)</a:t>
            </a:r>
          </a:p>
        </p:txBody>
      </p:sp>
      <p:pic>
        <p:nvPicPr>
          <p:cNvPr descr="Reassuring illustration about handling course documents and expectations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87900" y="2628900"/>
            <a:ext cx="26035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092200" y="5219700"/>
            <a:ext cx="9994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Reassuring illustration about handling course documents and expectations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83000" b="-83000"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Ratatouille movie still illustrating that anyone can learn to cook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356100" y="2628900"/>
            <a:ext cx="34544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092200" y="5219700"/>
            <a:ext cx="9994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Ratatouille movie still illustrating that anyone can learn to cook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 (continued)</a:t>
            </a:r>
          </a:p>
        </p:txBody>
      </p:sp>
      <p:pic>
        <p:nvPicPr>
          <p:cNvPr descr="Motivational slide showing that anyone can learn research skills step by ste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2628900"/>
            <a:ext cx="25908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092200" y="5219700"/>
            <a:ext cx="9994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Motivational slide showing that anyone can learn research skills step by step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 (continued)</a:t>
            </a:r>
          </a:p>
        </p:txBody>
      </p:sp>
      <p:pic>
        <p:nvPicPr>
          <p:cNvPr descr="Motivational slide reinforcing that research skills are built through practic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2628900"/>
            <a:ext cx="25908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092200" y="5219700"/>
            <a:ext cx="9994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Motivational slide reinforcing that research skills are built through practice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llustration of learning to cook as a metaphor for learning research skills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2628900"/>
            <a:ext cx="25908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092200" y="5219700"/>
            <a:ext cx="9994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Illustration of learning to cook as a metaphor for learning research skills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 (continued)</a:t>
            </a:r>
          </a:p>
        </p:txBody>
      </p:sp>
      <p:pic>
        <p:nvPicPr>
          <p:cNvPr descr="Illustration of the instructor helping a student, representing support available in lab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2628900"/>
            <a:ext cx="25908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092200" y="5219700"/>
            <a:ext cx="9994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Illustration of the instructor helping a student, representing support available in lab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Parcel">
  <a:themeElements>
    <a:clrScheme name="Custom 3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5E5E5E"/>
      </a:accent2>
      <a:accent3>
        <a:srgbClr val="005392"/>
      </a:accent3>
      <a:accent4>
        <a:srgbClr val="FEFB00"/>
      </a:accent4>
      <a:accent5>
        <a:srgbClr val="87795D"/>
      </a:accent5>
      <a:accent6>
        <a:srgbClr val="A0988C"/>
      </a:accent6>
      <a:hlink>
        <a:srgbClr val="005392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4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Gill Sans MT</vt:lpstr>
      <vt:lpstr>Parcel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to PSYC 350 Laboratory!!</dc:title>
  <dc:creator/>
  <cp:keywords/>
  <dcterms:created xsi:type="dcterms:W3CDTF">2026-08-20T03:22:52Z</dcterms:created>
  <dcterms:modified xsi:type="dcterms:W3CDTF">2026-08-20T03:22:52Z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back-to-top-navigation">
    <vt:lpwstr>True</vt:lpwstr>
  </property>
  <property fmtid="{D5CDD505-2E9C-101B-9397-08002B2CF9AE}" pid="4" name="biblio-config">
    <vt:lpwstr>True</vt:lpwstr>
  </property>
  <property fmtid="{D5CDD505-2E9C-101B-9397-08002B2CF9AE}" pid="5" name="execute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ack-link">
    <vt:lpwstr>False</vt:lpwstr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nebraska-pptx">
    <vt:lpwstr/>
  </property>
  <property fmtid="{D5CDD505-2E9C-101B-9397-08002B2CF9AE}" pid="12" name="revealjs-plugins">
    <vt:lpwstr/>
  </property>
  <property fmtid="{D5CDD505-2E9C-101B-9397-08002B2CF9AE}" pid="13" name="subtitle">
    <vt:lpwstr>Course Welcome</vt:lpwstr>
  </property>
  <property fmtid="{D5CDD505-2E9C-101B-9397-08002B2CF9AE}" pid="14" name="toc-title">
    <vt:lpwstr>Table of contents</vt:lpwstr>
  </property>
</Properties>
</file>