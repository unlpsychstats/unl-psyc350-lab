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9" Type="http://schemas.openxmlformats.org/officeDocument/2006/relationships/presProps" Target="presProps.xml" /><Relationship Id="rId30" Type="http://schemas.openxmlformats.org/officeDocument/2006/relationships/viewProps" Target="viewProps.xml" /><Relationship Id="rId31" Type="http://schemas.openxmlformats.org/officeDocument/2006/relationships/theme" Target="theme/theme1.xml" /><Relationship Id="rId3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students and frame this as a short orientation to the people, purpose, and structure of the laboratory. Current section contacts appear on the course homepage and in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students where the current section contact details appear on the homepage and in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one or two examples to make the research process concrete. The point is that the same core skills apply across research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 students time to prepare, then move around the room. The activity should help everyone learn names and begin speaking in a low-stakes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that each lab activity contributes to one or more of these four course-level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students where the installation links live in Canvas. Zotero is used for citations; SPSS or Jamovi is used for data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SPSS is the software used in many demonstrations and is installed on laboratory computers. Show students where the UNL download information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Students may use either program unless a particular assignment says otherwise. The analysis concepts transfer even when the interfaces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 these categories to the syllabus and Canvas gradebook. Clarify due-date or late-work policies using the current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Professional research literacy means being able to evaluate evidence and, when needed, create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 examples from clinical practice, education, human resources, criminal justice, or business. Each field relies on defensible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what information is missing from the headline and what pandemic-related confounds might matter. Distinguish a headline from the underlying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production is not confined to university faculty. Many professionals collect, analyze, and explain data from their own organizations or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Invite students to connect one skill on this slide with a job or graduate program they may want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Lecture and lab are complementary. The lab gives students guided repetitions with the processes introduced in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cooking metaphor to explain that knowing terms is different from executing a process. Research requires both a recipe and practice following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process loops. Unexpected output may require checking definitions, coding, assumptions, or the original question before reporting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 early uncertainty without suggesting the course can be completed by memorizing isolated rules. Encourage deliberate practice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Summarize the value proposition: the course supports immediate academic goals and broader evidence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these requirements exactly as they appear in the current syllabus. If policy language differs, update the slide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Translate each point into one observable behavior. Emphasize that asking questions early is a professional research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Pause here and reassure students that the course is designed to teach the process. Mastery develops across the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cooking analogy one final time: research is a craft, not an innate talent. Students improve through repeated, supported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students to the current Course Contact tab, Canvas, and the listed method for asking questions between laboratory meetings.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Invite questions and note anything that needs a follow-up in Canvas. End by previewing the next concrete task students should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Relationship Id="rId4" Type="http://schemas.openxmlformats.org/officeDocument/2006/relationships/hyperlink" Target="https://huskertech.unl.edu/shop/software/" TargetMode="External" /><Relationship Id="rId3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8.xml" /><Relationship Id="rId4" Type="http://schemas.openxmlformats.org/officeDocument/2006/relationships/hyperlink" Target="https://www.jamovi.org/" TargetMode="External" /><Relationship Id="rId3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10.xml" /><Relationship Id="rId4" Type="http://schemas.openxmlformats.org/officeDocument/2006/relationships/image" Target="../media/image10.jpg" /><Relationship Id="rId3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1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1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1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14.sv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15.sv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1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17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18.jp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19.jp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18.jp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3.xml" /><Relationship Id="rId4" Type="http://schemas.openxmlformats.org/officeDocument/2006/relationships/image" Target="../media/image21.png" /><Relationship Id="rId3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4.xml" /><Relationship Id="rId4" Type="http://schemas.openxmlformats.org/officeDocument/2006/relationships/image" Target="../media/image15.svg" /><Relationship Id="rId3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Welcome to PSYC 350 Laboratory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Course Welcome</a:t>
            </a:r>
            <a:br/>
            <a:br/>
            <a:r>
              <a:rPr/>
              <a:t>PSYC 350 Laboratory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Today’s path</a:t>
            </a:r>
          </a:p>
        </p:txBody>
      </p:sp>
      <p:pic>
        <p:nvPicPr>
          <p:cNvPr descr="Diagram showing behavior converted into measurable variables, illustrating how a research idea becomes analyzable data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939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Find current course contacts.</a:t>
            </a:r>
          </a:p>
          <a:p>
            <a:pPr lvl="0" indent="-457200" marL="457200">
              <a:buAutoNum type="arabicPeriod"/>
            </a:pPr>
            <a:r>
              <a:rPr/>
              <a:t>Preview what you will learn.</a:t>
            </a:r>
          </a:p>
          <a:p>
            <a:pPr lvl="0" indent="-457200" marL="457200">
              <a:buAutoNum type="arabicPeriod"/>
            </a:pPr>
            <a:r>
              <a:rPr/>
              <a:t>See why research skills matter.</a:t>
            </a:r>
          </a:p>
          <a:p>
            <a:pPr lvl="0" indent="-457200" marL="457200">
              <a:buAutoNum type="arabicPeriod"/>
            </a:pPr>
            <a:r>
              <a:rPr/>
              <a:t>Learn how lab will work.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Find current course contacts</a:t>
            </a:r>
          </a:p>
        </p:txBody>
      </p:sp>
      <p:pic>
        <p:nvPicPr>
          <p:cNvPr descr="Clipboard and question-mark icon representing applied laboratory practic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19200" y="2628900"/>
            <a:ext cx="4648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the current section details</a:t>
            </a:r>
          </a:p>
          <a:p>
            <a:pPr lvl="0"/>
            <a:r>
              <a:rPr/>
              <a:t>Check the </a:t>
            </a:r>
            <a:r>
              <a:rPr b="1"/>
              <a:t>Course Contact</a:t>
            </a:r>
            <a:r>
              <a:rPr/>
              <a:t> tab on the homepage.</a:t>
            </a:r>
          </a:p>
          <a:p>
            <a:pPr lvl="0"/>
            <a:r>
              <a:rPr/>
              <a:t>Consult Canvas for section-specific announcements.</a:t>
            </a:r>
          </a:p>
          <a:p>
            <a:pPr lvl="0"/>
            <a:r>
              <a:rPr/>
              <a:t>Use the contact method listed for your current section.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Research skills travel across topics</a:t>
            </a:r>
          </a:p>
        </p:txBody>
      </p:sp>
      <p:pic>
        <p:nvPicPr>
          <p:cNvPr descr="Police officers conducting a search, representing research on legal searches and decision-maki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97000" y="2628900"/>
            <a:ext cx="43053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methods can answer questions about:</a:t>
            </a:r>
          </a:p>
          <a:p>
            <a:pPr lvl="0"/>
            <a:r>
              <a:rPr/>
              <a:t>police searches</a:t>
            </a:r>
          </a:p>
          <a:p>
            <a:pPr lvl="0"/>
            <a:r>
              <a:rPr/>
              <a:t>health and well-being</a:t>
            </a:r>
          </a:p>
          <a:p>
            <a:pPr lvl="0"/>
            <a:r>
              <a:rPr/>
              <a:t>learning and development</a:t>
            </a:r>
          </a:p>
          <a:p>
            <a:pPr lvl="0"/>
            <a:r>
              <a:rPr/>
              <a:t>how people understand evidence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Two truths and a 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Share three statements about yourself.</a:t>
            </a:r>
          </a:p>
          <a:p>
            <a:pPr lvl="0" indent="-457200" marL="457200">
              <a:buAutoNum type="arabicPeriod"/>
            </a:pPr>
            <a:r>
              <a:rPr/>
              <a:t>Make two true and one false.</a:t>
            </a:r>
          </a:p>
          <a:p>
            <a:pPr lvl="0" indent="-457200" marL="457200">
              <a:buAutoNum type="arabicPeriod"/>
            </a:pPr>
            <a:r>
              <a:rPr/>
              <a:t>Let the group identify the lie.</a:t>
            </a:r>
          </a:p>
          <a:p>
            <a:pPr lvl="0" indent="-457200" marL="457200">
              <a:buAutoNum type="arabicPeriod"/>
            </a:pPr>
            <a:r>
              <a:rPr/>
              <a:t>Also share your </a:t>
            </a:r>
            <a:r>
              <a:rPr b="1"/>
              <a:t>name</a:t>
            </a:r>
            <a:r>
              <a:rPr/>
              <a:t> and </a:t>
            </a:r>
            <a:r>
              <a:rPr b="1"/>
              <a:t>year in school</a:t>
            </a:r>
            <a:r>
              <a:rPr/>
              <a:t>.</a:t>
            </a:r>
          </a:p>
        </p:txBody>
      </p:sp>
      <p:pic>
        <p:nvPicPr>
          <p:cNvPr descr="Illustration of judges evaluating competing claims, used as a playful visual for the two-truths-and-a-lie activity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972300" y="2628900"/>
            <a:ext cx="33147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What you will learn</a:t>
            </a:r>
          </a:p>
        </p:txBody>
      </p:sp>
      <p:pic>
        <p:nvPicPr>
          <p:cNvPr descr="Open-book icon representing the research knowledge students will build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19200" y="2628900"/>
            <a:ext cx="4648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Locate and integrate</a:t>
            </a:r>
            <a:r>
              <a:rPr/>
              <a:t> primary research and reviews.</a:t>
            </a:r>
          </a:p>
          <a:p>
            <a:pPr lvl="0"/>
            <a:r>
              <a:rPr b="1"/>
              <a:t>Propose</a:t>
            </a:r>
            <a:r>
              <a:rPr/>
              <a:t> original, evidence-based hypotheses.</a:t>
            </a:r>
          </a:p>
          <a:p>
            <a:pPr lvl="0"/>
            <a:r>
              <a:rPr b="1"/>
              <a:t>Plan</a:t>
            </a:r>
            <a:r>
              <a:rPr/>
              <a:t> data collection and analysis.</a:t>
            </a:r>
          </a:p>
          <a:p>
            <a:pPr lvl="0"/>
            <a:r>
              <a:rPr b="1"/>
              <a:t>Report</a:t>
            </a:r>
            <a:r>
              <a:rPr/>
              <a:t> the work in APA style.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Bring the right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Canvas:</a:t>
            </a:r>
            <a:r>
              <a:rPr/>
              <a:t> materials, links, and assignments</a:t>
            </a:r>
          </a:p>
          <a:p>
            <a:pPr lvl="0"/>
            <a:r>
              <a:rPr b="1"/>
              <a:t>Zotero:</a:t>
            </a:r>
            <a:r>
              <a:rPr/>
              <a:t> sources and APA citations</a:t>
            </a:r>
          </a:p>
          <a:p>
            <a:pPr lvl="0"/>
            <a:r>
              <a:rPr b="1"/>
              <a:t>SPSS or Jamovi:</a:t>
            </a:r>
            <a:r>
              <a:rPr/>
              <a:t> data management and analysis</a:t>
            </a:r>
          </a:p>
          <a:p>
            <a:pPr lvl="0" indent="0" marL="0">
              <a:buNone/>
            </a:pPr>
            <a:r>
              <a:rPr/>
              <a:t>Install software before the lab that uses it.</a:t>
            </a:r>
          </a:p>
        </p:txBody>
      </p:sp>
      <p:pic>
        <p:nvPicPr>
          <p:cNvPr descr="Zotero citation manager logo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0866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SPSS is available in the lab</a:t>
            </a:r>
          </a:p>
        </p:txBody>
      </p:sp>
      <p:pic>
        <p:nvPicPr>
          <p:cNvPr descr="SPSS statistics software logo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68500" y="2628900"/>
            <a:ext cx="31496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installed in the lab</a:t>
            </a:r>
          </a:p>
          <a:p>
            <a:pPr lvl="0"/>
            <a:r>
              <a:rPr/>
              <a:t>institutionally licensed</a:t>
            </a:r>
          </a:p>
          <a:p>
            <a:pPr lvl="0"/>
            <a:r>
              <a:rPr/>
              <a:t>widely used in psychology</a:t>
            </a:r>
          </a:p>
          <a:p>
            <a:pPr lvl="0"/>
            <a:r>
              <a:rPr>
                <a:hlinkClick r:id="rId4"/>
              </a:rPr>
              <a:t>UNL SPSS software access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Jamovi is a free alternative</a:t>
            </a:r>
          </a:p>
        </p:txBody>
      </p:sp>
      <p:pic>
        <p:nvPicPr>
          <p:cNvPr descr="Jamovi statistics software logo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939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free on personal devices</a:t>
            </a:r>
          </a:p>
          <a:p>
            <a:pPr lvl="0"/>
            <a:r>
              <a:rPr/>
              <a:t>built on R</a:t>
            </a:r>
          </a:p>
          <a:p>
            <a:pPr lvl="0"/>
            <a:r>
              <a:rPr/>
              <a:t>approachable interface</a:t>
            </a:r>
          </a:p>
          <a:p>
            <a:pPr lvl="0"/>
            <a:r>
              <a:rPr>
                <a:hlinkClick r:id="rId4"/>
              </a:rPr>
              <a:t>jamovi.org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9 Lab is 40% of the course 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Lab assignments · 20%</a:t>
            </a:r>
          </a:p>
          <a:p>
            <a:pPr lvl="0" indent="0" marL="0">
              <a:buNone/>
            </a:pPr>
            <a:r>
              <a:rPr/>
              <a:t>• in-class practice</a:t>
            </a:r>
          </a:p>
          <a:p>
            <a:pPr lvl="0" indent="0" marL="0">
              <a:buNone/>
            </a:pPr>
            <a:r>
              <a:rPr/>
              <a:t>• take-home 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Research project · 20%</a:t>
            </a:r>
          </a:p>
          <a:p>
            <a:pPr lvl="0" indent="0" marL="0">
              <a:buNone/>
            </a:pPr>
            <a:r>
              <a:rPr/>
              <a:t>• literature review</a:t>
            </a:r>
          </a:p>
          <a:p>
            <a:pPr lvl="0" indent="0" marL="0">
              <a:buNone/>
            </a:pPr>
            <a:r>
              <a:rPr/>
              <a:t>• APA-style report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 Why is lab required?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Evaluate knowledge</a:t>
            </a:r>
          </a:p>
        </p:txBody>
      </p:sp>
      <p:pic>
        <p:nvPicPr>
          <p:cNvPr descr="A playful plotted line representing the need to evaluate statistical and graphical claims critically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00300" y="3136900"/>
            <a:ext cx="26035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Create knowledge</a:t>
            </a:r>
          </a:p>
        </p:txBody>
      </p:sp>
      <p:pic>
        <p:nvPicPr>
          <p:cNvPr descr="A numbered mood scale illustrating the choices involved in creating measures and new empirical evidence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137400" y="3136900"/>
            <a:ext cx="2654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 Empirical research guides decisions</a:t>
            </a:r>
          </a:p>
        </p:txBody>
      </p:sp>
      <p:pic>
        <p:nvPicPr>
          <p:cNvPr descr="Magnifying glass over a newspaper, representing the search for relevant empirical evidenc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19200" y="2628900"/>
            <a:ext cx="4648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Empirical research helps professionals decide:</a:t>
            </a:r>
          </a:p>
          <a:p>
            <a:pPr lvl="0"/>
            <a:r>
              <a:rPr b="1"/>
              <a:t>who</a:t>
            </a:r>
            <a:r>
              <a:rPr/>
              <a:t> does what</a:t>
            </a:r>
          </a:p>
          <a:p>
            <a:pPr lvl="0"/>
            <a:r>
              <a:rPr b="1"/>
              <a:t>what</a:t>
            </a:r>
            <a:r>
              <a:rPr/>
              <a:t> is already known</a:t>
            </a:r>
          </a:p>
          <a:p>
            <a:pPr lvl="0"/>
            <a:r>
              <a:rPr b="1"/>
              <a:t>which</a:t>
            </a:r>
            <a:r>
              <a:rPr/>
              <a:t> action evidence supports</a:t>
            </a:r>
          </a:p>
          <a:p>
            <a:pPr lvl="0" indent="0" marL="0">
              <a:buNone/>
            </a:pPr>
            <a:r>
              <a:rPr/>
              <a:t>Peer review and replication add credibility; research is not limited to academic psychology.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12 Become a competent consumer</a:t>
            </a:r>
          </a:p>
        </p:txBody>
      </p:sp>
      <p:pic>
        <p:nvPicPr>
          <p:cNvPr descr="Screenshot of a popular-press headline about babies during the pandemic, used to practice questioning how research is communicated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04900" y="2628900"/>
            <a:ext cx="4876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competent consumer can:</a:t>
            </a:r>
          </a:p>
          <a:p>
            <a:pPr lvl="0"/>
            <a:r>
              <a:rPr b="1"/>
              <a:t>find</a:t>
            </a:r>
            <a:r>
              <a:rPr/>
              <a:t> relevant research</a:t>
            </a:r>
          </a:p>
          <a:p>
            <a:pPr lvl="0"/>
            <a:r>
              <a:rPr b="1"/>
              <a:t>evaluate</a:t>
            </a:r>
            <a:r>
              <a:rPr/>
              <a:t> its theory, methods, and statistics</a:t>
            </a:r>
          </a:p>
          <a:p>
            <a:pPr lvl="0"/>
            <a:r>
              <a:rPr b="1"/>
              <a:t>integrate</a:t>
            </a:r>
            <a:r>
              <a:rPr/>
              <a:t> trustworthy findings</a:t>
            </a:r>
          </a:p>
          <a:p>
            <a:pPr lvl="0"/>
            <a:r>
              <a:rPr b="1"/>
              <a:t>apply</a:t>
            </a:r>
            <a:r>
              <a:rPr/>
              <a:t> them within appropriate limits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13 Many jobs require research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Employers, clients, and funders look for:</a:t>
            </a:r>
          </a:p>
          <a:p>
            <a:pPr lvl="0"/>
            <a:r>
              <a:rPr/>
              <a:t>evidence that a program works</a:t>
            </a:r>
          </a:p>
          <a:p>
            <a:pPr lvl="0"/>
            <a:r>
              <a:rPr/>
              <a:t>attention to time and cost</a:t>
            </a:r>
          </a:p>
          <a:p>
            <a:pPr lvl="0"/>
            <a:r>
              <a:rPr/>
              <a:t>comparison with credible alternatives</a:t>
            </a:r>
          </a:p>
          <a:p>
            <a:pPr lvl="0"/>
            <a:r>
              <a:rPr/>
              <a:t>decisions that can be defended</a:t>
            </a:r>
          </a:p>
        </p:txBody>
      </p:sp>
      <p:pic>
        <p:nvPicPr>
          <p:cNvPr descr="Illustration of a researcher working independently, representing professional research and analysis skill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0866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14 Research literacy expands your options</a:t>
            </a:r>
          </a:p>
        </p:txBody>
      </p:sp>
      <p:pic>
        <p:nvPicPr>
          <p:cNvPr descr="Direction sign icon representing the additional career paths opened by research literacy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19200" y="2628900"/>
            <a:ext cx="4648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People who can evaluate, integrate, and apply evidence gain:</a:t>
            </a:r>
          </a:p>
          <a:p>
            <a:pPr lvl="0"/>
            <a:r>
              <a:rPr/>
              <a:t>better job prospects</a:t>
            </a:r>
          </a:p>
          <a:p>
            <a:pPr lvl="0"/>
            <a:r>
              <a:rPr/>
              <a:t>stronger job performance</a:t>
            </a:r>
          </a:p>
          <a:p>
            <a:pPr lvl="0"/>
            <a:r>
              <a:rPr/>
              <a:t>more flexibility across industries</a:t>
            </a:r>
          </a:p>
          <a:p>
            <a:pPr lvl="0"/>
            <a:r>
              <a:rPr/>
              <a:t>better preparation for graduate study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15 Lecture explains; lab practices</a:t>
            </a:r>
          </a:p>
        </p:txBody>
      </p:sp>
      <p:pic>
        <p:nvPicPr>
          <p:cNvPr descr="Open instruction manual representing the guidance and support available during the laboratory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19200" y="2628900"/>
            <a:ext cx="4648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Lecture</a:t>
            </a:r>
          </a:p>
          <a:p>
            <a:pPr lvl="0"/>
            <a:r>
              <a:rPr/>
              <a:t>explains vocabulary and concepts</a:t>
            </a:r>
          </a:p>
          <a:p>
            <a:pPr lvl="0"/>
            <a:r>
              <a:rPr/>
              <a:t>shows why methods work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Lab</a:t>
            </a:r>
          </a:p>
          <a:p>
            <a:pPr lvl="0"/>
            <a:r>
              <a:rPr/>
              <a:t>applies those concepts</a:t>
            </a:r>
          </a:p>
          <a:p>
            <a:pPr lvl="0"/>
            <a:r>
              <a:rPr/>
              <a:t>rehearses research workflows</a:t>
            </a:r>
          </a:p>
          <a:p>
            <a:pPr lvl="0"/>
            <a:r>
              <a:rPr/>
              <a:t>builds skill through repeated practice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16 Research is like learning a recipe</a:t>
            </a:r>
          </a:p>
        </p:txBody>
      </p:sp>
      <p:pic>
        <p:nvPicPr>
          <p:cNvPr descr="Illustrated avgolemono soup recipe showing ingredients as a metaphor for the inputs to a research project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939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Start with ingredients</a:t>
            </a:r>
          </a:p>
          <a:p>
            <a:pPr lvl="0"/>
            <a:r>
              <a:rPr/>
              <a:t>a focused question</a:t>
            </a:r>
          </a:p>
          <a:p>
            <a:pPr lvl="0"/>
            <a:r>
              <a:rPr/>
              <a:t>defined variables</a:t>
            </a:r>
          </a:p>
          <a:p>
            <a:pPr lvl="0"/>
            <a:r>
              <a:rPr/>
              <a:t>a usable sample</a:t>
            </a:r>
          </a:p>
          <a:p>
            <a:pPr lvl="0"/>
            <a:r>
              <a:rPr/>
              <a:t>relevant evidence</a:t>
            </a:r>
          </a:p>
          <a:p>
            <a:pPr lvl="0" indent="0" marL="0">
              <a:buNone/>
            </a:pPr>
            <a:r>
              <a:rPr/>
              <a:t>Then follow the process deliberately.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17 The process is iterative</a:t>
            </a:r>
          </a:p>
        </p:txBody>
      </p:sp>
      <p:pic>
        <p:nvPicPr>
          <p:cNvPr descr="Diagram showing behavior converted into measurable variables, illustrating how a research idea becomes analyzable data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939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Define the idea.</a:t>
            </a:r>
          </a:p>
          <a:p>
            <a:pPr lvl="0" indent="-457200" marL="457200">
              <a:buAutoNum type="arabicPeriod"/>
            </a:pPr>
            <a:r>
              <a:rPr/>
              <a:t>Measure behavior.</a:t>
            </a:r>
          </a:p>
          <a:p>
            <a:pPr lvl="0" indent="-457200" marL="457200">
              <a:buAutoNum type="arabicPeriod"/>
            </a:pPr>
            <a:r>
              <a:rPr/>
              <a:t>Analyze and inspect.</a:t>
            </a:r>
          </a:p>
          <a:p>
            <a:pPr lvl="0" indent="-457200" marL="457200">
              <a:buAutoNum type="arabicPeriod"/>
            </a:pPr>
            <a:r>
              <a:rPr/>
              <a:t>Revise when needed.</a:t>
            </a:r>
          </a:p>
          <a:p>
            <a:pPr lvl="0" indent="-457200" marL="457200">
              <a:buAutoNum type="arabicPeriod"/>
            </a:pPr>
            <a:r>
              <a:rPr/>
              <a:t>Report a result others can evaluate.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18 Build a foundation that works for you</a:t>
            </a:r>
          </a:p>
        </p:txBody>
      </p:sp>
      <p:pic>
        <p:nvPicPr>
          <p:cNvPr descr="Statistics meme about uncertainty over a p value, acknowledging that statistical concepts take practic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68500" y="2628900"/>
            <a:ext cx="31623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Build the skills in sequence.</a:t>
            </a:r>
          </a:p>
          <a:p>
            <a:pPr lvl="0"/>
            <a:r>
              <a:rPr/>
              <a:t>Develop a workflow you can repeat.</a:t>
            </a:r>
          </a:p>
          <a:p>
            <a:pPr lvl="0"/>
            <a:r>
              <a:rPr/>
              <a:t>Ask questions when a step is unclear.</a:t>
            </a:r>
          </a:p>
          <a:p>
            <a:pPr lvl="0"/>
            <a:r>
              <a:rPr/>
              <a:t>Take time to understand both the recipe and the result.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19 The short version</a:t>
            </a:r>
          </a:p>
        </p:txBody>
      </p:sp>
      <p:pic>
        <p:nvPicPr>
          <p:cNvPr descr="Humorous film still about reading documents, used to reassure students that course tasks become manageable when handled step by step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81200" y="2628900"/>
            <a:ext cx="3111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this course seriously if you want to:</a:t>
            </a:r>
          </a:p>
          <a:p>
            <a:pPr lvl="0"/>
            <a:r>
              <a:rPr/>
              <a:t>earn a strong grade</a:t>
            </a:r>
          </a:p>
          <a:p>
            <a:pPr lvl="0"/>
            <a:r>
              <a:rPr/>
              <a:t>prepare for graduate school</a:t>
            </a:r>
          </a:p>
          <a:p>
            <a:pPr lvl="0"/>
            <a:r>
              <a:rPr/>
              <a:t>work in any evidence-driven industry</a:t>
            </a:r>
          </a:p>
          <a:p>
            <a:pPr lvl="0"/>
            <a:r>
              <a:rPr/>
              <a:t>understand the claims you encounter every day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 Requirements to keep in 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Earn at least a </a:t>
            </a:r>
            <a:r>
              <a:rPr b="1"/>
              <a:t>C</a:t>
            </a:r>
            <a:r>
              <a:rPr/>
              <a:t>, not a C−, for the course to count toward the psychology major.</a:t>
            </a:r>
          </a:p>
          <a:p>
            <a:pPr lvl="0"/>
            <a:r>
              <a:rPr/>
              <a:t>Complete all required exams.</a:t>
            </a:r>
          </a:p>
          <a:p>
            <a:pPr lvl="0"/>
            <a:r>
              <a:rPr/>
              <a:t>Complete all take-home laboratory assignments.</a:t>
            </a:r>
          </a:p>
          <a:p>
            <a:pPr lvl="0"/>
            <a:r>
              <a:rPr/>
              <a:t>Attend laboratory sessions as required by the syllabus.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21 How to succeed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 the work before the deadline.</a:t>
            </a:r>
          </a:p>
          <a:p>
            <a:pPr lvl="0"/>
            <a:r>
              <a:rPr/>
              <a:t>Come to lab ready to practice.</a:t>
            </a:r>
          </a:p>
          <a:p>
            <a:pPr lvl="0"/>
            <a:r>
              <a:rPr/>
              <a:t>Be professional with peers and instructors.</a:t>
            </a:r>
          </a:p>
          <a:p>
            <a:pPr lvl="0"/>
            <a:r>
              <a:rPr/>
              <a:t>Embrace revision as part of the process.</a:t>
            </a:r>
          </a:p>
          <a:p>
            <a:pPr lvl="0"/>
            <a:r>
              <a:rPr/>
              <a:t>Ask for help early.</a:t>
            </a:r>
          </a:p>
        </p:txBody>
      </p:sp>
      <p:pic>
        <p:nvPicPr>
          <p:cNvPr descr="Humorous image encouraging students to embrace an imperfect but productive learning proces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226300" y="2628900"/>
            <a:ext cx="28067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22 Do not freak out</a:t>
            </a:r>
          </a:p>
        </p:txBody>
      </p:sp>
      <p:pic>
        <p:nvPicPr>
          <p:cNvPr descr="Humorous film still about reading documents, used to reassure students that course tasks become manageable when handled step by step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81200" y="2628900"/>
            <a:ext cx="3111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 are not expected to know everything now.</a:t>
            </a:r>
          </a:p>
          <a:p>
            <a:pPr lvl="0" indent="0" marL="0">
              <a:buNone/>
            </a:pPr>
            <a:r>
              <a:rPr/>
              <a:t>You are expected to: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ask questions</a:t>
            </a:r>
          </a:p>
          <a:p>
            <a:pPr lvl="0"/>
            <a:r>
              <a:rPr/>
              <a:t>revise your work</a:t>
            </a:r>
          </a:p>
          <a:p>
            <a:pPr lvl="0"/>
            <a:r>
              <a:rPr/>
              <a:t>keep moving one step at a time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23 Anyone can learn the process</a:t>
            </a:r>
          </a:p>
        </p:txBody>
      </p:sp>
      <p:pic>
        <p:nvPicPr>
          <p:cNvPr descr="Ratatouille movie still illustrating that a complex craft can be learned through instruction and practic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73200" y="2628900"/>
            <a:ext cx="4140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Motivational illustration emphasizing that research skills can be learned step by step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0866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24 You will have support</a:t>
            </a:r>
          </a:p>
        </p:txBody>
      </p:sp>
      <p:pic>
        <p:nvPicPr>
          <p:cNvPr descr="Illustration of learning how to cook, representing guided instruction in a complex proces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93900" y="2628900"/>
            <a:ext cx="30988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Open instruction manual representing the guidance and support available during the laboratory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311900" y="2628900"/>
            <a:ext cx="46482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25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would help you feel ready for the first lab?</a:t>
            </a:r>
          </a:p>
          <a:p>
            <a:pPr lvl="0"/>
            <a:r>
              <a:rPr/>
              <a:t>software or materials</a:t>
            </a:r>
          </a:p>
          <a:p>
            <a:pPr lvl="0"/>
            <a:r>
              <a:rPr/>
              <a:t>assignments and grading</a:t>
            </a:r>
          </a:p>
          <a:p>
            <a:pPr lvl="0"/>
            <a:r>
              <a:rPr/>
              <a:t>research project</a:t>
            </a:r>
          </a:p>
          <a:p>
            <a:pPr lvl="0"/>
            <a:r>
              <a:rPr/>
              <a:t>course expectations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B65B00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PSYC 350 Laboratory</dc:title>
  <dc:creator>PSYC 350 Laboratory</dc:creator>
  <cp:keywords/>
  <dcterms:created xsi:type="dcterms:W3CDTF">2026-09-02T01:12:10Z</dcterms:created>
  <dcterms:modified xsi:type="dcterms:W3CDTF">2026-09-02T01:12:10Z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ffiliations">
    <vt:lpwstr/>
  </property>
  <property fmtid="{D5CDD505-2E9C-101B-9397-08002B2CF9AE}" pid="4" name="authors">
    <vt:lpwstr/>
  </property>
  <property fmtid="{D5CDD505-2E9C-101B-9397-08002B2CF9AE}" pid="5" name="biblio-config">
    <vt:lpwstr>True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University of Nebraska–Lincoln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nebraska-pptx">
    <vt:lpwstr/>
  </property>
  <property fmtid="{D5CDD505-2E9C-101B-9397-08002B2CF9AE}" pid="16" name="revealjs-plugins">
    <vt:lpwstr/>
  </property>
  <property fmtid="{D5CDD505-2E9C-101B-9397-08002B2CF9AE}" pid="17" name="subtitle">
    <vt:lpwstr>Course Welcome</vt:lpwstr>
  </property>
  <property fmtid="{D5CDD505-2E9C-101B-9397-08002B2CF9AE}" pid="18" name="toc-title">
    <vt:lpwstr>Table of contents</vt:lpwstr>
  </property>
</Properties>
</file>