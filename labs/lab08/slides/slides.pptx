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17" Type="http://schemas.openxmlformats.org/officeDocument/2006/relationships/viewProps" Target="viewProps.xml" /><Relationship Id="rId18" Type="http://schemas.openxmlformats.org/officeDocument/2006/relationships/theme" Target="theme/theme1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walkthroughs use superman_smes_data.sav. The guides demonstrate the procedures with other variables; use the variables named in this worksheet. Keep your syntax and Output Viewer open as you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row in the SMES dataset represents a participant. RH1 compares emotional impact across height-gap groups. RH2 compares emotional impact and aesthetic appeal from the same participant. The pairing determines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state the prediction before looking at the means. Check Variable View before recoding. A missing-value code must not enter the analysis as a score or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follows RH1 steps 3–4. Combine original codes 1 and 2 into the small group; recode original code 3 as the big group. Keep height_gap and create height_gap_2cat separately. No case selection is required. Check the new codes against the original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height_gap_2cat as the factor and emotional_impact as the dependent variable. Start with the group means, standard deviations, and sample sizes in the Descriptives table. The analysis excludes cases missing either required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MSe comes from the Within Groups row, under Mean Square. Read the two degrees of freedom from their respective rows. Students need the group means as well as p to evaluate the prediction; a higher observed mean alone does not establish a significant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worksheet’s results table and the simple between-groups guide. Distinguish the decision about H₀ from whether the observed direction supports RH1. Finish the write-up and checker screenshot before starting RH2.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the same SMES file open and check the labels and missing-value declarations for both score variables. Each participant supplies a pair of scores. This is not a comparison of two independent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emotional_impact first and aesthetic_appeal second, as the worksheet directs. In Tests of Within-Subjects Effects, find subscale and Error(subscale). Use the error row for MSe and the error degrees of freedom. With two repeated levels, use the Sphericity Assumed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Complete the H₀ and decision fields before the write-up. Include both means and standard deviations, then explain how the result relates to the prediction. A participant missing either score is excluded from this paired analysis, so its sample size can differ from RH1.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26080"/>
            <a:ext cx="4907280" cy="3177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40" y="2926080"/>
            <a:ext cx="4907280" cy="3177540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8744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  <Relationship Id="rId3" Type="http://schemas.openxmlformats.org/officeDocument/2006/relationships/hyperlink" Target="https://unlpsychstats.github.io/UNL-PSYC350-LAB/labs/lab08/slides/downloads/superman_smes_data.sav" TargetMode="External"/>
  <Relationship Id="rId4" Type="http://schemas.openxmlformats.org/officeDocument/2006/relationships/hyperlink" Target="https://unlpsychstats.github.io/PSYC350-spss-handouts/A1.2bganova_spss_handout_simple.pdf" TargetMode="External"/>
  <Relationship Id="rId5" Type="http://schemas.openxmlformats.org/officeDocument/2006/relationships/hyperlink" Target="https://unlpsychstats.github.io/PSYC350-spss-handouts/A3.2wgf_spss_handout_simple.pdf" TargetMode="External"/>
</Relationships>
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Between-Groups and Within-Groups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08 · Choosing the Design That Matches the Cases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Open the Lab 08 files</a:t>
            </a:r>
          </a:p>
        </p:txBody>
      </p:sp>
      <p:sp>
        <p:nvSpPr>
          <p:cNvPr id="1001" name="card-steel" descr="card: Walkthrough data. Superman SMES"/>
          <p:cNvSpPr/>
          <p:nvPr/>
        </p:nvSpPr>
        <p:spPr>
          <a:xfrm>
            <a:off x="1097280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Walkthrough data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3"/>
              </a:rPr>
              <a:t>Superman SMES</a:t>
            </a:r>
          </a:p>
        </p:txBody>
      </p:sp>
      <p:sp>
        <p:nvSpPr>
          <p:cNvPr id="100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Simple SPSS guides. Between-groups PDF Within-groups PDF"/>
          <p:cNvSpPr/>
          <p:nvPr/>
        </p:nvSpPr>
        <p:spPr>
          <a:xfrm>
            <a:off x="6167628" y="2633472"/>
            <a:ext cx="4924044" cy="13106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Simple SPSS guides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4"/>
              </a:rPr>
              <a:t>Between-groups PDF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5"/>
              </a:rPr>
              <a:t>Within-groups PDF</a:t>
            </a:r>
          </a:p>
        </p:txBody>
      </p:sp>
      <p:sp>
        <p:nvSpPr>
          <p:cNvPr id="100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3106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Choose between or within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3800"/>
                <a:gridCol w="500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compared?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Between-groups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Scores from different participants in two groups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Within-groups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scores from each participant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Choose between or within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Identify who supplies each score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Predict and prepare RH1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[RH1 · Steps 1–2]</a:t>
            </a:r>
          </a:p>
          <a:p>
            <a:pPr lvl="0" indent="0" marL="0">
              <a:buNone/>
            </a:pPr>
            <a:r>
              <a:rPr b="1"/>
              <a:t>Emotional impact by height-gap group</a:t>
            </a:r>
          </a:p>
          <a:p>
            <a:pPr lvl="0"/>
            <a:r>
              <a:rPr/>
              <a:t>Which group does RH1 predict will score higher?</a:t>
            </a:r>
          </a:p>
          <a:p>
            <a:pPr lvl="0"/>
            <a:r>
              <a:rPr/>
              <a:t>Identify the group codes and score variable</a:t>
            </a:r>
          </a:p>
          <a:p>
            <a:pPr lvl="0"/>
            <a:r>
              <a:rPr/>
              <a:t>Check variable labels and </a:t>
            </a:r>
            <a:r>
              <a:rPr b="1"/>
              <a:t>−99</a:t>
            </a:r>
            <a:r>
              <a:rPr/>
              <a:t> missing-value declarations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Recode the height-gap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FILTER OFF.
USE ALL.
RECODE height_gap
  (1, 2 = 1) (3 = 2)
  INTO height_gap_2cat.
VARIABLE LABELS height_gap_2cat
  'Height gap (2 categories)'.
VALUE LABELS height_gap_2cat
  1 'Small (Minimal/Average)' 2 'Big'.
EXECUTE.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Run the RH1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ONEWAY emotional_impact
  BY height_gap_2cat
  /STATISTICS DESCRIPTIVES
  /MISSING ANALYSIS.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Read the RH1 output</a:t>
            </a:r>
          </a:p>
        </p:txBody>
      </p:sp>
      <p:pic>
        <p:nvPicPr>
          <p:cNvPr descr="RH1 ANOVA for emotional impact. Between Groups: sum of squares 38.084, df 1, mean square 38.084, F 3.578, Sig. .065. Within Groups: sum of squares 468.351, df 44, mean square 10.644. Total: sum of squares 506.435, df 45.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92300" y="2628900"/>
            <a:ext cx="84074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092200" y="5219700"/>
            <a:ext cx="9994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Identify </a:t>
            </a:r>
            <a:r>
              <a:rPr b="1" i="1"/>
              <a:t>F</a:t>
            </a:r>
            <a:r>
              <a:rPr b="1"/>
              <a:t>, both </a:t>
            </a:r>
            <a:r>
              <a:rPr b="1" i="1"/>
              <a:t>df</a:t>
            </a:r>
            <a:r>
              <a:rPr b="1"/>
              <a:t>, </a:t>
            </a:r>
            <a:r>
              <a:rPr b="1" i="1"/>
              <a:t>MSe</a:t>
            </a:r>
            <a:r>
              <a:rPr b="1"/>
              <a:t>, and </a:t>
            </a:r>
            <a:r>
              <a:rPr b="1" i="1"/>
              <a:t>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Read the RH1 output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Does the observed difference support RH1?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Finish the RH1 write-up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[RH1 · Steps 6–9]</a:t>
            </a:r>
          </a:p>
          <a:p>
            <a:pPr lvl="0"/>
            <a:r>
              <a:rPr/>
              <a:t>State H₀ and decide whether the result supports RH1</a:t>
            </a:r>
          </a:p>
          <a:p>
            <a:pPr lvl="0"/>
            <a:r>
              <a:rPr/>
              <a:t>Write the result with group means, SDs, </a:t>
            </a:r>
            <a:r>
              <a:rPr i="1"/>
              <a:t>F</a:t>
            </a:r>
            <a:r>
              <a:rPr/>
              <a:t>, both </a:t>
            </a:r>
            <a:r>
              <a:rPr i="1"/>
              <a:t>df</a:t>
            </a:r>
            <a:r>
              <a:rPr/>
              <a:t>, </a:t>
            </a:r>
            <a:r>
              <a:rPr i="1"/>
              <a:t>MSe</a:t>
            </a:r>
            <a:r>
              <a:rPr/>
              <a:t>, and </a:t>
            </a:r>
            <a:r>
              <a:rPr i="1"/>
              <a:t>p</a:t>
            </a:r>
          </a:p>
          <a:p>
            <a:pPr lvl="0"/>
            <a:r>
              <a:rPr/>
              <a:t>Add the required screenshot of correct checker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Compare the paired RH2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[RH2 · Steps 1–4]</a:t>
            </a:r>
          </a:p>
          <a:p>
            <a:pPr lvl="0" indent="0" marL="0">
              <a:buNone/>
            </a:pPr>
            <a:r>
              <a:rPr b="1"/>
              <a:t>Emotional impact and aesthetic appeal</a:t>
            </a:r>
          </a:p>
          <a:p>
            <a:pPr lvl="0"/>
            <a:r>
              <a:rPr/>
              <a:t>Two scores from each participant</a:t>
            </a:r>
          </a:p>
          <a:p>
            <a:pPr lvl="0"/>
            <a:r>
              <a:rPr/>
              <a:t>Which score does RH2 predict will be higher?</a:t>
            </a:r>
          </a:p>
          <a:p>
            <a:pPr lvl="0"/>
            <a:r>
              <a:rPr/>
              <a:t>No transformation or case selection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Run the RH2 within-groups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GLM emotional_impact aesthetic_appeal
  /WSFACTOR=subscale 2 Polynomial
  /METHOD=SSTYPE(3)
  /PRINT=DESCRIPTIVE
  /CRITERIA=ALPHA(.05)
  /WSDESIGN=subscale.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Finish the RH2 write-up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[RH2 · Steps 6–9]</a:t>
            </a:r>
          </a:p>
          <a:p>
            <a:pPr lvl="0"/>
            <a:r>
              <a:rPr/>
              <a:t>Use descriptives for the complete score pairs</a:t>
            </a:r>
          </a:p>
          <a:p>
            <a:pPr lvl="0"/>
            <a:r>
              <a:rPr/>
              <a:t>Report </a:t>
            </a:r>
            <a:r>
              <a:rPr i="1"/>
              <a:t>F</a:t>
            </a:r>
            <a:r>
              <a:rPr/>
              <a:t>, both </a:t>
            </a:r>
            <a:r>
              <a:rPr i="1"/>
              <a:t>df</a:t>
            </a:r>
            <a:r>
              <a:rPr/>
              <a:t>, </a:t>
            </a:r>
            <a:r>
              <a:rPr i="1"/>
              <a:t>MSe</a:t>
            </a:r>
            <a:r>
              <a:rPr/>
              <a:t>, and </a:t>
            </a:r>
            <a:r>
              <a:rPr i="1"/>
              <a:t>p</a:t>
            </a:r>
          </a:p>
          <a:p>
            <a:pPr lvl="0"/>
            <a:r>
              <a:rPr/>
              <a:t>Explain whether the result supports RH2</a:t>
            </a:r>
          </a:p>
          <a:p>
            <a:pPr lvl="0"/>
            <a:r>
              <a:rPr/>
              <a:t>Add the required screenshot of correct checker answers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Between-Groups and Within-Groups ANOVA</dc:title>
  <dc:creator>PSYC 350 Laboratory</dc:creator>
  <cp:keywords/>
  <dcterms:created xsi:type="dcterms:W3CDTF">2026-09-10T18:12:04Z</dcterms:created>
  <dcterms:modified xsi:type="dcterms:W3CDTF">2026-09-10T18:12:04Z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08 · Choosing the Design That Matches the Cases</vt:lpwstr>
  </property>
  <property fmtid="{D5CDD505-2E9C-101B-9397-08002B2CF9AE}" pid="20" name="toc-title">
    <vt:lpwstr>Table of contents</vt:lpwstr>
  </property>
</Properties>
</file>