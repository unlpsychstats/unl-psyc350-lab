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>
  <p:sldMasterIdLst>
    <p:sldMasterId id="214748369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7524"/>
    <p:restoredTop sz="94694"/>
  </p:normalViewPr>
  <p:slideViewPr>
    <p:cSldViewPr snapToGrid="0">
      <p:cViewPr varScale="1">
        <p:scale>
          <a:sx d="100" n="119"/>
          <a:sy d="100" n="119"/>
        </p:scale>
        <p:origin x="232" y="2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17" Type="http://schemas.openxmlformats.org/officeDocument/2006/relationships/presProps" Target="presProps.xml" /><Relationship Id="rId18" Type="http://schemas.openxmlformats.org/officeDocument/2006/relationships/viewProps" Target="viewProps.xml" /><Relationship Id="rId19" Type="http://schemas.openxmlformats.org/officeDocument/2006/relationships/theme" Target="theme/theme1.xml" /><Relationship Id="rId20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<Relationship Id="rId2" Type="http://schemas.openxmlformats.org/officeDocument/2006/relationships/slide" Target="../slides/slide2.xml"/>
  <Relationship Id="rId1" Type="http://schemas.openxmlformats.org/officeDocument/2006/relationships/notesMaster" Target="../notesMasters/notesMaster1.xml"/>
  <Relationship Id="rId3" Type="http://schemas.openxmlformats.org/officeDocument/2006/relationships/hyperlink" Target="https://unlpsychstats.github.io/UNL-PSYC350-LAB/labs/lab08/slides/downloads/superman_smes_data.sav" TargetMode="External"/>
</Relationships>
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The two walkthroughs use the Superman SMEs file. RH3 through RH6 use the Hot Ones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the dataset and saved syntax open together. Inspect variables and cases in the Data Editor; reproduce every command in the Syntax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Output Viewer accumulates tables, charts, warnings, and processing notes. Keep it open beside the data and syntax windows, and export only the results needed for the worksheet or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Identify the unit of observation rather than deciding from how the columns happen to appear in SPSS.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two levels, the omnibus test answers the only mean comparison. With three or more levels, a significant omnibus test can justify follow-up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RH1 combines minimal and average height gaps into one category and compares them with big gaps. Verify the recode with frequencies before running the ANOVA.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Compare the two descriptive means before interpreting F. Record MSe and effect size for the write-up, even when the result is not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result is not statistically significant at the .05 level. Students should still report the descriptive pattern and effect size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 transformation or selection is required. With two repeated levels, sphericity is automatic. Define the repeated factor and assign the two outcomes in worksheet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RH3 through RH6 deliberately mix the two designs. Students should use the workflow, not copy variable names from a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worksheet supplies the exact transformed variables and the completed-challenge filter where required. Check that every analysis uses the intended active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output is generated with create_apa_anova_descriptives_table(), matching the reporting workflow in the SPSS handouts. A graph with labeled means and uncertainty is also acceptable when the worksheet requests a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final reporting sequence works for both between- and within-groups analyses. The statistical sentence and the substantive interpretation must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352544"/>
            <a:ext cx="9997440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638044"/>
            <a:ext cx="9997440" cy="3101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352465"/>
            <a:ext cx="9997440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40" y="2638044"/>
            <a:ext cx="4907280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dirty="0" lang="en-US"/>
              <a:t>1/22/26</a:t>
            </a:fld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110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dirty="0" lang="en-US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dt="0" ftr="0" hdr="0" sldNum="0"/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aseline="0" cap="all" kern="1200" spc="200" sz="28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31286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484313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657350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882775" rtl="0">
        <a:lnSpc>
          <a:spcPct val="100000"/>
        </a:lnSpc>
        <a:spcBef>
          <a:spcPts val="1000"/>
        </a:spcBef>
        <a:buClr>
          <a:schemeClr val="accent2"/>
        </a:buClr>
        <a:buFont charset="0" panose="020B0604020202020204" pitchFamily="34" typeface="Arial"/>
        <a:buChar char="•"/>
        <a:defRPr baseline="0"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unlpsychstats.github.io/PSYC350-spss-handouts/A1.2bganova_spss_handout_simple.pdf" TargetMode="Externa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.xml"/>
  <Relationship Id="rId3" Type="http://schemas.openxmlformats.org/officeDocument/2006/relationships/hyperlink" Target="https://unlpsychstats.github.io/UNL-PSYC350-LAB/labs/lab08/slides/downloads/lab08_anovas.docx" TargetMode="External"/>
  <Relationship Id="rId4" Type="http://schemas.openxmlformats.org/officeDocument/2006/relationships/hyperlink" Target="https://unlpsychstats.github.io/UNL-PSYC350-LAB/labs/lab08/slides/downloads/hotones_data.sav" TargetMode="External"/>
  <Relationship Id="rId5" Type="http://schemas.openxmlformats.org/officeDocument/2006/relationships/hyperlink" Target="https://unlpsychstats.github.io/PSYC350-spss-handouts/A2.BG_graph_spss_handout_simple.pdf" TargetMode="External"/>
  <Relationship Id="rId6" Type="http://schemas.openxmlformats.org/officeDocument/2006/relationships/hyperlink" Target="https://unlpsychstats.github.io/PSYC350-spss-handouts/A3.2wgf_spss_handout_simple.pdf" TargetMode="External"/>
  <Relationship Id="rId7" Type="http://schemas.openxmlformats.org/officeDocument/2006/relationships/hyperlink" Target="https://unlpsychstats.github.io/PSYC350-spss-handouts/A4.WG_graph_spss_handout_simple.pdf" TargetMode="External"/>
  <Relationship Id="rId8" Type="http://schemas.openxmlformats.org/officeDocument/2006/relationships/hyperlink" Target="https://unlpsychstats.github.io/PSYC350-spss-handouts/A6.2wgt_spss_handout_simple.pdf" TargetMode="External"/>
</Relationships>
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2.xml" /><Relationship Id="rId4" Type="http://schemas.openxmlformats.org/officeDocument/2006/relationships/image" Target="../media/image2.png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097280" y="2386744"/>
            <a:ext cx="999744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Between-Groups and Within-Groups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097280" y="4352544"/>
            <a:ext cx="9997440" cy="1239894"/>
          </a:xfrm>
          <a:noFill/>
        </p:spPr>
        <p:txBody>
          <a:bodyPr/>
          <a:lstStyle/>
          <a:p>
            <a:pPr lvl="0" indent="0" marL="0">
              <a:buNone/>
            </a:pPr>
            <a:r>
              <a:rPr/>
              <a:t>Lab 08 · Choosing the Design That Matches the Cases</a:t>
            </a:r>
            <a:br/>
            <a:br/>
            <a:r>
              <a:rPr/>
              <a:t>PSYC 350 Laboratory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Download the Lab 8 files</a:t>
            </a:r>
          </a:p>
        </p:txBody>
      </p:sp>
      <p:sp>
        <p:nvSpPr>
          <p:cNvPr id="1001" name="card-steel" descr="card: Worksheet. Download worksheet"/>
          <p:cNvSpPr/>
          <p:nvPr/>
        </p:nvSpPr>
        <p:spPr>
          <a:xfrm>
            <a:off x="1097280" y="2633472"/>
            <a:ext cx="4924044" cy="10058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Worksheet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3"/>
              </a:rPr>
              <a:t>Download worksheet</a:t>
            </a:r>
          </a:p>
        </p:txBody>
      </p:sp>
      <p:sp>
        <p:nvSpPr>
          <p:cNvPr id="1002" name="card-rail" descr=""/>
          <p:cNvSpPr/>
          <p:nvPr/>
        </p:nvSpPr>
        <p:spPr>
          <a:xfrm>
            <a:off x="1097280" y="2633472"/>
            <a:ext cx="54864" cy="10058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3" name="card-steel" descr="card: Datasets. Superman SMEs Hot Ones"/>
          <p:cNvSpPr/>
          <p:nvPr/>
        </p:nvSpPr>
        <p:spPr>
          <a:xfrm>
            <a:off x="6167628" y="2633472"/>
            <a:ext cx="4924044" cy="13106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Datasets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Superman SMEs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4"/>
              </a:rPr>
              <a:t>Hot Ones</a:t>
            </a:r>
          </a:p>
        </p:txBody>
      </p:sp>
      <p:sp>
        <p:nvSpPr>
          <p:cNvPr id="1004" name="card-rail" descr=""/>
          <p:cNvSpPr/>
          <p:nvPr/>
        </p:nvSpPr>
        <p:spPr>
          <a:xfrm>
            <a:off x="6167628" y="2633472"/>
            <a:ext cx="54864" cy="13106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5" name="card-steel" descr="card: Between-groups guides. ANOVA Bar graph"/>
          <p:cNvSpPr/>
          <p:nvPr/>
        </p:nvSpPr>
        <p:spPr>
          <a:xfrm>
            <a:off x="1097280" y="4090416"/>
            <a:ext cx="4924044" cy="13106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Between-groups guides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6"/>
              </a:rPr>
              <a:t>ANOVA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5"/>
              </a:rPr>
              <a:t>Bar graph</a:t>
            </a:r>
          </a:p>
        </p:txBody>
      </p:sp>
      <p:sp>
        <p:nvSpPr>
          <p:cNvPr id="1006" name="card-rail" descr=""/>
          <p:cNvSpPr/>
          <p:nvPr/>
        </p:nvSpPr>
        <p:spPr>
          <a:xfrm>
            <a:off x="1097280" y="4090416"/>
            <a:ext cx="54864" cy="13106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  <p:sp>
        <p:nvSpPr>
          <p:cNvPr id="1007" name="card-steel" descr="card: Within-groups guides. ANOVA Bar graph Paired test"/>
          <p:cNvSpPr/>
          <p:nvPr/>
        </p:nvSpPr>
        <p:spPr>
          <a:xfrm>
            <a:off x="6167628" y="4090416"/>
            <a:ext cx="4924044" cy="1615440"/>
          </a:xfrm>
          <a:prstGeom prst="roundRect">
            <a:avLst>
              <a:gd name="adj" fmla="val 6000"/>
            </a:avLst>
          </a:prstGeom>
          <a:solidFill>
            <a:srgbClr val="FEFDFA"/>
          </a:solidFill>
          <a:ln w="19050">
            <a:solidFill>
              <a:srgbClr val="CCCCCC"/>
            </a:solidFill>
          </a:ln>
        </p:spPr>
        <p:txBody>
          <a:bodyPr lIns="182880" tIns="182880" rIns="182880" bIns="182880" anchor="t" wrap="square">
            <a:normAutofit/>
          </a:bodyPr>
          <a:lstStyle/>
          <a:p>
            <a:pPr algn="l"/>
            <a:r>
              <a:rPr lang="en-US" sz="2200" b="1" dirty="0">
                <a:solidFill>
                  <a:srgbClr val="010B13"/>
                </a:solidFill>
              </a:rPr>
              <a:t>Within-groups guides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</a:rPr>
              <a:t>ANOVA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7"/>
              </a:rPr>
              <a:t>Bar graph</a:t>
            </a:r>
          </a:p>
          <a:p>
            <a:pPr algn="l"/>
            <a:r>
              <a:rPr lang="en-US" sz="2000" b="0" dirty="0">
                <a:solidFill>
                  <a:srgbClr val="010B13"/>
                </a:solidFill>
                <a:hlinkClick r:id="rId8"/>
              </a:rPr>
              <a:t>Paired test</a:t>
            </a:r>
          </a:p>
        </p:txBody>
      </p:sp>
      <p:sp>
        <p:nvSpPr>
          <p:cNvPr id="1008" name="card-rail" descr=""/>
          <p:cNvSpPr/>
          <p:nvPr/>
        </p:nvSpPr>
        <p:spPr>
          <a:xfrm>
            <a:off x="6167628" y="4090416"/>
            <a:ext cx="54864" cy="1615440"/>
          </a:xfrm>
          <a:prstGeom prst="roundRect">
            <a:avLst>
              <a:gd name="adj" fmla="val 20000"/>
            </a:avLst>
          </a:prstGeom>
          <a:solidFill>
            <a:srgbClr val="010B13"/>
          </a:solidFill>
          <a:ln>
            <a:noFill/>
          </a:ln>
        </p:spPr>
        <p:txBody>
          <a:bodyPr lIns="182880" tIns="182880" rIns="182880" bIns="182880" anchor="t" wrap="square">
            <a:normAutofit/>
          </a:bodyPr>
          <a:lstStyle/>
          <a:p/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 Keep Data and Syntax Editors open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Editor</a:t>
            </a:r>
          </a:p>
        </p:txBody>
      </p:sp>
      <p:pic>
        <p:nvPicPr>
          <p:cNvPr descr="Focused SPSS Data Editor image showing spreadsheet columns and the Data View and Variable View tab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74800" y="3416300"/>
            <a:ext cx="4267200" cy="203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Inspect groups and outcomes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Syntax Editor</a:t>
            </a:r>
          </a:p>
        </p:txBody>
      </p:sp>
      <p:pic>
        <p:nvPicPr>
          <p:cNvPr descr="Focused SPSS Syntax Editor image showing the command area and an annotation pointing to the green Run button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6337300" y="3429000"/>
            <a:ext cx="42418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Save and rerun commands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Read results in Output Viewer</a:t>
            </a:r>
          </a:p>
        </p:txBody>
      </p:sp>
      <p:pic>
        <p:nvPicPr>
          <p:cNvPr descr="SPSS-style one-way ANOVA output for emotional impact by two-level height-gap group, showing F equals 3.578 with 1 and 44 degrees of freedom and p equals .065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2641600"/>
            <a:ext cx="99949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Choose between or within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92200" y="2628900"/>
          <a:ext cx="99949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1100"/>
                <a:gridCol w="499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Analysis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Different cases in each condition?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Between-groups 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cases in every condition?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Within-groups ANOVA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Read means before the F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State the predicted ordering of means.</a:t>
            </a:r>
          </a:p>
          <a:p>
            <a:pPr lvl="0" indent="-457200" marL="457200">
              <a:buAutoNum type="arabicPeriod"/>
            </a:pPr>
            <a:r>
              <a:rPr/>
              <a:t>Compare the observed means.</a:t>
            </a:r>
          </a:p>
          <a:p>
            <a:pPr lvl="0" indent="-457200" marL="457200">
              <a:buAutoNum type="arabicPeriod"/>
            </a:pPr>
            <a:r>
              <a:rPr/>
              <a:t>Read </a:t>
            </a:r>
            <a:r>
              <a:rPr i="1"/>
              <a:t>F</a:t>
            </a:r>
            <a:r>
              <a:rPr/>
              <a:t>, both </a:t>
            </a:r>
            <a:r>
              <a:rPr i="1"/>
              <a:t>df</a:t>
            </a:r>
            <a:r>
              <a:rPr/>
              <a:t>, </a:t>
            </a:r>
            <a:r>
              <a:rPr i="1"/>
              <a:t>p</a:t>
            </a:r>
            <a:r>
              <a:rPr/>
              <a:t>, and </a:t>
            </a:r>
            <a:r>
              <a:rPr i="1"/>
              <a:t>MSe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/>
              <a:t>Add effect size and decide.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Prepare the RH1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RECODE height_gap
  (1, 2 = 1) (3 = 2)
  INTO height_gap_2cat.
VARIABLE LABELS height_gap_2cat
  'Height gap: small versus big'.
VALUE LABELS height_gap_2cat
  1 'Minimal or average' 2 'Big'.
EXECUTE.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Run the RH1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ONEWAY emotional_impact
  BY height_gap_2cat
  /STATISTICS DESCRIPTIVES
  /MISSING LISTWISE.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8 Read F, both df, MSe, and p</a:t>
            </a:r>
          </a:p>
        </p:txBody>
      </p:sp>
      <p:pic>
        <p:nvPicPr>
          <p:cNvPr descr="SPSS-style one-way ANOVA output for emotional impact by two-level height-gap group, showing F equals 3.578 with 1 and 44 degrees of freedom and p equals .065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2641600"/>
            <a:ext cx="99949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9 Run the RH2 repeated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GLM emotional_impact aesthetic_appeal
  /WSFACTOR=RatingType 2
  /PRINT=DESCRIPTIVE ETASQ
  /EMMEANS=TABLES(RatingType) COMPARE.</a:t>
            </a:r>
          </a:p>
          <a:p>
            <a:pPr lvl="0" indent="0" marL="0">
              <a:buNone/>
            </a:pPr>
            <a:r>
              <a:rPr b="1"/>
              <a:t>RH2:</a:t>
            </a:r>
            <a:r>
              <a:rPr/>
              <a:t> Compare emotional impact with aesthetic appeal for the same films.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 Repeat the steps for Hot 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Identify between- or within-groups.</a:t>
            </a:r>
          </a:p>
          <a:p>
            <a:pPr lvl="0" indent="-457200" marL="457200">
              <a:buAutoNum type="arabicPeriod"/>
            </a:pPr>
            <a:r>
              <a:rPr/>
              <a:t>Run the worksheet transformation.</a:t>
            </a:r>
          </a:p>
          <a:p>
            <a:pPr lvl="0" indent="-457200" marL="457200">
              <a:buAutoNum type="arabicPeriod"/>
            </a:pPr>
            <a:r>
              <a:rPr/>
              <a:t>Apply the required selection.</a:t>
            </a:r>
          </a:p>
          <a:p>
            <a:pPr lvl="0" indent="-457200" marL="457200">
              <a:buAutoNum type="arabicPeriod"/>
            </a:pPr>
            <a:r>
              <a:rPr/>
              <a:t>Compare means, then interpret </a:t>
            </a:r>
            <a:r>
              <a:rPr i="1"/>
              <a:t>F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/>
              <a:t>Reset the filter before the next RH.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11 Complete RH3 through RH6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RH3:</a:t>
            </a:r>
            <a:r>
              <a:rPr/>
              <a:t> first versus tenth sauce heat</a:t>
            </a:r>
          </a:p>
          <a:p>
            <a:pPr lvl="0"/>
            <a:r>
              <a:rPr b="1"/>
              <a:t>RH4:</a:t>
            </a:r>
            <a:r>
              <a:rPr/>
              <a:t> actor status predicting views</a:t>
            </a:r>
          </a:p>
          <a:p>
            <a:pPr lvl="0"/>
            <a:r>
              <a:rPr b="1"/>
              <a:t>RH5:</a:t>
            </a:r>
            <a:r>
              <a:rPr/>
              <a:t> comments versus likes</a:t>
            </a:r>
          </a:p>
          <a:p>
            <a:pPr lvl="0"/>
            <a:r>
              <a:rPr b="1"/>
              <a:t>RH6:</a:t>
            </a:r>
            <a:r>
              <a:rPr/>
              <a:t> age group predicting likes</a:t>
            </a:r>
          </a:p>
          <a:p>
            <a:pPr lvl="0" indent="0" marL="0">
              <a:buNone/>
            </a:pPr>
            <a:r>
              <a:rPr/>
              <a:t>Save the transformation, filter, and analysis syntax for each.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12 Make the APA descriptives table</a:t>
            </a:r>
          </a:p>
        </p:txBody>
      </p:sp>
      <p:pic>
        <p:nvPicPr>
          <p:cNvPr descr="APA-style table of emotional-impact means and standard deviations for minimal or average height gaps versus big height gaps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3086100"/>
            <a:ext cx="9994900" cy="218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64692"/>
            <a:ext cx="9997440" cy="118872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13 Write the ANOVA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Describe the group or condition means.</a:t>
            </a:r>
          </a:p>
          <a:p>
            <a:pPr lvl="0" indent="-457200" marL="457200">
              <a:buAutoNum type="arabicPeriod"/>
            </a:pPr>
            <a:r>
              <a:rPr/>
              <a:t>Report </a:t>
            </a:r>
            <a:r>
              <a:rPr i="1"/>
              <a:t>F</a:t>
            </a:r>
            <a:r>
              <a:rPr/>
              <a:t>(</a:t>
            </a:r>
            <a:r>
              <a:rPr i="1"/>
              <a:t>df</a:t>
            </a:r>
            <a:r>
              <a:rPr/>
              <a:t>1, </a:t>
            </a:r>
            <a:r>
              <a:rPr i="1"/>
              <a:t>df</a:t>
            </a:r>
            <a:r>
              <a:rPr/>
              <a:t>2), </a:t>
            </a:r>
            <a:r>
              <a:rPr i="1"/>
              <a:t>MSe</a:t>
            </a:r>
            <a:r>
              <a:rPr/>
              <a:t>, and </a:t>
            </a:r>
            <a:r>
              <a:rPr i="1"/>
              <a:t>p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/>
              <a:t>Report effect size.</a:t>
            </a:r>
          </a:p>
          <a:p>
            <a:pPr lvl="0" indent="-457200" marL="457200">
              <a:buAutoNum type="arabicPeriod"/>
            </a:pPr>
            <a:r>
              <a:rPr/>
              <a:t>State whether the RH is supported.</a:t>
            </a:r>
          </a:p>
          <a:p>
            <a:pPr lvl="0" indent="-457200" marL="457200">
              <a:buAutoNum type="arabicPeriod"/>
            </a:pPr>
            <a:r>
              <a:rPr/>
              <a:t>Refer to the table or figure and add checker proof.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B65B00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Between-Groups and Within-Groups ANOVA</dc:title>
  <dc:creator>PSYC 350 Laboratory</dc:creator>
  <cp:keywords/>
  <dcterms:created xsi:type="dcterms:W3CDTF">2026-09-02T01:11:42Z</dcterms:created>
  <dcterms:modified xsi:type="dcterms:W3CDTF">2026-09-02T01:11:42Z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ffiliations">
    <vt:lpwstr/>
  </property>
  <property fmtid="{D5CDD505-2E9C-101B-9397-08002B2CF9AE}" pid="4" name="authors">
    <vt:lpwstr/>
  </property>
  <property fmtid="{D5CDD505-2E9C-101B-9397-08002B2CF9AE}" pid="5" name="back-to-top-navigation">
    <vt:lpwstr>True</vt:lpwstr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ack-link">
    <vt:lpwstr>False</vt:lpwstr>
  </property>
  <property fmtid="{D5CDD505-2E9C-101B-9397-08002B2CF9AE}" pid="13" name="include-before">
    <vt:lpwstr/>
  </property>
  <property fmtid="{D5CDD505-2E9C-101B-9397-08002B2CF9AE}" pid="14" name="institute">
    <vt:lpwstr>University of Nebraska–Lincoln</vt:lpwstr>
  </property>
  <property fmtid="{D5CDD505-2E9C-101B-9397-08002B2CF9AE}" pid="15" name="institutes">
    <vt:lpwstr/>
  </property>
  <property fmtid="{D5CDD505-2E9C-101B-9397-08002B2CF9AE}" pid="16" name="labels">
    <vt:lpwstr/>
  </property>
  <property fmtid="{D5CDD505-2E9C-101B-9397-08002B2CF9AE}" pid="17" name="nebraska-pptx">
    <vt:lpwstr/>
  </property>
  <property fmtid="{D5CDD505-2E9C-101B-9397-08002B2CF9AE}" pid="18" name="revealjs-plugins">
    <vt:lpwstr/>
  </property>
  <property fmtid="{D5CDD505-2E9C-101B-9397-08002B2CF9AE}" pid="19" name="subtitle">
    <vt:lpwstr>Lab 08 · Choosing the Design That Matches the Cases</vt:lpwstr>
  </property>
  <property fmtid="{D5CDD505-2E9C-101B-9397-08002B2CF9AE}" pid="20" name="toc-title">
    <vt:lpwstr>Table of contents</vt:lpwstr>
  </property>
</Properties>
</file>