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1" Type="http://schemas.openxmlformats.org/officeDocument/2006/relationships/slideMaster" Target="slideMasters/slideMaster1.xml" /><Relationship Id="rId39" Type="http://schemas.openxmlformats.org/officeDocument/2006/relationships/presProps" Target="presProps.xml" /><Relationship Id="rId40" Type="http://schemas.openxmlformats.org/officeDocument/2006/relationships/viewProps" Target="viewProps.xml" /><Relationship Id="rId41" Type="http://schemas.openxmlformats.org/officeDocument/2006/relationships/theme" Target="theme/theme1.xml" /><Relationship Id="rId42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One-Way ANOVAs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08</a:t>
            </a:r>
            <a:br/>
            <a:br/>
            <a:r>
              <a:rPr/>
              <a:t>PSYCH 350-Lab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Tasks</a:t>
            </a:r>
          </a:p>
        </p:txBody>
      </p:sp>
      <p:sp>
        <p:nvSpPr>
          <p:cNvPr id="1001" name="box-post-it" descr="box: . Review: from t-tests to ANOVABetween-groups one-way ANOVALogic, SPSS, post-hocs, APA write-upWithin-groups one-way ANOVALogic, SPSS, sphericity, APA write-upLab 08 worksheet walk-through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Review: from t-tests to ANOVABetween-groups one-way ANOVALogic, SPSS, post-hocs, APA write-upWithin-groups one-way ANOVALogic, SPSS, sphericity, APA write-upLab 08 worksheet walk-through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Need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for this week is linked on the next slides – and always on the lab page under </a:t>
            </a:r>
            <a:r>
              <a:rPr b="1"/>
              <a:t>Handouts &amp; References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Open these </a:t>
            </a:r>
            <a:r>
              <a:rPr b="1"/>
              <a:t>before we start</a:t>
            </a:r>
            <a:r>
              <a:rPr/>
              <a:t> so you can follow along.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Between Groups and Within-Groups One-Way ANOVA (1/2)</a:t>
            </a:r>
          </a:p>
        </p:txBody>
      </p:sp>
      <p:sp>
        <p:nvSpPr>
          <p:cNvPr id="1002" name="card-blue" descr="card: [book icon]. SPSS Handouts"/>
          <p:cNvSpPr/>
          <p:nvPr/>
        </p:nvSpPr>
        <p:spPr>
          <a:xfrm>
            <a:off x="1097280" y="2633472"/>
            <a:ext cx="3270504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SPSS Handouts</a:t>
            </a:r>
          </a:p>
        </p:txBody>
      </p:sp>
      <p:sp>
        <p:nvSpPr>
          <p:cNvPr id="1003" name="card-rail" descr=""/>
          <p:cNvSpPr/>
          <p:nvPr/>
        </p:nvSpPr>
        <p:spPr>
          <a:xfrm>
            <a:off x="1097280" y="2633472"/>
            <a:ext cx="54864" cy="57912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4" name="card-blue" descr="card: [book icon]. Choosing Analyses for Project"/>
          <p:cNvSpPr/>
          <p:nvPr/>
        </p:nvSpPr>
        <p:spPr>
          <a:xfrm>
            <a:off x="4459224" y="2633472"/>
            <a:ext cx="3270504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Choosing Analyses for Project</a:t>
            </a:r>
          </a:p>
        </p:txBody>
      </p:sp>
      <p:sp>
        <p:nvSpPr>
          <p:cNvPr id="1005" name="card-rail" descr=""/>
          <p:cNvSpPr/>
          <p:nvPr/>
        </p:nvSpPr>
        <p:spPr>
          <a:xfrm>
            <a:off x="4459224" y="2633472"/>
            <a:ext cx="54864" cy="57912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6" name="card-blue" descr="card: [book icon]. Practice Choosing Statistical Analyses Worksheet [Word document]"/>
          <p:cNvSpPr/>
          <p:nvPr/>
        </p:nvSpPr>
        <p:spPr>
          <a:xfrm>
            <a:off x="7821168" y="2633472"/>
            <a:ext cx="3270504" cy="94488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Practice Choosing Statistical Analyses Worksheet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[Word document]</a:t>
            </a:r>
          </a:p>
        </p:txBody>
      </p:sp>
      <p:sp>
        <p:nvSpPr>
          <p:cNvPr id="1007" name="card-rail" descr=""/>
          <p:cNvSpPr/>
          <p:nvPr/>
        </p:nvSpPr>
        <p:spPr>
          <a:xfrm>
            <a:off x="7821168" y="2633472"/>
            <a:ext cx="54864" cy="94488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8" name="card-red" descr="card: [note icon]. 2BG ANOVA [PDF]"/>
          <p:cNvSpPr/>
          <p:nvPr/>
        </p:nvSpPr>
        <p:spPr>
          <a:xfrm>
            <a:off x="1097280" y="366979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[note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2BG ANOVA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09" name="card-rail" descr=""/>
          <p:cNvSpPr/>
          <p:nvPr/>
        </p:nvSpPr>
        <p:spPr>
          <a:xfrm>
            <a:off x="1097280" y="366979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0" name="card-red" descr="card: [note icon]. 2BG Bar Graph [PDF]"/>
          <p:cNvSpPr/>
          <p:nvPr/>
        </p:nvSpPr>
        <p:spPr>
          <a:xfrm>
            <a:off x="4459224" y="366979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[note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2BG Bar Graph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11" name="card-rail" descr=""/>
          <p:cNvSpPr/>
          <p:nvPr/>
        </p:nvSpPr>
        <p:spPr>
          <a:xfrm>
            <a:off x="4459224" y="366979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2" name="card-red" descr="card: [note icon]. WG ANOVA [PDF]"/>
          <p:cNvSpPr/>
          <p:nvPr/>
        </p:nvSpPr>
        <p:spPr>
          <a:xfrm>
            <a:off x="7821168" y="366979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[note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WG ANOVA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13" name="card-rail" descr=""/>
          <p:cNvSpPr/>
          <p:nvPr/>
        </p:nvSpPr>
        <p:spPr>
          <a:xfrm>
            <a:off x="7821168" y="366979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Between Groups and Within-Groups One-Way ANOVA (2/2)</a:t>
            </a:r>
          </a:p>
        </p:txBody>
      </p:sp>
      <p:sp>
        <p:nvSpPr>
          <p:cNvPr id="1014" name="card-red" descr="card: [note icon]. WG t-test [PDF]"/>
          <p:cNvSpPr/>
          <p:nvPr/>
        </p:nvSpPr>
        <p:spPr>
          <a:xfrm>
            <a:off x="1097280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[note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WG t-test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15" name="card-rail" descr=""/>
          <p:cNvSpPr/>
          <p:nvPr/>
        </p:nvSpPr>
        <p:spPr>
          <a:xfrm>
            <a:off x="1097280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6" name="card-red" descr="card: [note icon]. WG Bar Graph [PDF]"/>
          <p:cNvSpPr/>
          <p:nvPr/>
        </p:nvSpPr>
        <p:spPr>
          <a:xfrm>
            <a:off x="4459224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[note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WG Bar Graph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17" name="card-rail" descr=""/>
          <p:cNvSpPr/>
          <p:nvPr/>
        </p:nvSpPr>
        <p:spPr>
          <a:xfrm>
            <a:off x="4459224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Weekly Lab Assignment</a:t>
            </a:r>
          </a:p>
        </p:txBody>
      </p:sp>
      <p:sp>
        <p:nvSpPr>
          <p:cNvPr id="1018" name="card-steel" descr="card: [chart icon]. superman_smes_data.sav [SPSS data file]"/>
          <p:cNvSpPr/>
          <p:nvPr/>
        </p:nvSpPr>
        <p:spPr>
          <a:xfrm>
            <a:off x="1097280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10B13"/>
                </a:solidFill>
              </a:rPr>
              <a:t>[chart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superman_smes_data.sav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[SPSS data file]</a:t>
            </a:r>
          </a:p>
        </p:txBody>
      </p:sp>
      <p:sp>
        <p:nvSpPr>
          <p:cNvPr id="1019" name="card-rail" descr=""/>
          <p:cNvSpPr/>
          <p:nvPr/>
        </p:nvSpPr>
        <p:spPr>
          <a:xfrm>
            <a:off x="1097280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20" name="card-steel" descr="card: [chart icon]. hotones_data.sav [SPSS data file]"/>
          <p:cNvSpPr/>
          <p:nvPr/>
        </p:nvSpPr>
        <p:spPr>
          <a:xfrm>
            <a:off x="4459224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10B13"/>
                </a:solidFill>
              </a:rPr>
              <a:t>[chart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hotones_data.sav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[SPSS data file]</a:t>
            </a:r>
          </a:p>
        </p:txBody>
      </p:sp>
      <p:sp>
        <p:nvSpPr>
          <p:cNvPr id="1021" name="card-rail" descr=""/>
          <p:cNvSpPr/>
          <p:nvPr/>
        </p:nvSpPr>
        <p:spPr>
          <a:xfrm>
            <a:off x="4459224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22" name="card-blue" descr="card: [book icon]. ANOVA Worksheet [Word document]"/>
          <p:cNvSpPr/>
          <p:nvPr/>
        </p:nvSpPr>
        <p:spPr>
          <a:xfrm>
            <a:off x="7821168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ANOVA Worksheet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[Word document]</a:t>
            </a:r>
          </a:p>
        </p:txBody>
      </p:sp>
      <p:sp>
        <p:nvSpPr>
          <p:cNvPr id="1023" name="card-rail" descr=""/>
          <p:cNvSpPr/>
          <p:nvPr/>
        </p:nvSpPr>
        <p:spPr>
          <a:xfrm>
            <a:off x="7821168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24" name="card-blue" descr="card: [arrow icon]. ANOVA hw checker [Web page]"/>
          <p:cNvSpPr/>
          <p:nvPr/>
        </p:nvSpPr>
        <p:spPr>
          <a:xfrm>
            <a:off x="1097280" y="348691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[arrow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ANOVA hw checker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[Web page]</a:t>
            </a:r>
          </a:p>
        </p:txBody>
      </p:sp>
      <p:sp>
        <p:nvSpPr>
          <p:cNvPr id="1025" name="card-rail" descr=""/>
          <p:cNvSpPr/>
          <p:nvPr/>
        </p:nvSpPr>
        <p:spPr>
          <a:xfrm>
            <a:off x="1097280" y="348691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Review: Where We Are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Story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Univariate statistics</a:t>
            </a:r>
            <a:r>
              <a:rPr/>
              <a:t> (Lab 06): describe one variable at a time</a:t>
            </a:r>
          </a:p>
          <a:p>
            <a:pPr lvl="0"/>
            <a:r>
              <a:rPr/>
              <a:t>Means, standard deviations, standard error</a:t>
            </a:r>
          </a:p>
          <a:p>
            <a:pPr lvl="0" indent="0" marL="0">
              <a:buNone/>
            </a:pPr>
            <a:r>
              <a:rPr b="1"/>
              <a:t>Bivariate analyses</a:t>
            </a:r>
            <a:r>
              <a:rPr/>
              <a:t> (Lab 07): relate two variables</a:t>
            </a:r>
          </a:p>
          <a:p>
            <a:pPr lvl="0"/>
            <a:r>
              <a:rPr/>
              <a:t>Pearson’s correlation (two quantitative variables)</a:t>
            </a:r>
          </a:p>
          <a:p>
            <a:pPr lvl="0"/>
            <a:r>
              <a:rPr/>
              <a:t>Chi-square (two categorical variables)</a:t>
            </a:r>
          </a:p>
          <a:p>
            <a:pPr lvl="0" indent="0" marL="0">
              <a:buNone/>
            </a:pPr>
            <a:r>
              <a:rPr b="1"/>
              <a:t>Now:</a:t>
            </a:r>
            <a:r>
              <a:rPr/>
              <a:t> compare a quantitative outcome </a:t>
            </a:r>
            <a:r>
              <a:rPr b="1"/>
              <a:t>across groups or conditions</a:t>
            </a:r>
          </a:p>
          <a:p>
            <a:pPr lvl="0"/>
            <a:r>
              <a:rPr/>
              <a:t>One-way ANOVAs (today)</a:t>
            </a:r>
          </a:p>
          <a:p>
            <a:pPr lvl="0"/>
            <a:r>
              <a:rPr/>
              <a:t>Multi-group follow-ups (Lab 11), factorial designs (Lab 12)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Review: The </a:t>
            </a:r>
            <a:r>
              <a:rPr i="1"/>
              <a:t>t</a:t>
            </a:r>
            <a:r>
              <a:rPr/>
              <a:t>-Test Toolkit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Between-groups </a:t>
            </a:r>
            <a:r>
              <a:rPr b="1" i="1"/>
              <a:t>t</a:t>
            </a:r>
            <a:r>
              <a:rPr b="1"/>
              <a:t>-test:</a:t>
            </a:r>
            <a:r>
              <a:rPr/>
              <a:t> is the mean of a quantitative variable different for </a:t>
            </a:r>
            <a:r>
              <a:rPr b="1"/>
              <a:t>two independent groups</a:t>
            </a:r>
            <a:r>
              <a:rPr/>
              <a:t>?</a:t>
            </a:r>
          </a:p>
          <a:p>
            <a:pPr lvl="0"/>
            <a:r>
              <a:rPr/>
              <a:t>e.g., Do actors and non-actors get different YouTube views?</a:t>
            </a:r>
          </a:p>
          <a:p>
            <a:pPr lvl="0" indent="0" marL="0">
              <a:buNone/>
            </a:pPr>
            <a:r>
              <a:rPr b="1"/>
              <a:t>Within-groups </a:t>
            </a:r>
            <a:r>
              <a:rPr b="1" i="1"/>
              <a:t>t</a:t>
            </a:r>
            <a:r>
              <a:rPr b="1"/>
              <a:t>-test:</a:t>
            </a:r>
            <a:r>
              <a:rPr/>
              <a:t> is the mean different for </a:t>
            </a:r>
            <a:r>
              <a:rPr b="1"/>
              <a:t>two measurements on the same cases</a:t>
            </a:r>
            <a:r>
              <a:rPr/>
              <a:t>?</a:t>
            </a:r>
          </a:p>
          <a:p>
            <a:pPr lvl="0"/>
            <a:r>
              <a:rPr/>
              <a:t>e.g., Is sauce #10 spicier than sauce #1 for the same episodes?</a:t>
            </a:r>
          </a:p>
          <a:p>
            <a:pPr lvl="0" indent="0" marL="0">
              <a:buNone/>
            </a:pPr>
            <a:r>
              <a:rPr/>
              <a:t>Both compare </a:t>
            </a:r>
            <a:r>
              <a:rPr b="1"/>
              <a:t>means</a:t>
            </a:r>
            <a:r>
              <a:rPr/>
              <a:t> using an estimate of </a:t>
            </a:r>
            <a:r>
              <a:rPr b="1"/>
              <a:t>variability</a:t>
            </a:r>
            <a:r>
              <a:rPr/>
              <a:t> as the yardstick.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Problem: More Than Two Groups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if our grouping variable has </a:t>
                </a:r>
                <a:r>
                  <a:rPr b="1"/>
                  <a:t>three or more levels</a:t>
                </a:r>
                <a:r>
                  <a:rPr/>
                  <a:t>?</a:t>
                </a:r>
              </a:p>
              <a:p>
                <a:pPr lvl="0" indent="0" marL="0">
                  <a:buNone/>
                </a:pPr>
                <a:r>
                  <a:rPr/>
                  <a:t>We </a:t>
                </a:r>
                <a:r>
                  <a:rPr i="1"/>
                  <a:t>could</a:t>
                </a:r>
                <a:r>
                  <a:rPr/>
                  <a:t> run a </a:t>
                </a:r>
                <a:r>
                  <a:rPr i="1"/>
                  <a:t>t</a:t>
                </a:r>
                <a:r>
                  <a:rPr/>
                  <a:t>-test for every pair of groups…</a:t>
                </a:r>
              </a:p>
              <a:p>
                <a:pPr lvl="0" indent="0" marL="0">
                  <a:buNone/>
                </a:pPr>
                <a:r>
                  <a:rPr/>
                  <a:t>But every test carries a 5% chance of a Type I error. With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groups there are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(</m:t>
                    </m:r>
                    <m:r>
                      <m:t>k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/</m:t>
                    </m:r>
                    <m:r>
                      <m:t>2</m:t>
                    </m:r>
                  </m:oMath>
                </a14:m>
                <a:r>
                  <a:rPr/>
                  <a:t> pairs:</a:t>
                </a:r>
              </a:p>
              <a:p>
                <a:pPr lvl="0"/>
                <a:r>
                  <a:rPr/>
                  <a:t>3 groups → 3 tests</a:t>
                </a:r>
              </a:p>
              <a:p>
                <a:pPr lvl="0"/>
                <a:r>
                  <a:rPr/>
                  <a:t>4 groups → 6 tests</a:t>
                </a:r>
              </a:p>
              <a:p>
                <a:pPr lvl="0"/>
                <a:r>
                  <a:rPr/>
                  <a:t>5 groups → 10 tests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familywise error rate</a:t>
                </a:r>
                <a:r>
                  <a:rPr/>
                  <a:t> balloons: with 3 tests at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.05</m:t>
                    </m:r>
                  </m:oMath>
                </a14:m>
                <a:r>
                  <a:rPr/>
                  <a:t>, the chance of at least one false alarm is already ~ .14.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Solution: ANOVA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AN</a:t>
                </a:r>
                <a:r>
                  <a:rPr/>
                  <a:t>alysis </a:t>
                </a:r>
                <a:r>
                  <a:rPr b="1"/>
                  <a:t>O</a:t>
                </a:r>
                <a:r>
                  <a:rPr/>
                  <a:t>f </a:t>
                </a:r>
                <a:r>
                  <a:rPr b="1"/>
                  <a:t>VA</a:t>
                </a:r>
                <a:r>
                  <a:rPr/>
                  <a:t>riance</a:t>
                </a:r>
              </a:p>
              <a:p>
                <a:pPr lvl="0" indent="0" marL="0">
                  <a:buNone/>
                </a:pPr>
                <a:r>
                  <a:rPr/>
                  <a:t>One </a:t>
                </a:r>
                <a:r>
                  <a:rPr b="1"/>
                  <a:t>omnibus test</a:t>
                </a:r>
                <a:r>
                  <a:rPr/>
                  <a:t> that asks: are there </a:t>
                </a:r>
                <a:r>
                  <a:rPr i="1"/>
                  <a:t>any</a:t>
                </a:r>
                <a:r>
                  <a:rPr/>
                  <a:t> mean differences among the groups — while holding the Type I error rate at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?</a:t>
                </a:r>
              </a:p>
              <a:p>
                <a:pPr lvl="0" indent="0" marL="0">
                  <a:buNone/>
                </a:pPr>
                <a:r>
                  <a:rPr/>
                  <a:t>If the omnibus test is significant, </a:t>
                </a:r>
                <a:r>
                  <a:rPr b="1"/>
                  <a:t>post-hoc tests</a:t>
                </a:r>
                <a:r>
                  <a:rPr/>
                  <a:t> tell us </a:t>
                </a:r>
                <a:r>
                  <a:rPr i="1"/>
                  <a:t>which</a:t>
                </a:r>
                <a:r>
                  <a:rPr/>
                  <a:t> groups differ (with error control built in).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Between-Groups One-Way ANOVA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It</a:t>
            </a:r>
          </a:p>
        </p:txBody>
      </p:sp>
      <p:sp>
        <p:nvSpPr>
          <p:cNvPr id="1026" name="box-post-it" descr="box: . IV: one categorical variable with 2 or more levelsDesign: different cases in each group (independent samples)DV: one quantitative variable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IV: one categorical variable with 2 or more levelsDesign: different cases in each group (independent samples)DV: one quantitative variable</a:t>
            </a:r>
          </a:p>
        </p:txBody>
      </p:sp>
      <p:sp>
        <p:nvSpPr>
          <p:cNvPr id="1027" name="prose" descr=""/>
          <p:cNvSpPr/>
          <p:nvPr/>
        </p:nvSpPr>
        <p:spPr>
          <a:xfrm>
            <a:off x="1097280" y="3273552"/>
            <a:ext cx="9994392" cy="36576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Today’s example (RH1): Does the emotional impact of Superman movies differ between movies with a Minimal/Average vs. Big Clark–Lois height gap?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</a:t>
            </a:r>
          </a:p>
        </p:txBody>
      </p:sp>
      <p:sp>
        <p:nvSpPr>
          <p:cNvPr id="1028" name="prose" descr=""/>
          <p:cNvSpPr/>
          <p:nvPr/>
        </p:nvSpPr>
        <p:spPr>
          <a:xfrm>
            <a:off x="1097280" y="263347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Null hypothesis — all group means are equal:</a:t>
            </a:r>
          </a:p>
        </p:txBody>
      </p:sp>
      <p:sp>
        <p:nvSpPr>
          <p:cNvPr id="1029" name="prose" descr=""/>
          <p:cNvSpPr/>
          <p:nvPr/>
        </p:nvSpPr>
        <p:spPr>
          <a:xfrm>
            <a:off x="1097280" y="290779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H_0: \mu_1 = \mu_2 = \dots = \mu_k</a:t>
            </a:r>
          </a:p>
        </p:txBody>
      </p:sp>
      <p:sp>
        <p:nvSpPr>
          <p:cNvPr id="1030" name="prose" descr=""/>
          <p:cNvSpPr/>
          <p:nvPr/>
        </p:nvSpPr>
        <p:spPr>
          <a:xfrm>
            <a:off x="1097280" y="318211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Alternative hypothesis — at least one group mean differs:</a:t>
            </a:r>
          </a:p>
        </p:txBody>
      </p:sp>
      <p:sp>
        <p:nvSpPr>
          <p:cNvPr id="1031" name="prose" descr=""/>
          <p:cNvSpPr/>
          <p:nvPr/>
        </p:nvSpPr>
        <p:spPr>
          <a:xfrm>
            <a:off x="1097280" y="345643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H_1: \text{at least one } \mu_i \text{ is different}</a:t>
            </a:r>
          </a:p>
        </p:txBody>
      </p:sp>
      <p:sp>
        <p:nvSpPr>
          <p:cNvPr id="1032" name="callout-note" descr="note callout: Note. Rejecting H_0 does not tell us which groups differ — that is what post-hoc tests are for."/>
          <p:cNvSpPr/>
          <p:nvPr/>
        </p:nvSpPr>
        <p:spPr>
          <a:xfrm>
            <a:off x="1097280" y="3730752"/>
            <a:ext cx="9994392" cy="89916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0066CC"/>
            </a:solidFill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33" name="callout-title" descr=""/>
          <p:cNvSpPr/>
          <p:nvPr/>
        </p:nvSpPr>
        <p:spPr>
          <a:xfrm>
            <a:off x="1097280" y="3730752"/>
            <a:ext cx="9994392" cy="320040"/>
          </a:xfrm>
          <a:prstGeom prst="roundRect">
            <a:avLst>
              <a:gd name="adj" fmla="val 6000"/>
            </a:avLst>
          </a:prstGeom>
          <a:solidFill>
            <a:srgbClr val="0066CC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FEFDFA"/>
                </a:solidFill>
              </a:rPr>
              <a:t>Note</a:t>
            </a:r>
          </a:p>
        </p:txBody>
      </p:sp>
      <p:sp>
        <p:nvSpPr>
          <p:cNvPr id="1034" name="callout-body" descr=""/>
          <p:cNvSpPr/>
          <p:nvPr/>
        </p:nvSpPr>
        <p:spPr>
          <a:xfrm>
            <a:off x="1097280" y="4050792"/>
            <a:ext cx="9994392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Rejecting H_0 does not tell us which groups differ — that is what post-hoc tests are for.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Logic: Partitioning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total variability in the DV can be split into two parts: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t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a</m:t>
                          </m:r>
                          <m:r>
                            <m:t>l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b</m:t>
                          </m:r>
                          <m:r>
                            <m:t>e</m:t>
                          </m:r>
                          <m:r>
                            <m:t>t</m:t>
                          </m:r>
                          <m:r>
                            <m:t>w</m:t>
                          </m:r>
                          <m:r>
                            <m:t>e</m:t>
                          </m:r>
                          <m:r>
                            <m:t>e</m:t>
                          </m:r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S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w</m:t>
                          </m:r>
                          <m:r>
                            <m:t>i</m:t>
                          </m:r>
                          <m:r>
                            <m:t>t</m:t>
                          </m:r>
                          <m:r>
                            <m:t>h</m:t>
                          </m:r>
                          <m:r>
                            <m:t>i</m:t>
                          </m:r>
                          <m:r>
                            <m:t>n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  <m:r>
                          <m:t>e</m:t>
                        </m:r>
                        <m:r>
                          <m:t>t</m:t>
                        </m:r>
                        <m:r>
                          <m:t>w</m:t>
                        </m:r>
                        <m:r>
                          <m:t>e</m:t>
                        </m:r>
                        <m:r>
                          <m:t>e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variability </a:t>
                </a:r>
                <a:r>
                  <a:rPr b="1"/>
                  <a:t>due to group differences</a:t>
                </a:r>
                <a:r>
                  <a:rPr/>
                  <a:t> (the effect of the IV, plus noise)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w</m:t>
                        </m:r>
                        <m:r>
                          <m:t>i</m:t>
                        </m:r>
                        <m:r>
                          <m:t>t</m:t>
                        </m:r>
                        <m:r>
                          <m:t>h</m:t>
                        </m:r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variability </a:t>
                </a:r>
                <a:r>
                  <a:rPr b="1"/>
                  <a:t>inside each group</a:t>
                </a:r>
                <a:r>
                  <a:rPr/>
                  <a:t> (noise/error only)</a:t>
                </a:r>
              </a:p>
              <a:p>
                <a:pPr lvl="0" indent="0" marL="0">
                  <a:buNone/>
                </a:pPr>
                <a:r>
                  <a:rPr/>
                  <a:t>If the IV has no effect,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  <m:r>
                          <m:t>e</m:t>
                        </m:r>
                        <m:r>
                          <m:t>t</m:t>
                        </m:r>
                        <m:r>
                          <m:t>w</m:t>
                        </m:r>
                        <m:r>
                          <m:t>e</m:t>
                        </m:r>
                        <m:r>
                          <m:t>e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is just noise too — and the two parts will be about the same size (per degree of freedom).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F</a:t>
            </a:r>
            <a:r>
              <a:rPr/>
              <a:t> Ratio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b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  <m:r>
                                <m:t>w</m:t>
                              </m:r>
                              <m:r>
                                <m:t>e</m:t>
                              </m:r>
                              <m:r>
                                <m:t>e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t</m:t>
                              </m:r>
                              <m:r>
                                <m:t>h</m:t>
                              </m:r>
                              <m:r>
                                <m:t>i</m:t>
                              </m:r>
                              <m:r>
                                <m:t>n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b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  <m:r>
                                <m:t>w</m:t>
                              </m:r>
                              <m:r>
                                <m:t>e</m:t>
                              </m:r>
                              <m:r>
                                <m:t>e</m:t>
                              </m:r>
                              <m:r>
                                <m:t>n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b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  <m:r>
                                <m:t>w</m:t>
                              </m:r>
                              <m:r>
                                <m:t>e</m:t>
                              </m:r>
                              <m:r>
                                <m:t>e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t</m:t>
                              </m:r>
                              <m:r>
                                <m:t>h</m:t>
                              </m:r>
                              <m:r>
                                <m:t>i</m:t>
                              </m:r>
                              <m:r>
                                <m:t>n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t</m:t>
                              </m:r>
                              <m:r>
                                <m:t>h</m:t>
                              </m:r>
                              <m:r>
                                <m:t>i</m:t>
                              </m:r>
                              <m:r>
                                <m:t>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b</m:t>
                        </m:r>
                        <m:r>
                          <m:t>e</m:t>
                        </m:r>
                        <m:r>
                          <m:t>t</m:t>
                        </m:r>
                        <m:r>
                          <m:t>w</m:t>
                        </m:r>
                        <m:r>
                          <m:t>e</m:t>
                        </m:r>
                        <m:r>
                          <m:t>e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k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(groups minus one)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w</m:t>
                        </m:r>
                        <m:r>
                          <m:t>i</m:t>
                        </m:r>
                        <m:r>
                          <m:t>t</m:t>
                        </m:r>
                        <m:r>
                          <m:t>h</m:t>
                        </m:r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(cases minus groups)</a:t>
                </a:r>
              </a:p>
              <a:p>
                <a:pPr lvl="0"/>
                <a14:m>
                  <m:oMath xmlns:m="http://schemas.openxmlformats.org/officeDocument/2006/math">
                    <m:r>
                      <m:t>F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 → group differences are no bigger than noise → </a:t>
                </a:r>
                <a:r>
                  <a:rPr b="1"/>
                  <a:t>fail to reject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F</m:t>
                    </m:r>
                    <m:r>
                      <m:rPr>
                        <m:sty m:val="p"/>
                      </m:rPr>
                      <m:t>≫</m:t>
                    </m:r>
                    <m:r>
                      <m:t>1</m:t>
                    </m:r>
                  </m:oMath>
                </a14:m>
                <a:r>
                  <a:rPr/>
                  <a:t> → group differences dwarf the noise → </a:t>
                </a:r>
                <a:r>
                  <a:rPr b="1"/>
                  <a:t>reject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SPSS: Between-Groups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Menus: </a:t>
            </a:r>
            <a:r>
              <a:rPr b="1"/>
              <a:t>Analyze → Compare Means → One-Way ANOVA</a:t>
            </a:r>
          </a:p>
          <a:p>
            <a:pPr lvl="0"/>
            <a:r>
              <a:rPr/>
              <a:t>DV → </a:t>
            </a:r>
            <a:r>
              <a:rPr i="1"/>
              <a:t>Dependent List</a:t>
            </a:r>
          </a:p>
          <a:p>
            <a:pPr lvl="0"/>
            <a:r>
              <a:rPr/>
              <a:t>IV → </a:t>
            </a:r>
            <a:r>
              <a:rPr i="1"/>
              <a:t>Factor</a:t>
            </a:r>
          </a:p>
          <a:p>
            <a:pPr lvl="0"/>
            <a:r>
              <a:rPr/>
              <a:t>Options → </a:t>
            </a:r>
            <a:r>
              <a:rPr b="1"/>
              <a:t>Descriptives</a:t>
            </a:r>
          </a:p>
          <a:p>
            <a:pPr lvl="0"/>
            <a:r>
              <a:rPr/>
              <a:t>Post Hoc → </a:t>
            </a:r>
            <a:r>
              <a:rPr b="1"/>
              <a:t>Tukey</a:t>
            </a:r>
          </a:p>
          <a:p>
            <a:pPr lvl="0" indent="0" marL="0">
              <a:buNone/>
            </a:pPr>
            <a:r>
              <a:rPr/>
              <a:t>one-way.sps</a:t>
            </a:r>
          </a:p>
          <a:p>
            <a:pPr lvl="0" indent="0">
              <a:buNone/>
            </a:pPr>
            <a:r>
              <a:rPr>
                <a:latin typeface="Courier"/>
              </a:rPr>
              <a:t>ONEWAY emotional_impact BY height_gap_2cat
  /STATISTICS DESCRIPTIVES
  /POSTHOC=TUKEY ALPHA(0.05).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Descriptives table: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t>D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t>E</m:t>
                    </m:r>
                  </m:oMath>
                </a14:m>
                <a:r>
                  <a:rPr/>
                  <a:t> for each group — always report these.</a:t>
                </a:r>
              </a:p>
              <a:p>
                <a:pPr lvl="0" indent="0" marL="0">
                  <a:buNone/>
                </a:pPr>
                <a:r>
                  <a:rPr b="1"/>
                  <a:t>ANOVA table: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t>S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f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t>S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(Sig.) for Between Groups and Within Groups.</a:t>
                </a:r>
              </a:p>
              <a:p>
                <a:pPr lvl="0" indent="0" marL="0">
                  <a:buNone/>
                </a:pPr>
                <a:r>
                  <a:rPr/>
                  <a:t>Decision rule: if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.05</m:t>
                    </m:r>
                  </m:oMath>
                </a14:m>
                <a:r>
                  <a:rPr/>
                  <a:t>, reject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— at least two group means differ.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Effect Size: Eta-Squared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η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b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  <m:r>
                                <m:t>w</m:t>
                              </m:r>
                              <m:r>
                                <m:t>e</m:t>
                              </m:r>
                              <m:r>
                                <m:t>e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proportion of variability in the DV explained by the IV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Rules of thumb (Cohen):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η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.01</m:t>
                    </m:r>
                  </m:oMath>
                </a14:m>
                <a:r>
                  <a:rPr/>
                  <a:t> → small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η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.06</m:t>
                    </m:r>
                  </m:oMath>
                </a14:m>
                <a:r>
                  <a:rPr/>
                  <a:t> → medium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η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.14</m:t>
                    </m:r>
                  </m:oMath>
                </a14:m>
                <a:r>
                  <a:rPr/>
                  <a:t> → large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Tests: Which Groups Differ?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significant omnibus </a:t>
            </a:r>
            <a:r>
              <a:rPr i="1"/>
              <a:t>F</a:t>
            </a:r>
            <a:r>
              <a:rPr/>
              <a:t> says differences exist </a:t>
            </a:r>
            <a:r>
              <a:rPr b="1"/>
              <a:t>somewhere</a:t>
            </a:r>
            <a:r>
              <a:rPr/>
              <a:t> — post-hoc tests locate them.</a:t>
            </a:r>
          </a:p>
          <a:p>
            <a:pPr lvl="0" indent="0" marL="0">
              <a:buNone/>
            </a:pPr>
            <a:r>
              <a:rPr b="1"/>
              <a:t>Tukey’s HSD</a:t>
            </a:r>
            <a:r>
              <a:rPr/>
              <a:t> (Honestly Significant Difference):</a:t>
            </a:r>
          </a:p>
          <a:p>
            <a:pPr lvl="0"/>
            <a:r>
              <a:rPr/>
              <a:t>Compares </a:t>
            </a:r>
            <a:r>
              <a:rPr b="1"/>
              <a:t>every pair</a:t>
            </a:r>
            <a:r>
              <a:rPr/>
              <a:t> of group means</a:t>
            </a:r>
          </a:p>
          <a:p>
            <a:pPr lvl="0"/>
            <a:r>
              <a:rPr/>
              <a:t>Controls the familywise error rate across all pairs</a:t>
            </a:r>
          </a:p>
          <a:p>
            <a:pPr lvl="0"/>
            <a:r>
              <a:rPr/>
              <a:t>The standard choice for between-groups designs</a:t>
            </a:r>
          </a:p>
          <a:p>
            <a:pPr lvl="0" indent="0" marL="0">
              <a:buNone/>
            </a:pPr>
            <a:r>
              <a:rPr/>
              <a:t>With only </a:t>
            </a:r>
            <a:r>
              <a:rPr b="1"/>
              <a:t>two</a:t>
            </a:r>
            <a:r>
              <a:rPr/>
              <a:t> groups, the post-hoc can only agree with the omnibus test — it matters most with 3+ groups (coming in Lab 11).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APA Write-Up Template</a:t>
            </a:r>
          </a:p>
        </p:txBody>
      </p:sp>
      <p:sp>
        <p:nvSpPr>
          <p:cNvPr id="1035" name="box-post-it" descr="box: . A between-groups one-way ANOVA showed a significant effect of [IV] on [DV], F(dfbetween, dfwithin) = X.XX, p = .XXX, \eta^2 = .XX. [Group A] (M = X.XX, SD = X.XX) scored higher/lower than [Group B] (M = X.XX, SD = X.XX).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A between-groups one-way ANOVA showed a significant effect of [IV] on [DV], F(dfbetween, dfwithin) = X.XX, p = .XXX, \eta^2 = .XX. [Group A] (M = X.XX, SD = X.XX) scored higher/lower than [Group B] (M = X.XX, SD = X.XX).</a:t>
            </a:r>
          </a:p>
        </p:txBody>
      </p:sp>
      <p:sp>
        <p:nvSpPr>
          <p:cNvPr id="1036" name="prose" descr=""/>
          <p:cNvSpPr/>
          <p:nvPr/>
        </p:nvSpPr>
        <p:spPr>
          <a:xfrm>
            <a:off x="1097280" y="327355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Report: test type, F with both df, exact p (or p &lt; .001), effect size, and group descriptives.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Within-Groups One-Way 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It</a:t>
            </a:r>
          </a:p>
        </p:txBody>
      </p:sp>
      <p:sp>
        <p:nvSpPr>
          <p:cNvPr id="1037" name="box-post-it" descr="box: . Factor: one categorical variable with 2 or more conditionsDesign: the same cases measured in every condition (repeated measures)DV: one quantitative variable per condition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Factor: one categorical variable with 2 or more conditionsDesign: the same cases measured in every condition (repeated measures)DV: one quantitative variable per condition</a:t>
            </a:r>
          </a:p>
        </p:txBody>
      </p:sp>
      <p:sp>
        <p:nvSpPr>
          <p:cNvPr id="1038" name="prose" descr=""/>
          <p:cNvSpPr/>
          <p:nvPr/>
        </p:nvSpPr>
        <p:spPr>
          <a:xfrm>
            <a:off x="1097280" y="327355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Today’s example (RH2): For the same Superman movies, does emotional impact differ from aesthetic appeal?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</a:t>
                </a:r>
                <a:r>
                  <a:rPr/>
                  <a:t> — the condition means are equal: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Alternative:</a:t>
                </a:r>
                <a:r>
                  <a:rPr/>
                  <a:t> at least one condition mean differs — same form as between-groups, but the </a:t>
                </a:r>
                <a:r>
                  <a:rPr i="1"/>
                  <a:t>error term</a:t>
                </a:r>
                <a:r>
                  <a:rPr/>
                  <a:t> changes.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Logic: Removing Person-to-Person Noise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Cases differ from each other for all sorts of reasons. In a between-groups design that variability lands in the </a:t>
                </a:r>
                <a:r>
                  <a:rPr b="1"/>
                  <a:t>error term</a:t>
                </a:r>
                <a:r>
                  <a:rPr/>
                  <a:t>, inflating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w</m:t>
                        </m:r>
                        <m:r>
                          <m:t>i</m:t>
                        </m:r>
                        <m:r>
                          <m:t>t</m:t>
                        </m:r>
                        <m:r>
                          <m:t>h</m:t>
                        </m:r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In a within-groups design each case serves as </a:t>
                </a:r>
                <a:r>
                  <a:rPr b="1"/>
                  <a:t>its own control</a:t>
                </a:r>
                <a:r>
                  <a:rPr/>
                  <a:t>: variability due to consistent case differences is </a:t>
                </a:r>
                <a:r>
                  <a:rPr b="1"/>
                  <a:t>removed from the error term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Result: a smaller error term → a larger </a:t>
                </a:r>
                <a:r>
                  <a:rPr i="1"/>
                  <a:t>F</a:t>
                </a:r>
                <a:r>
                  <a:rPr/>
                  <a:t> → </a:t>
                </a:r>
                <a:r>
                  <a:rPr b="1"/>
                  <a:t>more statistical power</a:t>
                </a:r>
                <a:r>
                  <a:rPr/>
                  <a:t> than a between-groups design with the same cases.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SPSS: Within-Groups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Menus: </a:t>
            </a:r>
            <a:r>
              <a:rPr b="1"/>
              <a:t>Analyze → General Linear Model → Repeated Measures</a:t>
            </a:r>
          </a:p>
          <a:p>
            <a:pPr lvl="0"/>
            <a:r>
              <a:rPr/>
              <a:t>Name the within-subject factor and number of levels</a:t>
            </a:r>
          </a:p>
          <a:p>
            <a:pPr lvl="0"/>
            <a:r>
              <a:rPr/>
              <a:t>Move the condition variables into </a:t>
            </a:r>
            <a:r>
              <a:rPr i="1"/>
              <a:t>Within-Subjects Variables</a:t>
            </a:r>
          </a:p>
          <a:p>
            <a:pPr lvl="0"/>
            <a:r>
              <a:rPr/>
              <a:t>Options → </a:t>
            </a:r>
            <a:r>
              <a:rPr b="1"/>
              <a:t>Descriptives</a:t>
            </a:r>
            <a:r>
              <a:rPr/>
              <a:t>, </a:t>
            </a:r>
            <a:r>
              <a:rPr b="1"/>
              <a:t>Estimates of effect size</a:t>
            </a:r>
            <a:r>
              <a:rPr/>
              <a:t>, </a:t>
            </a:r>
            <a:r>
              <a:rPr b="1"/>
              <a:t>Bonferroni</a:t>
            </a:r>
            <a:r>
              <a:rPr/>
              <a:t> comparisons</a:t>
            </a:r>
          </a:p>
          <a:p>
            <a:pPr lvl="0" indent="0" marL="0">
              <a:buNone/>
            </a:pPr>
            <a:r>
              <a:rPr/>
              <a:t>repeated.sps</a:t>
            </a:r>
          </a:p>
          <a:p>
            <a:pPr lvl="0" indent="0">
              <a:buNone/>
            </a:pPr>
            <a:r>
              <a:rPr>
                <a:latin typeface="Courier"/>
              </a:rPr>
              <a:t>GLM emotional_impact aesthetic_appeal
  /WSFACTOR=condition 2 Polynomial
  /METHOD=SSTYPE(3)
  /PRINT=DESCRIPTIVE ETASQ
  /EMMEANS=TABLES(condition) COMPARE ADJ(BONFERRONI)
  /CRITERIA=ALPHA(.05)
  /WSDESIGN=condition.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Check: Sphericity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Sphericity:</a:t>
                </a:r>
                <a:r>
                  <a:rPr/>
                  <a:t> the variances of the </a:t>
                </a:r>
                <a:r>
                  <a:rPr i="1"/>
                  <a:t>differences</a:t>
                </a:r>
                <a:r>
                  <a:rPr/>
                  <a:t> between every pair of conditions should be roughly equal.</a:t>
                </a:r>
              </a:p>
              <a:p>
                <a:pPr lvl="0" indent="0" marL="0">
                  <a:buNone/>
                </a:pPr>
                <a:r>
                  <a:rPr b="1"/>
                  <a:t>Mauchly’s test</a:t>
                </a:r>
                <a:r>
                  <a:rPr/>
                  <a:t> checks this — if it is </a:t>
                </a:r>
                <a:r>
                  <a:rPr i="1"/>
                  <a:t>significant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.05</m:t>
                    </m:r>
                  </m:oMath>
                </a14:m>
                <a:r>
                  <a:rPr/>
                  <a:t>), sphericity is violated.</a:t>
                </a:r>
              </a:p>
              <a:p>
                <a:pPr lvl="0" indent="0" marL="0">
                  <a:buNone/>
                </a:pPr>
                <a:r>
                  <a:rPr/>
                  <a:t>Violated? Use a corrected </a:t>
                </a:r>
                <a:r>
                  <a:rPr i="1"/>
                  <a:t>F</a:t>
                </a:r>
                <a:r>
                  <a:rPr/>
                  <a:t> test:</a:t>
                </a:r>
              </a:p>
              <a:p>
                <a:pPr lvl="0"/>
                <a:r>
                  <a:rPr b="1"/>
                  <a:t>Greenhouse–Geisser</a:t>
                </a:r>
                <a:r>
                  <a:rPr/>
                  <a:t> (more conservative)</a:t>
                </a:r>
              </a:p>
              <a:p>
                <a:pPr lvl="0"/>
                <a:r>
                  <a:rPr b="1"/>
                  <a:t>Huynh–Feldt</a:t>
                </a:r>
                <a:r>
                  <a:rPr/>
                  <a:t> (less conservative)</a:t>
                </a:r>
              </a:p>
              <a:p>
                <a:pPr lvl="0" indent="0" marL="0">
                  <a:buNone/>
                </a:pPr>
                <a:r>
                  <a:rPr/>
                  <a:t>With only </a:t>
                </a:r>
                <a:r>
                  <a:rPr b="1"/>
                  <a:t>two</a:t>
                </a:r>
                <a:r>
                  <a:rPr/>
                  <a:t> conditions there is only one difference score — sphericity cannot be violated and Mauchly’s test is not computed.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Post-Hocs for Repeated Measures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3+ conditions, follow a significant </a:t>
                </a:r>
                <a:r>
                  <a:rPr i="1"/>
                  <a:t>F</a:t>
                </a:r>
                <a:r>
                  <a:rPr/>
                  <a:t> with </a:t>
                </a:r>
                <a:r>
                  <a:rPr b="1"/>
                  <a:t>pairwise comparisons</a:t>
                </a:r>
                <a:r>
                  <a:rPr/>
                  <a:t> across conditions.</a:t>
                </a:r>
              </a:p>
              <a:p>
                <a:pPr lvl="0" indent="0" marL="0">
                  <a:buNone/>
                </a:pPr>
                <a:r>
                  <a:rPr/>
                  <a:t>SPSS provides these via Estimated Marginal Means with a </a:t>
                </a:r>
                <a:r>
                  <a:rPr b="1"/>
                  <a:t>Bonferroni adjustment</a:t>
                </a:r>
                <a:r>
                  <a:rPr/>
                  <a:t> — multiplying each </a:t>
                </a:r>
                <a:r>
                  <a:rPr i="1"/>
                  <a:t>p</a:t>
                </a:r>
                <a:r>
                  <a:rPr/>
                  <a:t> by the number of comparisons to keep the familywise error at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APA Write-Up Template</a:t>
            </a:r>
          </a:p>
        </p:txBody>
      </p:sp>
      <p:sp>
        <p:nvSpPr>
          <p:cNvPr id="1039" name="box-post-it" descr="box: . A within-groups one-way ANOVA showed a significant difference between [conditions], F(df1, df2) = X.XX, p = .XXX, \eta^2 = .XX. [Condition A] (M = X.XX, SD = X.XX) was higher/lower than [Condition B] (M = X.XX, SD = X.XX)."/>
          <p:cNvSpPr/>
          <p:nvPr/>
        </p:nvSpPr>
        <p:spPr>
          <a:xfrm>
            <a:off x="1097280" y="2633472"/>
            <a:ext cx="9994392" cy="54864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A within-groups one-way ANOVA showed a significant difference between [conditions], F(df1, df2) = X.XX, p = .XXX, \eta^2 = .XX. [Condition A] (M = X.XX, SD = X.XX) was higher/lower than [Condition B] (M = X.XX, SD = X.XX).</a:t>
            </a:r>
          </a:p>
        </p:txBody>
      </p:sp>
      <p:sp>
        <p:nvSpPr>
          <p:cNvPr id="1040" name="prose" descr=""/>
          <p:cNvSpPr/>
          <p:nvPr/>
        </p:nvSpPr>
        <p:spPr>
          <a:xfrm>
            <a:off x="1097280" y="3273552"/>
            <a:ext cx="9994392" cy="18288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If sphericity was violated, note the correction: e.g., “Greenhouse–Geisser corrected.”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Choosing the Right Test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Between or Within?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 one question:</a:t>
            </a:r>
            <a:r>
              <a:rPr/>
              <a:t> are the groups/conditions made of </a:t>
            </a:r>
            <a:r>
              <a:rPr b="1"/>
              <a:t>different cases</a:t>
            </a:r>
            <a:r>
              <a:rPr/>
              <a:t> or the </a:t>
            </a:r>
            <a:r>
              <a:rPr b="1"/>
              <a:t>same cases measured repeatedly</a:t>
            </a:r>
            <a:r>
              <a:rPr/>
              <a:t>?</a:t>
            </a:r>
          </a:p>
          <a:p>
            <a:pPr lvl="0"/>
            <a:r>
              <a:rPr/>
              <a:t>Different cases in each group → </a:t>
            </a:r>
            <a:r>
              <a:rPr b="1"/>
              <a:t>between-groups</a:t>
            </a:r>
            <a:r>
              <a:rPr/>
              <a:t> ANOVA</a:t>
            </a:r>
          </a:p>
          <a:p>
            <a:pPr lvl="0"/>
            <a:r>
              <a:rPr/>
              <a:t>Same cases in every condition → </a:t>
            </a:r>
            <a:r>
              <a:rPr b="1"/>
              <a:t>within-groups</a:t>
            </a:r>
            <a:r>
              <a:rPr/>
              <a:t> ANOVA</a:t>
            </a:r>
          </a:p>
          <a:p>
            <a:pPr lvl="0" indent="0" marL="0">
              <a:buNone/>
            </a:pPr>
            <a:r>
              <a:rPr/>
              <a:t>Everything else — hypotheses, </a:t>
            </a:r>
            <a:r>
              <a:rPr i="1"/>
              <a:t>F</a:t>
            </a:r>
            <a:r>
              <a:rPr/>
              <a:t> logic, post-hoc reasoning, APA reporting — is parallel. Only the </a:t>
            </a:r>
            <a:r>
              <a:rPr b="1"/>
              <a:t>error term</a:t>
            </a:r>
            <a:r>
              <a:rPr/>
              <a:t> (and sphericity check) changes.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Turn: BG or WG?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RH3:</a:t>
            </a:r>
            <a:r>
              <a:rPr/>
              <a:t> Scoville ratings of sauce #1 vs. sauce #10 </a:t>
            </a:r>
            <a:r>
              <a:rPr b="1"/>
              <a:t>within the same episodes</a:t>
            </a:r>
            <a:r>
              <a:rPr/>
              <a:t> → ?</a:t>
            </a:r>
          </a:p>
          <a:p>
            <a:pPr lvl="0" indent="0" marL="0">
              <a:buNone/>
            </a:pPr>
            <a:r>
              <a:rPr b="1"/>
              <a:t>RH4:</a:t>
            </a:r>
            <a:r>
              <a:rPr/>
              <a:t> YouTube views for guests who are </a:t>
            </a:r>
            <a:r>
              <a:rPr b="1"/>
              <a:t>actors vs. non-actors</a:t>
            </a:r>
            <a:r>
              <a:rPr/>
              <a:t> → ?</a:t>
            </a:r>
          </a:p>
          <a:p>
            <a:pPr lvl="0" indent="0" marL="0">
              <a:buNone/>
            </a:pPr>
            <a:r>
              <a:rPr b="1"/>
              <a:t>RH5:</a:t>
            </a:r>
            <a:r>
              <a:rPr/>
              <a:t> Comments vs. likes </a:t>
            </a:r>
            <a:r>
              <a:rPr b="1"/>
              <a:t>for each episode</a:t>
            </a:r>
            <a:r>
              <a:rPr/>
              <a:t> → ?</a:t>
            </a:r>
          </a:p>
          <a:p>
            <a:pPr lvl="0" indent="0" marL="0">
              <a:buNone/>
            </a:pPr>
            <a:r>
              <a:rPr b="1"/>
              <a:t>RH6:</a:t>
            </a:r>
            <a:r>
              <a:rPr/>
              <a:t> Likes for episodes with </a:t>
            </a:r>
            <a:r>
              <a:rPr b="1"/>
              <a:t>younger vs. older</a:t>
            </a:r>
            <a:r>
              <a:rPr/>
              <a:t> guests → 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Turn: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RH3:</a:t>
            </a:r>
            <a:r>
              <a:rPr/>
              <a:t> within-groups (same episodes, two sauces)</a:t>
            </a:r>
          </a:p>
          <a:p>
            <a:pPr lvl="0"/>
            <a:r>
              <a:rPr b="1"/>
              <a:t>RH4:</a:t>
            </a:r>
            <a:r>
              <a:rPr/>
              <a:t> between-groups (different guests)</a:t>
            </a:r>
          </a:p>
          <a:p>
            <a:pPr lvl="0"/>
            <a:r>
              <a:rPr b="1"/>
              <a:t>RH5:</a:t>
            </a:r>
            <a:r>
              <a:rPr/>
              <a:t> within-groups (same episodes, two measures)</a:t>
            </a:r>
          </a:p>
          <a:p>
            <a:pPr lvl="0"/>
            <a:r>
              <a:rPr b="1"/>
              <a:t>RH6:</a:t>
            </a:r>
            <a:r>
              <a:rPr/>
              <a:t> between-groups (different guests)</a:t>
            </a:r>
          </a:p>
          <a:p>
            <a:pPr lvl="0" indent="0" marL="0">
              <a:buNone/>
            </a:pPr>
            <a:r>
              <a:rPr/>
              <a:t>If you can identify the design, you can run the right ANOVA. Now run them in SPSS and check your statistics with the </a:t>
            </a:r>
            <a:r>
              <a:rPr b="1"/>
              <a:t>Homework Checker</a:t>
            </a:r>
            <a:r>
              <a:rPr/>
              <a:t> on the lab page!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1041" name="box-post-it" descr="box: . ANOVA = one omnibus test for mean differences across 2+ groups/conditions, protecting the Type I error rateF = MS_{between} / MS_{within}: signal compared to noiseSignificant F → post-hoc tests (Tukey BG / Bonferroni WG) locate the differencesWithin-groups designs remove person-to-person noise → more power, but check sphericityReport F(df, df), p, \eta^2, and group/condition descriptives"/>
          <p:cNvSpPr/>
          <p:nvPr/>
        </p:nvSpPr>
        <p:spPr>
          <a:xfrm>
            <a:off x="1097280" y="2633472"/>
            <a:ext cx="9994392" cy="91440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ANOVA = one omnibus test for mean differences across 2+ groups/conditions, protecting the Type I error rateF = MS_{between} / MS_{within}: signal compared to noiseSignificant F → post-hoc tests (Tukey BG / Bonferroni WG) locate the differencesWithin-groups designs remove person-to-person noise → more power, but check sphericityReport F(df, df), p, \eta^2, and group/condition descriptives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Week</a:t>
            </a:r>
          </a:p>
        </p:txBody>
      </p:sp>
      <p:sp>
        <p:nvSpPr>
          <p:cNvPr id="1042" name="box-post-it" descr="box: . Lab 09: Project Analyses Selecting the right statistic for your research questionRunning the class project analyses Bring your project data decisions!"/>
          <p:cNvSpPr/>
          <p:nvPr/>
        </p:nvSpPr>
        <p:spPr>
          <a:xfrm>
            <a:off x="1097280" y="2633472"/>
            <a:ext cx="9994392" cy="731520"/>
          </a:xfrm>
          <a:prstGeom prst="roundRect">
            <a:avLst>
              <a:gd name="adj" fmla="val 6000"/>
            </a:avLst>
          </a:prstGeom>
          <a:solidFill>
            <a:srgbClr val="FFF9C4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200" b="0" dirty="0">
                <a:solidFill>
                  <a:srgbClr val="010B13"/>
                </a:solidFill>
              </a:rPr>
              <a:t>Lab 09: Project Analyses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Selecting the right statistic for your research questionRunning the class project analyses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Bring your project data decisions!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Assignments &amp; Reminders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Given this week:</a:t>
            </a:r>
          </a:p>
          <a:p>
            <a:pPr lvl="0"/>
            <a:r>
              <a:rPr/>
              <a:t>Submit to your lab section before week 9: ANOVA worksheet</a:t>
            </a:r>
          </a:p>
          <a:p>
            <a:pPr lvl="0" indent="0" marL="0">
              <a:buNone/>
            </a:pPr>
            <a:r>
              <a:rPr b="1"/>
              <a:t>Due this week:</a:t>
            </a:r>
          </a:p>
          <a:p>
            <a:pPr lvl="0"/>
            <a:r>
              <a:rPr/>
              <a:t>Lab 07: Correlations &amp; Chi-square worksheet</a:t>
            </a:r>
          </a:p>
          <a:p>
            <a:pPr lvl="0" indent="0" marL="0">
              <a:buNone/>
            </a:pPr>
            <a:r>
              <a:rPr/>
              <a:t>Submit to your lab section in Canvas by 11:59pm the day before your lab meets.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One-Way ANOVAs</dc:title>
  <dc:creator>PSYCH 350-Lab</dc:creator>
  <cp:keywords/>
  <dcterms:created xsi:type="dcterms:W3CDTF">2026-08-13T23:51:28Z</dcterms:created>
  <dcterms:modified xsi:type="dcterms:W3CDTF">2026-08-13T23:51:28Z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back-to-top-navigation">
    <vt:lpwstr>True</vt:lpwstr>
  </property>
  <property fmtid="{D5CDD505-2E9C-101B-9397-08002B2CF9AE}" pid="5" name="biblio-config">
    <vt:lpwstr>True</vt:lpwstr>
  </property>
  <property fmtid="{D5CDD505-2E9C-101B-9397-08002B2CF9AE}" pid="6" name="by-author">
    <vt:lpwstr/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ack-link">
    <vt:lpwstr>False</vt:lpwstr>
  </property>
  <property fmtid="{D5CDD505-2E9C-101B-9397-08002B2CF9AE}" pid="11" name="include-before">
    <vt:lpwstr/>
  </property>
  <property fmtid="{D5CDD505-2E9C-101B-9397-08002B2CF9AE}" pid="12" name="knitr">
    <vt:lpwstr>True</vt:lpwstr>
  </property>
  <property fmtid="{D5CDD505-2E9C-101B-9397-08002B2CF9AE}" pid="13" name="labels">
    <vt:lpwstr/>
  </property>
  <property fmtid="{D5CDD505-2E9C-101B-9397-08002B2CF9AE}" pid="14" name="nebraska-pptx">
    <vt:lpwstr/>
  </property>
  <property fmtid="{D5CDD505-2E9C-101B-9397-08002B2CF9AE}" pid="15" name="revealjs-plugins">
    <vt:lpwstr/>
  </property>
  <property fmtid="{D5CDD505-2E9C-101B-9397-08002B2CF9AE}" pid="16" name="subtitle">
    <vt:lpwstr>Lab 08</vt:lpwstr>
  </property>
  <property fmtid="{D5CDD505-2E9C-101B-9397-08002B2CF9AE}" pid="17" name="toc-title">
    <vt:lpwstr>Table of contents</vt:lpwstr>
  </property>
</Properties>
</file>