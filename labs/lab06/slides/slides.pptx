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p:sldMasterIdLst>
    <p:sldMasterId id="2147483696"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7524"/>
    <p:restoredTop sz="94694"/>
  </p:normalViewPr>
  <p:slideViewPr>
    <p:cSldViewPr snapToGrid="0">
      <p:cViewPr varScale="1">
        <p:scale>
          <a:sx d="100" n="119"/>
          <a:sy d="100" n="119"/>
        </p:scale>
        <p:origin x="232" y="232"/>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notesMaster" Target="notesMasters/notesMaster1.xml" /><Relationship Id="rId1" Type="http://schemas.openxmlformats.org/officeDocument/2006/relationships/slideMaster" Target="slideMasters/slideMaster1.xml" /><Relationship Id="rId23" Type="http://schemas.openxmlformats.org/officeDocument/2006/relationships/presProps" Target="presProps.xml" /><Relationship Id="rId24" Type="http://schemas.openxmlformats.org/officeDocument/2006/relationships/viewProps" Target="viewProps.xml" /><Relationship Id="rId25" Type="http://schemas.openxmlformats.org/officeDocument/2006/relationships/theme" Target="theme/theme1.xml" /><Relationship Id="rId26"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Students build the walkthrough dataset from the worksheet, so there is no separate data file to download. Ask them to keep the worksheet, SPSS data window, and syntax window open.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SPSS separates the data and commands into different windows. The Data Editor holds the working dataset; the Syntax Editor records exactly what students asked SPSS to do.</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Output Viewer accumulates tables, charts, warnings, and processing notes. This image is cropped to the table students will read during this lab.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views belong to the same Data Editor. Define names, labels, value labels, and missing values in Variable View. Then switch to Data View to enter or inspect each case. Point out the two tabs at the lower left of both screenshots.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the relevant handout visible while working. In SPSS dialog boxes, choose Paste instead of OK whenever possible. SPSS sends the command to the Syntax Editor; students can then run it, save the syntax file, and reproduce or repair the analysis without starting over.</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organizing idea for the lab. The worksheet repeats the same sequence in the take-home section.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homework checker asks whether a mean is meaningful. Type, clark_grp, and height_gap remain categorical even though SPSS stores their values as numbers.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readable labels, suitable decimals, and the worksheet’s type codes. A value of −99 is a sentinel code, not a real measurement.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 frequency table for type before transforming anything. The total and category counts should match the displayed output.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Compute into new variables rather than overwriting the original meter values. The valid sample size should remain unchanged.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Pause here and compare the two scales. The valid sample size stays the same, while the numerical values change from meters to inches.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Add variable labels and value labels after running the transformations. Verify each new variable with frequencies before moving to the next one.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Filter rather than delete excluded cases. Save the selection command in syntax so the active sample can be reconstructed.</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 active case should have a release year before 1976. If the total is not nine, return to the filter syntax before summarizing variables.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all requested summaries from saved syntax. Interpret means only for quantitative variables; use counts and percentages for categories.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Enter the requested values in the homework checker. Explain why the output has seven valid and two missing cases within the nine-case filtered sample.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Students should repeat the same one-operation, label, verify sequence. Before saving, return Select Cases to All cases and save both the data and syntax files.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generated with create_apa_univariates_table(), the same psych350lab reporting workflow used by the SPSS handouts. The worksheet template follows the same rule: M and SD for quantitative variables; N and percent for categorical levels.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final slides deliberately focus on the report. Remind students that −99 must be declared missing before any ratings summaries are computed.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097280" y="2386744"/>
            <a:ext cx="999744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1097280" y="4352544"/>
            <a:ext cx="9997440" cy="1239894"/>
          </a:xfrm>
          <a:noFill/>
        </p:spPr>
        <p:txBody>
          <a:bodyPr>
            <a:normAutofit/>
          </a:bodyPr>
          <a:lstStyle>
            <a:lvl1pPr marL="0" indent="0" algn="ctr">
              <a:buNone/>
              <a:defRPr sz="2000">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Content Placeholder 2"/>
          <p:cNvSpPr>
            <a:spLocks noGrp="1"/>
          </p:cNvSpPr>
          <p:nvPr>
            <p:ph idx="1"/>
          </p:nvPr>
        </p:nvSpPr>
        <p:spPr>
          <a:xfrm>
            <a:off x="1097280" y="2638044"/>
            <a:ext cx="9997440" cy="31019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097280" y="2386744"/>
            <a:ext cx="999744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352465"/>
            <a:ext cx="9997440"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638044"/>
            <a:ext cx="4907280"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7440" y="2638044"/>
            <a:ext cx="4907280"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1/22/26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1/22/26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1/22/26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1/22/26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1/22/26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1/22/26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1/22/26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1/22/26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Masters/_rels/slideMaster1.xml.rels><?xml version="1.0" encoding="UTF-8"?><Relationships xmlns="http://schemas.openxmlformats.org/package/2006/relationships"><Relationship Id="rId1" Target="../slideLayouts/slideLayout1.xml" Type="http://schemas.openxmlformats.org/officeDocument/2006/relationships/slideLayout" /><Relationship Id="rId2" Target="../slideLayouts/slideLayout2.xml" Type="http://schemas.openxmlformats.org/officeDocument/2006/relationships/slideLayout" /><Relationship Id="rId3" Target="../slideLayouts/slideLayout3.xml" Type="http://schemas.openxmlformats.org/officeDocument/2006/relationships/slideLayout" /><Relationship Id="rId4" Target="../slideLayouts/slideLayout4.xml" Type="http://schemas.openxmlformats.org/officeDocument/2006/relationships/slideLayout" /><Relationship Id="rId5" Target="../slideLayouts/slideLayout5.xml" Type="http://schemas.openxmlformats.org/officeDocument/2006/relationships/slideLayout" /><Relationship Id="rId6" Target="../slideLayouts/slideLayout6.xml" Type="http://schemas.openxmlformats.org/officeDocument/2006/relationships/slideLayout" /><Relationship Id="rId7" Target="../slideLayouts/slideLayout7.xml" Type="http://schemas.openxmlformats.org/officeDocument/2006/relationships/slideLayout" /><Relationship Id="rId8" Target="../slideLayouts/slideLayout8.xml" Type="http://schemas.openxmlformats.org/officeDocument/2006/relationships/slideLayout" /><Relationship Id="rId9" Target="../slideLayouts/slideLayout9.xml" Type="http://schemas.openxmlformats.org/officeDocument/2006/relationships/slideLayout" /><Relationship Id="rId10" Target="../slideLayouts/slideLayout10.xml" Type="http://schemas.openxmlformats.org/officeDocument/2006/relationships/slideLayout" /><Relationship Id="rId11" Target="../slideLayouts/slideLayout11.xml" Type="http://schemas.openxmlformats.org/officeDocument/2006/relationships/slideLayout" /><Relationship Id="rId12" Target="../theme/theme1.xml" Type="http://schemas.openxmlformats.org/officeDocument/2006/relationships/theme"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cap="sq" w="31750">
            <a:solidFill>
              <a:srgbClr val="404040"/>
            </a:solidFill>
            <a:miter lim="800000"/>
          </a:ln>
        </p:spPr>
        <p:txBody>
          <a:bodyPr anchor="ctr" bIns="182880" lIns="182880" rIns="182880" rtlCol="0" tIns="18288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2231136" y="2638044"/>
            <a:ext cx="7729728" cy="3101983"/>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7821429" y="6238816"/>
            <a:ext cx="2753746" cy="323968"/>
          </a:xfrm>
          <a:prstGeom prst="rect">
            <a:avLst/>
          </a:prstGeom>
        </p:spPr>
        <p:txBody>
          <a:bodyPr anchor="ctr" bIns="45720" lIns="91440" rIns="91440" rtlCol="0" tIns="45720" vert="horz"/>
          <a:lstStyle>
            <a:lvl1pPr algn="r">
              <a:defRPr sz="1050">
                <a:solidFill>
                  <a:schemeClr val="tx1">
                    <a:alpha val="70000"/>
                  </a:schemeClr>
                </a:solidFill>
              </a:defRPr>
            </a:lvl1pPr>
          </a:lstStyle>
          <a:p>
            <a:fld id="{1160EA64-D806-43AC-9DF2-F8C432F32B4C}" type="datetimeFigureOut">
              <a:rPr dirty="0" lang="en-US"/>
              <a:t>1/22/26</a:t>
            </a:fld>
            <a:endParaRPr dirty="0" lang="en-US"/>
          </a:p>
        </p:txBody>
      </p:sp>
      <p:sp>
        <p:nvSpPr>
          <p:cNvPr id="5" name="Footer Placeholder 4"/>
          <p:cNvSpPr>
            <a:spLocks noGrp="1"/>
          </p:cNvSpPr>
          <p:nvPr>
            <p:ph idx="3" sz="quarter" type="ftr"/>
          </p:nvPr>
        </p:nvSpPr>
        <p:spPr>
          <a:xfrm>
            <a:off x="1600200" y="6236208"/>
            <a:ext cx="5901189" cy="320040"/>
          </a:xfrm>
          <a:prstGeom prst="rect">
            <a:avLst/>
          </a:prstGeom>
        </p:spPr>
        <p:txBody>
          <a:bodyPr anchor="ctr" bIns="45720" lIns="91440" rIns="91440" rtlCol="0" tIns="45720" vert="horz"/>
          <a:lstStyle>
            <a:lvl1pPr algn="l">
              <a:defRPr sz="1050">
                <a:solidFill>
                  <a:schemeClr val="tx1">
                    <a:alpha val="70000"/>
                  </a:schemeClr>
                </a:solidFill>
              </a:defRPr>
            </a:lvl1pPr>
          </a:lstStyle>
          <a:p>
            <a:endParaRPr dirty="0" lang="en-US"/>
          </a:p>
        </p:txBody>
      </p:sp>
      <p:sp>
        <p:nvSpPr>
          <p:cNvPr id="6" name="Slide Number Placeholder 5"/>
          <p:cNvSpPr>
            <a:spLocks noGrp="1"/>
          </p:cNvSpPr>
          <p:nvPr>
            <p:ph idx="4" sz="quarter" type="sldNum"/>
          </p:nvPr>
        </p:nvSpPr>
        <p:spPr>
          <a:xfrm>
            <a:off x="10758922" y="6217920"/>
            <a:ext cx="365760" cy="365760"/>
          </a:xfrm>
          <a:prstGeom prst="ellipse">
            <a:avLst/>
          </a:prstGeom>
          <a:solidFill>
            <a:srgbClr val="1D1D1D">
              <a:alpha val="70000"/>
            </a:srgbClr>
          </a:solidFill>
        </p:spPr>
        <p:txBody>
          <a:bodyPr anchor="ctr" bIns="45720" lIns="18288" rIns="18288" rtlCol="0" tIns="45720" vert="horz">
            <a:noAutofit/>
          </a:bodyPr>
          <a:lstStyle>
            <a:lvl1pPr algn="ctr">
              <a:defRPr baseline="0" spc="0" sz="1100">
                <a:solidFill>
                  <a:srgbClr val="FFFFFF"/>
                </a:solidFill>
              </a:defRPr>
            </a:lvl1pPr>
          </a:lstStyle>
          <a:p>
            <a:fld id="{8A7A6979-0714-4377-B894-6BE4C2D6E202}" type="slidenum">
              <a:rPr dirty="0" lang="en-US"/>
              <a:pPr/>
              <a:t>‹#›</a:t>
            </a:fld>
            <a:endParaRPr dirty="0" lang="en-US"/>
          </a:p>
        </p:txBody>
      </p:sp>
    </p:spTree>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dt="0" ftr="0" hdr="0" sldNum="0"/>
  <p:txStyles>
    <p:titleStyle>
      <a:lvl1pPr algn="ctr" defTabSz="914400" eaLnBrk="1" hangingPunct="1" latinLnBrk="0" rtl="0">
        <a:lnSpc>
          <a:spcPct val="90000"/>
        </a:lnSpc>
        <a:spcBef>
          <a:spcPct val="0"/>
        </a:spcBef>
        <a:buNone/>
        <a:defRPr baseline="0" cap="all" kern="1200" spc="200" sz="2800">
          <a:solidFill>
            <a:srgbClr val="262626"/>
          </a:solidFill>
          <a:latin typeface="+mj-lt"/>
          <a:ea typeface="+mj-ea"/>
          <a:cs typeface="+mj-cs"/>
        </a:defRPr>
      </a:lvl1pPr>
    </p:titleStyle>
    <p:bodyStyle>
      <a:lvl1pPr algn="l" defTabSz="914400" eaLnBrk="1" hangingPunct="1" indent="-228600" latinLnBrk="0" marL="2286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1pPr>
      <a:lvl2pPr algn="l" defTabSz="914400" eaLnBrk="1" hangingPunct="1" indent="-228600" latinLnBrk="0" marL="4572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2pPr>
      <a:lvl3pPr algn="l" defTabSz="914400" eaLnBrk="1" hangingPunct="1" indent="-228600" latinLnBrk="0" marL="6858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3pPr>
      <a:lvl4pPr algn="l" defTabSz="914400" eaLnBrk="1" hangingPunct="1" indent="-228600" latinLnBrk="0" marL="9144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4pPr>
      <a:lvl5pPr algn="l" defTabSz="914400" eaLnBrk="1" hangingPunct="1" indent="-228600" latinLnBrk="0" marL="1143000" rtl="0">
        <a:lnSpc>
          <a:spcPct val="100000"/>
        </a:lnSpc>
        <a:spcBef>
          <a:spcPts val="1000"/>
        </a:spcBef>
        <a:buClr>
          <a:schemeClr val="accent2"/>
        </a:buClr>
        <a:buFont charset="0" panose="020B0604020202020204" pitchFamily="34" typeface="Arial"/>
        <a:buChar char="•"/>
        <a:defRPr kern="1200" sz="2000">
          <a:solidFill>
            <a:schemeClr val="tx1">
              <a:lumMod val="85000"/>
              <a:lumOff val="15000"/>
            </a:schemeClr>
          </a:solidFill>
          <a:latin typeface="+mn-lt"/>
          <a:ea typeface="+mn-ea"/>
          <a:cs typeface="+mn-cs"/>
        </a:defRPr>
      </a:lvl5pPr>
      <a:lvl6pPr algn="l" defTabSz="914400" eaLnBrk="1" hangingPunct="1" indent="-228600" latinLnBrk="0" marL="1312863" rtl="0">
        <a:lnSpc>
          <a:spcPct val="100000"/>
        </a:lnSpc>
        <a:spcBef>
          <a:spcPts val="1000"/>
        </a:spcBef>
        <a:buClr>
          <a:schemeClr val="accent2"/>
        </a:buClr>
        <a:buFont charset="0" panose="020B0604020202020204" pitchFamily="34" typeface="Arial"/>
        <a:buChar char="•"/>
        <a:defRPr kern="1200" sz="2000">
          <a:solidFill>
            <a:schemeClr val="tx1"/>
          </a:solidFill>
          <a:latin typeface="+mn-lt"/>
          <a:ea typeface="+mn-ea"/>
          <a:cs typeface="+mn-cs"/>
        </a:defRPr>
      </a:lvl6pPr>
      <a:lvl7pPr algn="l" defTabSz="914400" eaLnBrk="1" hangingPunct="1" indent="-228600" latinLnBrk="0" marL="1484313" rtl="0">
        <a:lnSpc>
          <a:spcPct val="100000"/>
        </a:lnSpc>
        <a:spcBef>
          <a:spcPts val="1000"/>
        </a:spcBef>
        <a:buClr>
          <a:schemeClr val="accent2"/>
        </a:buClr>
        <a:buFont charset="0" panose="020B0604020202020204" pitchFamily="34" typeface="Arial"/>
        <a:buChar char="•"/>
        <a:defRPr kern="1200" sz="2000">
          <a:solidFill>
            <a:schemeClr val="tx1"/>
          </a:solidFill>
          <a:latin typeface="+mn-lt"/>
          <a:ea typeface="+mn-ea"/>
          <a:cs typeface="+mn-cs"/>
        </a:defRPr>
      </a:lvl7pPr>
      <a:lvl8pPr algn="l" defTabSz="914400" eaLnBrk="1" hangingPunct="1" indent="-228600" latinLnBrk="0" marL="1657350" rtl="0">
        <a:lnSpc>
          <a:spcPct val="100000"/>
        </a:lnSpc>
        <a:spcBef>
          <a:spcPts val="1000"/>
        </a:spcBef>
        <a:buClr>
          <a:schemeClr val="accent2"/>
        </a:buClr>
        <a:buFont charset="0" panose="020B0604020202020204" pitchFamily="34" typeface="Arial"/>
        <a:buChar char="•"/>
        <a:defRPr baseline="0" kern="1200" sz="2000">
          <a:solidFill>
            <a:schemeClr val="tx1"/>
          </a:solidFill>
          <a:latin typeface="+mn-lt"/>
          <a:ea typeface="+mn-ea"/>
          <a:cs typeface="+mn-cs"/>
        </a:defRPr>
      </a:lvl8pPr>
      <a:lvl9pPr algn="l" defTabSz="914400" eaLnBrk="1" hangingPunct="1" indent="-228600" latinLnBrk="0" marL="1882775" rtl="0">
        <a:lnSpc>
          <a:spcPct val="100000"/>
        </a:lnSpc>
        <a:spcBef>
          <a:spcPts val="1000"/>
        </a:spcBef>
        <a:buClr>
          <a:schemeClr val="accent2"/>
        </a:buClr>
        <a:buFont charset="0" panose="020B0604020202020204" pitchFamily="34" typeface="Arial"/>
        <a:buChar char="•"/>
        <a:defRPr baseline="0" kern="1200" sz="2000">
          <a:solidFill>
            <a:schemeClr val="tx1"/>
          </a:solidFill>
          <a:latin typeface="+mn-lt"/>
          <a:ea typeface="+mn-ea"/>
          <a:cs typeface="+mn-cs"/>
        </a:defRPr>
      </a:lvl9pPr>
    </p:bodyStyle>
    <p:otherStyle>
      <a:defPPr>
        <a:defRPr lang="en-US"/>
      </a:defPPr>
      <a:lvl1pPr algn="l" defTabSz="914400" eaLnBrk="1" hangingPunct="1" latinLnBrk="0" marL="0" rtl="0">
        <a:defRPr kern="1200" sz="2000">
          <a:solidFill>
            <a:schemeClr val="tx1"/>
          </a:solidFill>
          <a:latin typeface="+mn-lt"/>
          <a:ea typeface="+mn-ea"/>
          <a:cs typeface="+mn-cs"/>
        </a:defRPr>
      </a:lvl1pPr>
      <a:lvl2pPr algn="l" defTabSz="914400" eaLnBrk="1" hangingPunct="1" latinLnBrk="0" marL="457200" rtl="0">
        <a:defRPr kern="1200" sz="2000">
          <a:solidFill>
            <a:schemeClr val="tx1"/>
          </a:solidFill>
          <a:latin typeface="+mn-lt"/>
          <a:ea typeface="+mn-ea"/>
          <a:cs typeface="+mn-cs"/>
        </a:defRPr>
      </a:lvl2pPr>
      <a:lvl3pPr algn="l" defTabSz="914400" eaLnBrk="1" hangingPunct="1" latinLnBrk="0" marL="914400" rtl="0">
        <a:defRPr kern="1200" sz="2000">
          <a:solidFill>
            <a:schemeClr val="tx1"/>
          </a:solidFill>
          <a:latin typeface="+mn-lt"/>
          <a:ea typeface="+mn-ea"/>
          <a:cs typeface="+mn-cs"/>
        </a:defRPr>
      </a:lvl3pPr>
      <a:lvl4pPr algn="l" defTabSz="914400" eaLnBrk="1" hangingPunct="1" latinLnBrk="0" marL="1371600" rtl="0">
        <a:defRPr kern="1200" sz="2000">
          <a:solidFill>
            <a:schemeClr val="tx1"/>
          </a:solidFill>
          <a:latin typeface="+mn-lt"/>
          <a:ea typeface="+mn-ea"/>
          <a:cs typeface="+mn-cs"/>
        </a:defRPr>
      </a:lvl4pPr>
      <a:lvl5pPr algn="l" defTabSz="914400" eaLnBrk="1" hangingPunct="1" latinLnBrk="0" marL="1828800" rtl="0">
        <a:defRPr kern="1200" sz="2000">
          <a:solidFill>
            <a:schemeClr val="tx1"/>
          </a:solidFill>
          <a:latin typeface="+mn-lt"/>
          <a:ea typeface="+mn-ea"/>
          <a:cs typeface="+mn-cs"/>
        </a:defRPr>
      </a:lvl5pPr>
      <a:lvl6pPr algn="l" defTabSz="914400" eaLnBrk="1" hangingPunct="1" latinLnBrk="0" marL="2286000" rtl="0">
        <a:defRPr kern="1200" sz="2000">
          <a:solidFill>
            <a:schemeClr val="tx1"/>
          </a:solidFill>
          <a:latin typeface="+mn-lt"/>
          <a:ea typeface="+mn-ea"/>
          <a:cs typeface="+mn-cs"/>
        </a:defRPr>
      </a:lvl6pPr>
      <a:lvl7pPr algn="l" defTabSz="914400" eaLnBrk="1" hangingPunct="1" latinLnBrk="0" marL="2743200" rtl="0">
        <a:defRPr kern="1200" sz="2000">
          <a:solidFill>
            <a:schemeClr val="tx1"/>
          </a:solidFill>
          <a:latin typeface="+mn-lt"/>
          <a:ea typeface="+mn-ea"/>
          <a:cs typeface="+mn-cs"/>
        </a:defRPr>
      </a:lvl7pPr>
      <a:lvl8pPr algn="l" defTabSz="914400" eaLnBrk="1" hangingPunct="1" latinLnBrk="0" marL="3200400" rtl="0">
        <a:defRPr kern="1200" sz="2000">
          <a:solidFill>
            <a:schemeClr val="tx1"/>
          </a:solidFill>
          <a:latin typeface="+mn-lt"/>
          <a:ea typeface="+mn-ea"/>
          <a:cs typeface="+mn-cs"/>
        </a:defRPr>
      </a:lvl8pPr>
      <a:lvl9pPr algn="l" defTabSz="914400" eaLnBrk="1" hangingPunct="1" latinLnBrk="0" marL="3657600" rtl="0">
        <a:defRPr kern="1200" sz="20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
  <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unlpsychstats.github.io/UNL-PSYC350-LAB/labs/lab06/slides/downloads/lab06_data_univariate.docx" TargetMode="External"/>
  <Relationship Id="rId4" Type="http://schemas.openxmlformats.org/officeDocument/2006/relationships/hyperlink" Target="https://unlpsychstats.github.io/PSYC350-spss-handouts/A1.data_entry_spss_handout_simple.pdf" TargetMode="External"/>
  <Relationship Id="rId5" Type="http://schemas.openxmlformats.org/officeDocument/2006/relationships/hyperlink" Target="https://unlpsychstats.github.io/PSYC350-spss-handouts/A2.data_transform_spss_handout_simple.pdf" TargetMode="External"/>
  <Relationship Id="rId6" Type="http://schemas.openxmlformats.org/officeDocument/2006/relationships/hyperlink" Target="https://unlpsychstats.github.io/PSYC350-spss-handouts/A3.data_select_spss_handout_simple.pdf" TargetMode="External"/>
  <Relationship Id="rId7" Type="http://schemas.openxmlformats.org/officeDocument/2006/relationships/hyperlink" Target="https://unlpsychstats.github.io/PSYC350-spss-handouts/A4.univariates_stats_spss_handout_simple.pdf"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2.xml" /><Relationship Id="rId4" Type="http://schemas.openxmlformats.org/officeDocument/2006/relationships/image" Target="../media/image2.png" /><Relationship Id="rId3"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xml" /><Relationship Id="rId4" Type="http://schemas.openxmlformats.org/officeDocument/2006/relationships/image" Target="../media/image4.png" /><Relationship Id="rId3"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xml" /><Relationship Id="rId4" Type="http://schemas.openxmlformats.org/officeDocument/2006/relationships/image" Target="../media/image6.jpg" /><Relationship Id="rId3" Type="http://schemas.openxmlformats.org/officeDocument/2006/relationships/image" Target="../media/image5.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7.xml" /><Relationship Id="rId3"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9.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10.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097280" y="2386744"/>
            <a:ext cx="9997440" cy="1645920"/>
          </a:xfrm>
          <a:solidFill>
            <a:srgbClr val="FFFFFF"/>
          </a:solidFill>
          <a:ln w="38100">
            <a:solidFill>
              <a:srgbClr val="404040"/>
            </a:solidFill>
          </a:ln>
        </p:spPr>
        <p:txBody>
          <a:bodyPr/>
          <a:lstStyle/>
          <a:p>
            <a:pPr lvl="0" indent="0" marL="0">
              <a:buNone/>
            </a:pPr>
            <a:r>
              <a:rPr/>
              <a:t>Enter, Transform, Summarize</a:t>
            </a:r>
          </a:p>
        </p:txBody>
      </p:sp>
      <p:sp>
        <p:nvSpPr>
          <p:cNvPr id="3" name="Subtitle 2"/>
          <p:cNvSpPr>
            <a:spLocks noGrp="1"/>
          </p:cNvSpPr>
          <p:nvPr>
            <p:ph idx="1" type="subTitle"/>
          </p:nvPr>
        </p:nvSpPr>
        <p:spPr>
          <a:xfrm>
            <a:off x="1097280" y="4352544"/>
            <a:ext cx="9997440" cy="1239894"/>
          </a:xfrm>
          <a:noFill/>
        </p:spPr>
        <p:txBody>
          <a:bodyPr/>
          <a:lstStyle/>
          <a:p>
            <a:pPr lvl="0" indent="0" marL="0">
              <a:buNone/>
            </a:pPr>
            <a:r>
              <a:rPr/>
              <a:t>Lab 06 · SPSS Data and Univariate Statistics</a:t>
            </a:r>
            <a:br/>
            <a:br/>
            <a:r>
              <a:rPr/>
              <a:t>PSYC 350 Laboratory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 Download the Lab 6 files</a:t>
            </a:r>
          </a:p>
        </p:txBody>
      </p:sp>
      <p:sp>
        <p:nvSpPr>
          <p:cNvPr id="1001" name="card-steel" descr="card: Worksheet. Download worksheet"/>
          <p:cNvSpPr/>
          <p:nvPr/>
        </p:nvSpPr>
        <p:spPr>
          <a:xfrm>
            <a:off x="1097280" y="2633472"/>
            <a:ext cx="3233928" cy="100584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Worksheet</a:t>
            </a:r>
          </a:p>
          <a:p>
            <a:pPr algn="l"/>
            <a:r>
              <a:rPr lang="en-US" sz="2000" b="0" dirty="0">
                <a:solidFill>
                  <a:srgbClr val="010B13"/>
                </a:solidFill>
                <a:hlinkClick r:id="rId3"/>
              </a:rPr>
              <a:t>Download worksheet</a:t>
            </a:r>
          </a:p>
        </p:txBody>
      </p:sp>
      <p:sp>
        <p:nvSpPr>
          <p:cNvPr id="1002" name="card-rail" descr=""/>
          <p:cNvSpPr/>
          <p:nvPr/>
        </p:nvSpPr>
        <p:spPr>
          <a:xfrm>
            <a:off x="1097280" y="2633472"/>
            <a:ext cx="54864" cy="1005840"/>
          </a:xfrm>
          <a:prstGeom prst="roundRect">
            <a:avLst>
              <a:gd name="adj" fmla="val 20000"/>
            </a:avLst>
          </a:prstGeom>
          <a:solidFill>
            <a:srgbClr val="010B13"/>
          </a:solidFill>
          <a:ln>
            <a:noFill/>
          </a:ln>
        </p:spPr>
        <p:txBody>
          <a:bodyPr lIns="182880" tIns="182880" rIns="182880" bIns="182880" anchor="t" wrap="square">
            <a:normAutofit/>
          </a:bodyPr>
          <a:lstStyle/>
          <a:p/>
        </p:txBody>
      </p:sp>
      <p:sp>
        <p:nvSpPr>
          <p:cNvPr id="1003" name="card-steel" descr="card: Enter and transform. Data entry guide Compute and recode guide"/>
          <p:cNvSpPr/>
          <p:nvPr/>
        </p:nvSpPr>
        <p:spPr>
          <a:xfrm>
            <a:off x="4477512" y="2633472"/>
            <a:ext cx="3233928" cy="195072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Enter and transform</a:t>
            </a:r>
          </a:p>
          <a:p>
            <a:pPr algn="l"/>
            <a:r>
              <a:rPr lang="en-US" sz="2000" b="0" dirty="0">
                <a:solidFill>
                  <a:srgbClr val="010B13"/>
                </a:solidFill>
                <a:hlinkClick r:id="rId4"/>
              </a:rPr>
              <a:t>Data entry guide</a:t>
            </a:r>
          </a:p>
          <a:p>
            <a:pPr algn="l"/>
            <a:r>
              <a:rPr lang="en-US" sz="2000" b="0" dirty="0">
                <a:solidFill>
                  <a:srgbClr val="010B13"/>
                </a:solidFill>
                <a:hlinkClick r:id="rId5"/>
              </a:rPr>
              <a:t>Compute and recode guide</a:t>
            </a:r>
          </a:p>
        </p:txBody>
      </p:sp>
      <p:sp>
        <p:nvSpPr>
          <p:cNvPr id="1004" name="card-rail" descr=""/>
          <p:cNvSpPr/>
          <p:nvPr/>
        </p:nvSpPr>
        <p:spPr>
          <a:xfrm>
            <a:off x="4477512" y="2633472"/>
            <a:ext cx="54864" cy="1950720"/>
          </a:xfrm>
          <a:prstGeom prst="roundRect">
            <a:avLst>
              <a:gd name="adj" fmla="val 20000"/>
            </a:avLst>
          </a:prstGeom>
          <a:solidFill>
            <a:srgbClr val="010B13"/>
          </a:solidFill>
          <a:ln>
            <a:noFill/>
          </a:ln>
        </p:spPr>
        <p:txBody>
          <a:bodyPr lIns="182880" tIns="182880" rIns="182880" bIns="182880" anchor="t" wrap="square">
            <a:normAutofit/>
          </a:bodyPr>
          <a:lstStyle/>
          <a:p/>
        </p:txBody>
      </p:sp>
      <p:sp>
        <p:nvSpPr>
          <p:cNvPr id="1005" name="card-steel" descr="card: Select and summarize. Select cases guide Univariate guide"/>
          <p:cNvSpPr/>
          <p:nvPr/>
        </p:nvSpPr>
        <p:spPr>
          <a:xfrm>
            <a:off x="7857744" y="2633472"/>
            <a:ext cx="3233928" cy="1645920"/>
          </a:xfrm>
          <a:prstGeom prst="roundRect">
            <a:avLst>
              <a:gd name="adj" fmla="val 6000"/>
            </a:avLst>
          </a:prstGeom>
          <a:solidFill>
            <a:srgbClr val="FEFDFA"/>
          </a:solidFill>
          <a:ln w="19050">
            <a:solidFill>
              <a:srgbClr val="CCCCCC"/>
            </a:solidFill>
          </a:ln>
        </p:spPr>
        <p:txBody>
          <a:bodyPr lIns="182880" tIns="182880" rIns="182880" bIns="182880" anchor="t" wrap="square">
            <a:normAutofit/>
          </a:bodyPr>
          <a:lstStyle/>
          <a:p>
            <a:pPr algn="l"/>
            <a:r>
              <a:rPr lang="en-US" sz="2200" b="1" dirty="0">
                <a:solidFill>
                  <a:srgbClr val="010B13"/>
                </a:solidFill>
              </a:rPr>
              <a:t>Select and summarize</a:t>
            </a:r>
          </a:p>
          <a:p>
            <a:pPr algn="l"/>
            <a:r>
              <a:rPr lang="en-US" sz="2000" b="0" dirty="0">
                <a:solidFill>
                  <a:srgbClr val="010B13"/>
                </a:solidFill>
                <a:hlinkClick r:id="rId6"/>
              </a:rPr>
              <a:t>Select cases guide</a:t>
            </a:r>
          </a:p>
          <a:p>
            <a:pPr algn="l"/>
            <a:r>
              <a:rPr lang="en-US" sz="2000" b="0" dirty="0">
                <a:solidFill>
                  <a:srgbClr val="010B13"/>
                </a:solidFill>
                <a:hlinkClick r:id="rId7"/>
              </a:rPr>
              <a:t>Univariate guide</a:t>
            </a:r>
          </a:p>
        </p:txBody>
      </p:sp>
      <p:sp>
        <p:nvSpPr>
          <p:cNvPr id="1006" name="card-rail" descr=""/>
          <p:cNvSpPr/>
          <p:nvPr/>
        </p:nvSpPr>
        <p:spPr>
          <a:xfrm>
            <a:off x="7857744" y="2633472"/>
            <a:ext cx="54864" cy="1645920"/>
          </a:xfrm>
          <a:prstGeom prst="roundRect">
            <a:avLst>
              <a:gd name="adj" fmla="val 20000"/>
            </a:avLst>
          </a:prstGeom>
          <a:solidFill>
            <a:srgbClr val="010B13"/>
          </a:solidFill>
          <a:ln>
            <a:noFill/>
          </a:ln>
        </p:spPr>
        <p:txBody>
          <a:bodyPr lIns="182880" tIns="182880" rIns="182880" bIns="182880" anchor="t" wrap="square">
            <a:normAutofit/>
          </a:bodyPr>
          <a:lstStyle/>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pPr lvl="0" indent="0" marL="0">
              <a:buNone/>
            </a:pPr>
            <a:r>
              <a:rPr/>
              <a:t>2 Keep Data and Syntax Editors open</a:t>
            </a:r>
          </a:p>
        </p:txBody>
      </p:sp>
      <p:sp>
        <p:nvSpPr>
          <p:cNvPr id="3" name="Text Placeholder 2"/>
          <p:cNvSpPr>
            <a:spLocks noGrp="1"/>
          </p:cNvSpPr>
          <p:nvPr>
            <p:ph idx="1" type="body"/>
          </p:nvPr>
        </p:nvSpPr>
        <p:spPr/>
        <p:txBody>
          <a:bodyPr/>
          <a:lstStyle/>
          <a:p>
            <a:pPr lvl="0" indent="0" marL="0">
              <a:buNone/>
            </a:pPr>
            <a:r>
              <a:rPr b="1"/>
              <a:t>Data Editor</a:t>
            </a:r>
          </a:p>
        </p:txBody>
      </p:sp>
      <p:pic>
        <p:nvPicPr>
          <p:cNvPr descr="Focused SPSS Data View showing case numbers, variable columns, and the selected Data View tab" id="0" name="Picture 1"/>
          <p:cNvPicPr>
            <a:picLocks noGrp="1" noChangeAspect="1"/>
          </p:cNvPicPr>
          <p:nvPr/>
        </p:nvPicPr>
        <p:blipFill>
          <a:blip r:embed="rId3"/>
          <a:stretch>
            <a:fillRect/>
          </a:stretch>
        </p:blipFill>
        <p:spPr bwMode="auto">
          <a:xfrm>
            <a:off x="1574800" y="3416300"/>
            <a:ext cx="4267200" cy="203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Enter and inspect data</a:t>
            </a:r>
          </a:p>
        </p:txBody>
      </p:sp>
      <p:sp>
        <p:nvSpPr>
          <p:cNvPr id="11" name="Text Placeholder 4"/>
          <p:cNvSpPr>
            <a:spLocks noGrp="1"/>
          </p:cNvSpPr>
          <p:nvPr>
            <p:ph idx="13" sz="quarter" type="body"/>
          </p:nvPr>
        </p:nvSpPr>
        <p:spPr/>
        <p:txBody>
          <a:bodyPr/>
          <a:lstStyle/>
          <a:p>
            <a:pPr lvl="0" indent="0" marL="0">
              <a:buNone/>
            </a:pPr>
            <a:r>
              <a:rPr b="1"/>
              <a:t>Syntax Editor</a:t>
            </a:r>
          </a:p>
        </p:txBody>
      </p:sp>
      <p:pic>
        <p:nvPicPr>
          <p:cNvPr descr="Focused SPSS Syntax Editor image showing the command area and an annotation pointing to the green Run button" id="0" name="Picture 1"/>
          <p:cNvPicPr>
            <a:picLocks noGrp="1" noChangeAspect="1"/>
          </p:cNvPicPr>
          <p:nvPr/>
        </p:nvPicPr>
        <p:blipFill>
          <a:blip r:embed="rId4"/>
          <a:stretch>
            <a:fillRect/>
          </a:stretch>
        </p:blipFill>
        <p:spPr bwMode="auto">
          <a:xfrm>
            <a:off x="6337300" y="3429000"/>
            <a:ext cx="4241800" cy="200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Save and rerun commands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3 Read results in Output Viewer</a:t>
            </a:r>
          </a:p>
        </p:txBody>
      </p:sp>
      <p:pic>
        <p:nvPicPr>
          <p:cNvPr descr="SPSS-style Statistics output for height difference after the walkthrough filter, showing 7 valid cases, 2 missing cases, a mean of 8.21 inches, and a standard deviation of 2.65 inches" id="0" name="Picture 1"/>
          <p:cNvPicPr>
            <a:picLocks noGrp="1" noChangeAspect="1"/>
          </p:cNvPicPr>
          <p:nvPr/>
        </p:nvPicPr>
        <p:blipFill>
          <a:blip r:embed="rId3"/>
          <a:stretch>
            <a:fillRect/>
          </a:stretch>
        </p:blipFill>
        <p:spPr bwMode="auto">
          <a:xfrm>
            <a:off x="4203700" y="2628900"/>
            <a:ext cx="3771900" cy="30988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pPr lvl="0" indent="0" marL="0">
              <a:buNone/>
            </a:pPr>
            <a:r>
              <a:rPr/>
              <a:t>4 Switch views inside Data Editor</a:t>
            </a:r>
          </a:p>
        </p:txBody>
      </p:sp>
      <p:sp>
        <p:nvSpPr>
          <p:cNvPr id="3" name="Text Placeholder 2"/>
          <p:cNvSpPr>
            <a:spLocks noGrp="1"/>
          </p:cNvSpPr>
          <p:nvPr>
            <p:ph idx="1" type="body"/>
          </p:nvPr>
        </p:nvSpPr>
        <p:spPr/>
        <p:txBody>
          <a:bodyPr/>
          <a:lstStyle/>
          <a:p>
            <a:pPr lvl="0" indent="0" marL="0">
              <a:buNone/>
            </a:pPr>
            <a:r>
              <a:rPr b="1"/>
              <a:t>Data View</a:t>
            </a:r>
          </a:p>
          <a:p>
            <a:pPr lvl="0" indent="0" marL="0">
              <a:buNone/>
            </a:pPr>
            <a:r>
              <a:rPr b="1"/>
              <a:t>Rows:</a:t>
            </a:r>
            <a:r>
              <a:rPr/>
              <a:t> cases · </a:t>
            </a:r>
            <a:r>
              <a:rPr b="1"/>
              <a:t>Columns:</a:t>
            </a:r>
            <a:r>
              <a:rPr/>
              <a:t> variables</a:t>
            </a:r>
          </a:p>
        </p:txBody>
      </p:sp>
      <p:pic>
        <p:nvPicPr>
          <p:cNvPr descr="Focused SPSS Data View showing case numbers, variable columns, and the selected Data View tab" id="0" name="Picture 1"/>
          <p:cNvPicPr>
            <a:picLocks noGrp="1" noChangeAspect="1"/>
          </p:cNvPicPr>
          <p:nvPr/>
        </p:nvPicPr>
        <p:blipFill>
          <a:blip r:embed="rId3"/>
          <a:stretch>
            <a:fillRect/>
          </a:stretch>
        </p:blipFill>
        <p:spPr bwMode="auto">
          <a:xfrm>
            <a:off x="1574800" y="3416300"/>
            <a:ext cx="4267200" cy="2032000"/>
          </a:xfrm>
          <a:prstGeom prst="rect">
            <a:avLst/>
          </a:prstGeom>
          <a:noFill/>
          <a:ln w="9525">
            <a:noFill/>
            <a:headEnd/>
            <a:tailEnd/>
          </a:ln>
        </p:spPr>
      </p:pic>
      <p:sp>
        <p:nvSpPr>
          <p:cNvPr id="11" name="Text Placeholder 4"/>
          <p:cNvSpPr>
            <a:spLocks noGrp="1"/>
          </p:cNvSpPr>
          <p:nvPr>
            <p:ph idx="13" sz="quarter" type="body"/>
          </p:nvPr>
        </p:nvSpPr>
        <p:spPr/>
        <p:txBody>
          <a:bodyPr/>
          <a:lstStyle/>
          <a:p>
            <a:pPr lvl="0" indent="0" marL="0">
              <a:buNone/>
            </a:pPr>
            <a:r>
              <a:rPr b="1"/>
              <a:t>Variable View</a:t>
            </a:r>
          </a:p>
          <a:p>
            <a:pPr lvl="0" indent="0" marL="0">
              <a:buNone/>
            </a:pPr>
            <a:r>
              <a:rPr b="1"/>
              <a:t>Rows:</a:t>
            </a:r>
            <a:r>
              <a:rPr/>
              <a:t> variables · </a:t>
            </a:r>
            <a:r>
              <a:rPr b="1"/>
              <a:t>Columns:</a:t>
            </a:r>
            <a:r>
              <a:rPr/>
              <a:t> settings</a:t>
            </a:r>
          </a:p>
        </p:txBody>
      </p:sp>
      <p:pic>
        <p:nvPicPr>
          <p:cNvPr descr="Focused SPSS Variable View showing rows for variables, columns for variable settings, and the selected Variable View tab" id="0" name="Picture 1"/>
          <p:cNvPicPr>
            <a:picLocks noGrp="1" noChangeAspect="1"/>
          </p:cNvPicPr>
          <p:nvPr/>
        </p:nvPicPr>
        <p:blipFill>
          <a:blip r:embed="rId4"/>
          <a:stretch>
            <a:fillRect/>
          </a:stretch>
        </p:blipFill>
        <p:spPr bwMode="auto">
          <a:xfrm>
            <a:off x="6337300" y="3429000"/>
            <a:ext cx="4241800" cy="2019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pPr lvl="0" indent="0" marL="0">
              <a:buNone/>
            </a:pPr>
            <a:r>
              <a:rPr/>
              <a:t>5 Two habits prevent SPSS panic</a:t>
            </a:r>
          </a:p>
        </p:txBody>
      </p:sp>
      <p:sp>
        <p:nvSpPr>
          <p:cNvPr id="3" name="Text Placeholder 2"/>
          <p:cNvSpPr>
            <a:spLocks noGrp="1"/>
          </p:cNvSpPr>
          <p:nvPr>
            <p:ph idx="1" type="body"/>
          </p:nvPr>
        </p:nvSpPr>
        <p:spPr/>
        <p:txBody>
          <a:bodyPr/>
          <a:lstStyle/>
          <a:p>
            <a:pPr lvl="0" indent="0" marL="0">
              <a:buNone/>
            </a:pPr>
            <a:r>
              <a:rPr b="1"/>
              <a:t>Keep the guide open</a:t>
            </a:r>
          </a:p>
        </p:txBody>
      </p:sp>
      <p:pic>
        <p:nvPicPr>
          <p:cNvPr descr="Meme showing a person pressing a large button labeled Handouts under the words Using SPSS to, emphasizing reliance on the SPSS guides" id="0" name="Picture 1"/>
          <p:cNvPicPr>
            <a:picLocks noGrp="1" noChangeAspect="1"/>
          </p:cNvPicPr>
          <p:nvPr/>
        </p:nvPicPr>
        <p:blipFill>
          <a:blip r:embed="rId3"/>
          <a:stretch>
            <a:fillRect/>
          </a:stretch>
        </p:blipFill>
        <p:spPr bwMode="auto">
          <a:xfrm>
            <a:off x="1968500" y="3136900"/>
            <a:ext cx="3479800" cy="2590800"/>
          </a:xfrm>
          <a:prstGeom prst="rect">
            <a:avLst/>
          </a:prstGeom>
          <a:noFill/>
          <a:ln w="9525">
            <a:noFill/>
            <a:headEnd/>
            <a:tailEnd/>
          </a:ln>
        </p:spPr>
      </p:pic>
      <p:sp>
        <p:nvSpPr>
          <p:cNvPr id="11" name="Text Placeholder 4"/>
          <p:cNvSpPr>
            <a:spLocks noGrp="1"/>
          </p:cNvSpPr>
          <p:nvPr>
            <p:ph idx="13" sz="quarter" type="body"/>
          </p:nvPr>
        </p:nvSpPr>
        <p:spPr/>
        <p:txBody>
          <a:bodyPr/>
          <a:lstStyle/>
          <a:p>
            <a:pPr lvl="0" indent="0" marL="0">
              <a:buNone/>
            </a:pPr>
            <a:r>
              <a:rPr b="1"/>
              <a:t>Paste and save syntax</a:t>
            </a:r>
          </a:p>
        </p:txBody>
      </p:sp>
      <p:pic>
        <p:nvPicPr>
          <p:cNvPr descr="Four-stage clown makeup meme: clean and analyze data in SPSS; click OK instead of Paste and do not save syntax; something goes wrong and the steps cannot be reconstructed; start over" id="0" name="Picture 1"/>
          <p:cNvPicPr>
            <a:picLocks noGrp="1" noChangeAspect="1"/>
          </p:cNvPicPr>
          <p:nvPr/>
        </p:nvPicPr>
        <p:blipFill>
          <a:blip r:embed="rId4"/>
          <a:stretch>
            <a:fillRect/>
          </a:stretch>
        </p:blipFill>
        <p:spPr bwMode="auto">
          <a:xfrm>
            <a:off x="7239000" y="3136900"/>
            <a:ext cx="2438400" cy="2590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6 Build data in four moves</a:t>
            </a:r>
          </a:p>
        </p:txBody>
      </p:sp>
      <p:sp>
        <p:nvSpPr>
          <p:cNvPr id="3" name="Content Placeholder 2"/>
          <p:cNvSpPr>
            <a:spLocks noGrp="1"/>
          </p:cNvSpPr>
          <p:nvPr>
            <p:ph idx="1"/>
          </p:nvPr>
        </p:nvSpPr>
        <p:spPr/>
        <p:txBody>
          <a:bodyPr/>
          <a:lstStyle/>
          <a:p>
            <a:pPr lvl="0" indent="-457200" marL="457200">
              <a:buAutoNum type="arabicPeriod"/>
            </a:pPr>
            <a:r>
              <a:rPr b="1"/>
              <a:t>Define</a:t>
            </a:r>
            <a:r>
              <a:rPr/>
              <a:t> variables and missing values.</a:t>
            </a:r>
          </a:p>
          <a:p>
            <a:pPr lvl="0" indent="-457200" marL="457200">
              <a:buAutoNum type="arabicPeriod"/>
            </a:pPr>
            <a:r>
              <a:rPr b="1"/>
              <a:t>Enter</a:t>
            </a:r>
            <a:r>
              <a:rPr/>
              <a:t> one row per case.</a:t>
            </a:r>
          </a:p>
          <a:p>
            <a:pPr lvl="0" indent="-457200" marL="457200">
              <a:buAutoNum type="arabicPeriod"/>
            </a:pPr>
            <a:r>
              <a:rPr b="1"/>
              <a:t>Transform</a:t>
            </a:r>
            <a:r>
              <a:rPr/>
              <a:t> into new variables.</a:t>
            </a:r>
          </a:p>
          <a:p>
            <a:pPr lvl="0" indent="-457200" marL="457200">
              <a:buAutoNum type="arabicPeriod"/>
            </a:pPr>
            <a:r>
              <a:rPr b="1"/>
              <a:t>Verify</a:t>
            </a:r>
            <a:r>
              <a:rPr/>
              <a:t> each change before continuing.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7 Match summaries to variable type</a:t>
            </a:r>
          </a:p>
        </p:txBody>
      </p:sp>
      <p:pic>
        <p:nvPicPr>
          <p:cNvPr descr="The same height values shown as a quantitative measure and as recoded categories" id="0" name="Picture 1"/>
          <p:cNvPicPr>
            <a:picLocks noGrp="1" noChangeAspect="1"/>
          </p:cNvPicPr>
          <p:nvPr/>
        </p:nvPicPr>
        <p:blipFill>
          <a:blip r:embed="rId3"/>
          <a:stretch>
            <a:fillRect/>
          </a:stretch>
        </p:blipFill>
        <p:spPr bwMode="auto">
          <a:xfrm>
            <a:off x="1092200" y="2667000"/>
            <a:ext cx="4902200" cy="30226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Quantitative:</a:t>
            </a:r>
            <a:r>
              <a:rPr/>
              <a:t> report </a:t>
            </a:r>
            <a:r>
              <a:rPr i="1"/>
              <a:t>M</a:t>
            </a:r>
            <a:r>
              <a:rPr/>
              <a:t> and </a:t>
            </a:r>
            <a:r>
              <a:rPr i="1"/>
              <a:t>SD</a:t>
            </a:r>
            <a:r>
              <a:rPr/>
              <a:t>.</a:t>
            </a:r>
          </a:p>
          <a:p>
            <a:pPr lvl="0"/>
            <a:r>
              <a:rPr b="1"/>
              <a:t>Categorical:</a:t>
            </a:r>
            <a:r>
              <a:rPr/>
              <a:t> report </a:t>
            </a:r>
            <a:r>
              <a:rPr i="1"/>
              <a:t>N</a:t>
            </a:r>
            <a:r>
              <a:rPr/>
              <a:t> and %.</a:t>
            </a:r>
          </a:p>
          <a:p>
            <a:pPr lvl="0"/>
            <a:r>
              <a:rPr/>
              <a:t>Numeric codes can still represent categories.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8 Define the five variables</a:t>
            </a:r>
          </a:p>
        </p:txBody>
      </p:sp>
      <p:sp>
        <p:nvSpPr>
          <p:cNvPr id="3" name="Content Placeholder 2"/>
          <p:cNvSpPr>
            <a:spLocks noGrp="1"/>
          </p:cNvSpPr>
          <p:nvPr>
            <p:ph idx="1"/>
          </p:nvPr>
        </p:nvSpPr>
        <p:spPr/>
        <p:txBody>
          <a:bodyPr/>
          <a:lstStyle/>
          <a:p>
            <a:pPr lvl="0" indent="0" marL="0">
              <a:buNone/>
            </a:pPr>
            <a:r>
              <a:rPr/>
              <a:t>In Variable View, create:</a:t>
            </a:r>
          </a:p>
          <a:p>
            <a:pPr lvl="0"/>
            <a:r>
              <a:rPr b="1"/>
              <a:t>num</a:t>
            </a:r>
            <a:r>
              <a:rPr/>
              <a:t>, </a:t>
            </a:r>
            <a:r>
              <a:rPr b="1"/>
              <a:t>year</a:t>
            </a:r>
            <a:r>
              <a:rPr/>
              <a:t>, and </a:t>
            </a:r>
            <a:r>
              <a:rPr b="1"/>
              <a:t>type</a:t>
            </a:r>
          </a:p>
          <a:p>
            <a:pPr lvl="0"/>
            <a:r>
              <a:rPr b="1"/>
              <a:t>clark_height</a:t>
            </a:r>
            <a:r>
              <a:rPr/>
              <a:t> and </a:t>
            </a:r>
            <a:r>
              <a:rPr b="1"/>
              <a:t>lois_height</a:t>
            </a:r>
          </a:p>
          <a:p>
            <a:pPr lvl="0"/>
            <a:r>
              <a:rPr/>
              <a:t>value labels for </a:t>
            </a:r>
            <a:r>
              <a:rPr b="1"/>
              <a:t>type</a:t>
            </a:r>
          </a:p>
          <a:p>
            <a:pPr lvl="0"/>
            <a:r>
              <a:rPr b="1"/>
              <a:t>−99</a:t>
            </a:r>
            <a:r>
              <a:rPr/>
              <a:t> as the missing-value code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9 Enter 11 rows and confirm the type counts</a:t>
            </a:r>
          </a:p>
        </p:txBody>
      </p:sp>
      <p:pic>
        <p:nvPicPr>
          <p:cNvPr descr="SPSS-style frequency table for media type showing 11 entered cases: 5 films, 5 television shows, and 1 serial" id="0" name="Picture 1"/>
          <p:cNvPicPr>
            <a:picLocks noGrp="1" noChangeAspect="1"/>
          </p:cNvPicPr>
          <p:nvPr/>
        </p:nvPicPr>
        <p:blipFill>
          <a:blip r:embed="rId3"/>
          <a:stretch>
            <a:fillRect/>
          </a:stretch>
        </p:blipFill>
        <p:spPr bwMode="auto">
          <a:xfrm>
            <a:off x="1092200" y="3390900"/>
            <a:ext cx="4902200" cy="1574800"/>
          </a:xfrm>
          <a:prstGeom prst="rect">
            <a:avLst/>
          </a:prstGeom>
          <a:noFill/>
          <a:ln w="9525">
            <a:noFill/>
            <a:headEnd/>
            <a:tailEnd/>
          </a:ln>
        </p:spPr>
      </p:pic>
      <p:sp>
        <p:nvSpPr>
          <p:cNvPr id="4" name="Content Placeholder 3"/>
          <p:cNvSpPr>
            <a:spLocks noGrp="1"/>
          </p:cNvSpPr>
          <p:nvPr>
            <p:ph idx="2" sz="half"/>
          </p:nvPr>
        </p:nvSpPr>
        <p:spPr/>
        <p:txBody>
          <a:bodyPr/>
          <a:lstStyle/>
          <a:p>
            <a:pPr lvl="0"/>
            <a:r>
              <a:rPr/>
              <a:t>One row per actor record</a:t>
            </a:r>
          </a:p>
          <a:p>
            <a:pPr lvl="0"/>
            <a:r>
              <a:rPr/>
              <a:t>Codes match the worksheet</a:t>
            </a:r>
          </a:p>
          <a:p>
            <a:pPr lvl="0"/>
            <a:r>
              <a:rPr/>
              <a:t>Missing values remain −99</a:t>
            </a:r>
          </a:p>
          <a:p>
            <a:pPr lvl="0"/>
            <a:r>
              <a:rPr/>
              <a:t>Frequency total = </a:t>
            </a:r>
            <a:r>
              <a:rPr b="1"/>
              <a:t>11</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10 Compute both heights</a:t>
            </a:r>
          </a:p>
        </p:txBody>
      </p:sp>
      <p:sp>
        <p:nvSpPr>
          <p:cNvPr id="3" name="Content Placeholder 2"/>
          <p:cNvSpPr>
            <a:spLocks noGrp="1"/>
          </p:cNvSpPr>
          <p:nvPr>
            <p:ph idx="1"/>
          </p:nvPr>
        </p:nvSpPr>
        <p:spPr/>
        <p:txBody>
          <a:bodyPr/>
          <a:lstStyle/>
          <a:p>
            <a:pPr lvl="0" indent="0">
              <a:buNone/>
            </a:pPr>
            <a:r>
              <a:rPr>
                <a:latin typeface="Courier"/>
              </a:rPr>
              <a:t>COMPUTE clark_height_in =
  clark_height * 39.37.
COMPUTE lois_height_in =
  lois_height * 39.37.
EXECUTE.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11 Verify 11 valid cases after conversion</a:t>
            </a:r>
          </a:p>
        </p:txBody>
      </p:sp>
      <p:pic>
        <p:nvPicPr>
          <p:cNvPr descr="SPSS-style Descriptive Statistics output comparing Clark actor height in meters with the computed height in inches; both variables have 11 valid cases" id="0" name="Picture 1"/>
          <p:cNvPicPr>
            <a:picLocks noGrp="1" noChangeAspect="1"/>
          </p:cNvPicPr>
          <p:nvPr/>
        </p:nvPicPr>
        <p:blipFill>
          <a:blip r:embed="rId3"/>
          <a:stretch>
            <a:fillRect/>
          </a:stretch>
        </p:blipFill>
        <p:spPr bwMode="auto">
          <a:xfrm>
            <a:off x="1092200" y="2984500"/>
            <a:ext cx="9994900" cy="2387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12 Create the grouped variables</a:t>
            </a:r>
          </a:p>
        </p:txBody>
      </p:sp>
      <p:sp>
        <p:nvSpPr>
          <p:cNvPr id="3" name="Content Placeholder 2"/>
          <p:cNvSpPr>
            <a:spLocks noGrp="1"/>
          </p:cNvSpPr>
          <p:nvPr>
            <p:ph idx="1"/>
          </p:nvPr>
        </p:nvSpPr>
        <p:spPr/>
        <p:txBody>
          <a:bodyPr/>
          <a:lstStyle/>
          <a:p>
            <a:pPr lvl="0" indent="0">
              <a:buNone/>
            </a:pPr>
            <a:r>
              <a:rPr>
                <a:latin typeface="Courier"/>
              </a:rPr>
              <a:t>RECODE clark_height_in
  (LO THRU 71.999 = 1) (72 THRU HI = 2)
  INTO clark_grp.
COMPUTE height_diff =
  clark_height_in - lois_height_in.
RECODE height_diff
  (LO THRU 5.999 = 1) (6 THRU 8 = 2)
  (8.001 THRU HI = 3) INTO height_gap.
EXECUTE.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13 Select media after 1975</a:t>
            </a:r>
          </a:p>
        </p:txBody>
      </p:sp>
      <p:sp>
        <p:nvSpPr>
          <p:cNvPr id="3" name="Content Placeholder 2"/>
          <p:cNvSpPr>
            <a:spLocks noGrp="1"/>
          </p:cNvSpPr>
          <p:nvPr>
            <p:ph idx="1"/>
          </p:nvPr>
        </p:nvSpPr>
        <p:spPr/>
        <p:txBody>
          <a:bodyPr/>
          <a:lstStyle/>
          <a:p>
            <a:pPr lvl="0" indent="0">
              <a:buNone/>
            </a:pPr>
            <a:r>
              <a:rPr>
                <a:latin typeface="Courier"/>
              </a:rPr>
              <a:t>USE ALL.
COMPUTE filter_$ =
  (year &gt; 1975).
FILTER BY filter_$.
EXECUTE.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14 Confirm nine active cases</a:t>
            </a:r>
          </a:p>
        </p:txBody>
      </p:sp>
      <p:pic>
        <p:nvPicPr>
          <p:cNvPr descr="SPSS-style frequency table after selecting year greater than 1975; all nine active cases have release years from 1978 through 2025" id="0" name="Picture 1"/>
          <p:cNvPicPr>
            <a:picLocks noGrp="1" noChangeAspect="1"/>
          </p:cNvPicPr>
          <p:nvPr/>
        </p:nvPicPr>
        <p:blipFill>
          <a:blip r:embed="rId3"/>
          <a:stretch>
            <a:fillRect/>
          </a:stretch>
        </p:blipFill>
        <p:spPr bwMode="auto">
          <a:xfrm>
            <a:off x="3314700" y="2628900"/>
            <a:ext cx="5549900" cy="3098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15 Request the walkthrough summaries</a:t>
            </a:r>
          </a:p>
        </p:txBody>
      </p:sp>
      <p:sp>
        <p:nvSpPr>
          <p:cNvPr id="3" name="Content Placeholder 2"/>
          <p:cNvSpPr>
            <a:spLocks noGrp="1"/>
          </p:cNvSpPr>
          <p:nvPr>
            <p:ph idx="1"/>
          </p:nvPr>
        </p:nvSpPr>
        <p:spPr/>
        <p:txBody>
          <a:bodyPr/>
          <a:lstStyle/>
          <a:p>
            <a:pPr lvl="0" indent="0">
              <a:buNone/>
            </a:pPr>
            <a:r>
              <a:rPr>
                <a:latin typeface="Courier"/>
              </a:rPr>
              <a:t>FREQUENCIES
  VARIABLES=num year type
    clark_height lois_height
    clark_height_in
    lois_height_in
    height_diff clark_grp
    height_gap
  /STATISTICS=
    MEAN STDDEV SEMEAN.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16 Read the height-difference summary</a:t>
            </a:r>
          </a:p>
        </p:txBody>
      </p:sp>
      <p:pic>
        <p:nvPicPr>
          <p:cNvPr descr="SPSS-style Statistics output for height difference after the walkthrough filter, showing 7 valid cases, 2 missing cases, a mean of 8.21 inches, and a standard deviation of 2.65 inches" id="0" name="Picture 1"/>
          <p:cNvPicPr>
            <a:picLocks noGrp="1" noChangeAspect="1"/>
          </p:cNvPicPr>
          <p:nvPr/>
        </p:nvPicPr>
        <p:blipFill>
          <a:blip r:embed="rId3"/>
          <a:stretch>
            <a:fillRect/>
          </a:stretch>
        </p:blipFill>
        <p:spPr bwMode="auto">
          <a:xfrm>
            <a:off x="4203700" y="2628900"/>
            <a:ext cx="3771900" cy="3098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17 Repeat the pattern at home</a:t>
            </a:r>
          </a:p>
        </p:txBody>
      </p:sp>
      <p:sp>
        <p:nvSpPr>
          <p:cNvPr id="3" name="Content Placeholder 2"/>
          <p:cNvSpPr>
            <a:spLocks noGrp="1"/>
          </p:cNvSpPr>
          <p:nvPr>
            <p:ph idx="1"/>
          </p:nvPr>
        </p:nvSpPr>
        <p:spPr/>
        <p:txBody>
          <a:bodyPr/>
          <a:lstStyle/>
          <a:p>
            <a:pPr lvl="0" indent="-457200" marL="457200">
              <a:buAutoNum type="arabicPeriod"/>
            </a:pPr>
            <a:r>
              <a:rPr/>
              <a:t>Enter the ratings variables.</a:t>
            </a:r>
          </a:p>
          <a:p>
            <a:pPr lvl="0" indent="-457200" marL="457200">
              <a:buAutoNum type="arabicPeriod"/>
            </a:pPr>
            <a:r>
              <a:rPr/>
              <a:t>Recode </a:t>
            </a:r>
            <a:r>
              <a:rPr b="1"/>
              <a:t>tomatometer</a:t>
            </a:r>
            <a:r>
              <a:rPr/>
              <a:t> and </a:t>
            </a:r>
            <a:r>
              <a:rPr b="1"/>
              <a:t>popular</a:t>
            </a:r>
            <a:r>
              <a:rPr/>
              <a:t>.</a:t>
            </a:r>
          </a:p>
          <a:p>
            <a:pPr lvl="0" indent="-457200" marL="457200">
              <a:buAutoNum type="arabicPeriod"/>
            </a:pPr>
            <a:r>
              <a:rPr/>
              <a:t>Compute </a:t>
            </a:r>
            <a:r>
              <a:rPr b="1"/>
              <a:t>rt_avg</a:t>
            </a:r>
            <a:r>
              <a:rPr/>
              <a:t> and weighted </a:t>
            </a:r>
            <a:r>
              <a:rPr b="1"/>
              <a:t>rt_diff</a:t>
            </a:r>
            <a:r>
              <a:rPr/>
              <a:t>.</a:t>
            </a:r>
          </a:p>
          <a:p>
            <a:pPr lvl="0" indent="-457200" marL="457200">
              <a:buAutoNum type="arabicPeriod"/>
            </a:pPr>
            <a:r>
              <a:rPr/>
              <a:t>Select cases with at least five critic scores.</a:t>
            </a:r>
          </a:p>
          <a:p>
            <a:pPr lvl="0" indent="-457200" marL="457200">
              <a:buAutoNum type="arabicPeriod"/>
            </a:pPr>
            <a:r>
              <a:rPr/>
              <a:t>Run the summaries and checker.</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18 Turn output into Table 1</a:t>
            </a:r>
          </a:p>
        </p:txBody>
      </p:sp>
      <p:pic>
        <p:nvPicPr>
          <p:cNvPr descr="APA-style Table 1 with the mean and standard deviation for height difference and counts and percentages for Clark height group and height-gap categories" id="0" name="Picture 1"/>
          <p:cNvPicPr>
            <a:picLocks noGrp="1" noChangeAspect="1"/>
          </p:cNvPicPr>
          <p:nvPr/>
        </p:nvPicPr>
        <p:blipFill>
          <a:blip r:embed="rId3"/>
          <a:stretch>
            <a:fillRect/>
          </a:stretch>
        </p:blipFill>
        <p:spPr bwMode="auto">
          <a:xfrm>
            <a:off x="3581400" y="2628900"/>
            <a:ext cx="5016500" cy="3098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964692"/>
            <a:ext cx="9997440" cy="1188720"/>
          </a:xfrm>
        </p:spPr>
        <p:txBody>
          <a:bodyPr/>
          <a:lstStyle/>
          <a:p>
            <a:pPr lvl="0" indent="0" marL="0">
              <a:buNone/>
            </a:pPr>
            <a:r>
              <a:rPr/>
              <a:t>19 Finish Table 2 and proof</a:t>
            </a:r>
          </a:p>
        </p:txBody>
      </p:sp>
      <p:sp>
        <p:nvSpPr>
          <p:cNvPr id="3" name="Content Placeholder 2"/>
          <p:cNvSpPr>
            <a:spLocks noGrp="1"/>
          </p:cNvSpPr>
          <p:nvPr>
            <p:ph idx="1"/>
          </p:nvPr>
        </p:nvSpPr>
        <p:spPr/>
        <p:txBody>
          <a:bodyPr/>
          <a:lstStyle/>
          <a:p>
            <a:pPr lvl="0"/>
            <a:r>
              <a:rPr/>
              <a:t>Report </a:t>
            </a:r>
            <a:r>
              <a:rPr i="1"/>
              <a:t>M</a:t>
            </a:r>
            <a:r>
              <a:rPr/>
              <a:t> (</a:t>
            </a:r>
            <a:r>
              <a:rPr i="1"/>
              <a:t>SD</a:t>
            </a:r>
            <a:r>
              <a:rPr/>
              <a:t>) for </a:t>
            </a:r>
            <a:r>
              <a:rPr b="1"/>
              <a:t>rt_avg</a:t>
            </a:r>
            <a:r>
              <a:rPr/>
              <a:t> and </a:t>
            </a:r>
            <a:r>
              <a:rPr b="1"/>
              <a:t>rt_diff</a:t>
            </a:r>
            <a:r>
              <a:rPr/>
              <a:t>.</a:t>
            </a:r>
          </a:p>
          <a:p>
            <a:pPr lvl="0"/>
            <a:r>
              <a:rPr/>
              <a:t>Report </a:t>
            </a:r>
            <a:r>
              <a:rPr i="1"/>
              <a:t>N</a:t>
            </a:r>
            <a:r>
              <a:rPr/>
              <a:t> (%) for </a:t>
            </a:r>
            <a:r>
              <a:rPr b="1"/>
              <a:t>tomatometer</a:t>
            </a:r>
            <a:r>
              <a:rPr/>
              <a:t> and </a:t>
            </a:r>
            <a:r>
              <a:rPr b="1"/>
              <a:t>popular</a:t>
            </a:r>
            <a:r>
              <a:rPr/>
              <a:t>.</a:t>
            </a:r>
          </a:p>
          <a:p>
            <a:pPr lvl="0"/>
            <a:r>
              <a:rPr/>
              <a:t>Paste the all-green checker screenshot into the worksheet.</a:t>
            </a:r>
          </a:p>
          <a:p>
            <a:pPr lvl="0"/>
            <a:r>
              <a:rPr/>
              <a:t>Reset to </a:t>
            </a:r>
            <a:r>
              <a:rPr b="1"/>
              <a:t>All cases</a:t>
            </a:r>
            <a:r>
              <a:rPr/>
              <a:t>, then save data and syntax.</a:t>
            </a:r>
          </a:p>
        </p:txBody>
      </p:sp>
    </p:spTree>
  </p:cSld>
</p:sld>
</file>

<file path=ppt/theme/theme1.xml><?xml version="1.0" encoding="utf-8"?>
<a:theme xmlns:a="http://schemas.openxmlformats.org/drawingml/2006/main" name="Parcel">
  <a:themeElements>
    <a:clrScheme name="Custom 3">
      <a:dk1>
        <a:srgbClr val="000000"/>
      </a:dk1>
      <a:lt1>
        <a:srgbClr val="FFFFFF"/>
      </a:lt1>
      <a:dk2>
        <a:srgbClr val="4A5356"/>
      </a:dk2>
      <a:lt2>
        <a:srgbClr val="E8E3CE"/>
      </a:lt2>
      <a:accent1>
        <a:srgbClr val="B65B00"/>
      </a:accent1>
      <a:accent2>
        <a:srgbClr val="5E5E5E"/>
      </a:accent2>
      <a:accent3>
        <a:srgbClr val="005392"/>
      </a:accent3>
      <a:accent4>
        <a:srgbClr val="FEFB00"/>
      </a:accent4>
      <a:accent5>
        <a:srgbClr val="87795D"/>
      </a:accent5>
      <a:accent6>
        <a:srgbClr val="A0988C"/>
      </a:accent6>
      <a:hlink>
        <a:srgbClr val="005392"/>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Parcel</Template>
  <TotalTime>4</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Gill Sans MT</vt:lpstr>
      <vt:lpstr>Parcel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Enter, Transform, Summarize</dc:title>
  <dc:creator>PSYC 350 Laboratory</dc:creator>
  <cp:keywords/>
  <dcterms:created xsi:type="dcterms:W3CDTF">2026-09-02T01:11:29Z</dcterms:created>
  <dcterms:modified xsi:type="dcterms:W3CDTF">2026-09-02T01:11:29Z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ffiliations">
    <vt:lpwstr/>
  </property>
  <property fmtid="{D5CDD505-2E9C-101B-9397-08002B2CF9AE}" pid="4" name="authors">
    <vt:lpwstr/>
  </property>
  <property fmtid="{D5CDD505-2E9C-101B-9397-08002B2CF9AE}" pid="5" name="back-to-top-navigation">
    <vt:lpwstr>True</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ack-link">
    <vt:lpwstr>False</vt:lpwstr>
  </property>
  <property fmtid="{D5CDD505-2E9C-101B-9397-08002B2CF9AE}" pid="13" name="include-before">
    <vt:lpwstr/>
  </property>
  <property fmtid="{D5CDD505-2E9C-101B-9397-08002B2CF9AE}" pid="14" name="institute">
    <vt:lpwstr>University of Nebraska–Lincoln</vt:lpwstr>
  </property>
  <property fmtid="{D5CDD505-2E9C-101B-9397-08002B2CF9AE}" pid="15" name="institutes">
    <vt:lpwstr/>
  </property>
  <property fmtid="{D5CDD505-2E9C-101B-9397-08002B2CF9AE}" pid="16" name="labels">
    <vt:lpwstr/>
  </property>
  <property fmtid="{D5CDD505-2E9C-101B-9397-08002B2CF9AE}" pid="17" name="nebraska-pptx">
    <vt:lpwstr/>
  </property>
  <property fmtid="{D5CDD505-2E9C-101B-9397-08002B2CF9AE}" pid="18" name="revealjs-plugins">
    <vt:lpwstr/>
  </property>
  <property fmtid="{D5CDD505-2E9C-101B-9397-08002B2CF9AE}" pid="19" name="subtitle">
    <vt:lpwstr>Lab 06 · SPSS Data and Univariate Statistics</vt:lpwstr>
  </property>
  <property fmtid="{D5CDD505-2E9C-101B-9397-08002B2CF9AE}" pid="20" name="toc-title">
    <vt:lpwstr>Table of contents</vt:lpwstr>
  </property>
</Properties>
</file>