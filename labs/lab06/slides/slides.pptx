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7.xml" ContentType="application/vnd.openxmlformats-officedocument.presentationml.slideLayout+xml"/>
  <Override PartName="/ppt/slideLayouts/slideLayout2.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4.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Type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1" Type="http://schemas.openxmlformats.org/officeDocument/2006/relationships/slideMaster" Target="slideMasters/slideMaster1.xml" /><Relationship Id="rId47" Type="http://schemas.openxmlformats.org/officeDocument/2006/relationships/presProps" Target="presProps.xml" /><Relationship Id="rId48" Type="http://schemas.openxmlformats.org/officeDocument/2006/relationships/viewProps" Target="viewProps.xml" /><Relationship Id="rId49" Type="http://schemas.openxmlformats.org/officeDocument/2006/relationships/theme" Target="theme/theme1.xml" /><Relationship Id="rId50"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18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16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16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16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16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sv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5" Type="http://schemas.openxmlformats.org/officeDocument/2006/relationships/image" Target="../media/image7.png" /><Relationship Id="rId4" Type="http://schemas.openxmlformats.org/officeDocument/2006/relationships/image" Target="../media/image6.png" /><Relationship Id="rId3" Type="http://schemas.openxmlformats.org/officeDocument/2006/relationships/image" Target="../media/image5.png"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 Id="rId5" Type="http://schemas.openxmlformats.org/officeDocument/2006/relationships/image" Target="../media/image11.png" /><Relationship Id="rId4" Type="http://schemas.openxmlformats.org/officeDocument/2006/relationships/image" Target="../media/image10.png" /><Relationship Id="rId3" Type="http://schemas.openxmlformats.org/officeDocument/2006/relationships/image" Target="../media/image9.png" /><Relationship Id="rId2"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ltaf.shinyapps.io/linear-regression/"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raphpad.com/quickcalcs/ttest1/"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tatskingdom.com/180Anova1way.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tatskingdom.com/two-way-anova-calculator.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7.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8.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9.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1.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Data Entry &amp; Univariate</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Lab 06</a:t>
            </a:r>
            <a:br/>
            <a:br/>
            <a:r>
              <a:rPr/>
              <a:t>PSYCH 350-Lab</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Today’s Tasks</a:t>
            </a:r>
          </a:p>
        </p:txBody>
      </p:sp>
      <p:sp>
        <p:nvSpPr>
          <p:cNvPr id="1001" name="box-post-it" descr="box: . Brief Introduction to:Who am I?What you will learnWhy this class mattersHow things will work"/>
          <p:cNvSpPr/>
          <p:nvPr/>
        </p:nvSpPr>
        <p:spPr>
          <a:xfrm>
            <a:off x="1097280" y="2633472"/>
            <a:ext cx="9994392" cy="365760"/>
          </a:xfrm>
          <a:prstGeom prst="roundRect">
            <a:avLst>
              <a:gd name="adj" fmla="val 6000"/>
            </a:avLst>
          </a:prstGeom>
          <a:solidFill>
            <a:srgbClr val="FFF9C4"/>
          </a:solidFill>
          <a:ln w="19050">
            <a:solidFill>
              <a:srgbClr val="CCCCCC"/>
            </a:solidFill>
          </a:ln>
        </p:spPr>
        <p:txBody>
          <a:bodyPr lIns="91440" tIns="68580" rIns="91440" bIns="68580" anchor="t" wrap="square">
            <a:normAutofit/>
          </a:bodyPr>
          <a:lstStyle/>
          <a:p>
            <a:pPr algn="l"/>
            <a:r>
              <a:rPr lang="en-US" sz="1200" b="0" dirty="0">
                <a:solidFill>
                  <a:srgbClr val="010B13"/>
                </a:solidFill>
              </a:rPr>
              <a:t>Brief Introduction to:Who am I?What you will learnWhy this class mattersHow things will 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What You Need Today</a:t>
            </a:r>
          </a:p>
        </p:txBody>
      </p:sp>
      <p:sp>
        <p:nvSpPr>
          <p:cNvPr id="3" name="Content Placeholder 2"/>
          <p:cNvSpPr>
            <a:spLocks noGrp="1"/>
          </p:cNvSpPr>
          <p:nvPr>
            <p:ph idx="1"/>
          </p:nvPr>
        </p:nvSpPr>
        <p:spPr/>
        <p:txBody>
          <a:bodyPr/>
          <a:lstStyle/>
          <a:p>
            <a:pPr lvl="0" indent="0" marL="0">
              <a:buNone/>
            </a:pPr>
            <a:r>
              <a:rPr/>
              <a:t>Everything for this week is linked on the next slides – and always on the lab page under </a:t>
            </a:r>
            <a:r>
              <a:rPr b="1"/>
              <a:t>Handouts &amp; References</a:t>
            </a:r>
            <a:r>
              <a:rPr/>
              <a:t>.</a:t>
            </a:r>
          </a:p>
          <a:p>
            <a:pPr lvl="0" indent="0" marL="0">
              <a:buNone/>
            </a:pPr>
            <a:r>
              <a:rPr/>
              <a:t>Open these </a:t>
            </a:r>
            <a:r>
              <a:rPr b="1"/>
              <a:t>before we start</a:t>
            </a:r>
            <a:r>
              <a:rPr/>
              <a:t> so you can follow along.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Data Entry &amp; Univariate Stats</a:t>
            </a:r>
          </a:p>
        </p:txBody>
      </p:sp>
      <p:sp>
        <p:nvSpPr>
          <p:cNvPr id="1002" name="card-blue" descr="card: [book icon]. SPSS Handouts"/>
          <p:cNvSpPr/>
          <p:nvPr/>
        </p:nvSpPr>
        <p:spPr>
          <a:xfrm>
            <a:off x="1097280" y="2633472"/>
            <a:ext cx="3270504" cy="57912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SPSS Handouts</a:t>
            </a:r>
          </a:p>
        </p:txBody>
      </p:sp>
      <p:sp>
        <p:nvSpPr>
          <p:cNvPr id="1003" name="card-rail" descr=""/>
          <p:cNvSpPr/>
          <p:nvPr/>
        </p:nvSpPr>
        <p:spPr>
          <a:xfrm>
            <a:off x="1097280" y="2633472"/>
            <a:ext cx="54864" cy="579120"/>
          </a:xfrm>
          <a:prstGeom prst="roundRect">
            <a:avLst>
              <a:gd name="adj" fmla="val 20000"/>
            </a:avLst>
          </a:prstGeom>
          <a:solidFill>
            <a:srgbClr val="005D84"/>
          </a:solidFill>
          <a:ln>
            <a:noFill/>
          </a:ln>
        </p:spPr>
        <p:txBody>
          <a:bodyPr lIns="91440" tIns="68580" rIns="91440" bIns="68580" anchor="t" wrap="square">
            <a:normAutofit/>
          </a:bodyPr>
          <a:lstStyle/>
          <a:p/>
        </p:txBody>
      </p:sp>
      <p:sp>
        <p:nvSpPr>
          <p:cNvPr id="1004" name="card-blue" descr="card: [book icon]. About ‘stats packages’ for Psyc350 - You are not required to purchase SPSS (or any statistical package) but you must ensure that you have ‘working access’ to the statistical package(s) you choose to use so that you consistently complete assignments in a timely fashion."/>
          <p:cNvSpPr/>
          <p:nvPr/>
        </p:nvSpPr>
        <p:spPr>
          <a:xfrm>
            <a:off x="4459224" y="2633472"/>
            <a:ext cx="3270504" cy="185928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About ‘stats packages’ for Psyc350 - You are not required to purchase SPSS (or any statistical package) but you must ensure that you have ‘working access’ to the statistical package(s) you choose to use so that you consistently complete assignments in a timely fashion.</a:t>
            </a:r>
          </a:p>
        </p:txBody>
      </p:sp>
      <p:sp>
        <p:nvSpPr>
          <p:cNvPr id="1005" name="card-rail" descr=""/>
          <p:cNvSpPr/>
          <p:nvPr/>
        </p:nvSpPr>
        <p:spPr>
          <a:xfrm>
            <a:off x="4459224" y="2633472"/>
            <a:ext cx="54864" cy="1859280"/>
          </a:xfrm>
          <a:prstGeom prst="roundRect">
            <a:avLst>
              <a:gd name="adj" fmla="val 20000"/>
            </a:avLst>
          </a:prstGeom>
          <a:solidFill>
            <a:srgbClr val="005D84"/>
          </a:solidFill>
          <a:ln>
            <a:noFill/>
          </a:ln>
        </p:spPr>
        <p:txBody>
          <a:bodyPr lIns="91440" tIns="68580" rIns="91440" bIns="68580" anchor="t" wrap="square">
            <a:normAutofit/>
          </a:bodyPr>
          <a:lstStyle/>
          <a:p/>
        </p:txBody>
      </p:sp>
      <p:sp>
        <p:nvSpPr>
          <p:cNvPr id="1006" name="card-red" descr="card: [note icon]. Data Entry [PDF]"/>
          <p:cNvSpPr/>
          <p:nvPr/>
        </p:nvSpPr>
        <p:spPr>
          <a:xfrm>
            <a:off x="7821168" y="2633472"/>
            <a:ext cx="3270504" cy="76200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D00000"/>
                </a:solidFill>
              </a:rPr>
              <a:t>[note icon]</a:t>
            </a:r>
          </a:p>
          <a:p>
            <a:pPr algn="l"/>
            <a:r>
              <a:rPr lang="en-US" sz="1200" b="0" dirty="0">
                <a:solidFill>
                  <a:srgbClr val="010B13"/>
                </a:solidFill>
              </a:rPr>
              <a:t>Data Entry</a:t>
            </a:r>
          </a:p>
          <a:p>
            <a:pPr algn="l"/>
            <a:r>
              <a:rPr lang="en-US" sz="1200" b="0" dirty="0">
                <a:solidFill>
                  <a:srgbClr val="010B13"/>
                </a:solidFill>
              </a:rPr>
              <a:t>[PDF]</a:t>
            </a:r>
          </a:p>
        </p:txBody>
      </p:sp>
      <p:sp>
        <p:nvSpPr>
          <p:cNvPr id="1007" name="card-rail" descr=""/>
          <p:cNvSpPr/>
          <p:nvPr/>
        </p:nvSpPr>
        <p:spPr>
          <a:xfrm>
            <a:off x="7821168" y="2633472"/>
            <a:ext cx="54864" cy="762000"/>
          </a:xfrm>
          <a:prstGeom prst="roundRect">
            <a:avLst>
              <a:gd name="adj" fmla="val 20000"/>
            </a:avLst>
          </a:prstGeom>
          <a:solidFill>
            <a:srgbClr val="D00000"/>
          </a:solidFill>
          <a:ln>
            <a:noFill/>
          </a:ln>
        </p:spPr>
        <p:txBody>
          <a:bodyPr lIns="91440" tIns="68580" rIns="91440" bIns="68580" anchor="t" wrap="square">
            <a:normAutofit/>
          </a:bodyPr>
          <a:lstStyle/>
          <a:p/>
        </p:txBody>
      </p:sp>
      <p:sp>
        <p:nvSpPr>
          <p:cNvPr id="1008" name="card-red" descr="card: [note icon]. Compute &amp; recode [PDF]"/>
          <p:cNvSpPr/>
          <p:nvPr/>
        </p:nvSpPr>
        <p:spPr>
          <a:xfrm>
            <a:off x="1097280" y="4584192"/>
            <a:ext cx="3270504" cy="76200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D00000"/>
                </a:solidFill>
              </a:rPr>
              <a:t>[note icon]</a:t>
            </a:r>
          </a:p>
          <a:p>
            <a:pPr algn="l"/>
            <a:r>
              <a:rPr lang="en-US" sz="1200" b="0" dirty="0">
                <a:solidFill>
                  <a:srgbClr val="010B13"/>
                </a:solidFill>
              </a:rPr>
              <a:t>Compute &amp; recode</a:t>
            </a:r>
          </a:p>
          <a:p>
            <a:pPr algn="l"/>
            <a:r>
              <a:rPr lang="en-US" sz="1200" b="0" dirty="0">
                <a:solidFill>
                  <a:srgbClr val="010B13"/>
                </a:solidFill>
              </a:rPr>
              <a:t>[PDF]</a:t>
            </a:r>
          </a:p>
        </p:txBody>
      </p:sp>
      <p:sp>
        <p:nvSpPr>
          <p:cNvPr id="1009" name="card-rail" descr=""/>
          <p:cNvSpPr/>
          <p:nvPr/>
        </p:nvSpPr>
        <p:spPr>
          <a:xfrm>
            <a:off x="1097280" y="4584192"/>
            <a:ext cx="54864" cy="762000"/>
          </a:xfrm>
          <a:prstGeom prst="roundRect">
            <a:avLst>
              <a:gd name="adj" fmla="val 20000"/>
            </a:avLst>
          </a:prstGeom>
          <a:solidFill>
            <a:srgbClr val="D00000"/>
          </a:solidFill>
          <a:ln>
            <a:noFill/>
          </a:ln>
        </p:spPr>
        <p:txBody>
          <a:bodyPr lIns="91440" tIns="68580" rIns="91440" bIns="68580" anchor="t" wrap="square">
            <a:normAutofit/>
          </a:bodyPr>
          <a:lstStyle/>
          <a:p/>
        </p:txBody>
      </p:sp>
      <p:sp>
        <p:nvSpPr>
          <p:cNvPr id="1010" name="card-red" descr="card: [note icon]. Selecting Cases &amp; Splitting Files [PDF]"/>
          <p:cNvSpPr/>
          <p:nvPr/>
        </p:nvSpPr>
        <p:spPr>
          <a:xfrm>
            <a:off x="4459224" y="4584192"/>
            <a:ext cx="3270504" cy="76200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D00000"/>
                </a:solidFill>
              </a:rPr>
              <a:t>[note icon]</a:t>
            </a:r>
          </a:p>
          <a:p>
            <a:pPr algn="l"/>
            <a:r>
              <a:rPr lang="en-US" sz="1200" b="0" dirty="0">
                <a:solidFill>
                  <a:srgbClr val="010B13"/>
                </a:solidFill>
              </a:rPr>
              <a:t>Selecting Cases &amp; Splitting Files</a:t>
            </a:r>
          </a:p>
          <a:p>
            <a:pPr algn="l"/>
            <a:r>
              <a:rPr lang="en-US" sz="1200" b="0" dirty="0">
                <a:solidFill>
                  <a:srgbClr val="010B13"/>
                </a:solidFill>
              </a:rPr>
              <a:t>[PDF]</a:t>
            </a:r>
          </a:p>
        </p:txBody>
      </p:sp>
      <p:sp>
        <p:nvSpPr>
          <p:cNvPr id="1011" name="card-rail" descr=""/>
          <p:cNvSpPr/>
          <p:nvPr/>
        </p:nvSpPr>
        <p:spPr>
          <a:xfrm>
            <a:off x="4459224" y="4584192"/>
            <a:ext cx="54864" cy="762000"/>
          </a:xfrm>
          <a:prstGeom prst="roundRect">
            <a:avLst>
              <a:gd name="adj" fmla="val 20000"/>
            </a:avLst>
          </a:prstGeom>
          <a:solidFill>
            <a:srgbClr val="D00000"/>
          </a:solidFill>
          <a:ln>
            <a:noFill/>
          </a:ln>
        </p:spPr>
        <p:txBody>
          <a:bodyPr lIns="91440" tIns="68580" rIns="91440" bIns="68580" anchor="t" wrap="square">
            <a:normAutofit/>
          </a:bodyPr>
          <a:lstStyle/>
          <a:p/>
        </p:txBody>
      </p:sp>
      <p:sp>
        <p:nvSpPr>
          <p:cNvPr id="1012" name="card-red" descr="card: [note icon]. Frequencies &amp; Univariate Statistics [PDF]"/>
          <p:cNvSpPr/>
          <p:nvPr/>
        </p:nvSpPr>
        <p:spPr>
          <a:xfrm>
            <a:off x="7821168" y="4584192"/>
            <a:ext cx="3270504" cy="76200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D00000"/>
                </a:solidFill>
              </a:rPr>
              <a:t>[note icon]</a:t>
            </a:r>
          </a:p>
          <a:p>
            <a:pPr algn="l"/>
            <a:r>
              <a:rPr lang="en-US" sz="1200" b="0" dirty="0">
                <a:solidFill>
                  <a:srgbClr val="010B13"/>
                </a:solidFill>
              </a:rPr>
              <a:t>Frequencies &amp; Univariate Statistics</a:t>
            </a:r>
          </a:p>
          <a:p>
            <a:pPr algn="l"/>
            <a:r>
              <a:rPr lang="en-US" sz="1200" b="0" dirty="0">
                <a:solidFill>
                  <a:srgbClr val="010B13"/>
                </a:solidFill>
              </a:rPr>
              <a:t>[PDF]</a:t>
            </a:r>
          </a:p>
        </p:txBody>
      </p:sp>
      <p:sp>
        <p:nvSpPr>
          <p:cNvPr id="1013" name="card-rail" descr=""/>
          <p:cNvSpPr/>
          <p:nvPr/>
        </p:nvSpPr>
        <p:spPr>
          <a:xfrm>
            <a:off x="7821168" y="4584192"/>
            <a:ext cx="54864" cy="762000"/>
          </a:xfrm>
          <a:prstGeom prst="roundRect">
            <a:avLst>
              <a:gd name="adj" fmla="val 20000"/>
            </a:avLst>
          </a:prstGeom>
          <a:solidFill>
            <a:srgbClr val="D00000"/>
          </a:solidFill>
          <a:ln>
            <a:noFill/>
          </a:ln>
        </p:spPr>
        <p:txBody>
          <a:bodyPr lIns="91440" tIns="68580" rIns="91440" bIns="68580" anchor="t" wrap="square">
            <a:normAutofit/>
          </a:bodyPr>
          <a:lstStyl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Weekly Lab Assignment</a:t>
            </a:r>
          </a:p>
        </p:txBody>
      </p:sp>
      <p:sp>
        <p:nvSpPr>
          <p:cNvPr id="1014" name="card-blue" descr="card: [book icon]. Data Entry &amp; Univariate Stats worksheet [Word document]"/>
          <p:cNvSpPr/>
          <p:nvPr/>
        </p:nvSpPr>
        <p:spPr>
          <a:xfrm>
            <a:off x="1097280" y="2633472"/>
            <a:ext cx="3270504" cy="94488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Data Entry &amp; Univariate Stats worksheet</a:t>
            </a:r>
          </a:p>
          <a:p>
            <a:pPr algn="l"/>
            <a:r>
              <a:rPr lang="en-US" sz="1200" b="0" dirty="0">
                <a:solidFill>
                  <a:srgbClr val="010B13"/>
                </a:solidFill>
              </a:rPr>
              <a:t>[Word document]</a:t>
            </a:r>
          </a:p>
        </p:txBody>
      </p:sp>
      <p:sp>
        <p:nvSpPr>
          <p:cNvPr id="1015" name="card-rail" descr=""/>
          <p:cNvSpPr/>
          <p:nvPr/>
        </p:nvSpPr>
        <p:spPr>
          <a:xfrm>
            <a:off x="1097280" y="2633472"/>
            <a:ext cx="54864" cy="944880"/>
          </a:xfrm>
          <a:prstGeom prst="roundRect">
            <a:avLst>
              <a:gd name="adj" fmla="val 20000"/>
            </a:avLst>
          </a:prstGeom>
          <a:solidFill>
            <a:srgbClr val="005D84"/>
          </a:solidFill>
          <a:ln>
            <a:noFill/>
          </a:ln>
        </p:spPr>
        <p:txBody>
          <a:bodyPr lIns="91440" tIns="68580" rIns="91440" bIns="68580" anchor="t" wrap="square">
            <a:normAutofit/>
          </a:bodyPr>
          <a:lstStyle/>
          <a:p/>
        </p:txBody>
      </p:sp>
      <p:sp>
        <p:nvSpPr>
          <p:cNvPr id="1016" name="card-blue" descr="card: [arrow icon]. Univariate stats hw checker [Web page]"/>
          <p:cNvSpPr/>
          <p:nvPr/>
        </p:nvSpPr>
        <p:spPr>
          <a:xfrm>
            <a:off x="4459224" y="2633472"/>
            <a:ext cx="3270504" cy="76200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[arrow icon]</a:t>
            </a:r>
          </a:p>
          <a:p>
            <a:pPr algn="l"/>
            <a:r>
              <a:rPr lang="en-US" sz="1200" b="0" dirty="0">
                <a:solidFill>
                  <a:srgbClr val="010B13"/>
                </a:solidFill>
              </a:rPr>
              <a:t>Univariate stats hw checker</a:t>
            </a:r>
          </a:p>
          <a:p>
            <a:pPr algn="l"/>
            <a:r>
              <a:rPr lang="en-US" sz="1200" b="0" dirty="0">
                <a:solidFill>
                  <a:srgbClr val="010B13"/>
                </a:solidFill>
              </a:rPr>
              <a:t>[Web page]</a:t>
            </a:r>
          </a:p>
        </p:txBody>
      </p:sp>
      <p:sp>
        <p:nvSpPr>
          <p:cNvPr id="1017" name="card-rail" descr=""/>
          <p:cNvSpPr/>
          <p:nvPr/>
        </p:nvSpPr>
        <p:spPr>
          <a:xfrm>
            <a:off x="4459224" y="2633472"/>
            <a:ext cx="54864" cy="762000"/>
          </a:xfrm>
          <a:prstGeom prst="roundRect">
            <a:avLst>
              <a:gd name="adj" fmla="val 20000"/>
            </a:avLst>
          </a:prstGeom>
          <a:solidFill>
            <a:srgbClr val="005D84"/>
          </a:solidFill>
          <a:ln>
            <a:noFill/>
          </a:ln>
        </p:spPr>
        <p:txBody>
          <a:bodyPr lIns="91440" tIns="68580" rIns="91440" bIns="68580" anchor="t" wrap="square">
            <a:normAutofit/>
          </a:bodyPr>
          <a:lstStyle/>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Univariate Analysis: The Basics</a:t>
            </a:r>
          </a:p>
        </p:txBody>
      </p:sp>
      <p:sp>
        <p:nvSpPr>
          <p:cNvPr id="3" name="Content Placeholder 2"/>
          <p:cNvSpPr>
            <a:spLocks noGrp="1"/>
          </p:cNvSpPr>
          <p:nvPr>
            <p:ph idx="1"/>
          </p:nvPr>
        </p:nvSpPr>
        <p:spPr/>
        <p:txBody>
          <a:bodyPr/>
          <a:lstStyle/>
          <a:p>
            <a:pPr lvl="0" indent="0" marL="0">
              <a:buNone/>
            </a:pPr>
            <a:r>
              <a:rPr/>
              <a:t>In general, an </a:t>
            </a:r>
            <a:r>
              <a:rPr b="1"/>
              <a:t>experiment</a:t>
            </a:r>
            <a:r>
              <a:rPr/>
              <a:t> is a procedure that researchers use to assess the effect of one variable (IV) on another variable (DV).</a:t>
            </a:r>
          </a:p>
          <a:p>
            <a:pPr lvl="0" indent="0" marL="0">
              <a:buNone/>
            </a:pPr>
          </a:p>
          <a:p>
            <a:pPr lvl="0" indent="0" marL="0">
              <a:buNone/>
            </a:pPr>
            <a:r>
              <a:rPr b="1"/>
              <a:t>Independent variable (IV):</a:t>
            </a:r>
            <a:r>
              <a:rPr/>
              <a:t> In experiments, this is the variable that the researchers manipulate (e.g., randomly assigning participants to 2 different groups).</a:t>
            </a:r>
          </a:p>
          <a:p>
            <a:pPr lvl="0" indent="0" marL="0">
              <a:buNone/>
            </a:pPr>
            <a:r>
              <a:rPr i="1"/>
              <a:t>synonyms</a:t>
            </a:r>
            <a:r>
              <a:rPr/>
              <a:t>:</a:t>
            </a:r>
          </a:p>
          <a:p>
            <a:pPr lvl="0" indent="0" marL="0">
              <a:buNone/>
            </a:pPr>
            <a:r>
              <a:rPr/>
              <a:t>Predictor variable Explanatory variable</a:t>
            </a:r>
          </a:p>
          <a:p>
            <a:pPr lvl="0" indent="0" marL="0">
              <a:buNone/>
            </a:pPr>
          </a:p>
          <a:p>
            <a:pPr lvl="0" indent="0" marL="0">
              <a:buNone/>
            </a:pPr>
            <a:r>
              <a:rPr b="1"/>
              <a:t>Dependent variable (DV):</a:t>
            </a:r>
            <a:r>
              <a:rPr/>
              <a:t> In experiments, this is the variable of interest. This variable is expected to change according to the IV.</a:t>
            </a:r>
          </a:p>
          <a:p>
            <a:pPr lvl="0" indent="0" marL="0">
              <a:buNone/>
            </a:pPr>
            <a:r>
              <a:rPr i="1"/>
              <a:t>synonyms</a:t>
            </a:r>
            <a:r>
              <a:rPr/>
              <a:t>:</a:t>
            </a:r>
          </a:p>
          <a:p>
            <a:pPr lvl="0" indent="0" marL="0">
              <a:buNone/>
            </a:pPr>
            <a:r>
              <a:rPr/>
              <a:t>Outcome variable Response variable</a:t>
            </a:r>
          </a:p>
          <a:p>
            <a:pPr lvl="0" indent="0" marL="0">
              <a:buNone/>
            </a:pPr>
            <a:r>
              <a:rPr/>
              <a:t> Things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Measuring Variables</a:t>
            </a:r>
          </a:p>
        </p:txBody>
      </p:sp>
      <p:pic>
        <p:nvPicPr>
          <p:cNvPr descr="Bar chart of the height data used throughout the lab" id="0" name="Picture 1"/>
          <p:cNvPicPr>
            <a:picLocks noGrp="1" noChangeAspect="1"/>
          </p:cNvPicPr>
          <p:nvPr/>
        </p:nvPicPr>
        <p:blipFill>
          <a:blip r:embed="rId2"/>
          <a:stretch>
            <a:fillRect/>
          </a:stretch>
        </p:blipFill>
        <p:spPr bwMode="auto">
          <a:xfrm>
            <a:off x="3987800" y="2628900"/>
            <a:ext cx="41910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Bar chart of the height data used throughout the lab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Measuring Variables (continued)</a:t>
            </a:r>
          </a:p>
        </p:txBody>
      </p:sp>
      <p:pic>
        <p:nvPicPr>
          <p:cNvPr descr="Chart showing how the same height measurements can be treated as different variable types" id="0" name="Picture 1"/>
          <p:cNvPicPr>
            <a:picLocks noGrp="1" noChangeAspect="1"/>
          </p:cNvPicPr>
          <p:nvPr/>
        </p:nvPicPr>
        <p:blipFill>
          <a:blip r:embed="rId2"/>
          <a:stretch>
            <a:fillRect/>
          </a:stretch>
        </p:blipFill>
        <p:spPr bwMode="auto">
          <a:xfrm>
            <a:off x="3987800" y="2628900"/>
            <a:ext cx="41910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Chart showing how the same height measurements can be treated as different variable types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Univariate Statistics</a:t>
            </a:r>
          </a:p>
        </p:txBody>
      </p:sp>
      <p:pic>
        <p:nvPicPr>
          <p:cNvPr descr="" id="0" name="Picture 1"/>
          <p:cNvPicPr>
            <a:picLocks noGrp="1" noChangeAspect="1"/>
          </p:cNvPicPr>
          <p:nvPr/>
        </p:nvPicPr>
        <p:blipFill>
          <a:blip r:embed="rId2"/>
          <a:stretch>
            <a:fillRect/>
          </a:stretch>
        </p:blipFill>
        <p:spPr bwMode="auto">
          <a:xfrm>
            <a:off x="4800600" y="2628900"/>
            <a:ext cx="25908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Univariate Statistics (continued)</a:t>
            </a:r>
          </a:p>
        </p:txBody>
      </p:sp>
      <p:sp>
        <p:nvSpPr>
          <p:cNvPr id="3" name="Content Placeholder 2"/>
          <p:cNvSpPr>
            <a:spLocks noGrp="1"/>
          </p:cNvSpPr>
          <p:nvPr>
            <p:ph idx="1"/>
          </p:nvPr>
        </p:nvSpPr>
        <p:spPr/>
        <p:txBody>
          <a:bodyPr/>
          <a:lstStyle/>
          <a:p>
            <a:pPr lvl="0" indent="0" marL="0">
              <a:buNone/>
            </a:pPr>
            <a:r>
              <a:rPr b="1"/>
              <a:t>CONTINUOUS VARIABLES:</a:t>
            </a:r>
            <a:r>
              <a:rPr/>
              <a:t> Describe and understand our sample data with the Mean </a:t>
            </a:r>
            <a:r>
              <a:rPr i="1"/>
              <a:t>(M)</a:t>
            </a:r>
            <a:r>
              <a:rPr/>
              <a:t> and Standard Deviation </a:t>
            </a:r>
            <a:r>
              <a:rPr i="1"/>
              <a:t>(SD)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pPr lvl="0" indent="0" marL="0">
              <a:buNone/>
            </a:pPr>
            <a:r>
              <a:rPr/>
              <a:t>Univariate Statistics (continued)</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1 </a:t>
                </a:r>
                <a14:m>
                  <m:oMath xmlns:m="http://schemas.openxmlformats.org/officeDocument/2006/math">
                    <m:r>
                      <m:t>M</m:t>
                    </m:r>
                    <m:r>
                      <m:t>e</m:t>
                    </m:r>
                    <m:r>
                      <m:t>a</m:t>
                    </m:r>
                    <m:sSub>
                      <m:e>
                        <m:r>
                          <m:t>n</m:t>
                        </m:r>
                      </m:e>
                      <m:sub>
                        <m:r>
                          <m:t>H</m:t>
                        </m:r>
                        <m:r>
                          <m:t>e</m:t>
                        </m:r>
                        <m:r>
                          <m:t>i</m:t>
                        </m:r>
                        <m:r>
                          <m:t>g</m:t>
                        </m:r>
                        <m:r>
                          <m:t>h</m:t>
                        </m:r>
                        <m:r>
                          <m:t>t</m:t>
                        </m:r>
                      </m:sub>
                    </m:sSub>
                    <m:r>
                      <m:rPr>
                        <m:sty m:val="p"/>
                      </m:rPr>
                      <m:t>=</m:t>
                    </m:r>
                    <m:f>
                      <m:fPr>
                        <m:type m:val="bar"/>
                      </m:fPr>
                      <m:num>
                        <m:r>
                          <m:rPr>
                            <m:sty m:val="p"/>
                          </m:rPr>
                          <m:t>∑</m:t>
                        </m:r>
                        <m:r>
                          <m:t>H</m:t>
                        </m:r>
                        <m:r>
                          <m:t>e</m:t>
                        </m:r>
                        <m:r>
                          <m:t>i</m:t>
                        </m:r>
                        <m:r>
                          <m:t>g</m:t>
                        </m:r>
                        <m:r>
                          <m:t>h</m:t>
                        </m:r>
                        <m:sSub>
                          <m:e>
                            <m:r>
                              <m:t>t</m:t>
                            </m:r>
                          </m:e>
                          <m:sub>
                            <m:r>
                              <m:t>i</m:t>
                            </m:r>
                          </m:sub>
                        </m:sSub>
                      </m:num>
                      <m:den>
                        <m:sSub>
                          <m:e>
                            <m:r>
                              <m:t>N</m:t>
                            </m:r>
                          </m:e>
                          <m:sub>
                            <m:r>
                              <m:t>H</m:t>
                            </m:r>
                            <m:r>
                              <m:t>e</m:t>
                            </m:r>
                            <m:r>
                              <m:t>i</m:t>
                            </m:r>
                            <m:r>
                              <m:t>g</m:t>
                            </m:r>
                            <m:r>
                              <m:t>h</m:t>
                            </m:r>
                            <m:r>
                              <m:t>t</m:t>
                            </m:r>
                          </m:sub>
                        </m:sSub>
                      </m:den>
                    </m:f>
                  </m:oMath>
                </a14:m>
              </a:p>
              <a:p>
                <a:pPr lvl="0" indent="0" marL="0">
                  <a:buNone/>
                </a:pPr>
                <a:r>
                  <a:rPr/>
                  <a:t>2 </a:t>
                </a:r>
                <a14:m>
                  <m:oMath xmlns:m="http://schemas.openxmlformats.org/officeDocument/2006/math">
                    <m:r>
                      <m:t>S</m:t>
                    </m:r>
                    <m:sSub>
                      <m:e>
                        <m:r>
                          <m:t>D</m:t>
                        </m:r>
                      </m:e>
                      <m:sub>
                        <m:r>
                          <m:t>H</m:t>
                        </m:r>
                        <m:r>
                          <m:t>e</m:t>
                        </m:r>
                        <m:r>
                          <m:t>i</m:t>
                        </m:r>
                        <m:r>
                          <m:t>g</m:t>
                        </m:r>
                        <m:r>
                          <m:t>h</m:t>
                        </m:r>
                        <m:r>
                          <m:t>t</m:t>
                        </m:r>
                      </m:sub>
                    </m:sSub>
                    <m:r>
                      <m:rPr>
                        <m:sty m:val="p"/>
                      </m:rPr>
                      <m:t>=</m:t>
                    </m:r>
                    <m:f>
                      <m:fPr>
                        <m:type m:val="bar"/>
                      </m:fPr>
                      <m:num>
                        <m:rad>
                          <m:radPr>
                            <m:degHide m:val="on"/>
                          </m:radPr>
                          <m:deg/>
                          <m:e>
                            <m:r>
                              <m:rPr>
                                <m:sty m:val="p"/>
                              </m:rPr>
                              <m:t>∑</m:t>
                            </m:r>
                            <m:r>
                              <m:rPr>
                                <m:sty m:val="p"/>
                              </m:rPr>
                              <m:t>(</m:t>
                            </m:r>
                            <m:r>
                              <m:t>M</m:t>
                            </m:r>
                            <m:r>
                              <m:t>e</m:t>
                            </m:r>
                            <m:r>
                              <m:t>a</m:t>
                            </m:r>
                            <m:sSub>
                              <m:e>
                                <m:r>
                                  <m:t>n</m:t>
                                </m:r>
                              </m:e>
                              <m:sub>
                                <m:r>
                                  <m:t>H</m:t>
                                </m:r>
                                <m:r>
                                  <m:t>e</m:t>
                                </m:r>
                                <m:r>
                                  <m:t>i</m:t>
                                </m:r>
                                <m:r>
                                  <m:t>g</m:t>
                                </m:r>
                                <m:r>
                                  <m:t>h</m:t>
                                </m:r>
                                <m:r>
                                  <m:t>t</m:t>
                                </m:r>
                              </m:sub>
                            </m:sSub>
                            <m:r>
                              <m:rPr>
                                <m:sty m:val="p"/>
                              </m:rPr>
                              <m:t>−</m:t>
                            </m:r>
                            <m:r>
                              <m:t>H</m:t>
                            </m:r>
                            <m:r>
                              <m:t>e</m:t>
                            </m:r>
                            <m:r>
                              <m:t>i</m:t>
                            </m:r>
                            <m:r>
                              <m:t>g</m:t>
                            </m:r>
                            <m:r>
                              <m:t>h</m:t>
                            </m:r>
                            <m:sSub>
                              <m:e>
                                <m:r>
                                  <m:t>t</m:t>
                                </m:r>
                              </m:e>
                              <m:sub>
                                <m:r>
                                  <m:t>i</m:t>
                                </m:r>
                              </m:sub>
                            </m:sSub>
                            <m:sSup>
                              <m:e>
                                <m:r>
                                  <m:rPr>
                                    <m:sty m:val="p"/>
                                  </m:rPr>
                                  <m:t>)</m:t>
                                </m:r>
                              </m:e>
                              <m:sup>
                                <m:r>
                                  <m:t>2</m:t>
                                </m:r>
                              </m:sup>
                            </m:sSup>
                          </m:e>
                        </m:rad>
                      </m:num>
                      <m:den>
                        <m:sSub>
                          <m:e>
                            <m:r>
                              <m:t>N</m:t>
                            </m:r>
                          </m:e>
                          <m:sub>
                            <m:r>
                              <m:t>H</m:t>
                            </m:r>
                            <m:r>
                              <m:t>e</m:t>
                            </m:r>
                            <m:r>
                              <m:t>i</m:t>
                            </m:r>
                            <m:r>
                              <m:t>g</m:t>
                            </m:r>
                            <m:r>
                              <m:t>h</m:t>
                            </m:r>
                            <m:r>
                              <m:t>t</m:t>
                            </m:r>
                          </m:sub>
                        </m:sSub>
                        <m:r>
                          <m:rPr>
                            <m:sty m:val="p"/>
                          </m:rPr>
                          <m:t>−</m:t>
                        </m:r>
                        <m:r>
                          <m:t>1</m:t>
                        </m:r>
                      </m:den>
                    </m:f>
                  </m:oMath>
                </a14:m>
              </a:p>
              <a:p>
                <a:pPr lvl="0" indent="0" marL="0">
                  <a:buNone/>
                </a:pPr>
                <a:r>
                  <a:rPr/>
                  <a:t>3 </a:t>
                </a:r>
                <a14:m>
                  <m:oMath xmlns:m="http://schemas.openxmlformats.org/officeDocument/2006/math">
                    <m:r>
                      <m:t>S</m:t>
                    </m:r>
                    <m:sSub>
                      <m:e>
                        <m:r>
                          <m:t>E</m:t>
                        </m:r>
                      </m:e>
                      <m:sub>
                        <m:r>
                          <m:t>H</m:t>
                        </m:r>
                        <m:r>
                          <m:t>e</m:t>
                        </m:r>
                        <m:r>
                          <m:t>i</m:t>
                        </m:r>
                        <m:r>
                          <m:t>g</m:t>
                        </m:r>
                        <m:r>
                          <m:t>h</m:t>
                        </m:r>
                        <m:r>
                          <m:t>t</m:t>
                        </m:r>
                      </m:sub>
                    </m:sSub>
                    <m:r>
                      <m:rPr>
                        <m:sty m:val="p"/>
                      </m:rPr>
                      <m:t>=</m:t>
                    </m:r>
                    <m:f>
                      <m:fPr>
                        <m:type m:val="bar"/>
                      </m:fPr>
                      <m:num>
                        <m:r>
                          <m:t>S</m:t>
                        </m:r>
                        <m:sSub>
                          <m:e>
                            <m:r>
                              <m:t>D</m:t>
                            </m:r>
                          </m:e>
                          <m:sub>
                            <m:r>
                              <m:t>H</m:t>
                            </m:r>
                            <m:r>
                              <m:t>e</m:t>
                            </m:r>
                            <m:r>
                              <m:t>i</m:t>
                            </m:r>
                            <m:r>
                              <m:t>g</m:t>
                            </m:r>
                            <m:r>
                              <m:t>h</m:t>
                            </m:r>
                            <m:r>
                              <m:t>t</m:t>
                            </m:r>
                          </m:sub>
                        </m:sSub>
                      </m:num>
                      <m:den>
                        <m:rad>
                          <m:radPr>
                            <m:degHide m:val="on"/>
                          </m:radPr>
                          <m:deg/>
                          <m:e>
                            <m:sSub>
                              <m:e>
                                <m:r>
                                  <m:t>N</m:t>
                                </m:r>
                              </m:e>
                              <m:sub>
                                <m:r>
                                  <m:t>H</m:t>
                                </m:r>
                                <m:r>
                                  <m:t>e</m:t>
                                </m:r>
                                <m:r>
                                  <m:t>i</m:t>
                                </m:r>
                                <m:r>
                                  <m:t>g</m:t>
                                </m:r>
                                <m:r>
                                  <m:t>h</m:t>
                                </m:r>
                                <m:r>
                                  <m:t>t</m:t>
                                </m:r>
                              </m:sub>
                            </m:sSub>
                          </m:e>
                        </m:rad>
                      </m:den>
                    </m:f>
                  </m:oMath>
                </a14:m>
              </a:p>
              <a:p>
                <a:pPr lvl="0" indent="0" marL="0">
                  <a:buNone/>
                </a:pPr>
                <a:r>
                  <a:rPr/>
                  <a:t>The </a:t>
                </a:r>
                <a:r>
                  <a:rPr b="1"/>
                  <a:t>mean</a:t>
                </a:r>
                <a:r>
                  <a:rPr/>
                  <a:t> is a measure of central tendency</a:t>
                </a:r>
              </a:p>
              <a:p>
                <a:pPr lvl="0" indent="0" marL="0">
                  <a:buNone/>
                </a:pPr>
                <a:r>
                  <a:rPr/>
                  <a:t>The </a:t>
                </a:r>
                <a:r>
                  <a:rPr b="1"/>
                  <a:t>standard deviation (SD)</a:t>
                </a:r>
                <a:r>
                  <a:rPr/>
                  <a:t> measures how spread out the data is.</a:t>
                </a:r>
              </a:p>
              <a:p>
                <a:pPr lvl="0" indent="0" marL="0">
                  <a:buNone/>
                </a:pPr>
                <a:r>
                  <a:rPr/>
                  <a:t>The </a:t>
                </a:r>
                <a:r>
                  <a:rPr b="1"/>
                  <a:t>standard error (SE)</a:t>
                </a:r>
                <a:r>
                  <a:rPr/>
                  <a:t> can be interpreted as the degree of confidence one can have that the </a:t>
                </a:r>
                <a:r>
                  <a:rPr i="1"/>
                  <a:t>sample mean</a:t>
                </a:r>
                <a:r>
                  <a:rPr/>
                  <a:t> is close to the </a:t>
                </a:r>
                <a:r>
                  <a:rPr i="1"/>
                  <a:t>true population mean</a:t>
                </a:r>
                <a:r>
                  <a:rPr/>
                  <a:t> (lower SE implies higher confidence).</a:t>
                </a:r>
              </a:p>
            </p:txBody>
          </p:sp>
        </mc:Choice>
      </mc:AlternateContent>
      <p:sp>
        <p:nvSpPr>
          <p:cNvPr id="11" name="Text Placeholder 4"/>
          <p:cNvSpPr>
            <a:spLocks noGrp="1"/>
          </p:cNvSpPr>
          <p:nvPr>
            <p:ph idx="13" sz="quarter" type="body"/>
          </p:nvPr>
        </p:nvSpPr>
        <p:spPr/>
        <p:txBody>
          <a:bodyPr/>
          <a:lstStyle/>
          <a:p>
            <a:pPr lvl="0" indent="0" marL="0">
              <a:buNone/>
            </a:pPr>
            <a:r>
              <a:rPr b="1"/>
              <a:t>Height</a:t>
            </a:r>
            <a:r>
              <a:rPr/>
              <a:t> (meters)</a:t>
            </a:r>
          </a:p>
          <a:p>
            <a:pPr lvl="0" indent="0" marL="0">
              <a:buNone/>
            </a:pPr>
            <a:r>
              <a:rPr/>
              <a:t>1.93, 1.93, 1.90, 1.89, 1.86, 1.85, 1.85, 1.82, 1.81</a:t>
            </a:r>
          </a:p>
        </p:txBody>
      </p:sp>
      <p:pic>
        <p:nvPicPr>
          <p:cNvPr descr="Empty dot plot of the height data, before summary statistics are added" id="0" name="Picture 1"/>
          <p:cNvPicPr>
            <a:picLocks noGrp="1" noChangeAspect="1"/>
          </p:cNvPicPr>
          <p:nvPr/>
        </p:nvPicPr>
        <p:blipFill>
          <a:blip r:embed="rId2"/>
          <a:stretch>
            <a:fillRect/>
          </a:stretch>
        </p:blipFill>
        <p:spPr bwMode="auto">
          <a:xfrm>
            <a:off x="6438900" y="3136900"/>
            <a:ext cx="4025900" cy="2590800"/>
          </a:xfrm>
          <a:prstGeom prst="rect">
            <a:avLst/>
          </a:prstGeom>
          <a:noFill/>
          <a:ln w="9525">
            <a:noFill/>
            <a:headEnd/>
            <a:tailEnd/>
          </a:ln>
        </p:spPr>
      </p:pic>
      <p:pic>
        <p:nvPicPr>
          <p:cNvPr descr="Dot plot of the height data with the sample mean marked" id="0" name="Picture 1"/>
          <p:cNvPicPr>
            <a:picLocks noGrp="1" noChangeAspect="1"/>
          </p:cNvPicPr>
          <p:nvPr/>
        </p:nvPicPr>
        <p:blipFill>
          <a:blip r:embed="rId3"/>
          <a:stretch>
            <a:fillRect/>
          </a:stretch>
        </p:blipFill>
        <p:spPr bwMode="auto">
          <a:xfrm>
            <a:off x="6438900" y="3136900"/>
            <a:ext cx="4025900" cy="2590800"/>
          </a:xfrm>
          <a:prstGeom prst="rect">
            <a:avLst/>
          </a:prstGeom>
          <a:noFill/>
          <a:ln w="9525">
            <a:noFill/>
            <a:headEnd/>
            <a:tailEnd/>
          </a:ln>
        </p:spPr>
      </p:pic>
      <p:pic>
        <p:nvPicPr>
          <p:cNvPr descr="Dot plot of the height data illustrating the standard deviation around the mean" id="0" name="Picture 1"/>
          <p:cNvPicPr>
            <a:picLocks noGrp="1" noChangeAspect="1"/>
          </p:cNvPicPr>
          <p:nvPr/>
        </p:nvPicPr>
        <p:blipFill>
          <a:blip r:embed="rId4"/>
          <a:stretch>
            <a:fillRect/>
          </a:stretch>
        </p:blipFill>
        <p:spPr bwMode="auto">
          <a:xfrm>
            <a:off x="6438900" y="3136900"/>
            <a:ext cx="4025900" cy="2590800"/>
          </a:xfrm>
          <a:prstGeom prst="rect">
            <a:avLst/>
          </a:prstGeom>
          <a:noFill/>
          <a:ln w="9525">
            <a:noFill/>
            <a:headEnd/>
            <a:tailEnd/>
          </a:ln>
        </p:spPr>
      </p:pic>
      <p:pic>
        <p:nvPicPr>
          <p:cNvPr descr="Dot plot of the height data illustrating the standard error of the mean" id="0" name="Picture 1"/>
          <p:cNvPicPr>
            <a:picLocks noGrp="1" noChangeAspect="1"/>
          </p:cNvPicPr>
          <p:nvPr/>
        </p:nvPicPr>
        <p:blipFill>
          <a:blip r:embed="rId5"/>
          <a:stretch>
            <a:fillRect/>
          </a:stretch>
        </p:blipFill>
        <p:spPr bwMode="auto">
          <a:xfrm>
            <a:off x="6438900" y="3136900"/>
            <a:ext cx="4025900" cy="2590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Univariate Statistics</a:t>
            </a:r>
          </a:p>
        </p:txBody>
      </p:sp>
      <p:pic>
        <p:nvPicPr>
          <p:cNvPr descr="" id="0" name="Picture 1"/>
          <p:cNvPicPr>
            <a:picLocks noGrp="1" noChangeAspect="1"/>
          </p:cNvPicPr>
          <p:nvPr/>
        </p:nvPicPr>
        <p:blipFill>
          <a:blip r:embed="rId2"/>
          <a:stretch>
            <a:fillRect/>
          </a:stretch>
        </p:blipFill>
        <p:spPr bwMode="auto">
          <a:xfrm>
            <a:off x="4800600" y="2628900"/>
            <a:ext cx="25908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Univariate Statistics (continued)</a:t>
            </a:r>
          </a:p>
        </p:txBody>
      </p:sp>
      <p:sp>
        <p:nvSpPr>
          <p:cNvPr id="3" name="Content Placeholder 2"/>
          <p:cNvSpPr>
            <a:spLocks noGrp="1"/>
          </p:cNvSpPr>
          <p:nvPr>
            <p:ph idx="1"/>
          </p:nvPr>
        </p:nvSpPr>
        <p:spPr/>
        <p:txBody>
          <a:bodyPr/>
          <a:lstStyle/>
          <a:p>
            <a:pPr lvl="0" indent="0" marL="0">
              <a:buNone/>
            </a:pPr>
            <a:r>
              <a:rPr b="1"/>
              <a:t>CATEGORICAL VARIABLES:</a:t>
            </a:r>
            <a:r>
              <a:rPr/>
              <a:t> Describe and understand our sample data with </a:t>
            </a:r>
            <a:r>
              <a:rPr b="1"/>
              <a:t>Frequencies</a:t>
            </a:r>
            <a:r>
              <a:rPr/>
              <a:t> </a:t>
            </a:r>
            <a:r>
              <a:rPr i="1"/>
              <a:t>(N or %)</a:t>
            </a:r>
            <a:r>
              <a:rPr/>
              <a:t> and </a:t>
            </a:r>
            <a:r>
              <a:rPr b="1"/>
              <a:t>Categories</a:t>
            </a:r>
            <a:r>
              <a:rPr/>
              <a:t> </a:t>
            </a:r>
            <a:r>
              <a:rPr i="1"/>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pPr lvl="0" indent="0" marL="0">
              <a:buNone/>
            </a:pPr>
            <a:r>
              <a:rPr/>
              <a:t>Univariate Statistics (continued)</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1 </a:t>
                </a:r>
                <a14:m>
                  <m:oMath xmlns:m="http://schemas.openxmlformats.org/officeDocument/2006/math">
                    <m:r>
                      <m:t>M</m:t>
                    </m:r>
                    <m:r>
                      <m:t>e</m:t>
                    </m:r>
                    <m:r>
                      <m:t>a</m:t>
                    </m:r>
                    <m:sSub>
                      <m:e>
                        <m:r>
                          <m:t>n</m:t>
                        </m:r>
                      </m:e>
                      <m:sub>
                        <m:r>
                          <m:t>H</m:t>
                        </m:r>
                        <m:r>
                          <m:t>e</m:t>
                        </m:r>
                        <m:r>
                          <m:t>i</m:t>
                        </m:r>
                        <m:r>
                          <m:t>g</m:t>
                        </m:r>
                        <m:r>
                          <m:t>h</m:t>
                        </m:r>
                        <m:r>
                          <m:t>t</m:t>
                        </m:r>
                      </m:sub>
                    </m:sSub>
                    <m:r>
                      <m:rPr>
                        <m:sty m:val="p"/>
                      </m:rPr>
                      <m:t>=</m:t>
                    </m:r>
                    <m:f>
                      <m:fPr>
                        <m:type m:val="bar"/>
                      </m:fPr>
                      <m:num>
                        <m:r>
                          <m:rPr>
                            <m:sty m:val="p"/>
                          </m:rPr>
                          <m:t>∑</m:t>
                        </m:r>
                        <m:r>
                          <m:t>H</m:t>
                        </m:r>
                        <m:r>
                          <m:t>e</m:t>
                        </m:r>
                        <m:r>
                          <m:t>i</m:t>
                        </m:r>
                        <m:r>
                          <m:t>g</m:t>
                        </m:r>
                        <m:r>
                          <m:t>h</m:t>
                        </m:r>
                        <m:sSub>
                          <m:e>
                            <m:r>
                              <m:t>t</m:t>
                            </m:r>
                          </m:e>
                          <m:sub>
                            <m:r>
                              <m:t>i</m:t>
                            </m:r>
                          </m:sub>
                        </m:sSub>
                      </m:num>
                      <m:den>
                        <m:sSub>
                          <m:e>
                            <m:r>
                              <m:t>N</m:t>
                            </m:r>
                          </m:e>
                          <m:sub>
                            <m:r>
                              <m:t>H</m:t>
                            </m:r>
                            <m:r>
                              <m:t>e</m:t>
                            </m:r>
                            <m:r>
                              <m:t>i</m:t>
                            </m:r>
                            <m:r>
                              <m:t>g</m:t>
                            </m:r>
                            <m:r>
                              <m:t>h</m:t>
                            </m:r>
                            <m:r>
                              <m:t>t</m:t>
                            </m:r>
                          </m:sub>
                        </m:sSub>
                      </m:den>
                    </m:f>
                  </m:oMath>
                </a14:m>
              </a:p>
              <a:p>
                <a:pPr lvl="0" indent="0" marL="0">
                  <a:buNone/>
                </a:pPr>
                <a:r>
                  <a:rPr/>
                  <a:t>2 </a:t>
                </a:r>
                <a14:m>
                  <m:oMath xmlns:m="http://schemas.openxmlformats.org/officeDocument/2006/math">
                    <m:r>
                      <m:t>S</m:t>
                    </m:r>
                    <m:sSub>
                      <m:e>
                        <m:r>
                          <m:t>D</m:t>
                        </m:r>
                      </m:e>
                      <m:sub>
                        <m:r>
                          <m:t>H</m:t>
                        </m:r>
                        <m:r>
                          <m:t>e</m:t>
                        </m:r>
                        <m:r>
                          <m:t>i</m:t>
                        </m:r>
                        <m:r>
                          <m:t>g</m:t>
                        </m:r>
                        <m:r>
                          <m:t>h</m:t>
                        </m:r>
                        <m:r>
                          <m:t>t</m:t>
                        </m:r>
                      </m:sub>
                    </m:sSub>
                    <m:r>
                      <m:rPr>
                        <m:sty m:val="p"/>
                      </m:rPr>
                      <m:t>=</m:t>
                    </m:r>
                    <m:f>
                      <m:fPr>
                        <m:type m:val="bar"/>
                      </m:fPr>
                      <m:num>
                        <m:rad>
                          <m:radPr>
                            <m:degHide m:val="on"/>
                          </m:radPr>
                          <m:deg/>
                          <m:e>
                            <m:r>
                              <m:rPr>
                                <m:sty m:val="p"/>
                              </m:rPr>
                              <m:t>∑</m:t>
                            </m:r>
                            <m:r>
                              <m:rPr>
                                <m:sty m:val="p"/>
                              </m:rPr>
                              <m:t>(</m:t>
                            </m:r>
                            <m:r>
                              <m:t>M</m:t>
                            </m:r>
                            <m:r>
                              <m:t>e</m:t>
                            </m:r>
                            <m:r>
                              <m:t>a</m:t>
                            </m:r>
                            <m:sSub>
                              <m:e>
                                <m:r>
                                  <m:t>n</m:t>
                                </m:r>
                              </m:e>
                              <m:sub>
                                <m:r>
                                  <m:t>H</m:t>
                                </m:r>
                                <m:r>
                                  <m:t>e</m:t>
                                </m:r>
                                <m:r>
                                  <m:t>i</m:t>
                                </m:r>
                                <m:r>
                                  <m:t>g</m:t>
                                </m:r>
                                <m:r>
                                  <m:t>h</m:t>
                                </m:r>
                                <m:r>
                                  <m:t>t</m:t>
                                </m:r>
                              </m:sub>
                            </m:sSub>
                            <m:r>
                              <m:rPr>
                                <m:sty m:val="p"/>
                              </m:rPr>
                              <m:t>−</m:t>
                            </m:r>
                            <m:r>
                              <m:t>H</m:t>
                            </m:r>
                            <m:r>
                              <m:t>e</m:t>
                            </m:r>
                            <m:r>
                              <m:t>i</m:t>
                            </m:r>
                            <m:r>
                              <m:t>g</m:t>
                            </m:r>
                            <m:r>
                              <m:t>h</m:t>
                            </m:r>
                            <m:sSub>
                              <m:e>
                                <m:r>
                                  <m:t>t</m:t>
                                </m:r>
                              </m:e>
                              <m:sub>
                                <m:r>
                                  <m:t>i</m:t>
                                </m:r>
                              </m:sub>
                            </m:sSub>
                            <m:sSup>
                              <m:e>
                                <m:r>
                                  <m:rPr>
                                    <m:sty m:val="p"/>
                                  </m:rPr>
                                  <m:t>)</m:t>
                                </m:r>
                              </m:e>
                              <m:sup>
                                <m:r>
                                  <m:t>2</m:t>
                                </m:r>
                              </m:sup>
                            </m:sSup>
                          </m:e>
                        </m:rad>
                      </m:num>
                      <m:den>
                        <m:sSub>
                          <m:e>
                            <m:r>
                              <m:t>N</m:t>
                            </m:r>
                          </m:e>
                          <m:sub>
                            <m:r>
                              <m:t>H</m:t>
                            </m:r>
                            <m:r>
                              <m:t>e</m:t>
                            </m:r>
                            <m:r>
                              <m:t>i</m:t>
                            </m:r>
                            <m:r>
                              <m:t>g</m:t>
                            </m:r>
                            <m:r>
                              <m:t>h</m:t>
                            </m:r>
                            <m:r>
                              <m:t>t</m:t>
                            </m:r>
                          </m:sub>
                        </m:sSub>
                        <m:r>
                          <m:rPr>
                            <m:sty m:val="p"/>
                          </m:rPr>
                          <m:t>−</m:t>
                        </m:r>
                        <m:r>
                          <m:t>1</m:t>
                        </m:r>
                      </m:den>
                    </m:f>
                  </m:oMath>
                </a14:m>
              </a:p>
              <a:p>
                <a:pPr lvl="0" indent="0" marL="0">
                  <a:buNone/>
                </a:pPr>
                <a:r>
                  <a:rPr/>
                  <a:t>3 </a:t>
                </a:r>
                <a14:m>
                  <m:oMath xmlns:m="http://schemas.openxmlformats.org/officeDocument/2006/math">
                    <m:r>
                      <m:t>S</m:t>
                    </m:r>
                    <m:sSub>
                      <m:e>
                        <m:r>
                          <m:t>E</m:t>
                        </m:r>
                      </m:e>
                      <m:sub>
                        <m:r>
                          <m:t>H</m:t>
                        </m:r>
                        <m:r>
                          <m:t>e</m:t>
                        </m:r>
                        <m:r>
                          <m:t>i</m:t>
                        </m:r>
                        <m:r>
                          <m:t>g</m:t>
                        </m:r>
                        <m:r>
                          <m:t>h</m:t>
                        </m:r>
                        <m:r>
                          <m:t>t</m:t>
                        </m:r>
                      </m:sub>
                    </m:sSub>
                    <m:r>
                      <m:rPr>
                        <m:sty m:val="p"/>
                      </m:rPr>
                      <m:t>=</m:t>
                    </m:r>
                    <m:f>
                      <m:fPr>
                        <m:type m:val="bar"/>
                      </m:fPr>
                      <m:num>
                        <m:r>
                          <m:t>S</m:t>
                        </m:r>
                        <m:sSub>
                          <m:e>
                            <m:r>
                              <m:t>D</m:t>
                            </m:r>
                          </m:e>
                          <m:sub>
                            <m:r>
                              <m:t>H</m:t>
                            </m:r>
                            <m:r>
                              <m:t>e</m:t>
                            </m:r>
                            <m:r>
                              <m:t>i</m:t>
                            </m:r>
                            <m:r>
                              <m:t>g</m:t>
                            </m:r>
                            <m:r>
                              <m:t>h</m:t>
                            </m:r>
                            <m:r>
                              <m:t>t</m:t>
                            </m:r>
                          </m:sub>
                        </m:sSub>
                      </m:num>
                      <m:den>
                        <m:rad>
                          <m:radPr>
                            <m:degHide m:val="on"/>
                          </m:radPr>
                          <m:deg/>
                          <m:e>
                            <m:sSub>
                              <m:e>
                                <m:r>
                                  <m:t>N</m:t>
                                </m:r>
                              </m:e>
                              <m:sub>
                                <m:r>
                                  <m:t>H</m:t>
                                </m:r>
                                <m:r>
                                  <m:t>e</m:t>
                                </m:r>
                                <m:r>
                                  <m:t>i</m:t>
                                </m:r>
                                <m:r>
                                  <m:t>g</m:t>
                                </m:r>
                                <m:r>
                                  <m:t>h</m:t>
                                </m:r>
                                <m:r>
                                  <m:t>t</m:t>
                                </m:r>
                              </m:sub>
                            </m:sSub>
                          </m:e>
                        </m:rad>
                      </m:den>
                    </m:f>
                  </m:oMath>
                </a14:m>
              </a:p>
              <a:p>
                <a:pPr lvl="0" indent="0" marL="0">
                  <a:buNone/>
                </a:pPr>
                <a:r>
                  <a:rPr/>
                  <a:t>The </a:t>
                </a:r>
                <a:r>
                  <a:rPr b="1"/>
                  <a:t>mean</a:t>
                </a:r>
                <a:r>
                  <a:rPr/>
                  <a:t> is a measure of central tendency</a:t>
                </a:r>
              </a:p>
              <a:p>
                <a:pPr lvl="0" indent="0" marL="0">
                  <a:buNone/>
                </a:pPr>
                <a:r>
                  <a:rPr/>
                  <a:t>The </a:t>
                </a:r>
                <a:r>
                  <a:rPr b="1"/>
                  <a:t>standard deviation (SD)</a:t>
                </a:r>
                <a:r>
                  <a:rPr/>
                  <a:t> measures how spread out the data is.</a:t>
                </a:r>
              </a:p>
              <a:p>
                <a:pPr lvl="0" indent="0" marL="0">
                  <a:buNone/>
                </a:pPr>
                <a:r>
                  <a:rPr/>
                  <a:t>The </a:t>
                </a:r>
                <a:r>
                  <a:rPr b="1"/>
                  <a:t>standard error (SE)</a:t>
                </a:r>
                <a:r>
                  <a:rPr/>
                  <a:t> can be interpreted as the degree of confidence one can have that the </a:t>
                </a:r>
                <a:r>
                  <a:rPr i="1"/>
                  <a:t>sample mean</a:t>
                </a:r>
                <a:r>
                  <a:rPr/>
                  <a:t> is close to the </a:t>
                </a:r>
                <a:r>
                  <a:rPr i="1"/>
                  <a:t>true population mean</a:t>
                </a:r>
                <a:r>
                  <a:rPr/>
                  <a:t> (lower SE implies higher confidence).</a:t>
                </a:r>
              </a:p>
            </p:txBody>
          </p:sp>
        </mc:Choice>
      </mc:AlternateContent>
      <p:sp>
        <p:nvSpPr>
          <p:cNvPr id="11" name="Text Placeholder 4"/>
          <p:cNvSpPr>
            <a:spLocks noGrp="1"/>
          </p:cNvSpPr>
          <p:nvPr>
            <p:ph idx="13" sz="quarter" type="body"/>
          </p:nvPr>
        </p:nvSpPr>
        <p:spPr/>
        <p:txBody>
          <a:bodyPr/>
          <a:lstStyle/>
          <a:p>
            <a:pPr lvl="0" indent="0" marL="0">
              <a:buNone/>
            </a:pPr>
            <a:r>
              <a:rPr b="1"/>
              <a:t>Size</a:t>
            </a:r>
            <a:r>
              <a:rPr/>
              <a:t> (3-levels)</a:t>
            </a:r>
          </a:p>
          <a:p>
            <a:pPr lvl="0" indent="0" marL="0">
              <a:buNone/>
            </a:pPr>
            <a:r>
              <a:rPr/>
              <a:t>1.93, 1.93, 1.90, 1.89, 1.86, 1.85, 1.85, 1.82, 1.81</a:t>
            </a:r>
          </a:p>
        </p:txBody>
      </p:sp>
      <p:pic>
        <p:nvPicPr>
          <p:cNvPr descr="Empty dot plot of the height data, before summary statistics are added" id="0" name="Picture 1"/>
          <p:cNvPicPr>
            <a:picLocks noGrp="1" noChangeAspect="1"/>
          </p:cNvPicPr>
          <p:nvPr/>
        </p:nvPicPr>
        <p:blipFill>
          <a:blip r:embed="rId2"/>
          <a:stretch>
            <a:fillRect/>
          </a:stretch>
        </p:blipFill>
        <p:spPr bwMode="auto">
          <a:xfrm>
            <a:off x="6438900" y="3136900"/>
            <a:ext cx="4025900" cy="2590800"/>
          </a:xfrm>
          <a:prstGeom prst="rect">
            <a:avLst/>
          </a:prstGeom>
          <a:noFill/>
          <a:ln w="9525">
            <a:noFill/>
            <a:headEnd/>
            <a:tailEnd/>
          </a:ln>
        </p:spPr>
      </p:pic>
      <p:pic>
        <p:nvPicPr>
          <p:cNvPr descr="Dot plot of the height data with the sample mean marked" id="0" name="Picture 1"/>
          <p:cNvPicPr>
            <a:picLocks noGrp="1" noChangeAspect="1"/>
          </p:cNvPicPr>
          <p:nvPr/>
        </p:nvPicPr>
        <p:blipFill>
          <a:blip r:embed="rId3"/>
          <a:stretch>
            <a:fillRect/>
          </a:stretch>
        </p:blipFill>
        <p:spPr bwMode="auto">
          <a:xfrm>
            <a:off x="6438900" y="3136900"/>
            <a:ext cx="4025900" cy="2590800"/>
          </a:xfrm>
          <a:prstGeom prst="rect">
            <a:avLst/>
          </a:prstGeom>
          <a:noFill/>
          <a:ln w="9525">
            <a:noFill/>
            <a:headEnd/>
            <a:tailEnd/>
          </a:ln>
        </p:spPr>
      </p:pic>
      <p:pic>
        <p:nvPicPr>
          <p:cNvPr descr="Dot plot of the height data illustrating the standard deviation around the mean" id="0" name="Picture 1"/>
          <p:cNvPicPr>
            <a:picLocks noGrp="1" noChangeAspect="1"/>
          </p:cNvPicPr>
          <p:nvPr/>
        </p:nvPicPr>
        <p:blipFill>
          <a:blip r:embed="rId4"/>
          <a:stretch>
            <a:fillRect/>
          </a:stretch>
        </p:blipFill>
        <p:spPr bwMode="auto">
          <a:xfrm>
            <a:off x="6438900" y="3136900"/>
            <a:ext cx="4025900" cy="2590800"/>
          </a:xfrm>
          <a:prstGeom prst="rect">
            <a:avLst/>
          </a:prstGeom>
          <a:noFill/>
          <a:ln w="9525">
            <a:noFill/>
            <a:headEnd/>
            <a:tailEnd/>
          </a:ln>
        </p:spPr>
      </p:pic>
      <p:pic>
        <p:nvPicPr>
          <p:cNvPr descr="Dot plot of the height data illustrating the standard error of the mean" id="0" name="Picture 1"/>
          <p:cNvPicPr>
            <a:picLocks noGrp="1" noChangeAspect="1"/>
          </p:cNvPicPr>
          <p:nvPr/>
        </p:nvPicPr>
        <p:blipFill>
          <a:blip r:embed="rId5"/>
          <a:stretch>
            <a:fillRect/>
          </a:stretch>
        </p:blipFill>
        <p:spPr bwMode="auto">
          <a:xfrm>
            <a:off x="6438900" y="3136900"/>
            <a:ext cx="4025900" cy="2590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Bivariate Analysis</a:t>
            </a:r>
          </a:p>
        </p:txBody>
      </p:sp>
      <p:pic>
        <p:nvPicPr>
          <p:cNvPr descr="Scatterplot of age versus height for the sample" id="0" name="Picture 1"/>
          <p:cNvPicPr>
            <a:picLocks noGrp="1" noChangeAspect="1"/>
          </p:cNvPicPr>
          <p:nvPr/>
        </p:nvPicPr>
        <p:blipFill>
          <a:blip r:embed="rId2"/>
          <a:stretch>
            <a:fillRect/>
          </a:stretch>
        </p:blipFill>
        <p:spPr bwMode="auto">
          <a:xfrm>
            <a:off x="4140200" y="2628900"/>
            <a:ext cx="38862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Scatterplot of age versus height for the sample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Correlation and Regression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It turns out that one cannot calculate many statistics with just one variable 🤷 Let’s also assume that, aside from people’s age, we also measured their </a:t>
                </a:r>
                <a:r>
                  <a:rPr i="1"/>
                  <a:t>height</a:t>
                </a:r>
                <a:r>
                  <a:rPr/>
                  <a:t>:</a:t>
                </a:r>
              </a:p>
              <a:p>
                <a:pPr lvl="0" indent="0" marL="0">
                  <a:buNone/>
                </a:pPr>
                <a:r>
                  <a:rPr b="1"/>
                  <a:t>Height:</a:t>
                </a:r>
                <a:r>
                  <a:rPr/>
                  <a:t> 1.93, 1.93, 1.90, 1.89, 1.86, 1.85, 1.85, 1.82 1.81</a:t>
                </a:r>
              </a:p>
              <a:p>
                <a:pPr lvl="0" indent="0" marL="0">
                  <a:buNone/>
                </a:pPr>
                <a:r>
                  <a:rPr b="1"/>
                  <a:t>Age:</a:t>
                </a:r>
                <a:r>
                  <a:rPr/>
                  <a:t> age = c(37, 38, 32, 26, 24, 27, 30, 29, 27</a:t>
                </a:r>
              </a:p>
              <a:p>
                <a:pPr lvl="0" indent="0" marL="0">
                  <a:buNone/>
                </a:pPr>
                <a:r>
                  <a:rPr/>
                  <a:t>Astute observers 🧐 will probably notice a “tiny” upward trend. The Age and Height variables are indeed highly </a:t>
                </a:r>
                <a:r>
                  <a:rPr i="1"/>
                  <a:t>positively correlated</a:t>
                </a:r>
                <a:r>
                  <a:rPr/>
                  <a:t>, meaning that as age increases, so does height.</a:t>
                </a:r>
              </a:p>
              <a:p>
                <a:pPr lvl="0" indent="0" marL="0">
                  <a:buNone/>
                </a:pPr>
                <a:r>
                  <a:rPr i="1">
                    <a:hlinkClick r:id="rId2"/>
                  </a:rPr>
                  <a:t>Regression</a:t>
                </a:r>
                <a:r>
                  <a:rPr/>
                  <a:t> simply plots the line that is closest to all the points. In our case, the line can be defined as </a:t>
                </a:r>
                <a14:m>
                  <m:oMath xmlns:m="http://schemas.openxmlformats.org/officeDocument/2006/math">
                    <m:r>
                      <m:t>H</m:t>
                    </m:r>
                    <m:r>
                      <m:t>e</m:t>
                    </m:r>
                    <m:r>
                      <m:t>i</m:t>
                    </m:r>
                    <m:r>
                      <m:t>g</m:t>
                    </m:r>
                    <m:r>
                      <m:t>h</m:t>
                    </m:r>
                    <m:sSub>
                      <m:e>
                        <m:r>
                          <m:t>t</m:t>
                        </m:r>
                      </m:e>
                      <m:sub>
                        <m:r>
                          <m:t>i</m:t>
                        </m:r>
                      </m:sub>
                    </m:sSub>
                    <m:r>
                      <m:rPr>
                        <m:sty m:val="p"/>
                      </m:rPr>
                      <m:t>=</m:t>
                    </m:r>
                    <m:r>
                      <m:t>a</m:t>
                    </m:r>
                    <m:r>
                      <m:rPr>
                        <m:sty m:val="p"/>
                      </m:rPr>
                      <m:t>+</m:t>
                    </m:r>
                    <m:r>
                      <m:t>b</m:t>
                    </m:r>
                    <m:r>
                      <m:rPr>
                        <m:sty m:val="p"/>
                      </m:rPr>
                      <m:t>×</m:t>
                    </m:r>
                    <m:r>
                      <m:t>A</m:t>
                    </m:r>
                    <m:r>
                      <m:t>g</m:t>
                    </m:r>
                    <m:sSub>
                      <m:e>
                        <m:r>
                          <m:t>e</m:t>
                        </m:r>
                      </m:e>
                      <m:sub>
                        <m:r>
                          <m:t>i</m:t>
                        </m:r>
                      </m:sub>
                    </m:sSub>
                  </m:oMath>
                </a14:m>
                <a:r>
                  <a:rPr/>
                  <a:t>, were </a:t>
                </a:r>
                <a14:m>
                  <m:oMath xmlns:m="http://schemas.openxmlformats.org/officeDocument/2006/math">
                    <m:r>
                      <m:t>a</m:t>
                    </m:r>
                  </m:oMath>
                </a14:m>
                <a:r>
                  <a:rPr/>
                  <a:t> represents where the line hits the Y-axis (y intercept) and </a:t>
                </a:r>
                <a14:m>
                  <m:oMath xmlns:m="http://schemas.openxmlformats.org/officeDocument/2006/math">
                    <m:r>
                      <m:t>b</m:t>
                    </m:r>
                  </m:oMath>
                </a14:m>
                <a:r>
                  <a:rPr/>
                  <a:t> is the line slope.</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Correlation and Regression (continued)</a:t>
            </a:r>
          </a:p>
        </p:txBody>
      </p:sp>
      <p:pic>
        <p:nvPicPr>
          <p:cNvPr descr="Empty scatterplot template with axes for the two variable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Empty scatterplot template with axes for the two variables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Correlation and Regression (continued)</a:t>
            </a:r>
          </a:p>
        </p:txBody>
      </p:sp>
      <p:pic>
        <p:nvPicPr>
          <p:cNvPr descr="Scatterplot showing the relationship between two quantitative variable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Scatterplot showing the relationship between two quantitative variables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Correlation and Regression (continued)</a:t>
            </a:r>
          </a:p>
        </p:txBody>
      </p:sp>
      <p:pic>
        <p:nvPicPr>
          <p:cNvPr descr="Scatterplot showing the relationship between two quantitative variable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Scatterplot showing the relationship between two quantitative variables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Correlation and Regression (continued)</a:t>
            </a:r>
          </a:p>
        </p:txBody>
      </p:sp>
      <p:pic>
        <p:nvPicPr>
          <p:cNvPr descr="Scatterplot illustrating a correlation between two quantitative variable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Scatterplot illustrating a correlation between two quantitative variables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Correlation and Regression (continued)</a:t>
            </a:r>
          </a:p>
        </p:txBody>
      </p:sp>
      <p:pic>
        <p:nvPicPr>
          <p:cNvPr descr="Scatterplot illustrating a correlation between two quantitative variable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Scatterplot illustrating a correlation between two quantitative variables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Correlation and Regression (continued)</a:t>
            </a:r>
          </a:p>
        </p:txBody>
      </p:sp>
      <p:pic>
        <p:nvPicPr>
          <p:cNvPr descr="Scatterplot with a fitted regression line predicting the outcome from the predictor"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Scatterplot with a fitted regression line predicting the outcome from the predictor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Correlation and Regression (continued)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NOTE</a:t>
                </a:r>
                <a:r>
                  <a:rPr/>
                  <a:t>: Correlation and regression carry very similar information. For instance, the correlation coefficient and the line slope are equivalent, </a:t>
                </a:r>
                <a14:m>
                  <m:oMath xmlns:m="http://schemas.openxmlformats.org/officeDocument/2006/math">
                    <m:r>
                      <m:t>R</m:t>
                    </m:r>
                    <m:r>
                      <m:rPr>
                        <m:sty m:val="p"/>
                      </m:rPr>
                      <m:t>=</m:t>
                    </m:r>
                    <m:r>
                      <m:t>b</m:t>
                    </m:r>
                    <m:r>
                      <m:rPr>
                        <m:sty m:val="p"/>
                      </m:rPr>
                      <m:t>×</m:t>
                    </m:r>
                    <m:f>
                      <m:fPr>
                        <m:type m:val="bar"/>
                      </m:fPr>
                      <m:num>
                        <m:r>
                          <m:t>S</m:t>
                        </m:r>
                        <m:sSub>
                          <m:e>
                            <m:r>
                              <m:t>D</m:t>
                            </m:r>
                          </m:e>
                          <m:sub>
                            <m:r>
                              <m:t>A</m:t>
                            </m:r>
                            <m:r>
                              <m:t>g</m:t>
                            </m:r>
                            <m:r>
                              <m:t>e</m:t>
                            </m:r>
                          </m:sub>
                        </m:sSub>
                      </m:num>
                      <m:den>
                        <m:r>
                          <m:t>S</m:t>
                        </m:r>
                        <m:sSub>
                          <m:e>
                            <m:r>
                              <m:t>D</m:t>
                            </m:r>
                          </m:e>
                          <m:sub>
                            <m:r>
                              <m:t>H</m:t>
                            </m:r>
                            <m:r>
                              <m:t>e</m:t>
                            </m:r>
                            <m:r>
                              <m:t>i</m:t>
                            </m:r>
                            <m:r>
                              <m:t>g</m:t>
                            </m:r>
                            <m:r>
                              <m:t>h</m:t>
                            </m:r>
                            <m:r>
                              <m:t>t</m:t>
                            </m:r>
                          </m:sub>
                        </m:sSub>
                      </m:den>
                    </m:f>
                    <m:r>
                      <m:rPr>
                        <m:sty m:val="p"/>
                      </m:rPr>
                      <m:t>=</m:t>
                    </m:r>
                    <m:r>
                      <m:t>0.8</m:t>
                    </m:r>
                    <m:r>
                      <m:rPr>
                        <m:sty m:val="p"/>
                      </m:rPr>
                      <m:t>×</m:t>
                    </m:r>
                    <m:f>
                      <m:fPr>
                        <m:type m:val="bar"/>
                      </m:fPr>
                      <m:num>
                        <m:r>
                          <m:t>1.4</m:t>
                        </m:r>
                      </m:num>
                      <m:den>
                        <m:r>
                          <m:t>1.17</m:t>
                        </m:r>
                      </m:den>
                    </m:f>
                    <m:r>
                      <m:rPr>
                        <m:sty m:val="p"/>
                      </m:rPr>
                      <m:t>≈</m:t>
                    </m:r>
                    <m:r>
                      <m:t>.97</m:t>
                    </m:r>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T-tests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Personally, I think that </a:t>
                </a:r>
                <a:r>
                  <a:rPr b="1"/>
                  <a:t>t-tests</a:t>
                </a:r>
                <a:r>
                  <a:rPr/>
                  <a:t> are often taught in a way that causes some confusion. Normally, we teach that one should run a t-test when we want to </a:t>
                </a:r>
                <a:r>
                  <a:rPr i="1"/>
                  <a:t>compare the means of 2 groups</a:t>
                </a:r>
                <a:r>
                  <a:rPr/>
                  <a:t>. That is true, but slightly misleading.</a:t>
                </a:r>
              </a:p>
              <a:p>
                <a:pPr lvl="0" indent="0" marL="0">
                  <a:buNone/>
                </a:pPr>
                <a:r>
                  <a:rPr/>
                  <a:t>Let us assume that we measured the age of two groups of people (Group 1, group 2)</a:t>
                </a:r>
              </a:p>
              <a:p>
                <a:pPr lvl="0" indent="0" marL="0">
                  <a:buNone/>
                </a:pPr>
                <a:r>
                  <a:rPr b="1"/>
                  <a:t>AGE</a:t>
                </a:r>
              </a:p>
              <a:p>
                <a:pPr lvl="0" indent="0" marL="0">
                  <a:buNone/>
                </a:pPr>
                <a:r>
                  <a:rPr/>
                  <a:t>14, 15, 15, 16, 30, 31, 31, 32</a:t>
                </a:r>
              </a:p>
              <a:p>
                <a:pPr lvl="0" indent="0" marL="0">
                  <a:buNone/>
                </a:pPr>
                <a:r>
                  <a:rPr/>
                  <a:t>if we input the values above in our trusty </a:t>
                </a:r>
                <a:r>
                  <a:rPr>
                    <a:hlinkClick r:id="rId2"/>
                  </a:rPr>
                  <a:t>t-test calculator</a:t>
                </a:r>
                <a:r>
                  <a:rPr/>
                  <a:t>, we will find that the two group means are highly significantly different, </a:t>
                </a:r>
                <a14:m>
                  <m:oMath xmlns:m="http://schemas.openxmlformats.org/officeDocument/2006/math">
                    <m:r>
                      <m:rPr>
                        <m:sty m:val="p"/>
                      </m:rPr>
                      <m:t>Δ</m:t>
                    </m:r>
                    <m:r>
                      <m:t>M</m:t>
                    </m:r>
                  </m:oMath>
                </a14:m>
                <a:r>
                  <a:rPr/>
                  <a:t> = 16, </a:t>
                </a:r>
                <a:r>
                  <a:rPr i="1"/>
                  <a:t>t</a:t>
                </a:r>
                <a:r>
                  <a:rPr/>
                  <a:t>(6) = 27.71, </a:t>
                </a:r>
                <a:r>
                  <a:rPr i="1"/>
                  <a:t>p</a:t>
                </a:r>
                <a:r>
                  <a:rPr/>
                  <a:t> &lt; </a:t>
                </a:r>
                <a:r>
                  <a:rPr b="1"/>
                  <a:t>.001</a:t>
                </a:r>
                <a:r>
                  <a:rPr/>
                  <a:t>.</a:t>
                </a:r>
              </a:p>
              <a:p>
                <a:pPr lvl="0" indent="0" marL="0">
                  <a:buNone/>
                </a:pPr>
                <a:r>
                  <a:rPr/>
                  <a:t>In other words, we are extremely confident that the </a:t>
                </a:r>
                <a:r>
                  <a:rPr b="1"/>
                  <a:t>16</a:t>
                </a:r>
                <a:r>
                  <a:rPr/>
                  <a:t> mean difference in Age between the two groups did not happen by chance (i.e., it is significantly different from 0) .</a:t>
                </a:r>
              </a:p>
              <a:p>
                <a:pPr lvl="0" indent="0" marL="0">
                  <a:buNone/>
                </a:pPr>
                <a:r>
                  <a:rPr/>
                  <a:t>And this is your vanilla t-test, but there is more that statisticians don’t want you to know…😶</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T-tests (continued)</a:t>
            </a:r>
          </a:p>
        </p:txBody>
      </p:sp>
      <p:pic>
        <p:nvPicPr>
          <p:cNvPr descr="Bar plot comparing observations across categorie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Bar plot comparing observations across categories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T-test but it’s Actually a Regression 🤯</a:t>
            </a:r>
          </a:p>
        </p:txBody>
      </p:sp>
      <p:sp>
        <p:nvSpPr>
          <p:cNvPr id="3" name="Content Placeholder 2"/>
          <p:cNvSpPr>
            <a:spLocks noGrp="1"/>
          </p:cNvSpPr>
          <p:nvPr>
            <p:ph idx="1"/>
          </p:nvPr>
        </p:nvSpPr>
        <p:spPr/>
        <p:txBody>
          <a:bodyPr/>
          <a:lstStyle/>
          <a:p>
            <a:pPr lvl="0" indent="0" marL="0">
              <a:buNone/>
            </a:pPr>
            <a:r>
              <a:rPr/>
              <a:t>Bar plots are one of the most common ways of displaying mean differences between groups, you can also use </a:t>
            </a:r>
            <a:r>
              <a:rPr b="1"/>
              <a:t>scatter plots</a:t>
            </a:r>
            <a:r>
              <a:rPr/>
              <a:t> by assigning each group a number (usually 0 and 1).</a:t>
            </a:r>
          </a:p>
          <a:p>
            <a:pPr lvl="0" indent="0" marL="0">
              <a:buNone/>
            </a:pPr>
            <a:r>
              <a:rPr/>
              <a:t>Although this is a bit of a strange looking scatter plot, you can still draw a </a:t>
            </a:r>
            <a:r>
              <a:rPr i="1"/>
              <a:t>regression line</a:t>
            </a:r>
            <a:r>
              <a:rPr/>
              <a:t> through the points!</a:t>
            </a:r>
          </a:p>
          <a:p>
            <a:pPr lvl="0" indent="0" marL="0">
              <a:buNone/>
            </a:pPr>
            <a:r>
              <a:rPr/>
              <a:t>The </a:t>
            </a:r>
            <a:r>
              <a:rPr i="1"/>
              <a:t>slope</a:t>
            </a:r>
            <a:r>
              <a:rPr/>
              <a:t> of the regression line is </a:t>
            </a:r>
            <a:r>
              <a:rPr b="1"/>
              <a:t>16</a:t>
            </a:r>
            <a:r>
              <a:rPr/>
              <a:t>, which is exactly the mean difference between the two groups! Additionally, the </a:t>
            </a:r>
            <a:r>
              <a:rPr i="1"/>
              <a:t>intercept</a:t>
            </a:r>
            <a:r>
              <a:rPr/>
              <a:t> of the line is exactly the mean of Group 1 (labeled as “0”).</a:t>
            </a:r>
          </a:p>
          <a:p>
            <a:pPr lvl="0" indent="0" marL="0">
              <a:buNone/>
            </a:pPr>
            <a:r>
              <a:rPr/>
              <a:t>The results that appear in t-tests come from testing whether the regression slope is significantly different from 0. In papers, you would see this reported as </a:t>
            </a:r>
            <a:r>
              <a:rPr i="1"/>
              <a:t>b</a:t>
            </a:r>
            <a:r>
              <a:rPr/>
              <a:t> = 16,  </a:t>
            </a:r>
            <a:r>
              <a:rPr i="1"/>
              <a:t>t</a:t>
            </a:r>
            <a:r>
              <a:rPr/>
              <a:t>(6) = 27.71, </a:t>
            </a:r>
            <a:r>
              <a:rPr i="1"/>
              <a:t>p</a:t>
            </a:r>
            <a:r>
              <a:rPr/>
              <a:t> &lt; </a:t>
            </a:r>
            <a:r>
              <a:rPr b="1"/>
              <a:t>.001</a:t>
            </a:r>
            <a:r>
              <a:rPr/>
              <a:t>  (the exact same result of the t-test on the previous slide!).</a:t>
            </a:r>
          </a:p>
          <a:p>
            <a:pPr lvl="0" indent="0" marL="0">
              <a:buNone/>
            </a:pP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T-test but it’s Actually a Regression 🤯 (continued)</a:t>
            </a:r>
          </a:p>
        </p:txBody>
      </p:sp>
      <p:pic>
        <p:nvPicPr>
          <p:cNvPr descr="Bar plot comparing observations across categorie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Bar plot comparing observations across categories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T-test but it’s Actually a Regression 🤯 (continued)</a:t>
            </a:r>
          </a:p>
        </p:txBody>
      </p:sp>
      <p:pic>
        <p:nvPicPr>
          <p:cNvPr descr="Scatterplot illustrating a t-test as a comparison of two group mean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Scatterplot illustrating a t-test as a comparison of two group means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T-test but it’s Actually a Regression 🤯 (continued)</a:t>
            </a:r>
          </a:p>
        </p:txBody>
      </p:sp>
      <p:pic>
        <p:nvPicPr>
          <p:cNvPr descr="Scatterplot showing how a t-test is equivalent to a regression with a binary predictor"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Scatterplot showing how a t-test is equivalent to a regression with a binary predictor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T-test but it’s Actually a Regression 🤯 (continued)</a:t>
            </a:r>
          </a:p>
        </p:txBody>
      </p:sp>
      <p:sp>
        <p:nvSpPr>
          <p:cNvPr id="3" name="Content Placeholder 2"/>
          <p:cNvSpPr>
            <a:spLocks noGrp="1"/>
          </p:cNvSpPr>
          <p:nvPr>
            <p:ph idx="1"/>
          </p:nvPr>
        </p:nvSpPr>
        <p:spPr/>
        <p:txBody>
          <a:bodyPr/>
          <a:lstStyle/>
          <a:p>
            <a:pPr lvl="0" indent="0" marL="0">
              <a:buNone/>
            </a:pPr>
            <a:r>
              <a:rPr/>
              <a:t>In other words, There is </a:t>
            </a:r>
            <a:r>
              <a:rPr i="1"/>
              <a:t>no difference</a:t>
            </a:r>
            <a:r>
              <a:rPr/>
              <a:t> between a t-test and a regression.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One-Way ANOVAs</a:t>
            </a:r>
          </a:p>
        </p:txBody>
      </p:sp>
      <p:sp>
        <p:nvSpPr>
          <p:cNvPr id="3" name="Content Placeholder 2"/>
          <p:cNvSpPr>
            <a:spLocks noGrp="1"/>
          </p:cNvSpPr>
          <p:nvPr>
            <p:ph idx="1"/>
          </p:nvPr>
        </p:nvSpPr>
        <p:spPr/>
        <p:txBody>
          <a:bodyPr/>
          <a:lstStyle/>
          <a:p>
            <a:pPr lvl="0" indent="0" marL="0">
              <a:buNone/>
            </a:pPr>
            <a:r>
              <a:rPr/>
              <a:t>Although scary sounding, a </a:t>
            </a:r>
            <a:r>
              <a:rPr b="1"/>
              <a:t>one-way ANOVA</a:t>
            </a:r>
            <a:r>
              <a:rPr/>
              <a:t> is simply a direct extension of t-test! The only difference is that it deals with the case in which there are </a:t>
            </a:r>
            <a:r>
              <a:rPr i="1"/>
              <a:t>more than 2 groups</a:t>
            </a:r>
            <a:r>
              <a:rPr/>
              <a:t>.</a:t>
            </a:r>
          </a:p>
          <a:p>
            <a:pPr lvl="0" indent="0" marL="0">
              <a:buNone/>
            </a:pPr>
            <a:r>
              <a:rPr b="1"/>
              <a:t>AGE</a:t>
            </a:r>
          </a:p>
          <a:p>
            <a:pPr lvl="0" indent="0" marL="0">
              <a:buNone/>
            </a:pPr>
            <a:r>
              <a:rPr/>
              <a:t>14, 15, 15, 16, 30, 31, 31, 32, 32, 33, 33, 34</a:t>
            </a:r>
          </a:p>
          <a:p>
            <a:pPr lvl="0" indent="0" marL="0">
              <a:buNone/>
            </a:pPr>
            <a:r>
              <a:rPr/>
              <a:t>Once again, one-way ANOVA is also a glorified regression, and the visualization is very similar to that of a t-test. The equivalence to regression takes a bit longer to show, so I will omit it for the sake of time.</a:t>
            </a:r>
          </a:p>
          <a:p>
            <a:pPr lvl="0" indent="0" marL="0">
              <a:buNone/>
            </a:pPr>
            <a:r>
              <a:rPr/>
              <a:t>The main difference with t-tests is that one-way ANOVAs produces an </a:t>
            </a:r>
            <a:r>
              <a:rPr i="1"/>
              <a:t>F</a:t>
            </a:r>
            <a:r>
              <a:rPr/>
              <a:t> statistics instead of a </a:t>
            </a:r>
            <a:r>
              <a:rPr i="1"/>
              <a:t>t</a:t>
            </a:r>
            <a:r>
              <a:rPr/>
              <a:t> statistic. If we input the data in a </a:t>
            </a:r>
            <a:r>
              <a:rPr>
                <a:hlinkClick r:id="rId2"/>
              </a:rPr>
              <a:t>one-way ANOVA calculator</a:t>
            </a:r>
            <a:r>
              <a:rPr/>
              <a:t>, the result is </a:t>
            </a:r>
            <a:r>
              <a:rPr i="1"/>
              <a:t>F</a:t>
            </a:r>
            <a:r>
              <a:rPr/>
              <a:t>(2,9) = 583.99, </a:t>
            </a:r>
            <a:r>
              <a:rPr i="1"/>
              <a:t>p</a:t>
            </a:r>
            <a:r>
              <a:rPr/>
              <a:t> &lt;.001.</a:t>
            </a:r>
          </a:p>
          <a:p>
            <a:pPr lvl="0" indent="0" marL="0">
              <a:buNone/>
            </a:pPr>
            <a:r>
              <a:rPr/>
              <a:t>The interpretation of a </a:t>
            </a:r>
            <a:r>
              <a:rPr i="1"/>
              <a:t>significant</a:t>
            </a:r>
            <a:r>
              <a:rPr/>
              <a:t> one-way ANOVA is that we are confident that the mean of the DV (</a:t>
            </a:r>
            <a:r>
              <a:rPr b="1"/>
              <a:t>Age</a:t>
            </a:r>
            <a:r>
              <a:rPr/>
              <a:t> here) changes depending on the IV (</a:t>
            </a:r>
            <a:r>
              <a:rPr b="1"/>
              <a:t>Group</a:t>
            </a:r>
            <a:r>
              <a:rPr/>
              <a:t> here). If one so wishes, it is also possible to run multiple t-tests to see which two group means are significantly different from each other (known as </a:t>
            </a:r>
            <a:r>
              <a:rPr i="1"/>
              <a:t>post hoc</a:t>
            </a:r>
            <a:r>
              <a:rPr/>
              <a:t>, or </a:t>
            </a:r>
            <a:r>
              <a:rPr i="1"/>
              <a:t>pairwise comparison</a:t>
            </a:r>
            <a: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One-Way ANOVAs (continued)</a:t>
            </a:r>
          </a:p>
        </p:txBody>
      </p:sp>
      <p:pic>
        <p:nvPicPr>
          <p:cNvPr descr="Scatterplot illustrating a one-way ANOVA comparing several group mean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Scatterplot illustrating a one-way ANOVA comparing several group means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One-Way ANOVAs (continued)</a:t>
            </a:r>
          </a:p>
        </p:txBody>
      </p:sp>
      <p:pic>
        <p:nvPicPr>
          <p:cNvPr descr="Scatterplot showing how a one-way ANOVA maps onto a regression with group indicator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Scatterplot showing how a one-way ANOVA maps onto a regression with group indicators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Two-Way ANOVAs</a:t>
            </a:r>
          </a:p>
        </p:txBody>
      </p:sp>
      <p:sp>
        <p:nvSpPr>
          <p:cNvPr id="3" name="Content Placeholder 2"/>
          <p:cNvSpPr>
            <a:spLocks noGrp="1"/>
          </p:cNvSpPr>
          <p:nvPr>
            <p:ph idx="1"/>
          </p:nvPr>
        </p:nvSpPr>
        <p:spPr/>
        <p:txBody>
          <a:bodyPr/>
          <a:lstStyle/>
          <a:p>
            <a:pPr lvl="0" indent="0" marL="0">
              <a:buNone/>
            </a:pPr>
            <a:r>
              <a:rPr/>
              <a:t>Finally, a </a:t>
            </a:r>
            <a:r>
              <a:rPr b="1"/>
              <a:t>two-way ANOVA</a:t>
            </a:r>
            <a:r>
              <a:rPr/>
              <a:t> (yes, also a regression) is generally used when there are 2 categorical IVs (usually two grouping variables).</a:t>
            </a:r>
          </a:p>
          <a:p>
            <a:pPr lvl="0" indent="0" marL="0">
              <a:buNone/>
            </a:pPr>
            <a:r>
              <a:rPr/>
              <a:t>Let’s say that we randomly sample 4 males and 4 females all weighting 80 kilos. Further, we assign diet A to 2 random male/females and diet B to the remaining people. After 3 months we measure the weight of all the participants: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Two-Way ANOVAs (continued)</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3327400"/>
                <a:gridCol w="3327400"/>
                <a:gridCol w="3327400"/>
              </a:tblGrid>
              <a:tr h="0">
                <a:tc>
                  <a:txBody>
                    <a:bodyPr/>
                    <a:lstStyle/>
                    <a:p>
                      <a:endParaRPr/>
                    </a:p>
                  </a:txBody>
                  <a:tcPr/>
                </a:tc>
                <a:tc>
                  <a:txBody>
                    <a:bodyPr/>
                    <a:lstStyle/>
                    <a:p>
                      <a:pPr lvl="0" indent="0" marL="0">
                        <a:buNone/>
                      </a:pPr>
                      <a:r>
                        <a:rPr/>
                        <a:t>Diet A</a:t>
                      </a:r>
                    </a:p>
                  </a:txBody>
                  <a:tcPr/>
                </a:tc>
                <a:tc>
                  <a:txBody>
                    <a:bodyPr/>
                    <a:lstStyle/>
                    <a:p>
                      <a:pPr lvl="0" indent="0" marL="0">
                        <a:buNone/>
                      </a:pPr>
                      <a:r>
                        <a:rPr/>
                        <a:t>Diet B</a:t>
                      </a:r>
                    </a:p>
                  </a:txBody>
                  <a:tcPr/>
                </a:tc>
              </a:tr>
              <a:tr h="0">
                <a:tc>
                  <a:txBody>
                    <a:bodyPr/>
                    <a:lstStyle/>
                    <a:p>
                      <a:pPr lvl="0" indent="0" marL="0">
                        <a:buNone/>
                      </a:pPr>
                      <a:r>
                        <a:rPr/>
                        <a:t>**Female**</a:t>
                      </a:r>
                    </a:p>
                  </a:txBody>
                </a:tc>
                <a:tc>
                  <a:txBody>
                    <a:bodyPr/>
                    <a:lstStyle/>
                    <a:p>
                      <a:pPr lvl="0" indent="0" marL="0">
                        <a:buNone/>
                      </a:pPr>
                      <a:r>
                        <a:rPr/>
                        <a:t>60, 62</a:t>
                      </a:r>
                    </a:p>
                  </a:txBody>
                </a:tc>
                <a:tc>
                  <a:txBody>
                    <a:bodyPr/>
                    <a:lstStyle/>
                    <a:p>
                      <a:pPr lvl="0" indent="0" marL="0">
                        <a:buNone/>
                      </a:pPr>
                      <a:r>
                        <a:rPr/>
                        <a:t>75, 76</a:t>
                      </a:r>
                    </a:p>
                  </a:txBody>
                </a:tc>
              </a:tr>
              <a:tr h="0">
                <a:tc>
                  <a:txBody>
                    <a:bodyPr/>
                    <a:lstStyle/>
                    <a:p>
                      <a:pPr lvl="0" indent="0" marL="0">
                        <a:buNone/>
                      </a:pPr>
                      <a:r>
                        <a:rPr/>
                        <a:t>**Male**</a:t>
                      </a:r>
                    </a:p>
                  </a:txBody>
                </a:tc>
                <a:tc>
                  <a:txBody>
                    <a:bodyPr/>
                    <a:lstStyle/>
                    <a:p>
                      <a:pPr lvl="0" indent="0" marL="0">
                        <a:buNone/>
                      </a:pPr>
                      <a:r>
                        <a:rPr/>
                        <a:t>74, 75</a:t>
                      </a:r>
                    </a:p>
                  </a:txBody>
                </a:tc>
                <a:tc>
                  <a:txBody>
                    <a:bodyPr/>
                    <a:lstStyle/>
                    <a:p>
                      <a:pPr lvl="0" indent="0" marL="0">
                        <a:buNone/>
                      </a:pPr>
                      <a:r>
                        <a:rPr/>
                        <a:t>74, 77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Two-Way ANOVAs (continued)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a:t>
                </a:r>
                <a:r>
                  <a:rPr>
                    <a:hlinkClick r:id="rId2"/>
                  </a:rPr>
                  <a:t>two-way ANOVA calculator</a:t>
                </a:r>
                <a:r>
                  <a:rPr/>
                  <a:t> gives the 3 following results:</a:t>
                </a:r>
              </a:p>
              <a:p>
                <a:pPr lvl="0" indent="0" marL="0">
                  <a:buNone/>
                </a:pPr>
                <a:r>
                  <a:rPr b="1"/>
                  <a:t>Main effect of Diet:</a:t>
                </a:r>
                <a:r>
                  <a:rPr/>
                  <a:t> Weight after 3 months changes significantly depending on the </a:t>
                </a:r>
                <a:r>
                  <a:rPr i="1"/>
                  <a:t>type of diet</a:t>
                </a:r>
                <a:r>
                  <a:rPr/>
                  <a:t> that participants are assigned to, </a:t>
                </a:r>
                <a:r>
                  <a:rPr i="1"/>
                  <a:t>F</a:t>
                </a:r>
                <a:r>
                  <a:rPr/>
                  <a:t>(1, 4) = 64.07, </a:t>
                </a:r>
                <a:r>
                  <a:rPr i="1"/>
                  <a:t>p</a:t>
                </a:r>
                <a:r>
                  <a:rPr/>
                  <a:t>=.001.</a:t>
                </a:r>
              </a:p>
              <a:p>
                <a:pPr lvl="0" indent="0" marL="0">
                  <a:buNone/>
                </a:pPr>
                <a:r>
                  <a:rPr b="1"/>
                  <a:t>Main effect of Gender:</a:t>
                </a:r>
                <a:r>
                  <a:rPr/>
                  <a:t> Weight after 3 months changes significantly depending on </a:t>
                </a:r>
                <a:r>
                  <a:rPr i="1"/>
                  <a:t>gender</a:t>
                </a:r>
                <a:r>
                  <a:rPr/>
                  <a:t>, </a:t>
                </a:r>
                <a:r>
                  <a:rPr i="1"/>
                  <a:t>F</a:t>
                </a:r>
                <a:r>
                  <a:rPr/>
                  <a:t>(1, 4) = 48.6, </a:t>
                </a:r>
                <a:r>
                  <a:rPr i="1"/>
                  <a:t>p</a:t>
                </a:r>
                <a:r>
                  <a:rPr/>
                  <a:t> = .002.</a:t>
                </a:r>
              </a:p>
              <a:p>
                <a:pPr lvl="0" indent="0" marL="0">
                  <a:buNone/>
                </a:pPr>
                <a:r>
                  <a:rPr b="1"/>
                  <a:t>Interaction effect of Gender</a:t>
                </a:r>
                <a14:m>
                  <m:oMath xmlns:m="http://schemas.openxmlformats.org/officeDocument/2006/math">
                    <m:r>
                      <m:rPr>
                        <m:sty m:val="p"/>
                      </m:rPr>
                      <m:t>×</m:t>
                    </m:r>
                  </m:oMath>
                </a14:m>
                <a:r>
                  <a:rPr b="1"/>
                  <a:t>Diet:</a:t>
                </a:r>
                <a:r>
                  <a:rPr/>
                  <a:t> The effect of the </a:t>
                </a:r>
                <a:r>
                  <a:rPr i="1"/>
                  <a:t>type of diet</a:t>
                </a:r>
                <a:r>
                  <a:rPr/>
                  <a:t> on weight after 3 months, </a:t>
                </a:r>
                <a:r>
                  <a:rPr b="1"/>
                  <a:t>changes significantly</a:t>
                </a:r>
                <a:r>
                  <a:rPr/>
                  <a:t> depending on what gender participants are, </a:t>
                </a:r>
                <a:r>
                  <a:rPr i="1"/>
                  <a:t>F</a:t>
                </a:r>
                <a:r>
                  <a:rPr/>
                  <a:t>(1, 4) = 48.6, </a:t>
                </a:r>
                <a:r>
                  <a:rPr i="1"/>
                  <a:t>p</a:t>
                </a:r>
                <a:r>
                  <a:rPr/>
                  <a:t> = .002.</a:t>
                </a:r>
              </a:p>
              <a:p>
                <a:pPr lvl="0" indent="0" marL="0">
                  <a:buNone/>
                </a:pPr>
                <a:r>
                  <a:rPr/>
                  <a:t>The results that Two-way ANOVA provides are the </a:t>
                </a:r>
                <a:r>
                  <a:rPr b="1"/>
                  <a:t>two main effects of the IVs</a:t>
                </a:r>
                <a:r>
                  <a:rPr/>
                  <a:t>, which are the same as running two separate one-way ANOVAs, and an </a:t>
                </a:r>
                <a:r>
                  <a:rPr b="1"/>
                  <a:t>interaction effect</a:t>
                </a:r>
                <a:r>
                  <a:rPr/>
                  <a:t>.</a:t>
                </a:r>
              </a:p>
            </p:txBody>
          </p:sp>
        </mc:Choice>
      </mc:AlternateContent>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Two-Way ANOVAs (continued)</a:t>
            </a:r>
          </a:p>
        </p:txBody>
      </p:sp>
      <p:pic>
        <p:nvPicPr>
          <p:cNvPr descr="First scatterplot in a sequence building up a two-way ANOVA design"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First scatterplot in a sequence building up a two-way ANOVA design</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Two-Way ANOVAs (continued)</a:t>
            </a:r>
          </a:p>
        </p:txBody>
      </p:sp>
      <p:pic>
        <p:nvPicPr>
          <p:cNvPr descr="Second scatterplot in a sequence building up a two-way ANOVA design"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Second scatterplot in a sequence building up a two-way ANOVA design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Two-Way ANOVAs (continued)</a:t>
            </a:r>
          </a:p>
        </p:txBody>
      </p:sp>
      <p:pic>
        <p:nvPicPr>
          <p:cNvPr descr="Third scatterplot completing the two-way ANOVA design sequence"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Third scatterplot completing the two-way ANOVA design sequence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p-values? 😕</a:t>
            </a:r>
          </a:p>
        </p:txBody>
      </p:sp>
      <p:sp>
        <p:nvSpPr>
          <p:cNvPr id="3" name="Content Placeholder 2"/>
          <p:cNvSpPr>
            <a:spLocks noGrp="1"/>
          </p:cNvSpPr>
          <p:nvPr>
            <p:ph idx="1"/>
          </p:nvPr>
        </p:nvSpPr>
        <p:spPr/>
        <p:txBody>
          <a:bodyPr/>
          <a:lstStyle/>
          <a:p>
            <a:pPr lvl="0" indent="0" marL="0">
              <a:buNone/>
            </a:pPr>
            <a:r>
              <a:rPr i="1"/>
              <a:t>P</a:t>
            </a:r>
            <a:r>
              <a:rPr/>
              <a:t>-values are another often misunderstood, and frankly overemphasized, concept. We are taught that a </a:t>
            </a:r>
            <a:r>
              <a:rPr i="1"/>
              <a:t>p-value</a:t>
            </a:r>
            <a:r>
              <a:rPr/>
              <a:t> smaller than .05 (5% probability) is </a:t>
            </a:r>
            <a:r>
              <a:rPr i="1"/>
              <a:t>significant</a:t>
            </a:r>
            <a:r>
              <a:rPr/>
              <a:t>. The </a:t>
            </a:r>
            <a:r>
              <a:rPr b="1"/>
              <a:t>appropriate interpretation of p-values</a:t>
            </a:r>
            <a:r>
              <a:rPr/>
              <a:t> is as follows:</a:t>
            </a:r>
          </a:p>
          <a:p>
            <a:pPr lvl="0" indent="0" marL="0">
              <a:buNone/>
            </a:pPr>
            <a:r>
              <a:rPr/>
              <a:t>Assuming that my hypothesis is wrong (Null hypothesis), if I were to </a:t>
            </a:r>
            <a:r>
              <a:rPr i="1"/>
              <a:t>sample</a:t>
            </a:r>
            <a:r>
              <a:rPr/>
              <a:t> the same number of observations from the population an  </a:t>
            </a:r>
            <a:r>
              <a:rPr i="1"/>
              <a:t>infinite</a:t>
            </a:r>
            <a:r>
              <a:rPr/>
              <a:t> number of times , what is the probability that I will observe the same results. (note that you </a:t>
            </a:r>
            <a:r>
              <a:rPr i="1"/>
              <a:t>can</a:t>
            </a:r>
            <a:r>
              <a:rPr/>
              <a:t> calculate a </a:t>
            </a:r>
            <a:r>
              <a:rPr i="1"/>
              <a:t>p</a:t>
            </a:r>
            <a:r>
              <a:rPr/>
              <a:t>-value for just about every statistic)</a:t>
            </a:r>
          </a:p>
          <a:p>
            <a:pPr lvl="0" indent="0" marL="0">
              <a:buNone/>
            </a:pPr>
            <a:r>
              <a:rPr/>
              <a:t>The main problem of </a:t>
            </a:r>
            <a:r>
              <a:rPr i="1"/>
              <a:t>p-values</a:t>
            </a:r>
            <a:r>
              <a:rPr/>
              <a:t> by themselves is that they carry no information about how different or how big the effect of the IV on the DV is. They main thing that influences </a:t>
            </a:r>
            <a:r>
              <a:rPr i="1"/>
              <a:t>p</a:t>
            </a:r>
            <a:r>
              <a:rPr/>
              <a:t>-values is </a:t>
            </a:r>
            <a:r>
              <a:rPr b="1"/>
              <a:t>sample size</a:t>
            </a:r>
            <a:r>
              <a:rPr/>
              <a:t>!</a:t>
            </a:r>
          </a:p>
          <a:p>
            <a:pPr lvl="0" indent="0" marL="0">
              <a:buNone/>
            </a:pPr>
            <a:r>
              <a:rPr/>
              <a:t>Let’s assume that we know that the average depression score in the population is </a:t>
            </a:r>
            <a:r>
              <a:rPr b="1"/>
              <a:t>5</a:t>
            </a:r>
            <a:r>
              <a:rPr/>
              <a:t> (</a:t>
            </a:r>
            <a:r>
              <a:rPr b="1" i="1"/>
              <a:t>SD</a:t>
            </a:r>
            <a:r>
              <a:rPr/>
              <a:t> </a:t>
            </a:r>
            <a:r>
              <a:rPr b="1"/>
              <a:t>= 3</a:t>
            </a:r>
            <a:r>
              <a:rPr/>
              <a:t>). Now, let’s say that we tried 3 different depression treatments for 3 different groups and found that, after treatment, these groups scores in depression respectively were: 4.9, 4.8, 4.7.</a:t>
            </a:r>
          </a:p>
          <a:p>
            <a:pPr lvl="0" indent="0" marL="0">
              <a:buNone/>
            </a:pPr>
            <a:r>
              <a:rPr/>
              <a:t>In this case, even with a difference as small as .3, the </a:t>
            </a:r>
            <a:r>
              <a:rPr i="1"/>
              <a:t>p</a:t>
            </a:r>
            <a:r>
              <a:rPr/>
              <a:t>-value will turn out significant with a sample size of around 270 people. Given the standard deviation of 3, a mean difference of .3 is laughable in practice!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p-values? 😕 (continued)</a:t>
            </a:r>
          </a:p>
        </p:txBody>
      </p:sp>
      <p:pic>
        <p:nvPicPr>
          <p:cNvPr descr="Empty sampling distribution curve, before the p-value region is shown"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Empty sampling distribution curve, before the p-value region is shown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p-values? 😕 (continued)</a:t>
            </a:r>
          </a:p>
        </p:txBody>
      </p:sp>
      <p:pic>
        <p:nvPicPr>
          <p:cNvPr descr="Sampling distribution curve showing a one-tailed p-value region"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Sampling distribution curve showing a one-tailed p-value region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p-values? 😕 (continued)</a:t>
            </a:r>
          </a:p>
        </p:txBody>
      </p:sp>
      <p:pic>
        <p:nvPicPr>
          <p:cNvPr descr="Sampling distribution curve showing the two-tailed p-value regions"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Sampling distribution curve showing the two-tailed p-value regions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p-values? 😕 (continued)</a:t>
            </a:r>
          </a:p>
        </p:txBody>
      </p:sp>
      <p:pic>
        <p:nvPicPr>
          <p:cNvPr descr="Sampling distribution curve with the p-value region shaded" id="0" name="Picture 1"/>
          <p:cNvPicPr>
            <a:picLocks noGrp="1" noChangeAspect="1"/>
          </p:cNvPicPr>
          <p:nvPr/>
        </p:nvPicPr>
        <p:blipFill>
          <a:blip r:embed="rId2"/>
          <a:stretch>
            <a:fillRect/>
          </a:stretch>
        </p:blipFill>
        <p:spPr bwMode="auto">
          <a:xfrm>
            <a:off x="4076700" y="2628900"/>
            <a:ext cx="40259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a:t>Sampling distribution curve with the p-value region shaded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Assignments &amp; Reminders</a:t>
            </a:r>
          </a:p>
        </p:txBody>
      </p:sp>
      <p:sp>
        <p:nvSpPr>
          <p:cNvPr id="3" name="Content Placeholder 2"/>
          <p:cNvSpPr>
            <a:spLocks noGrp="1"/>
          </p:cNvSpPr>
          <p:nvPr>
            <p:ph idx="1"/>
          </p:nvPr>
        </p:nvSpPr>
        <p:spPr/>
        <p:txBody>
          <a:bodyPr/>
          <a:lstStyle/>
          <a:p>
            <a:pPr lvl="0" indent="0" marL="0">
              <a:buNone/>
            </a:pPr>
            <a:r>
              <a:rPr b="1"/>
              <a:t>Given this week:</a:t>
            </a:r>
          </a:p>
          <a:p>
            <a:pPr lvl="0"/>
            <a:r>
              <a:rPr/>
              <a:t>Submit to your lab section before week 7: Data entry &amp; Univariate Stats worksheet</a:t>
            </a:r>
          </a:p>
          <a:p>
            <a:pPr lvl="0" indent="0" marL="0">
              <a:buNone/>
            </a:pPr>
            <a:r>
              <a:rPr b="1"/>
              <a:t>Due this week:</a:t>
            </a:r>
          </a:p>
          <a:p>
            <a:pPr lvl="0"/>
            <a:r>
              <a:rPr/>
              <a:t>Lab 05: Research Project References &amp; Literature Review Worksheet</a:t>
            </a:r>
          </a:p>
          <a:p>
            <a:pPr lvl="0"/>
            <a:r>
              <a:rPr/>
              <a:t>Research Project Pre-proposal (only the one corresponding to your dataset)</a:t>
            </a:r>
          </a:p>
          <a:p>
            <a:pPr lvl="0" indent="0" marL="0">
              <a:buNone/>
            </a:pPr>
            <a:r>
              <a:rPr/>
              <a:t>Submit to your lab section in Canvas by 11:59pm the day before your lab meets.</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F6A21D"/>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Entry &amp; Univariate</dc:title>
  <dc:creator>PSYCH 350-Lab</dc:creator>
  <cp:keywords/>
  <dcterms:created xsi:type="dcterms:W3CDTF">2026-08-13T23:50:37Z</dcterms:created>
  <dcterms:modified xsi:type="dcterms:W3CDTF">2026-08-13T23:50:37Z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back-to-top-navigation">
    <vt:lpwstr>True</vt:lpwstr>
  </property>
  <property fmtid="{D5CDD505-2E9C-101B-9397-08002B2CF9AE}" pid="5" name="biblio-config">
    <vt:lpwstr>True</vt:lpwstr>
  </property>
  <property fmtid="{D5CDD505-2E9C-101B-9397-08002B2CF9AE}" pid="6" name="by-author">
    <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ack-link">
    <vt:lpwstr>False</vt:lpwstr>
  </property>
  <property fmtid="{D5CDD505-2E9C-101B-9397-08002B2CF9AE}" pid="12" name="include-before">
    <vt:lpwstr/>
  </property>
  <property fmtid="{D5CDD505-2E9C-101B-9397-08002B2CF9AE}" pid="13" name="knitr">
    <vt:lpwstr>True</vt:lpwstr>
  </property>
  <property fmtid="{D5CDD505-2E9C-101B-9397-08002B2CF9AE}" pid="14" name="labels">
    <vt:lpwstr/>
  </property>
  <property fmtid="{D5CDD505-2E9C-101B-9397-08002B2CF9AE}" pid="15" name="nebraska-pptx">
    <vt:lpwstr/>
  </property>
  <property fmtid="{D5CDD505-2E9C-101B-9397-08002B2CF9AE}" pid="16" name="revealjs-plugins">
    <vt:lpwstr/>
  </property>
  <property fmtid="{D5CDD505-2E9C-101B-9397-08002B2CF9AE}" pid="17" name="subtitle">
    <vt:lpwstr>Lab 06</vt:lpwstr>
  </property>
  <property fmtid="{D5CDD505-2E9C-101B-9397-08002B2CF9AE}" pid="18" name="toc-title">
    <vt:lpwstr>Table of contents</vt:lpwstr>
  </property>
</Properties>
</file>