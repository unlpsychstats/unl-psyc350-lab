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5" Type="http://schemas.openxmlformats.org/officeDocument/2006/relationships/presProps" Target="presProps.xml" /><Relationship Id="rId26" Type="http://schemas.openxmlformats.org/officeDocument/2006/relationships/viewProps" Target="viewProps.xml" /><Relationship Id="rId27" Type="http://schemas.openxmlformats.org/officeDocument/2006/relationships/theme" Target="theme/theme1.xml" /><Relationship Id="rId28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Have students open the worksheet and SPSS. They will enter the walkthrough data themselves. The four guides cover the operations used in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Editor holds the dataset. The Syntax Editor keeps the commands: choose Paste in a dialog, then run and save the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Output Viewer collects tables, charts, and messages. Use this table to show where results appear; return to its values after the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Define variable settings in Variable View, then enter one case per row in Data View. Point out the tabs at the lower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relevant guide open. Pasting and saving syntax lets students rerun a step or find an error without reconstructing every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Have students check each operation before starting the next. Labels and frequency tables make errors easier to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reporting choices for the worksheet tables. The checker separately asks whether a mean is interpretable and distinguishes quantitative, binary, multiple-category, and ID variables. Ask students to explain their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worksheet’s variable names and type codes. Declare −99 missing before computing anything, so SPSS does not treat it as an actor’s height.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frequencies for type and compare the counts with the worksheet. If they differ, check the entered rows and value labels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original meter variables. Missing heights should stay missing after conversion; changing units does not supply missing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shows Clark’s height only. Check Lois’s height separately: both her original and converted variables should have nine valid cases and two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Follow worksheet steps 4–6 one at a time. For clark_grp, the second group includes exactly 72 inches. For height_gap, the middle group includes both 6 and 8 inches. Keep missing values missing and verify labels and frequencies after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Filter the cases rather than deleting them. The diagonal lines in Data View show which rows are excluded from the next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that the active years are all after 1975. If the total differs, check the entered years and filter before computing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worksheet asks for the mean, SD, and SEM for every entered and created variable. Ask students to decide whether each mean is interpretable using the checker’s variable-type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 why there are fewer valid height differences than selected cases. Students should use their own output in the walkthrough checker, then save a screenshot with every answer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worksheet’s Table 1 template and the filtered output. Include each level of clark_grp and height_gap. Before the take-home section, return Select Cases to All cases and save the data and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the ratings to the saved walkthrough dataset, keeping the same row order. Work through the transformations in the worksheet’s order and check each result. Declare −99 missing before calculating the ratings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that both sections’ checker screenshots are in the worksheet. Reset Select Cases to All cases and save both files; students will need the dataset in the next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26080"/>
            <a:ext cx="4907280" cy="3177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40" y="2926080"/>
            <a:ext cx="4907280" cy="317754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87440" y="2313433"/>
            <a:ext cx="4907280" cy="548640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  <Relationship Id="rId3" Type="http://schemas.openxmlformats.org/officeDocument/2006/relationships/hyperlink" Target="https://unlpsychstats.github.io/UNL-PSYC350-LAB/schedule.html" TargetMode="External"/>
  <Relationship Id="rId4" Type="http://schemas.openxmlformats.org/officeDocument/2006/relationships/hyperlink" Target="https://unlpsychstats.github.io/UNL-PSYC350-LAB/labs/lab06/#homework-checker" TargetMode="External"/>
  <Relationship Id="rId5" Type="http://schemas.openxmlformats.org/officeDocument/2006/relationships/hyperlink" Target="https://unlpsychstats.github.io/PSYC350-spss-handouts/A1.data_entry_spss_handout_simple.pdf" TargetMode="External"/>
  <Relationship Id="rId6" Type="http://schemas.openxmlformats.org/officeDocument/2006/relationships/hyperlink" Target="https://unlpsychstats.github.io/PSYC350-spss-handouts/A2.data_transform_spss_handout_simple.pdf" TargetMode="External"/>
  <Relationship Id="rId7" Type="http://schemas.openxmlformats.org/officeDocument/2006/relationships/hyperlink" Target="https://unlpsychstats.github.io/PSYC350-spss-handouts/A3.data_select_spss_handout_simple.pdf" TargetMode="External"/>
  <Relationship Id="rId8" Type="http://schemas.openxmlformats.org/officeDocument/2006/relationships/hyperlink" Target="https://unlpsychstats.github.io/PSYC350-spss-handouts/A4.univariates_stats_spss_handout_simple.pdf" TargetMode="External"/>
</Relationships>
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2.xml" /><Relationship Id="rId4" Type="http://schemas.openxmlformats.org/officeDocument/2006/relationships/image" Target="../media/image2.png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4.xml" /><Relationship Id="rId4" Type="http://schemas.openxmlformats.org/officeDocument/2006/relationships/image" Target="../media/image4.png" /><Relationship Id="rId3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5.xml" /><Relationship Id="rId4" Type="http://schemas.openxmlformats.org/officeDocument/2006/relationships/image" Target="../media/image6.jpg" /><Relationship Id="rId3" Type="http://schemas.openxmlformats.org/officeDocument/2006/relationships/image" Target="../media/image5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Enter, Transform, Summarize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06 · SPSS Data and Univariate Statistics</a:t>
            </a:r>
            <a:br/>
            <a:br/>
            <a:r>
              <a:rPr/>
              <a:t>PSYC 350 Laboratory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Open the Lab 06 files</a:t>
            </a:r>
          </a:p>
        </p:txBody>
      </p:sp>
      <p:sp>
        <p:nvSpPr>
          <p:cNvPr id="1001" name="card-steel" descr="card: Worksheet. Worksheet: lab schedule Homework checker"/>
          <p:cNvSpPr/>
          <p:nvPr/>
        </p:nvSpPr>
        <p:spPr>
          <a:xfrm>
            <a:off x="1097280" y="2633472"/>
            <a:ext cx="3233928" cy="16154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Worksheet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3"/>
              </a:rPr>
              <a:t>Worksheet: lab schedule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4"/>
              </a:rPr>
              <a:t>Homework checker</a:t>
            </a:r>
          </a:p>
        </p:txBody>
      </p:sp>
      <p:sp>
        <p:nvSpPr>
          <p:cNvPr id="1002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633472"/>
            <a:ext cx="54864" cy="16154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3" name="card-steel" descr="card: Enter and transform. Data entry guide Transform guide"/>
          <p:cNvSpPr/>
          <p:nvPr/>
        </p:nvSpPr>
        <p:spPr>
          <a:xfrm>
            <a:off x="4477512" y="2633472"/>
            <a:ext cx="3233928" cy="16459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Enter and transform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5"/>
              </a:rPr>
              <a:t>Data entry guide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6"/>
              </a:rPr>
              <a:t>Transform guide</a:t>
            </a:r>
          </a:p>
        </p:txBody>
      </p:sp>
      <p:sp>
        <p:nvSpPr>
          <p:cNvPr id="1004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7512" y="2633472"/>
            <a:ext cx="54864" cy="164592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5" name="card-steel" descr="card: Select and summarize. Select cases guide Univariate guide"/>
          <p:cNvSpPr/>
          <p:nvPr/>
        </p:nvSpPr>
        <p:spPr>
          <a:xfrm>
            <a:off x="7857744" y="2633472"/>
            <a:ext cx="3233928" cy="16459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Select and summarize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7"/>
              </a:rPr>
              <a:t>Select cases guide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8"/>
              </a:rPr>
              <a:t>Univariate guide</a:t>
            </a:r>
          </a:p>
        </p:txBody>
      </p:sp>
      <p:sp>
        <p:nvSpPr>
          <p:cNvPr id="1006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7744" y="2633472"/>
            <a:ext cx="54864" cy="164592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Keep Data and Syntax Editors open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Editor</a:t>
            </a:r>
          </a:p>
        </p:txBody>
      </p:sp>
      <p:pic>
        <p:nvPicPr>
          <p:cNvPr descr="Focused SPSS Data View showing case numbers, variable columns, and the selected Data View tab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3340100"/>
            <a:ext cx="49022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Enter and inspect data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Syntax Editor</a:t>
            </a:r>
          </a:p>
        </p:txBody>
      </p:sp>
      <p:pic>
        <p:nvPicPr>
          <p:cNvPr descr="Focused SPSS Syntax Editor image showing the command area and an annotation pointing to the green Run button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184900" y="3352800"/>
            <a:ext cx="49022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Save and rerun commands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Find results in Output Viewer</a:t>
            </a:r>
          </a:p>
        </p:txBody>
      </p:sp>
      <p:pic>
        <p:nvPicPr>
          <p:cNvPr descr="Height difference after filtering: 7 valid cases and 2 missing; mean 8.21 inches, standard error 1.000, SD 2.645, minimum 5.12, maximum 12.99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03700" y="2628900"/>
            <a:ext cx="37719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Switch views inside Data Editor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View</a:t>
            </a:r>
          </a:p>
          <a:p>
            <a:pPr lvl="0" indent="0" marL="0">
              <a:buNone/>
            </a:pPr>
            <a:r>
              <a:rPr b="1"/>
              <a:t>Rows:</a:t>
            </a:r>
            <a:r>
              <a:rPr/>
              <a:t> cases · </a:t>
            </a:r>
            <a:r>
              <a:rPr b="1"/>
              <a:t>Columns:</a:t>
            </a:r>
            <a:r>
              <a:rPr/>
              <a:t> variables</a:t>
            </a:r>
          </a:p>
        </p:txBody>
      </p:sp>
      <p:pic>
        <p:nvPicPr>
          <p:cNvPr descr="Focused SPSS Data View showing case numbers, variable columns, and the selected Data View tab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3340100"/>
            <a:ext cx="49022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View</a:t>
            </a:r>
          </a:p>
          <a:p>
            <a:pPr lvl="0" indent="0" marL="0">
              <a:buNone/>
            </a:pPr>
            <a:r>
              <a:rPr b="1"/>
              <a:t>Rows:</a:t>
            </a:r>
            <a:r>
              <a:rPr/>
              <a:t> variables · </a:t>
            </a:r>
            <a:r>
              <a:rPr b="1"/>
              <a:t>Columns:</a:t>
            </a:r>
            <a:r>
              <a:rPr/>
              <a:t> settings</a:t>
            </a:r>
          </a:p>
        </p:txBody>
      </p:sp>
      <p:pic>
        <p:nvPicPr>
          <p:cNvPr descr="Focused SPSS Variable View showing rows for variables, columns for variable settings, and the selected Variable View tab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184900" y="3340100"/>
            <a:ext cx="49022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Keep the guide and syntax handy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Keep the guide open</a:t>
            </a:r>
          </a:p>
        </p:txBody>
      </p:sp>
      <p:pic>
        <p:nvPicPr>
          <p:cNvPr descr="Meme showing a person pressing a large button labeled Handouts under the words Using SPSS to, emphasizing reliance on the SPSS guide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09700" y="2921000"/>
            <a:ext cx="42672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Paste and save syntax</a:t>
            </a:r>
          </a:p>
        </p:txBody>
      </p:sp>
      <p:pic>
        <p:nvPicPr>
          <p:cNvPr descr="Four-stage clown makeup meme: clean and analyze data in SPSS; click OK instead of Paste and do not save syntax; something goes wrong and the steps cannot be reconstructed; start over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150100" y="2921000"/>
            <a:ext cx="29845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Check each change as you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Define</a:t>
            </a:r>
            <a:r>
              <a:rPr/>
              <a:t> variables and missing values</a:t>
            </a:r>
          </a:p>
          <a:p>
            <a:pPr lvl="0" indent="-457200" marL="457200">
              <a:buAutoNum type="arabicPeriod"/>
            </a:pPr>
            <a:r>
              <a:rPr b="1"/>
              <a:t>Enter</a:t>
            </a:r>
            <a:r>
              <a:rPr/>
              <a:t> one row per case</a:t>
            </a:r>
          </a:p>
          <a:p>
            <a:pPr lvl="0" indent="-457200" marL="457200">
              <a:buAutoNum type="arabicPeriod"/>
            </a:pPr>
            <a:r>
              <a:rPr b="1"/>
              <a:t>Transform</a:t>
            </a:r>
            <a:r>
              <a:rPr/>
              <a:t> into new variables</a:t>
            </a:r>
          </a:p>
          <a:p>
            <a:pPr lvl="0" indent="-457200" marL="457200">
              <a:buAutoNum type="arabicPeriod"/>
            </a:pPr>
            <a:r>
              <a:rPr b="1"/>
              <a:t>Verify</a:t>
            </a:r>
            <a:r>
              <a:rPr/>
              <a:t> each change before continuing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Match summaries to variable type</a:t>
            </a:r>
          </a:p>
        </p:txBody>
      </p:sp>
      <p:sp>
        <p:nvSpPr>
          <p:cNvPr id="1007" name="card-steel" descr="card: Quantitative. Report M and SD Example: height in inches"/>
          <p:cNvSpPr/>
          <p:nvPr/>
        </p:nvSpPr>
        <p:spPr>
          <a:xfrm>
            <a:off x="1097280" y="2633472"/>
            <a:ext cx="4924044" cy="13106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Quantitative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Report M and SD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Example: height in inches</a:t>
            </a:r>
          </a:p>
        </p:txBody>
      </p:sp>
      <p:sp>
        <p:nvSpPr>
          <p:cNvPr id="1008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633472"/>
            <a:ext cx="54864" cy="13106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9" name="card-steel" descr="card: Categorical. Report N and % for each category Example: type of media"/>
          <p:cNvSpPr/>
          <p:nvPr/>
        </p:nvSpPr>
        <p:spPr>
          <a:xfrm>
            <a:off x="6167628" y="2633472"/>
            <a:ext cx="4924044" cy="16154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Categorical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Report N and % for each category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Example: type of media</a:t>
            </a:r>
          </a:p>
        </p:txBody>
      </p:sp>
      <p:sp>
        <p:nvSpPr>
          <p:cNvPr id="1010" name="card-rail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7628" y="2633472"/>
            <a:ext cx="54864" cy="16154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Define the five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Variable View, create:</a:t>
            </a:r>
          </a:p>
          <a:p>
            <a:pPr lvl="0"/>
            <a:r>
              <a:rPr b="1"/>
              <a:t>num</a:t>
            </a:r>
            <a:r>
              <a:rPr/>
              <a:t>, </a:t>
            </a:r>
            <a:r>
              <a:rPr b="1"/>
              <a:t>year</a:t>
            </a:r>
            <a:r>
              <a:rPr/>
              <a:t>, and </a:t>
            </a:r>
            <a:r>
              <a:rPr b="1"/>
              <a:t>type</a:t>
            </a:r>
          </a:p>
          <a:p>
            <a:pPr lvl="0"/>
            <a:r>
              <a:rPr b="1"/>
              <a:t>clark_height</a:t>
            </a:r>
            <a:r>
              <a:rPr/>
              <a:t> and </a:t>
            </a:r>
            <a:r>
              <a:rPr b="1"/>
              <a:t>lois_height</a:t>
            </a:r>
          </a:p>
          <a:p>
            <a:pPr lvl="0"/>
            <a:r>
              <a:rPr/>
              <a:t>value labels for </a:t>
            </a:r>
            <a:r>
              <a:rPr b="1"/>
              <a:t>type</a:t>
            </a:r>
          </a:p>
          <a:p>
            <a:pPr lvl="0"/>
            <a:r>
              <a:rPr b="1"/>
              <a:t>−99</a:t>
            </a:r>
            <a:r>
              <a:rPr/>
              <a:t> as the missing-value code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Check the 11 entered cases</a:t>
            </a:r>
          </a:p>
        </p:txBody>
      </p:sp>
      <p:pic>
        <p:nvPicPr>
          <p:cNvPr descr="Media-type frequencies for 11 valid cases: Film, 5 (45.5%); TV Show, 5 (45.5%); Serial, 1 (9.1%). Percent and valid percent agree; cumulative percentages are 45.5%, 90.9%, and 100%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3390900"/>
            <a:ext cx="49022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One row per actor record</a:t>
            </a:r>
          </a:p>
          <a:p>
            <a:pPr lvl="0"/>
            <a:r>
              <a:rPr/>
              <a:t>Codes match the worksheet</a:t>
            </a:r>
          </a:p>
          <a:p>
            <a:pPr lvl="0"/>
            <a:r>
              <a:rPr/>
              <a:t>Declare −99 missing</a:t>
            </a:r>
          </a:p>
          <a:p>
            <a:pPr lvl="0"/>
            <a:r>
              <a:rPr/>
              <a:t>Frequency total = </a:t>
            </a:r>
            <a:r>
              <a:rPr b="1"/>
              <a:t>11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 Convert both heights to inches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COMPUTE clark_height_in =
  clark_height * 39.37.
COMPUTE lois_height_in =
  lois_height * 39.37.
EXECUTE.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 Check the converted heights</a:t>
            </a:r>
          </a:p>
        </p:txBody>
      </p:sp>
      <p:pic>
        <p:nvPicPr>
          <p:cNvPr descr="Clark height descriptives before filtering, with 11 valid cases in each column. Meters: mean 1.86, SD 0.04, SE 0.01, minimum 1.81, maximum 1.93. Inches: mean 73.37, SD 1.68, SE 0.51, minimum 71.26, maximum 75.98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730500"/>
            <a:ext cx="99949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092200" y="5219700"/>
            <a:ext cx="999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Check </a:t>
            </a:r>
            <a:r>
              <a:rPr b="1"/>
              <a:t>Lois’s height</a:t>
            </a:r>
            <a:r>
              <a:rPr/>
              <a:t> separately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12 Create the next three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[Walk-through steps 4–6]</a:t>
            </a:r>
          </a:p>
          <a:p>
            <a:pPr lvl="0" indent="-457200" marL="457200">
              <a:buAutoNum type="arabicPeriod"/>
            </a:pPr>
            <a:r>
              <a:rPr b="1"/>
              <a:t>clark_grp:</a:t>
            </a:r>
            <a:r>
              <a:rPr/>
              <a:t> group Clark’s height using the worksheet’s cutoff</a:t>
            </a:r>
          </a:p>
          <a:p>
            <a:pPr lvl="0" indent="-457200" marL="457200">
              <a:buAutoNum type="arabicPeriod"/>
            </a:pPr>
            <a:r>
              <a:rPr b="1"/>
              <a:t>height_diff:</a:t>
            </a:r>
            <a:r>
              <a:rPr/>
              <a:t> compute Clark’s height minus Lois’s, in inches</a:t>
            </a:r>
          </a:p>
          <a:p>
            <a:pPr lvl="0" indent="-457200" marL="457200">
              <a:buAutoNum type="arabicPeriod"/>
            </a:pPr>
            <a:r>
              <a:rPr b="1"/>
              <a:t>height_gap:</a:t>
            </a:r>
            <a:r>
              <a:rPr/>
              <a:t> group the height differences</a:t>
            </a:r>
          </a:p>
          <a:p>
            <a:pPr lvl="0" indent="0" marL="0">
              <a:buNone/>
            </a:pPr>
            <a:r>
              <a:rPr/>
              <a:t>Add labels and check frequencies after each step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13 Select media after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 ALL.
COMPUTE filter_$ =
  (year &gt; 1975).
FILTER BY filter_$.
EXECUTE.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14 Confirm nine active cases</a:t>
            </a:r>
          </a:p>
        </p:txBody>
      </p:sp>
      <p:pic>
        <p:nvPicPr>
          <p:cNvPr descr="Year frequencies after selecting year greater than 1975: one valid case each in 1978, 1988, 1989, 1993, 2001, 2006, 2013, 2021, and 2025. Each is 11.1% of nine cases; percent and valid percent agre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314700" y="2628900"/>
            <a:ext cx="55499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15 Request the walkthrough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FREQUENCIES
  VARIABLES=num year type
    clark_height lois_height
    clark_height_in
    lois_height_in
    height_diff clark_grp
    height_gap
  /STATISTICS=
    MEAN STDDEV SEMEAN.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16 Read the height-difference summary</a:t>
            </a:r>
          </a:p>
        </p:txBody>
      </p:sp>
      <p:pic>
        <p:nvPicPr>
          <p:cNvPr descr="Height difference after filtering: 7 valid cases and 2 missing; mean 8.21 inches, standard error 1.000, SD 2.645, minimum 5.12, maximum 12.99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03700" y="2628900"/>
            <a:ext cx="37719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 Complete Table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[Walk-through steps 10–11]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 Complete Table 1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0"/>
                <a:gridCol w="4991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Report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height_diff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M</a:t>
                      </a:r>
                      <a:r>
                        <a:rPr/>
                        <a:t> and </a:t>
                      </a:r>
                      <a:r>
                        <a:rPr i="1"/>
                        <a:t>SD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clark_grp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N</a:t>
                      </a:r>
                      <a:r>
                        <a:rPr/>
                        <a:t> and % for each group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height_gap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i="1"/>
                        <a:t>N</a:t>
                      </a:r>
                      <a:r>
                        <a:rPr/>
                        <a:t> and % for each category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 Complete Table 1 (continued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Reset to </a:t>
            </a:r>
            <a:r>
              <a:rPr b="1"/>
              <a:t>All cases</a:t>
            </a:r>
            <a:r>
              <a:rPr/>
              <a:t>, then save data and syntax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18 Add the take-home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[Take-home steps 1–8]</a:t>
            </a:r>
          </a:p>
          <a:p>
            <a:pPr lvl="0" indent="-457200" marL="457200">
              <a:buAutoNum type="arabicPeriod"/>
            </a:pPr>
            <a:r>
              <a:rPr/>
              <a:t>Add the ratings variables to your saved data</a:t>
            </a:r>
          </a:p>
          <a:p>
            <a:pPr lvl="0" indent="-457200" marL="457200">
              <a:buAutoNum type="arabicPeriod"/>
            </a:pPr>
            <a:r>
              <a:rPr/>
              <a:t>Create </a:t>
            </a:r>
            <a:r>
              <a:rPr b="1"/>
              <a:t>tomatometer</a:t>
            </a:r>
            <a:r>
              <a:rPr/>
              <a:t>, </a:t>
            </a:r>
            <a:r>
              <a:rPr b="1"/>
              <a:t>rt_avg</a:t>
            </a:r>
            <a:r>
              <a:rPr/>
              <a:t>, </a:t>
            </a:r>
            <a:r>
              <a:rPr b="1"/>
              <a:t>rt_diff</a:t>
            </a:r>
            <a:r>
              <a:rPr/>
              <a:t>, then </a:t>
            </a:r>
            <a:r>
              <a:rPr b="1"/>
              <a:t>popular</a:t>
            </a:r>
          </a:p>
          <a:p>
            <a:pPr lvl="0" indent="-457200" marL="457200">
              <a:buAutoNum type="arabicPeriod"/>
            </a:pPr>
            <a:r>
              <a:rPr/>
              <a:t>Select cases with </a:t>
            </a:r>
            <a:r>
              <a:rPr b="1"/>
              <a:t>rt_critics_count ≥ 5</a:t>
            </a:r>
          </a:p>
          <a:p>
            <a:pPr lvl="0" indent="-457200" marL="457200">
              <a:buAutoNum type="arabicPeriod"/>
            </a:pPr>
            <a:r>
              <a:rPr/>
              <a:t>Run the summaries and complete the take-home checker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19 Finish Table 2 and the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 </a:t>
            </a:r>
            <a:r>
              <a:rPr i="1"/>
              <a:t>M</a:t>
            </a:r>
            <a:r>
              <a:rPr/>
              <a:t> (</a:t>
            </a:r>
            <a:r>
              <a:rPr i="1"/>
              <a:t>SD</a:t>
            </a:r>
            <a:r>
              <a:rPr/>
              <a:t>) for </a:t>
            </a:r>
            <a:r>
              <a:rPr b="1"/>
              <a:t>rt_avg</a:t>
            </a:r>
            <a:r>
              <a:rPr/>
              <a:t> and </a:t>
            </a:r>
            <a:r>
              <a:rPr b="1"/>
              <a:t>rt_diff</a:t>
            </a:r>
          </a:p>
          <a:p>
            <a:pPr lvl="0"/>
            <a:r>
              <a:rPr/>
              <a:t>Report </a:t>
            </a:r>
            <a:r>
              <a:rPr i="1"/>
              <a:t>N</a:t>
            </a:r>
            <a:r>
              <a:rPr/>
              <a:t> (%) for </a:t>
            </a:r>
            <a:r>
              <a:rPr b="1"/>
              <a:t>tomatometer</a:t>
            </a:r>
            <a:r>
              <a:rPr/>
              <a:t> and </a:t>
            </a:r>
            <a:r>
              <a:rPr b="1"/>
              <a:t>popular</a:t>
            </a:r>
          </a:p>
          <a:p>
            <a:pPr lvl="0"/>
            <a:r>
              <a:rPr/>
              <a:t>Include checker screenshots with all answers correct for </a:t>
            </a:r>
            <a:r>
              <a:rPr b="1"/>
              <a:t>both sections</a:t>
            </a:r>
          </a:p>
          <a:p>
            <a:pPr lvl="0"/>
            <a:r>
              <a:rPr/>
              <a:t>Reset to </a:t>
            </a:r>
            <a:r>
              <a:rPr b="1"/>
              <a:t>All cases</a:t>
            </a:r>
            <a:r>
              <a:rPr/>
              <a:t>, then save data and syntax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B65B00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Enter, Transform, Summarize</dc:title>
  <dc:creator>PSYC 350 Laboratory</dc:creator>
  <cp:keywords/>
  <dcterms:created xsi:type="dcterms:W3CDTF">2026-09-10T18:11:50Z</dcterms:created>
  <dcterms:modified xsi:type="dcterms:W3CDTF">2026-09-10T18:11:50Z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ffiliations">
    <vt:lpwstr/>
  </property>
  <property fmtid="{D5CDD505-2E9C-101B-9397-08002B2CF9AE}" pid="4" name="authors">
    <vt:lpwstr/>
  </property>
  <property fmtid="{D5CDD505-2E9C-101B-9397-08002B2CF9AE}" pid="5" name="back-to-top-navigation">
    <vt:lpwstr>True</vt:lpwstr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ack-link">
    <vt:lpwstr>False</vt:lpwstr>
  </property>
  <property fmtid="{D5CDD505-2E9C-101B-9397-08002B2CF9AE}" pid="13" name="include-before">
    <vt:lpwstr/>
  </property>
  <property fmtid="{D5CDD505-2E9C-101B-9397-08002B2CF9AE}" pid="14" name="institute">
    <vt:lpwstr>University of Nebraska–Lincoln</vt:lpwstr>
  </property>
  <property fmtid="{D5CDD505-2E9C-101B-9397-08002B2CF9AE}" pid="15" name="institutes">
    <vt:lpwstr/>
  </property>
  <property fmtid="{D5CDD505-2E9C-101B-9397-08002B2CF9AE}" pid="16" name="labels">
    <vt:lpwstr/>
  </property>
  <property fmtid="{D5CDD505-2E9C-101B-9397-08002B2CF9AE}" pid="17" name="nebraska-pptx">
    <vt:lpwstr/>
  </property>
  <property fmtid="{D5CDD505-2E9C-101B-9397-08002B2CF9AE}" pid="18" name="revealjs-plugins">
    <vt:lpwstr/>
  </property>
  <property fmtid="{D5CDD505-2E9C-101B-9397-08002B2CF9AE}" pid="19" name="subtitle">
    <vt:lpwstr>Lab 06 · SPSS Data and Univariate Statistics</vt:lpwstr>
  </property>
  <property fmtid="{D5CDD505-2E9C-101B-9397-08002B2CF9AE}" pid="20" name="toc-title">
    <vt:lpwstr>Table of contents</vt:lpwstr>
  </property>
</Properties>
</file>